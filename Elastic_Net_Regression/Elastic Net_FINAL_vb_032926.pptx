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0"/>
  </p:notesMasterIdLst>
  <p:sldIdLst>
    <p:sldId id="260" r:id="rId3"/>
    <p:sldId id="267" r:id="rId4"/>
    <p:sldId id="262" r:id="rId5"/>
    <p:sldId id="261" r:id="rId6"/>
    <p:sldId id="258" r:id="rId7"/>
    <p:sldId id="265" r:id="rId8"/>
    <p:sldId id="268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5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148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8E9D2C-E2AA-4A61-811E-44DD82E65BD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B39F7-BA42-41FD-BC49-F42D7046AA9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801C66-0D28-445B-8BDC-B7CD68A3718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1260DA-6912-4A9B-8AD9-FC04EB69A99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Coefficient interpretation for V1 and V2 (Elastic Net).
[Sources]
- elastic_net_vol_v1v2_vb_done_032726.ipynb (user-provided notebook)
- elastic_net_vol_slides_wip_032726.pptx (user-provided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718ACF-244A-47D4-894C-0AD4F4E0190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4CCE6-61FE-46B3-8996-5BF314FE3D0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73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26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1151971" lvl="1" indent="-431989">
              <a:spcBef>
                <a:spcPts val="1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727957" lvl="2" indent="-383990">
              <a:spcBef>
                <a:spcPts val="113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6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2303942" lvl="3" indent="-287993">
              <a:spcBef>
                <a:spcPts val="75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66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879928" lvl="4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6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3455914" lvl="5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6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4031899" lvl="6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6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678400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indent="0"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5986" indent="-431989" algn="l" defTabSz="1219170" rtl="0" eaLnBrk="1" latinLnBrk="0" hangingPunct="1">
        <a:lnSpc>
          <a:spcPct val="90000"/>
        </a:lnSpc>
        <a:spcBef>
          <a:spcPts val="1889"/>
        </a:spcBef>
        <a:buClr>
          <a:srgbClr val="000000"/>
        </a:buClr>
        <a:buSzPct val="45000"/>
        <a:buFont typeface="Wingdings" charset="2"/>
        <a:buChar char="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5920" cy="6857760"/>
          </a:xfrm>
          <a:prstGeom prst="rect">
            <a:avLst/>
          </a:prstGeom>
          <a:solidFill>
            <a:srgbClr val="00A8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/>
            <a:endParaRPr lang="en-US" sz="2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426720" y="975360"/>
            <a:ext cx="11338080" cy="24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6400" b="1" dirty="0">
                <a:solidFill>
                  <a:srgbClr val="FFFFFF"/>
                </a:solidFill>
                <a:latin typeface="Calibri"/>
                <a:ea typeface="Calibri"/>
              </a:rPr>
              <a:t>Elastic Net</a:t>
            </a:r>
            <a:endParaRPr lang="en-US" sz="6400" dirty="0">
              <a:solidFill>
                <a:srgbClr val="FFFFFF"/>
              </a:solidFill>
              <a:latin typeface="Arial"/>
            </a:endParaRPr>
          </a:p>
          <a:p>
            <a:pPr defTabSz="1219170">
              <a:tabLst>
                <a:tab pos="0" algn="l"/>
              </a:tabLst>
            </a:pPr>
            <a:r>
              <a:rPr lang="en-US" sz="6400" b="1" dirty="0">
                <a:solidFill>
                  <a:srgbClr val="FFFFFF"/>
                </a:solidFill>
                <a:latin typeface="Calibri"/>
                <a:ea typeface="Calibri"/>
              </a:rPr>
              <a:t>Volatility Forecasting</a:t>
            </a:r>
            <a:endParaRPr lang="en-US" sz="64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426720" y="3596640"/>
            <a:ext cx="11460000" cy="48480"/>
          </a:xfrm>
          <a:prstGeom prst="rect">
            <a:avLst/>
          </a:prstGeom>
          <a:solidFill>
            <a:srgbClr val="00A8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-11040" rIns="120000" bIns="-11040" anchor="t">
            <a:noAutofit/>
          </a:bodyPr>
          <a:lstStyle/>
          <a:p>
            <a:pPr defTabSz="1219170"/>
            <a:endParaRPr lang="en-US" sz="2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26720" y="5608320"/>
            <a:ext cx="11338080" cy="36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1733" dirty="0">
                <a:solidFill>
                  <a:srgbClr val="AAAACC"/>
                </a:solidFill>
                <a:latin typeface="Calibri"/>
                <a:ea typeface="Calibri"/>
              </a:rPr>
              <a:t>DS 207 Final Project  ·  Team: Greed and Fear  ·  Author: Vinit Bhatt  ·  March 27, 2026</a:t>
            </a:r>
            <a:endParaRPr lang="en-US" sz="1733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26720" y="6035040"/>
            <a:ext cx="11338080" cy="36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1467" i="1">
                <a:solidFill>
                  <a:srgbClr val="888AAA"/>
                </a:solidFill>
                <a:latin typeface="Consolas"/>
                <a:ea typeface="Consolas"/>
              </a:rPr>
              <a:t>elastic_net_vol_v1v2_vb_done_032626.ipynb</a:t>
            </a:r>
            <a:endParaRPr lang="en-US" sz="1467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2191520" cy="63360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/>
            <a:endParaRPr lang="en-US" sz="2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341280" y="48960"/>
            <a:ext cx="1060656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2933" b="1" dirty="0">
                <a:solidFill>
                  <a:srgbClr val="FFFFFF"/>
                </a:solidFill>
                <a:latin typeface="Calibri"/>
                <a:ea typeface="Calibri"/>
              </a:rPr>
              <a:t>What Is Elastic Net?</a:t>
            </a:r>
            <a:endParaRPr lang="en-US" sz="2933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10972800" y="48960"/>
            <a:ext cx="109680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algn="r" defTabSz="1219170">
              <a:tabLst>
                <a:tab pos="0" algn="l"/>
              </a:tabLst>
            </a:pPr>
            <a:r>
              <a:rPr lang="en-US" sz="1867">
                <a:solidFill>
                  <a:srgbClr val="AAAACC"/>
                </a:solidFill>
                <a:latin typeface="Calibri"/>
                <a:ea typeface="Calibri"/>
              </a:rPr>
              <a:t>3 / 12</a:t>
            </a:r>
            <a:endParaRPr lang="en-US" sz="1867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3"/>
          <p:cNvSpPr/>
          <p:nvPr/>
        </p:nvSpPr>
        <p:spPr>
          <a:xfrm>
            <a:off x="0" y="6559200"/>
            <a:ext cx="12191520" cy="29808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/>
            <a:endParaRPr lang="en-US" sz="2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243840" y="6571680"/>
            <a:ext cx="9143520" cy="2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1200">
                <a:solidFill>
                  <a:srgbClr val="AAAACC"/>
                </a:solidFill>
                <a:latin typeface="Calibri"/>
                <a:ea typeface="Calibri"/>
              </a:rPr>
              <a:t>DS 207  ·  Team Greed and Fear  ·  Elastic Net Volatility Forecasting  ·  March 2026</a:t>
            </a:r>
            <a:endParaRPr lang="en-US" sz="12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219360" y="731520"/>
            <a:ext cx="5851680" cy="36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defTabSz="1219170">
              <a:tabLst>
                <a:tab pos="0" algn="l"/>
              </a:tabLst>
            </a:pPr>
            <a:endParaRPr lang="en-US" sz="1733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7"/>
          <p:cNvSpPr/>
          <p:nvPr/>
        </p:nvSpPr>
        <p:spPr>
          <a:xfrm>
            <a:off x="219360" y="3887896"/>
            <a:ext cx="5510400" cy="1950331"/>
          </a:xfrm>
          <a:prstGeom prst="rect">
            <a:avLst/>
          </a:prstGeom>
          <a:solidFill>
            <a:srgbClr val="D6F2FA"/>
          </a:solidFill>
          <a:ln w="19050">
            <a:solidFill>
              <a:srgbClr val="00A8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/>
            <a:endParaRPr lang="en-US" sz="24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9"/>
          <p:cNvSpPr/>
          <p:nvPr/>
        </p:nvSpPr>
        <p:spPr>
          <a:xfrm>
            <a:off x="243840" y="3985826"/>
            <a:ext cx="5242080" cy="1237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>
              <a:spcAft>
                <a:spcPts val="533"/>
              </a:spcAft>
              <a:buClr>
                <a:srgbClr val="1A1A2E"/>
              </a:buClr>
            </a:pPr>
            <a:r>
              <a:rPr lang="en-US" sz="1733" b="1" dirty="0">
                <a:solidFill>
                  <a:srgbClr val="00A8CC"/>
                </a:solidFill>
                <a:latin typeface="Calibri"/>
                <a:ea typeface="Calibri"/>
              </a:rPr>
              <a:t>Bottom Line</a:t>
            </a:r>
          </a:p>
          <a:p>
            <a:pPr defTabSz="1219170">
              <a:spcAft>
                <a:spcPts val="533"/>
              </a:spcAft>
              <a:buClr>
                <a:srgbClr val="1A1A2E"/>
              </a:buClr>
            </a:pPr>
            <a:r>
              <a:rPr lang="en-US" sz="1467" b="1" dirty="0">
                <a:solidFill>
                  <a:srgbClr val="000000"/>
                </a:solidFill>
                <a:latin typeface="Calibri" panose="020F0502020204030204"/>
              </a:rPr>
              <a:t>Elastic Net is a strong, interpretable benchmark that helps us identify which features matter and which do not</a:t>
            </a:r>
            <a:r>
              <a:rPr lang="en-US" sz="1533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43" name="Shape 11"/>
          <p:cNvSpPr/>
          <p:nvPr/>
        </p:nvSpPr>
        <p:spPr>
          <a:xfrm>
            <a:off x="6096000" y="1121760"/>
            <a:ext cx="5876160" cy="2584608"/>
          </a:xfrm>
          <a:prstGeom prst="rect">
            <a:avLst/>
          </a:prstGeom>
          <a:solidFill>
            <a:srgbClr val="D5F5E3"/>
          </a:solidFill>
          <a:ln w="19050">
            <a:solidFill>
              <a:srgbClr val="1E8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/>
            <a:endParaRPr lang="en-US" sz="24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3"/>
          <p:cNvSpPr/>
          <p:nvPr/>
        </p:nvSpPr>
        <p:spPr>
          <a:xfrm>
            <a:off x="6136745" y="1174542"/>
            <a:ext cx="5607840" cy="17517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>
              <a:spcAft>
                <a:spcPts val="533"/>
              </a:spcAft>
              <a:buClr>
                <a:srgbClr val="1A1A2E"/>
              </a:buClr>
            </a:pPr>
            <a:r>
              <a:rPr lang="en-US" sz="1733" b="1" dirty="0">
                <a:solidFill>
                  <a:srgbClr val="00A8CC"/>
                </a:solidFill>
                <a:latin typeface="Calibri"/>
                <a:ea typeface="Calibri"/>
              </a:rPr>
              <a:t>Why We Use It Here</a:t>
            </a:r>
          </a:p>
          <a:p>
            <a:pPr marL="228594" indent="-228594" defTabSz="1219170">
              <a:spcAft>
                <a:spcPts val="533"/>
              </a:spcAft>
              <a:buClr>
                <a:srgbClr val="1A1A2E"/>
              </a:buClr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000000"/>
                </a:solidFill>
                <a:latin typeface="Calibri" panose="020F0502020204030204"/>
              </a:rPr>
              <a:t>Our volatility features overlap</a:t>
            </a:r>
          </a:p>
          <a:p>
            <a:pPr marL="228594" indent="-228594" defTabSz="1219170">
              <a:spcAft>
                <a:spcPts val="533"/>
              </a:spcAft>
              <a:buClr>
                <a:srgbClr val="1A1A2E"/>
              </a:buClr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000000"/>
                </a:solidFill>
                <a:latin typeface="Calibri" panose="020F0502020204030204"/>
              </a:rPr>
              <a:t>Some macro variables may add little value</a:t>
            </a:r>
          </a:p>
          <a:p>
            <a:pPr marL="228594" indent="-228594" defTabSz="1219170">
              <a:spcAft>
                <a:spcPts val="533"/>
              </a:spcAft>
              <a:buClr>
                <a:srgbClr val="1A1A2E"/>
              </a:buClr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000000"/>
                </a:solidFill>
                <a:latin typeface="Calibri" panose="020F0502020204030204"/>
              </a:rPr>
              <a:t>We want a model that is still easy to interpret</a:t>
            </a:r>
          </a:p>
        </p:txBody>
      </p:sp>
      <p:sp>
        <p:nvSpPr>
          <p:cNvPr id="46" name="Shape 14"/>
          <p:cNvSpPr/>
          <p:nvPr/>
        </p:nvSpPr>
        <p:spPr>
          <a:xfrm>
            <a:off x="6096000" y="3863416"/>
            <a:ext cx="5876160" cy="1974808"/>
          </a:xfrm>
          <a:prstGeom prst="rect">
            <a:avLst/>
          </a:prstGeom>
          <a:solidFill>
            <a:srgbClr val="FADBD8"/>
          </a:solidFill>
          <a:ln w="19050">
            <a:solidFill>
              <a:srgbClr val="C039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/>
            <a:endParaRPr lang="en-US" sz="24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6"/>
          <p:cNvSpPr/>
          <p:nvPr/>
        </p:nvSpPr>
        <p:spPr>
          <a:xfrm>
            <a:off x="6071040" y="3985826"/>
            <a:ext cx="5607840" cy="10366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>
              <a:spcAft>
                <a:spcPts val="533"/>
              </a:spcAft>
              <a:buClr>
                <a:srgbClr val="1A1A2E"/>
              </a:buClr>
              <a:defRPr/>
            </a:pPr>
            <a:r>
              <a:rPr lang="en-US" sz="1733" b="1" dirty="0">
                <a:solidFill>
                  <a:srgbClr val="00A8CC"/>
                </a:solidFill>
                <a:latin typeface="Calibri"/>
                <a:ea typeface="Calibri"/>
              </a:rPr>
              <a:t>Main Tradeoff</a:t>
            </a:r>
            <a:endParaRPr lang="en-US" sz="1467" dirty="0">
              <a:solidFill>
                <a:srgbClr val="1A1A2E"/>
              </a:solidFill>
              <a:latin typeface="Calibri"/>
              <a:ea typeface="Calibri"/>
            </a:endParaRPr>
          </a:p>
          <a:p>
            <a:pPr marL="228594" indent="-228594" defTabSz="1219170">
              <a:spcAft>
                <a:spcPts val="533"/>
              </a:spcAft>
              <a:buClr>
                <a:srgbClr val="1A1A2E"/>
              </a:buClr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/>
                <a:ea typeface="Calibri"/>
              </a:rPr>
              <a:t>Elastic Net is transparent and disciplined</a:t>
            </a:r>
          </a:p>
          <a:p>
            <a:pPr marL="228594" indent="-228594" defTabSz="1219170">
              <a:spcAft>
                <a:spcPts val="533"/>
              </a:spcAft>
              <a:buClr>
                <a:srgbClr val="1A1A2E"/>
              </a:buClr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/>
                <a:ea typeface="Calibri"/>
              </a:rPr>
              <a:t>But it is still linear, so it may miss nonlinear volatility patterns</a:t>
            </a:r>
            <a:endParaRPr lang="en-US" sz="1467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Shape 13">
            <a:extLst>
              <a:ext uri="{FF2B5EF4-FFF2-40B4-BE49-F238E27FC236}">
                <a16:creationId xmlns:a16="http://schemas.microsoft.com/office/drawing/2014/main" id="{C8B8F06B-FD16-7B16-3190-45285D1E9BE4}"/>
              </a:ext>
            </a:extLst>
          </p:cNvPr>
          <p:cNvSpPr/>
          <p:nvPr/>
        </p:nvSpPr>
        <p:spPr>
          <a:xfrm>
            <a:off x="243840" y="1109280"/>
            <a:ext cx="5485920" cy="2597088"/>
          </a:xfrm>
          <a:prstGeom prst="rect">
            <a:avLst/>
          </a:prstGeom>
          <a:solidFill>
            <a:srgbClr val="FCF3CF"/>
          </a:solidFill>
          <a:ln w="25400">
            <a:solidFill>
              <a:srgbClr val="E897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>
              <a:spcAft>
                <a:spcPts val="533"/>
              </a:spcAft>
            </a:pPr>
            <a:r>
              <a:rPr lang="en-US" sz="1733" b="1" dirty="0">
                <a:solidFill>
                  <a:srgbClr val="00A8CC"/>
                </a:solidFill>
                <a:latin typeface="Calibri"/>
                <a:ea typeface="Calibri"/>
              </a:rPr>
              <a:t>How It Works</a:t>
            </a:r>
          </a:p>
          <a:p>
            <a:pPr defTabSz="1219170">
              <a:spcAft>
                <a:spcPts val="533"/>
              </a:spcAft>
              <a:tabLst>
                <a:tab pos="0" algn="l"/>
              </a:tabLst>
              <a:defRPr/>
            </a:pPr>
            <a:r>
              <a:rPr lang="en-US" sz="1467" b="1" dirty="0">
                <a:solidFill>
                  <a:srgbClr val="1A1A2E"/>
                </a:solidFill>
                <a:latin typeface="Calibri" panose="020F0502020204030204"/>
                <a:ea typeface="Calibri"/>
              </a:rPr>
              <a:t>Elastic Net is a linear regression model with built-in regularization.  </a:t>
            </a:r>
            <a:r>
              <a:rPr lang="en-US" sz="1467" dirty="0">
                <a:solidFill>
                  <a:srgbClr val="1A1A2E"/>
                </a:solidFill>
                <a:latin typeface="Calibri" panose="020F0502020204030204"/>
                <a:ea typeface="Calibri"/>
              </a:rPr>
              <a:t>It helps the model fit the data while avoiding noisy or unstable coefficients.</a:t>
            </a:r>
          </a:p>
          <a:p>
            <a:pPr defTabSz="1219170">
              <a:tabLst>
                <a:tab pos="0" algn="l"/>
              </a:tabLst>
              <a:defRPr/>
            </a:pPr>
            <a:r>
              <a:rPr lang="en-US" sz="1467" b="1" dirty="0">
                <a:solidFill>
                  <a:srgbClr val="000000"/>
                </a:solidFill>
                <a:latin typeface="Calibri" panose="020F0502020204030204"/>
              </a:rPr>
              <a:t>Think of it as a combination of two ideas:</a:t>
            </a:r>
          </a:p>
          <a:p>
            <a:pPr marL="228594" indent="-228594" defTabSz="1219170">
              <a:spcAft>
                <a:spcPts val="533"/>
              </a:spcAft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1467" b="1" dirty="0">
                <a:solidFill>
                  <a:srgbClr val="000000"/>
                </a:solidFill>
                <a:latin typeface="Calibri" panose="020F0502020204030204"/>
              </a:rPr>
              <a:t>Lasso (L1): </a:t>
            </a:r>
            <a:r>
              <a:rPr lang="en-US" sz="1467" dirty="0">
                <a:solidFill>
                  <a:srgbClr val="000000"/>
                </a:solidFill>
                <a:latin typeface="Calibri" panose="020F0502020204030204"/>
              </a:rPr>
              <a:t>removes weak or redundant features</a:t>
            </a:r>
          </a:p>
          <a:p>
            <a:pPr marL="228594" indent="-228594" defTabSz="1219170">
              <a:spcAft>
                <a:spcPts val="533"/>
              </a:spcAft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1467" b="1" dirty="0">
                <a:solidFill>
                  <a:srgbClr val="000000"/>
                </a:solidFill>
                <a:latin typeface="Calibri" panose="020F0502020204030204"/>
              </a:rPr>
              <a:t>Ridge (L2): </a:t>
            </a:r>
            <a:r>
              <a:rPr lang="en-US" sz="1467" dirty="0">
                <a:solidFill>
                  <a:srgbClr val="000000"/>
                </a:solidFill>
                <a:latin typeface="Calibri" panose="020F0502020204030204"/>
              </a:rPr>
              <a:t>shrinks and stabilizes correlated features</a:t>
            </a:r>
          </a:p>
          <a:p>
            <a:pPr marL="228594" indent="-228594" defTabSz="1219170">
              <a:spcAft>
                <a:spcPts val="533"/>
              </a:spcAft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1467" b="1" dirty="0">
                <a:solidFill>
                  <a:srgbClr val="000000"/>
                </a:solidFill>
                <a:latin typeface="Calibri" panose="020F0502020204030204"/>
              </a:rPr>
              <a:t>Elastic Net: </a:t>
            </a:r>
            <a:r>
              <a:rPr lang="en-US" sz="1467" dirty="0">
                <a:solidFill>
                  <a:srgbClr val="000000"/>
                </a:solidFill>
                <a:latin typeface="Calibri" panose="020F0502020204030204"/>
              </a:rPr>
              <a:t>does both at the same time</a:t>
            </a:r>
            <a:endParaRPr lang="en-US" sz="1533" dirty="0">
              <a:solidFill>
                <a:srgbClr val="000000"/>
              </a:solidFill>
              <a:latin typeface="Calibri" panose="020F0502020204030204"/>
            </a:endParaRPr>
          </a:p>
          <a:p>
            <a:pPr defTabSz="1219170"/>
            <a:endParaRPr lang="en-US" sz="24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0" y="0"/>
            <a:ext cx="12191520" cy="63360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/>
            <a:endParaRPr lang="en-US" sz="2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341280" y="48960"/>
            <a:ext cx="1060656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2933" b="1" dirty="0">
                <a:solidFill>
                  <a:srgbClr val="FFFFFF"/>
                </a:solidFill>
                <a:latin typeface="Calibri"/>
                <a:ea typeface="Calibri"/>
              </a:rPr>
              <a:t>Elastic Net Setup: V1 vs. V2</a:t>
            </a:r>
            <a:endParaRPr lang="en-US" sz="2933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10972800" y="48960"/>
            <a:ext cx="109680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algn="r" defTabSz="1219170">
              <a:tabLst>
                <a:tab pos="0" algn="l"/>
              </a:tabLst>
            </a:pPr>
            <a:r>
              <a:rPr lang="en-US" sz="1867">
                <a:solidFill>
                  <a:srgbClr val="AAAACC"/>
                </a:solidFill>
                <a:latin typeface="Calibri"/>
                <a:ea typeface="Calibri"/>
              </a:rPr>
              <a:t>5 / 12</a:t>
            </a:r>
            <a:endParaRPr lang="en-US" sz="1867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0" y="6559200"/>
            <a:ext cx="12191520" cy="29808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/>
            <a:endParaRPr lang="en-US" sz="2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243840" y="6571680"/>
            <a:ext cx="9143520" cy="2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1200">
                <a:solidFill>
                  <a:srgbClr val="AAAACC"/>
                </a:solidFill>
                <a:latin typeface="Calibri"/>
                <a:ea typeface="Calibri"/>
              </a:rPr>
              <a:t>DS 207  ·  Team Greed and Fear  ·  Elastic Net Volatility Forecasting  ·  March 2026</a:t>
            </a:r>
            <a:endParaRPr lang="en-US" sz="120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3" name="Table 0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2798915"/>
              </p:ext>
            </p:extLst>
          </p:nvPr>
        </p:nvGraphicFramePr>
        <p:xfrm>
          <a:off x="231600" y="1833441"/>
          <a:ext cx="11752800" cy="3312747"/>
        </p:xfrm>
        <a:graphic>
          <a:graphicData uri="http://schemas.openxmlformats.org/drawingml/2006/table">
            <a:tbl>
              <a:tblPr/>
              <a:tblGrid>
                <a:gridCol w="2535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1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7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5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 Tier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Features</a:t>
                      </a:r>
                      <a:endParaRPr lang="en-US" sz="16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Count</a:t>
                      </a:r>
                      <a:endParaRPr lang="en-US" sz="16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Role / Notes</a:t>
                      </a:r>
                      <a:endParaRPr lang="en-US" sz="16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V1 — Current-State Volatility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Current realized volatility (most recent observation)</a:t>
                      </a: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20-day trailing realized volatility</a:t>
                      </a: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900" b="1" u="none" strike="noStrike" dirty="0">
                          <a:solidFill>
                            <a:srgbClr val="1E844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</a:t>
                      </a:r>
                      <a:endParaRPr lang="en-US" sz="1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Pure vol-persistence model. </a:t>
                      </a: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Both features genuinely retained by Lasso.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170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V2 — Added Macro/Market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Volume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NYGOLDS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OIL_WTI_S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US_10Y_BOND_YLD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US_3M_TB_YLD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VIX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 dirty="0">
                          <a:solidFill>
                            <a:srgbClr val="00A8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</a:t>
                      </a:r>
                      <a:endParaRPr lang="en-US" sz="17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Current-state macro context. </a:t>
                      </a: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Only VIX survives Lasso regularization. </a:t>
                      </a: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Other 5 macro features zeroed out.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59A7459-E959-0EFB-A0FB-33A4AD2C3694}"/>
              </a:ext>
            </a:extLst>
          </p:cNvPr>
          <p:cNvSpPr txBox="1"/>
          <p:nvPr/>
        </p:nvSpPr>
        <p:spPr>
          <a:xfrm>
            <a:off x="231600" y="1038595"/>
            <a:ext cx="11728320" cy="35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1733" b="1" dirty="0">
                <a:solidFill>
                  <a:srgbClr val="000000"/>
                </a:solidFill>
                <a:latin typeface="Calibri" panose="020F0502020204030204"/>
              </a:rPr>
              <a:t>V2 tests whether macro and market context improves on the simple volatility-only V1 model</a:t>
            </a:r>
            <a:endParaRPr lang="en-US" sz="2400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12191520" cy="63360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/>
            <a:endParaRPr lang="en-US" sz="2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341280" y="48960"/>
            <a:ext cx="1060656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2933" b="1">
                <a:solidFill>
                  <a:srgbClr val="FFFFFF"/>
                </a:solidFill>
                <a:latin typeface="Calibri"/>
                <a:ea typeface="Calibri"/>
              </a:rPr>
              <a:t>Model Performance Results — 2025 Test Set (8,820 rows)</a:t>
            </a:r>
            <a:endParaRPr lang="en-US" sz="2933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10972800" y="48960"/>
            <a:ext cx="109680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algn="r" defTabSz="1219170">
              <a:tabLst>
                <a:tab pos="0" algn="l"/>
              </a:tabLst>
            </a:pPr>
            <a:r>
              <a:rPr lang="en-US" sz="1867">
                <a:solidFill>
                  <a:srgbClr val="AAAACC"/>
                </a:solidFill>
                <a:latin typeface="Calibri"/>
                <a:ea typeface="Calibri"/>
              </a:rPr>
              <a:t>6 / 12</a:t>
            </a:r>
            <a:endParaRPr lang="en-US" sz="1867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3"/>
          <p:cNvSpPr/>
          <p:nvPr/>
        </p:nvSpPr>
        <p:spPr>
          <a:xfrm>
            <a:off x="0" y="6559200"/>
            <a:ext cx="12191520" cy="29808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/>
            <a:endParaRPr lang="en-US" sz="2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243840" y="6571680"/>
            <a:ext cx="9143520" cy="2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1200">
                <a:solidFill>
                  <a:srgbClr val="AAAACC"/>
                </a:solidFill>
                <a:latin typeface="Calibri"/>
                <a:ea typeface="Calibri"/>
              </a:rPr>
              <a:t>DS 207  ·  Team Greed and Fear  ·  Elastic Net Volatility Forecasting  ·  March 2026</a:t>
            </a:r>
            <a:endParaRPr lang="en-US" sz="12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1372473" y="824585"/>
            <a:ext cx="8611228" cy="50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alibri"/>
                <a:ea typeface="Calibri"/>
              </a:rPr>
              <a:t>All results use the same 8,820-row test set. Lower MAE and RMSE are better; higher R² is better.</a:t>
            </a:r>
            <a:endParaRPr lang="en-US" sz="1600" b="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0" name="Table 0"/>
          <p:cNvGraphicFramePr/>
          <p:nvPr/>
        </p:nvGraphicFramePr>
        <p:xfrm>
          <a:off x="1450560" y="1803083"/>
          <a:ext cx="9290400" cy="4536800"/>
        </p:xfrm>
        <a:graphic>
          <a:graphicData uri="http://schemas.openxmlformats.org/drawingml/2006/table">
            <a:tbl>
              <a:tblPr/>
              <a:tblGrid>
                <a:gridCol w="258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23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3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0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 / Baseline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Candidate Features</a:t>
                      </a:r>
                      <a:endParaRPr lang="en-US" sz="15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Retained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Test MAE</a:t>
                      </a:r>
                      <a:endParaRPr lang="en-US" sz="15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Test RMSE</a:t>
                      </a:r>
                      <a:endParaRPr lang="en-US" sz="15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Test R²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vs XGBoost</a:t>
                      </a:r>
                      <a:endParaRPr lang="en-US" sz="15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4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V1 — Elastic Net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0.0855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0.1357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0.1794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+0.0032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4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00A8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V2 — Elastic Net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00A8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00A8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00A8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0.0846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00A8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0.1324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00A8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0.2188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00A8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+0.0024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4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 dirty="0">
                          <a:solidFill>
                            <a:srgbClr val="E89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XGBoost walk-forward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E89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0.0823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0.1352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0.1856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E89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BEST ★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4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baseline_avg_20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0.0922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0.1491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0.0088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+0.0099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4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baseline_avg_5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0.1005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0.1625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−0.1773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+0.0182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4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baseline_y_known_at_t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0.1020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0.1619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−0.1680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+0.0197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4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baseline_ols_20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0.1298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0.2091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−0.9498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+0.0475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4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baseline_ols_5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0.1644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0.2478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−1.7383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+0.0821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 5">
            <a:extLst>
              <a:ext uri="{FF2B5EF4-FFF2-40B4-BE49-F238E27FC236}">
                <a16:creationId xmlns:a16="http://schemas.microsoft.com/office/drawing/2014/main" id="{BD13B0C6-9175-E647-AE88-37C81EC4F178}"/>
              </a:ext>
            </a:extLst>
          </p:cNvPr>
          <p:cNvSpPr/>
          <p:nvPr/>
        </p:nvSpPr>
        <p:spPr>
          <a:xfrm>
            <a:off x="1372473" y="1296746"/>
            <a:ext cx="9774500" cy="384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/>
              </a:rPr>
              <a:t>Key takeaway: V2 is the strongest Elastic Net model, but XGBoost remains the benchmark to beat on test MAE.</a:t>
            </a:r>
            <a:endParaRPr lang="en-US" sz="1600" b="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6">
            <a:extLst>
              <a:ext uri="{FF2B5EF4-FFF2-40B4-BE49-F238E27FC236}">
                <a16:creationId xmlns:a16="http://schemas.microsoft.com/office/drawing/2014/main" id="{D3C723B6-84B5-A592-FFF5-03C0407F2AA6}"/>
              </a:ext>
            </a:extLst>
          </p:cNvPr>
          <p:cNvSpPr/>
          <p:nvPr/>
        </p:nvSpPr>
        <p:spPr>
          <a:xfrm>
            <a:off x="504161" y="4804523"/>
            <a:ext cx="5449629" cy="1255773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5"/>
          </a:solidFill>
          <a:ln w="12700">
            <a:solidFill>
              <a:srgbClr val="0B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What Elastic Net Retained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048695" y="20116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C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A45"/>
          </a:solidFill>
          <a:ln w="12700">
            <a:solidFill>
              <a:srgbClr val="0B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611112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207 · Team Greed and Fear · Elastic Net Volatility Forecasting · March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0692" y="1536192"/>
            <a:ext cx="5432908" cy="2971800"/>
          </a:xfrm>
          <a:prstGeom prst="rect">
            <a:avLst/>
          </a:prstGeom>
          <a:solidFill>
            <a:srgbClr val="DFF5E6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719072"/>
            <a:ext cx="4975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retained features (2/2)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130552"/>
            <a:ext cx="4892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1965960" cy="457200"/>
          </a:xfrm>
          <a:prstGeom prst="rect">
            <a:avLst/>
          </a:prstGeom>
          <a:solidFill>
            <a:srgbClr val="0B2A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" y="2221992"/>
            <a:ext cx="1746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97480" y="2148840"/>
            <a:ext cx="1097280" cy="457200"/>
          </a:xfrm>
          <a:prstGeom prst="rect">
            <a:avLst/>
          </a:prstGeom>
          <a:solidFill>
            <a:srgbClr val="0B2A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07208" y="2221992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94760" y="2148840"/>
            <a:ext cx="1828800" cy="457200"/>
          </a:xfrm>
          <a:prstGeom prst="rect">
            <a:avLst/>
          </a:prstGeom>
          <a:solidFill>
            <a:srgbClr val="0B2A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04488" y="2221992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1248" y="2651759"/>
            <a:ext cx="1755648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41248" y="2679192"/>
            <a:ext cx="17465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20-day trailing vol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679192" y="2642616"/>
            <a:ext cx="1069848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807208" y="2679192"/>
            <a:ext cx="87782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+0.0487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822192" y="2640002"/>
            <a:ext cx="1755648" cy="560397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94760" y="2606041"/>
            <a:ext cx="17830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Dominant, smoother persistence signal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1248" y="3264409"/>
            <a:ext cx="1746504" cy="563008"/>
          </a:xfrm>
          <a:prstGeom prst="rect">
            <a:avLst/>
          </a:prstGeom>
          <a:solidFill>
            <a:srgbClr val="F7FAFC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1248" y="3319272"/>
            <a:ext cx="17465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vol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697480" y="3278777"/>
            <a:ext cx="1033272" cy="548640"/>
          </a:xfrm>
          <a:prstGeom prst="rect">
            <a:avLst/>
          </a:prstGeom>
          <a:solidFill>
            <a:srgbClr val="F7FAFC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807208" y="3319272"/>
            <a:ext cx="87782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+0.0377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794760" y="3246120"/>
            <a:ext cx="1783080" cy="581297"/>
          </a:xfrm>
          <a:prstGeom prst="rect">
            <a:avLst/>
          </a:prstGeom>
          <a:solidFill>
            <a:srgbClr val="F7FAFC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50996" y="3280083"/>
            <a:ext cx="1726844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beyond the 20-day average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55868" y="1536192"/>
            <a:ext cx="5432908" cy="2971800"/>
          </a:xfrm>
          <a:prstGeom prst="rect">
            <a:avLst/>
          </a:prstGeom>
          <a:solidFill>
            <a:srgbClr val="DFF4FB"/>
          </a:solidFill>
          <a:ln w="15875">
            <a:solidFill>
              <a:srgbClr val="00A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84468" y="1719072"/>
            <a:ext cx="4975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retained features (3/8)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484468" y="2148840"/>
            <a:ext cx="4892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484468" y="2148840"/>
            <a:ext cx="1965960" cy="457200"/>
          </a:xfrm>
          <a:prstGeom prst="rect">
            <a:avLst/>
          </a:prstGeom>
          <a:solidFill>
            <a:srgbClr val="0B2A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94196" y="2221992"/>
            <a:ext cx="1746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50428" y="2148840"/>
            <a:ext cx="1097280" cy="457200"/>
          </a:xfrm>
          <a:prstGeom prst="rect">
            <a:avLst/>
          </a:prstGeom>
          <a:solidFill>
            <a:srgbClr val="0B2A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560156" y="2221992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547708" y="2148840"/>
            <a:ext cx="1828800" cy="457200"/>
          </a:xfrm>
          <a:prstGeom prst="rect">
            <a:avLst/>
          </a:prstGeom>
          <a:solidFill>
            <a:srgbClr val="0B2A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657436" y="2221992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84468" y="2606040"/>
            <a:ext cx="1965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94196" y="2679192"/>
            <a:ext cx="174650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20-day trailing vol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450428" y="2606040"/>
            <a:ext cx="1097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560156" y="2679192"/>
            <a:ext cx="87782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+0.0405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547708" y="260604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657436" y="2679192"/>
            <a:ext cx="160934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dominant; slightly smaller with VIX added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84468" y="3200400"/>
            <a:ext cx="1965960" cy="594360"/>
          </a:xfrm>
          <a:prstGeom prst="rect">
            <a:avLst/>
          </a:prstGeom>
          <a:solidFill>
            <a:srgbClr val="F7FAFC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94196" y="3273552"/>
            <a:ext cx="174650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vol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450428" y="3200400"/>
            <a:ext cx="1097280" cy="594360"/>
          </a:xfrm>
          <a:prstGeom prst="rect">
            <a:avLst/>
          </a:prstGeom>
          <a:solidFill>
            <a:srgbClr val="F7FAFC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560156" y="3273552"/>
            <a:ext cx="87782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+0.0323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547708" y="3200400"/>
            <a:ext cx="1828800" cy="594360"/>
          </a:xfrm>
          <a:prstGeom prst="rect">
            <a:avLst/>
          </a:prstGeom>
          <a:solidFill>
            <a:srgbClr val="F7FAFC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657436" y="3273552"/>
            <a:ext cx="160934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remains informative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484468" y="3794760"/>
            <a:ext cx="1965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594196" y="3867912"/>
            <a:ext cx="174650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8450428" y="3794760"/>
            <a:ext cx="1097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560156" y="3867912"/>
            <a:ext cx="87782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+0.0293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9547708" y="379476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657436" y="3867912"/>
            <a:ext cx="160934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implied volatility signal</a:t>
            </a:r>
            <a:endParaRPr lang="en-US" sz="1300" dirty="0"/>
          </a:p>
        </p:txBody>
      </p:sp>
      <p:sp>
        <p:nvSpPr>
          <p:cNvPr id="60" name="Shape 7">
            <a:extLst>
              <a:ext uri="{FF2B5EF4-FFF2-40B4-BE49-F238E27FC236}">
                <a16:creationId xmlns:a16="http://schemas.microsoft.com/office/drawing/2014/main" id="{FD349E88-F102-AB6B-4A74-3AA11753C701}"/>
              </a:ext>
            </a:extLst>
          </p:cNvPr>
          <p:cNvSpPr/>
          <p:nvPr/>
        </p:nvSpPr>
        <p:spPr>
          <a:xfrm>
            <a:off x="6269791" y="4804524"/>
            <a:ext cx="5432908" cy="1255772"/>
          </a:xfrm>
          <a:prstGeom prst="rect">
            <a:avLst/>
          </a:prstGeom>
          <a:solidFill>
            <a:srgbClr val="D6F2FA"/>
          </a:solidFill>
          <a:ln w="12700">
            <a:solidFill>
              <a:srgbClr val="00A8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6B13C97D-3A48-96FF-998F-CE8C71F1BDC5}"/>
              </a:ext>
            </a:extLst>
          </p:cNvPr>
          <p:cNvSpPr/>
          <p:nvPr/>
        </p:nvSpPr>
        <p:spPr>
          <a:xfrm>
            <a:off x="582152" y="4853724"/>
            <a:ext cx="5289987" cy="11573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spcAft>
                <a:spcPts val="400"/>
              </a:spcAft>
              <a:buClr>
                <a:srgbClr val="1A1A2E"/>
              </a:buClr>
            </a:pPr>
            <a:r>
              <a:rPr lang="en-US" sz="1300" b="1" dirty="0">
                <a:solidFill>
                  <a:srgbClr val="2E7D32"/>
                </a:solidFill>
                <a:ea typeface="Calibri" pitchFamily="34" charset="-122"/>
                <a:cs typeface="Calibri" pitchFamily="34" charset="-120"/>
              </a:rPr>
              <a:t>V1 Economic Meaning: Volatility</a:t>
            </a:r>
            <a:endParaRPr lang="en-US" sz="1300" b="1" u="none" strike="noStrike" dirty="0">
              <a:solidFill>
                <a:srgbClr val="1A1A2E"/>
              </a:solidFill>
              <a:effectLst/>
              <a:uFillTx/>
              <a:ea typeface="Calibri"/>
            </a:endParaRPr>
          </a:p>
          <a:p>
            <a:pPr marL="171450" indent="-171450" defTabSz="914400">
              <a:lnSpc>
                <a:spcPct val="100000"/>
              </a:lnSpc>
              <a:spcAft>
                <a:spcPts val="600"/>
              </a:spcAft>
              <a:buClr>
                <a:srgbClr val="1A1A2E"/>
              </a:buClr>
              <a:buFont typeface="Arial" panose="020B0604020202020204" pitchFamily="34" charset="0"/>
              <a:buChar char="•"/>
            </a:pPr>
            <a:r>
              <a:rPr lang="en-US" sz="1200" b="1" u="none" strike="noStrike" dirty="0">
                <a:solidFill>
                  <a:srgbClr val="1A1A2E"/>
                </a:solidFill>
                <a:effectLst/>
                <a:uFillTx/>
                <a:ea typeface="Calibri"/>
              </a:rPr>
              <a:t>Both coefficients are positive</a:t>
            </a:r>
          </a:p>
          <a:p>
            <a:pPr marL="171450" indent="-171450" defTabSz="914400">
              <a:lnSpc>
                <a:spcPct val="100000"/>
              </a:lnSpc>
              <a:spcAft>
                <a:spcPts val="600"/>
              </a:spcAft>
              <a:buClr>
                <a:srgbClr val="1A1A2E"/>
              </a:buClr>
              <a:buFont typeface="Arial" panose="020B0604020202020204" pitchFamily="34" charset="0"/>
              <a:buChar char="•"/>
            </a:pPr>
            <a:r>
              <a:rPr lang="en-US" sz="1200" b="1" u="none" strike="noStrike" dirty="0">
                <a:solidFill>
                  <a:srgbClr val="1A1A2E"/>
                </a:solidFill>
                <a:effectLst/>
                <a:uFillTx/>
                <a:ea typeface="Calibri"/>
              </a:rPr>
              <a:t>20-day trailing volatility is the stronger signal</a:t>
            </a:r>
          </a:p>
          <a:p>
            <a:pPr marL="171450" indent="-171450" defTabSz="914400">
              <a:lnSpc>
                <a:spcPct val="100000"/>
              </a:lnSpc>
              <a:spcAft>
                <a:spcPts val="600"/>
              </a:spcAft>
              <a:buClr>
                <a:srgbClr val="1A1A2E"/>
              </a:buClr>
              <a:buFont typeface="Arial" panose="020B0604020202020204" pitchFamily="34" charset="0"/>
              <a:buChar char="•"/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</a:rPr>
              <a:t>Current volatility recency</a:t>
            </a:r>
          </a:p>
          <a:p>
            <a:pPr marL="171450" indent="-171450" defTabSz="914400">
              <a:lnSpc>
                <a:spcPct val="100000"/>
              </a:lnSpc>
              <a:spcAft>
                <a:spcPts val="601"/>
              </a:spcAft>
              <a:buClr>
                <a:srgbClr val="1A1A2E"/>
              </a:buClr>
              <a:buFont typeface="Arial" panose="020B0604020202020204" pitchFamily="34" charset="0"/>
              <a:buChar char="•"/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00" name="Text 8">
            <a:extLst>
              <a:ext uri="{FF2B5EF4-FFF2-40B4-BE49-F238E27FC236}">
                <a16:creationId xmlns:a16="http://schemas.microsoft.com/office/drawing/2014/main" id="{CCF61E46-DCB3-164B-99B6-3C57DF654206}"/>
              </a:ext>
            </a:extLst>
          </p:cNvPr>
          <p:cNvSpPr/>
          <p:nvPr/>
        </p:nvSpPr>
        <p:spPr>
          <a:xfrm>
            <a:off x="6338571" y="4853725"/>
            <a:ext cx="5295347" cy="9984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spcAft>
                <a:spcPts val="400"/>
              </a:spcAft>
              <a:tabLst>
                <a:tab pos="0" algn="l"/>
              </a:tabLst>
            </a:pPr>
            <a:r>
              <a:rPr lang="en-US" sz="1400" b="1" dirty="0">
                <a:solidFill>
                  <a:srgbClr val="00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Why VIX Survives</a:t>
            </a:r>
            <a:endParaRPr lang="en-US" sz="1300" b="1" u="none" strike="noStrike" dirty="0">
              <a:solidFill>
                <a:srgbClr val="1A1A2E"/>
              </a:solidFill>
              <a:effectLst/>
              <a:uFillTx/>
              <a:ea typeface="Calibri"/>
            </a:endParaRPr>
          </a:p>
          <a:p>
            <a:pPr marL="171450" indent="-171450" defTabSz="9144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A1A2E"/>
                </a:solidFill>
                <a:effectLst/>
                <a:uFillTx/>
                <a:ea typeface="Calibri"/>
              </a:rPr>
              <a:t>V</a:t>
            </a:r>
            <a:r>
              <a:rPr lang="en-US" sz="1200" b="1" dirty="0">
                <a:solidFill>
                  <a:srgbClr val="1A1A2E"/>
                </a:solidFill>
                <a:ea typeface="Calibri"/>
              </a:rPr>
              <a:t>IX</a:t>
            </a:r>
            <a:r>
              <a:rPr lang="en-US" sz="1200" b="1" u="none" strike="noStrike" dirty="0">
                <a:solidFill>
                  <a:srgbClr val="1A1A2E"/>
                </a:solidFill>
                <a:effectLst/>
                <a:uFillTx/>
                <a:ea typeface="Calibri"/>
              </a:rPr>
              <a:t> forward-looking, while the other retained volatility measures are backward-looking.</a:t>
            </a:r>
            <a:endParaRPr lang="en-US" sz="1200" b="1" dirty="0">
              <a:solidFill>
                <a:srgbClr val="1A1A2E"/>
              </a:solidFill>
              <a:ea typeface="Calibri"/>
            </a:endParaRPr>
          </a:p>
          <a:p>
            <a:pPr marL="171450" indent="-171450" defTabSz="9144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000000"/>
                </a:solidFill>
                <a:effectLst/>
                <a:uFillTx/>
              </a:rPr>
              <a:t>That gives VIX unique predictive value in V2.</a:t>
            </a:r>
          </a:p>
        </p:txBody>
      </p:sp>
      <p:sp>
        <p:nvSpPr>
          <p:cNvPr id="101" name="Text 5">
            <a:extLst>
              <a:ext uri="{FF2B5EF4-FFF2-40B4-BE49-F238E27FC236}">
                <a16:creationId xmlns:a16="http://schemas.microsoft.com/office/drawing/2014/main" id="{93BDD627-9A92-B266-94CA-7154B61271BB}"/>
              </a:ext>
            </a:extLst>
          </p:cNvPr>
          <p:cNvSpPr/>
          <p:nvPr/>
        </p:nvSpPr>
        <p:spPr>
          <a:xfrm>
            <a:off x="520882" y="896111"/>
            <a:ext cx="5432908" cy="5303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00" b="1" dirty="0"/>
              <a:t>V1 retains two current-state volatility features.</a:t>
            </a:r>
          </a:p>
          <a:p>
            <a:pPr>
              <a:tabLst>
                <a:tab pos="0" algn="l"/>
              </a:tabLst>
            </a:pPr>
            <a:r>
              <a:rPr lang="en-US" sz="1300" b="1" dirty="0"/>
              <a:t>20-day trailing volatility term is the stronger predictor.</a:t>
            </a:r>
            <a:endParaRPr lang="en-US" sz="1300" b="1" u="none" strike="noStrike" dirty="0">
              <a:effectLst/>
              <a:uFillTx/>
              <a:latin typeface="Arial"/>
            </a:endParaRPr>
          </a:p>
        </p:txBody>
      </p:sp>
      <p:sp>
        <p:nvSpPr>
          <p:cNvPr id="102" name="Text 5">
            <a:extLst>
              <a:ext uri="{FF2B5EF4-FFF2-40B4-BE49-F238E27FC236}">
                <a16:creationId xmlns:a16="http://schemas.microsoft.com/office/drawing/2014/main" id="{F4A5F84F-65E6-8FA9-813D-75D3989A7BBE}"/>
              </a:ext>
            </a:extLst>
          </p:cNvPr>
          <p:cNvSpPr/>
          <p:nvPr/>
        </p:nvSpPr>
        <p:spPr>
          <a:xfrm>
            <a:off x="6255868" y="896110"/>
            <a:ext cx="5432907" cy="5303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effectLst/>
                <a:uFillTx/>
                <a:latin typeface="Calibri"/>
                <a:ea typeface="Calibri"/>
              </a:rPr>
              <a:t>V2 adds six macro and market features.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effectLst/>
                <a:uFillTx/>
                <a:latin typeface="Calibri"/>
                <a:ea typeface="Calibri"/>
              </a:rPr>
              <a:t>Only VIX is retained; the others are shrunk to zero. </a:t>
            </a:r>
            <a:endParaRPr lang="en-US" sz="1300" b="1" u="none" strike="noStrike" dirty="0"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0"/>
          <p:cNvSpPr/>
          <p:nvPr/>
        </p:nvSpPr>
        <p:spPr>
          <a:xfrm>
            <a:off x="0" y="0"/>
            <a:ext cx="12191520" cy="63360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/>
            <a:endParaRPr lang="en-US" sz="2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341280" y="48960"/>
            <a:ext cx="1060656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2933" b="1">
                <a:solidFill>
                  <a:srgbClr val="FFFFFF"/>
                </a:solidFill>
                <a:latin typeface="Calibri"/>
                <a:ea typeface="Calibri"/>
              </a:rPr>
              <a:t>Subgroup Breakdown: Market / Sector / Industry ETFs</a:t>
            </a:r>
            <a:endParaRPr lang="en-US" sz="2933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2"/>
          <p:cNvSpPr/>
          <p:nvPr/>
        </p:nvSpPr>
        <p:spPr>
          <a:xfrm>
            <a:off x="10972800" y="48960"/>
            <a:ext cx="109680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algn="r" defTabSz="1219170">
              <a:tabLst>
                <a:tab pos="0" algn="l"/>
              </a:tabLst>
            </a:pPr>
            <a:r>
              <a:rPr lang="en-US" sz="1867">
                <a:solidFill>
                  <a:srgbClr val="AAAACC"/>
                </a:solidFill>
                <a:latin typeface="Calibri"/>
                <a:ea typeface="Calibri"/>
              </a:rPr>
              <a:t>10 / 12</a:t>
            </a:r>
            <a:endParaRPr lang="en-US" sz="1867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3"/>
          <p:cNvSpPr/>
          <p:nvPr/>
        </p:nvSpPr>
        <p:spPr>
          <a:xfrm>
            <a:off x="0" y="6559200"/>
            <a:ext cx="12191520" cy="29808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/>
            <a:endParaRPr lang="en-US" sz="2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243840" y="6571680"/>
            <a:ext cx="9143520" cy="2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1200">
                <a:solidFill>
                  <a:srgbClr val="AAAACC"/>
                </a:solidFill>
                <a:latin typeface="Calibri"/>
                <a:ea typeface="Calibri"/>
              </a:rPr>
              <a:t>DS 207  ·  Team Greed and Fear  ·  Elastic Net Volatility Forecasting  ·  March 2026</a:t>
            </a:r>
            <a:endParaRPr lang="en-US" sz="12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219360" y="914592"/>
            <a:ext cx="11752800" cy="46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alibri"/>
                <a:ea typeface="Calibri"/>
              </a:rPr>
              <a:t>Performance by ETF subgroup. Industry ETFs are hardest to forecast because idiosyncratic risk is less well captured by aggregate volatility signals. V2’s clearest MAE improvement appears at the industry level.</a:t>
            </a:r>
            <a:endParaRPr lang="en-US" sz="1600" b="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7" name="Table 0"/>
          <p:cNvGraphicFramePr/>
          <p:nvPr/>
        </p:nvGraphicFramePr>
        <p:xfrm>
          <a:off x="341281" y="1658304"/>
          <a:ext cx="9757184" cy="2926080"/>
        </p:xfrm>
        <a:graphic>
          <a:graphicData uri="http://schemas.openxmlformats.org/drawingml/2006/table">
            <a:tbl>
              <a:tblPr/>
              <a:tblGrid>
                <a:gridCol w="125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2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26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26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2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26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426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Group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 Rows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V1 MAE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V2 MAE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V1 RMSE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V2 RMSE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V1 R²</a:t>
                      </a:r>
                      <a:endParaRPr lang="en-US" sz="15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V2 R²</a:t>
                      </a:r>
                      <a:endParaRPr lang="en-US" sz="15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ΔMAE (V2 – V1)</a:t>
                      </a:r>
                      <a:endParaRPr lang="en-US" sz="15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Market ETF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245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0.0792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0.0802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0.1264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0.1225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0.1442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0.1973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+0.0010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Sector ETF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3,185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0.0737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0.0743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0.1148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0.1123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0.1410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0.1774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+0.0006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Industry ETF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5,390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0.0927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0.0910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0.1470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0.1433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0.1367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0.1796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 dirty="0">
                          <a:solidFill>
                            <a:srgbClr val="1E844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−0.0017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6">
            <a:extLst>
              <a:ext uri="{FF2B5EF4-FFF2-40B4-BE49-F238E27FC236}">
                <a16:creationId xmlns:a16="http://schemas.microsoft.com/office/drawing/2014/main" id="{01849EE1-5C09-0D46-FCAF-E2F7074FBF94}"/>
              </a:ext>
            </a:extLst>
          </p:cNvPr>
          <p:cNvSpPr/>
          <p:nvPr/>
        </p:nvSpPr>
        <p:spPr>
          <a:xfrm>
            <a:off x="219360" y="5355485"/>
            <a:ext cx="11728320" cy="655076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/>
            <a:endParaRPr lang="en-US" sz="24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B21DDC88-7C04-F54C-3AE7-D745E4049CFC}"/>
              </a:ext>
            </a:extLst>
          </p:cNvPr>
          <p:cNvSpPr/>
          <p:nvPr/>
        </p:nvSpPr>
        <p:spPr>
          <a:xfrm>
            <a:off x="316800" y="5441602"/>
            <a:ext cx="11338080" cy="4791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/>
              </a:rPr>
              <a:t>Key takeaway: V2 improves R² in all subgroups, but lowers MAE only for industry ETFs.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96AA78-C1BE-A6FB-5D39-EE8CFBCC2CDA}"/>
              </a:ext>
            </a:extLst>
          </p:cNvPr>
          <p:cNvSpPr txBox="1"/>
          <p:nvPr/>
        </p:nvSpPr>
        <p:spPr>
          <a:xfrm>
            <a:off x="341280" y="4649474"/>
            <a:ext cx="3971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1600" b="1" dirty="0">
                <a:solidFill>
                  <a:srgbClr val="000000"/>
                </a:solidFill>
                <a:latin typeface="Calibri" panose="020F0502020204030204"/>
              </a:rPr>
              <a:t>Note: Negative </a:t>
            </a:r>
            <a:r>
              <a:rPr lang="el-GR" sz="1600" b="1" dirty="0">
                <a:solidFill>
                  <a:srgbClr val="000000"/>
                </a:solidFill>
                <a:latin typeface="Calibri" panose="020F0502020204030204"/>
              </a:rPr>
              <a:t>Δ</a:t>
            </a:r>
            <a:r>
              <a:rPr lang="en-US" sz="1600" b="1" dirty="0">
                <a:solidFill>
                  <a:srgbClr val="000000"/>
                </a:solidFill>
                <a:latin typeface="Calibri" panose="020F0502020204030204"/>
              </a:rPr>
              <a:t>MAE is better.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0" y="0"/>
            <a:ext cx="12191520" cy="63360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/>
            <a:endParaRPr lang="en-US" sz="2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341280" y="48960"/>
            <a:ext cx="1158192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2933" b="1" dirty="0">
                <a:solidFill>
                  <a:srgbClr val="FFFFFF"/>
                </a:solidFill>
                <a:latin typeface="Calibri"/>
                <a:ea typeface="Calibri"/>
              </a:rPr>
              <a:t>Conclusions</a:t>
            </a:r>
            <a:endParaRPr lang="en-US" sz="2933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0" y="6559200"/>
            <a:ext cx="12191520" cy="29808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/>
            <a:endParaRPr lang="en-US" sz="24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243840" y="6571680"/>
            <a:ext cx="9143520" cy="2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1200">
                <a:solidFill>
                  <a:srgbClr val="AAAACC"/>
                </a:solidFill>
                <a:latin typeface="Calibri"/>
                <a:ea typeface="Calibri"/>
              </a:rPr>
              <a:t>DS 207  ·  Team Greed and Fear  ·  Elastic Net Volatility Forecasting  ·  March 2026</a:t>
            </a:r>
            <a:endParaRPr lang="en-US" sz="12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4"/>
          <p:cNvSpPr/>
          <p:nvPr/>
        </p:nvSpPr>
        <p:spPr>
          <a:xfrm>
            <a:off x="219600" y="1045032"/>
            <a:ext cx="11752800" cy="2339365"/>
          </a:xfrm>
          <a:prstGeom prst="rect">
            <a:avLst/>
          </a:prstGeom>
          <a:solidFill>
            <a:srgbClr val="D6F2FA"/>
          </a:solidFill>
          <a:ln w="19050">
            <a:solidFill>
              <a:srgbClr val="00A8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defTabSz="1219170"/>
            <a:endParaRPr lang="en-US" sz="24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341520" y="1103040"/>
            <a:ext cx="3535200" cy="36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1733" b="1" dirty="0">
                <a:solidFill>
                  <a:srgbClr val="00A8CC"/>
                </a:solidFill>
                <a:latin typeface="Calibri"/>
                <a:ea typeface="Calibri"/>
              </a:rPr>
              <a:t>Key Conclusions</a:t>
            </a:r>
            <a:endParaRPr lang="en-US" sz="1733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6"/>
          <p:cNvSpPr/>
          <p:nvPr/>
        </p:nvSpPr>
        <p:spPr>
          <a:xfrm>
            <a:off x="341520" y="1468321"/>
            <a:ext cx="11423520" cy="18255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228594" indent="-228594" defTabSz="1219170">
              <a:spcAft>
                <a:spcPts val="665"/>
              </a:spcAft>
              <a:buClr>
                <a:srgbClr val="1A1A2E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A2E"/>
                </a:solidFill>
                <a:latin typeface="Calibri" panose="020F0502020204030204"/>
                <a:ea typeface="Calibri"/>
              </a:rPr>
              <a:t>V1 showed that current-state volatility features carry real predictive signal.</a:t>
            </a:r>
          </a:p>
          <a:p>
            <a:pPr marL="228594" indent="-228594" defTabSz="1219170">
              <a:spcAft>
                <a:spcPts val="665"/>
              </a:spcAft>
              <a:buClr>
                <a:srgbClr val="1A1A2E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/>
              </a:rPr>
              <a:t>V2 improved on V1 modestly, and most of that improvement came from VIX.</a:t>
            </a:r>
          </a:p>
          <a:p>
            <a:pPr marL="228594" indent="-228594" defTabSz="1219170">
              <a:spcAft>
                <a:spcPts val="665"/>
              </a:spcAft>
              <a:buClr>
                <a:srgbClr val="1A1A2E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/>
              </a:rPr>
              <a:t>V2 was the best Elastic Net model, but XGBoost remained the strongest benchmark on test MAE.</a:t>
            </a:r>
          </a:p>
          <a:p>
            <a:pPr marL="228594" indent="-228594" defTabSz="1219170">
              <a:spcAft>
                <a:spcPts val="665"/>
              </a:spcAft>
              <a:buClr>
                <a:srgbClr val="1A1A2E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/>
              </a:rPr>
              <a:t>All retained coefficients were positive, consistent with volatility clustering and persistence.</a:t>
            </a:r>
          </a:p>
          <a:p>
            <a:pPr marL="228594" indent="-228594" defTabSz="1219170">
              <a:spcAft>
                <a:spcPts val="665"/>
              </a:spcAft>
              <a:buClr>
                <a:srgbClr val="1A1A2E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/>
              </a:rPr>
              <a:t>Overall, Elastic Net provided a transparent and interpretable benchmark for the project.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968</Words>
  <Application>Microsoft Office PowerPoint</Application>
  <PresentationFormat>Widescreen</PresentationFormat>
  <Paragraphs>210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Consolas</vt:lpstr>
      <vt:lpstr>Symbol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Vinit Bhatt</cp:lastModifiedBy>
  <cp:revision>10</cp:revision>
  <dcterms:created xsi:type="dcterms:W3CDTF">2026-03-29T04:14:24Z</dcterms:created>
  <dcterms:modified xsi:type="dcterms:W3CDTF">2026-03-29T19:14:54Z</dcterms:modified>
</cp:coreProperties>
</file>