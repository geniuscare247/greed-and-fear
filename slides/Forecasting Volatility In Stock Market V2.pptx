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2.xml" ContentType="application/vnd.openxmlformats-officedocument.presentationml.tags+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20"/>
  </p:notesMasterIdLst>
  <p:sldIdLst>
    <p:sldId id="272" r:id="rId3"/>
    <p:sldId id="256" r:id="rId4"/>
    <p:sldId id="286" r:id="rId5"/>
    <p:sldId id="260" r:id="rId6"/>
    <p:sldId id="257" r:id="rId7"/>
    <p:sldId id="263" r:id="rId8"/>
    <p:sldId id="267" r:id="rId9"/>
    <p:sldId id="270" r:id="rId10"/>
    <p:sldId id="271" r:id="rId11"/>
    <p:sldId id="273" r:id="rId12"/>
    <p:sldId id="287" r:id="rId13"/>
    <p:sldId id="274" r:id="rId14"/>
    <p:sldId id="288" r:id="rId15"/>
    <p:sldId id="282" r:id="rId16"/>
    <p:sldId id="280" r:id="rId17"/>
    <p:sldId id="276" r:id="rId18"/>
    <p:sldId id="268"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F3CF"/>
    <a:srgbClr val="EBF5FB"/>
    <a:srgbClr val="F5F6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8" autoAdjust="0"/>
    <p:restoredTop sz="84172" autoAdjust="0"/>
  </p:normalViewPr>
  <p:slideViewPr>
    <p:cSldViewPr snapToGrid="0" snapToObjects="1">
      <p:cViewPr>
        <p:scale>
          <a:sx n="105" d="100"/>
          <a:sy n="105" d="100"/>
        </p:scale>
        <p:origin x="56"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42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30E27-3341-8D58-EFE0-6D22A3F8B4A3}"/>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D83479BE-F067-05E5-3FF8-E66FBFADB4F9}"/>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AE9E29B2-8658-1A52-7E1D-9AC38CB66F3D}"/>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039CF368-DD7A-E67E-A06B-7563E9AD49E6}"/>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2247918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04D5C-9F01-8CD6-7E77-6A19B7D41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7E64-43D3-F26D-6B48-06B0342A6C7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FECE03-380F-65C2-A48E-889615CDC11A}"/>
              </a:ext>
            </a:extLst>
          </p:cNvPr>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a:extLst>
              <a:ext uri="{FF2B5EF4-FFF2-40B4-BE49-F238E27FC236}">
                <a16:creationId xmlns:a16="http://schemas.microsoft.com/office/drawing/2014/main" id="{A8228FFE-6455-1C96-2BB3-D82361ED80A1}"/>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7286386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[Sources]
- Uploaded PDF: DATASCI 207 — ETF Volatility Dataset: Time-Series EDA (EDA_ETF_Volatility_TimeSeries_vb_done_021126_VB_021026) — used for the checklist text and plot thumbnails.
- Uploaded PPTX: project slide deck (style reference for header/footer and typography).
[/Sources]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62D1D-100A-9BF4-C08D-8DE1D559B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D3E7F2-6B5C-B694-D2CE-1FD0E11B3C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DBA7ED3-720E-44B9-946C-EB13DEABD327}"/>
              </a:ext>
            </a:extLst>
          </p:cNvPr>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a:extLst>
              <a:ext uri="{FF2B5EF4-FFF2-40B4-BE49-F238E27FC236}">
                <a16:creationId xmlns:a16="http://schemas.microsoft.com/office/drawing/2014/main" id="{14C2FB2B-BDB5-C4C6-EB3D-C26667012402}"/>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03367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1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Coefficient interpretation for V1 and V2 (Elastic Net).
[Sources]
- elastic_net_vol_v1v2_vb_done_032726.ipynb (user-provided notebook)
- elastic_net_vol_slides_wip_032726.pptx (user-provided deck)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DD616-2E0A-5CA5-FAD2-3E7652DDAC99}"/>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CD61C938-BD10-5839-4160-D3350AC5B8E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0F16ED71-5446-4139-8B84-900E3C7BBB34}"/>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D7F721B-2ECE-2160-B713-1B41E9F317F8}"/>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6173146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BF800-DBE5-1785-12C6-9EA6C533FD84}"/>
            </a:ext>
          </a:extLst>
        </p:cNvPr>
        <p:cNvGrpSpPr/>
        <p:nvPr/>
      </p:nvGrpSpPr>
      <p:grpSpPr>
        <a:xfrm>
          <a:off x="0" y="0"/>
          <a:ext cx="0" cy="0"/>
          <a:chOff x="0" y="0"/>
          <a:chExt cx="0" cy="0"/>
        </a:xfrm>
      </p:grpSpPr>
      <p:sp>
        <p:nvSpPr>
          <p:cNvPr id="210" name="PlaceHolder 1">
            <a:extLst>
              <a:ext uri="{FF2B5EF4-FFF2-40B4-BE49-F238E27FC236}">
                <a16:creationId xmlns:a16="http://schemas.microsoft.com/office/drawing/2014/main" id="{9A2811E6-4D50-7298-49B6-682954F337E3}"/>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a:extLst>
              <a:ext uri="{FF2B5EF4-FFF2-40B4-BE49-F238E27FC236}">
                <a16:creationId xmlns:a16="http://schemas.microsoft.com/office/drawing/2014/main" id="{92D43C77-5DB8-1F7C-7018-98FAB18D5528}"/>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12" name="PlaceHolder 3">
            <a:extLst>
              <a:ext uri="{FF2B5EF4-FFF2-40B4-BE49-F238E27FC236}">
                <a16:creationId xmlns:a16="http://schemas.microsoft.com/office/drawing/2014/main" id="{4A34DC90-2D07-753F-A53D-DFB67C5DD8CE}"/>
              </a:ext>
            </a:extLst>
          </p:cNvPr>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65606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E657A-B680-1396-322F-FC663BB7F61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9C4F7010-23FA-B7E2-5114-6D3F40BF455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916653ED-2156-E169-CDB0-D49DCA6FA645}"/>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2C9D295-0937-AB72-94AD-92DD6918EE3C}"/>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646322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F89DE-A4D5-8BD5-278D-BE85F51C6BCC}"/>
            </a:ext>
          </a:extLst>
        </p:cNvPr>
        <p:cNvGrpSpPr/>
        <p:nvPr/>
      </p:nvGrpSpPr>
      <p:grpSpPr>
        <a:xfrm>
          <a:off x="0" y="0"/>
          <a:ext cx="0" cy="0"/>
          <a:chOff x="0" y="0"/>
          <a:chExt cx="0" cy="0"/>
        </a:xfrm>
      </p:grpSpPr>
      <p:sp>
        <p:nvSpPr>
          <p:cNvPr id="210" name="PlaceHolder 1">
            <a:extLst>
              <a:ext uri="{FF2B5EF4-FFF2-40B4-BE49-F238E27FC236}">
                <a16:creationId xmlns:a16="http://schemas.microsoft.com/office/drawing/2014/main" id="{B9E975BB-82B5-6479-33DB-3D85B10F04B7}"/>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a:extLst>
              <a:ext uri="{FF2B5EF4-FFF2-40B4-BE49-F238E27FC236}">
                <a16:creationId xmlns:a16="http://schemas.microsoft.com/office/drawing/2014/main" id="{CF6B09BC-932E-56CE-7E9B-A51D7341277A}"/>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Building a transformer requires a lot of specific choices to optimize the hyperparameters in the architecture.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Due to its high memorization ability, we should keep the number of encoder blocks simple, approximately 2 to 4. Any more than that and we see a large amount of overfitting.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This is paired with the Dropout (or Mask Padding in Ronald’s model), making our model ignore random weights in order to force the model to generalize well, not just memorize all of the data it sees. </a:t>
            </a:r>
          </a:p>
          <a:p>
            <a:pPr indent="0">
              <a:buNone/>
            </a:pPr>
            <a:endParaRPr lang="en-US" sz="1800" b="0" u="none" strike="noStrike" dirty="0">
              <a:solidFill>
                <a:srgbClr val="000000"/>
              </a:solidFill>
              <a:effectLst/>
              <a:uFillTx/>
              <a:latin typeface="Arial"/>
            </a:endParaRPr>
          </a:p>
          <a:p>
            <a:pPr indent="0">
              <a:buNone/>
            </a:pPr>
            <a:r>
              <a:rPr lang="en-US" sz="1800" b="0" u="none" strike="noStrike" dirty="0">
                <a:solidFill>
                  <a:srgbClr val="000000"/>
                </a:solidFill>
                <a:effectLst/>
                <a:uFillTx/>
                <a:latin typeface="Arial"/>
              </a:rPr>
              <a:t>Within the Encoder, we must make decisions on the Sequence length, Head Size, and the Feed Forward dimension. The Sequence Length determines how many days of history we look at (since one of our V2 variables looks at the past 20 days, I set this length to 21).</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Choosing Epochs is tricky: Transformers learn slowly but are also extremely consuming per epoch to calculate. We have to set a high epoch limit and let them train over a lengthened period of time, and rely on Early Stopping to check when our performance plateaus. </a:t>
            </a:r>
          </a:p>
          <a:p>
            <a:pPr indent="0">
              <a:buNone/>
            </a:pPr>
            <a:endParaRPr lang="en-US" sz="1800" b="0" u="none" strike="noStrike" dirty="0">
              <a:solidFill>
                <a:srgbClr val="000000"/>
              </a:solidFill>
              <a:effectLst/>
              <a:uFillTx/>
              <a:latin typeface="Arial"/>
            </a:endParaRPr>
          </a:p>
          <a:p>
            <a:pPr indent="0">
              <a:buNone/>
            </a:pPr>
            <a:endParaRPr lang="en-US" sz="1800" b="0" u="none" strike="noStrike" dirty="0">
              <a:solidFill>
                <a:srgbClr val="000000"/>
              </a:solidFill>
              <a:effectLst/>
              <a:uFillTx/>
              <a:latin typeface="Arial"/>
            </a:endParaRPr>
          </a:p>
        </p:txBody>
      </p:sp>
      <p:sp>
        <p:nvSpPr>
          <p:cNvPr id="212" name="PlaceHolder 3">
            <a:extLst>
              <a:ext uri="{FF2B5EF4-FFF2-40B4-BE49-F238E27FC236}">
                <a16:creationId xmlns:a16="http://schemas.microsoft.com/office/drawing/2014/main" id="{9E4B7CE4-54DE-3619-CEEE-1EF4579AC706}"/>
              </a:ext>
            </a:extLst>
          </p:cNvPr>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9932212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4F8E7-4A5A-B293-E545-D97C3D1523D7}"/>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CC4C3637-C2C5-7BDE-9041-E2252E695EB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29E6DDEF-4BB3-258C-0600-79695349BB62}"/>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a:extLst>
              <a:ext uri="{FF2B5EF4-FFF2-40B4-BE49-F238E27FC236}">
                <a16:creationId xmlns:a16="http://schemas.microsoft.com/office/drawing/2014/main" id="{8AD9C1E5-475D-9E13-1D3B-7EF48FFC6291}"/>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7964518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50FA0-3662-CBE5-E69D-0F20CB7A8CC8}"/>
            </a:ext>
          </a:extLst>
        </p:cNvPr>
        <p:cNvGrpSpPr/>
        <p:nvPr/>
      </p:nvGrpSpPr>
      <p:grpSpPr>
        <a:xfrm>
          <a:off x="0" y="0"/>
          <a:ext cx="0" cy="0"/>
          <a:chOff x="0" y="0"/>
          <a:chExt cx="0" cy="0"/>
        </a:xfrm>
      </p:grpSpPr>
      <p:sp>
        <p:nvSpPr>
          <p:cNvPr id="219" name="PlaceHolder 1">
            <a:extLst>
              <a:ext uri="{FF2B5EF4-FFF2-40B4-BE49-F238E27FC236}">
                <a16:creationId xmlns:a16="http://schemas.microsoft.com/office/drawing/2014/main" id="{CBB2859C-963A-B26C-1362-9F2A50F1F5CE}"/>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20" name="PlaceHolder 2">
            <a:extLst>
              <a:ext uri="{FF2B5EF4-FFF2-40B4-BE49-F238E27FC236}">
                <a16:creationId xmlns:a16="http://schemas.microsoft.com/office/drawing/2014/main" id="{3E9184C3-936B-89D6-E609-5ADF5AE6128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21" name="PlaceHolder 3">
            <a:extLst>
              <a:ext uri="{FF2B5EF4-FFF2-40B4-BE49-F238E27FC236}">
                <a16:creationId xmlns:a16="http://schemas.microsoft.com/office/drawing/2014/main" id="{3FEC6C48-3DBE-93DE-D14A-767F3DB1B934}"/>
              </a:ext>
            </a:extLst>
          </p:cNvPr>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F1260DA-6912-4A9B-8AD9-FC04EB69A99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4088786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810B-6E70-C868-17A4-62348C2C3A5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EF047777-8674-B6A7-162D-B935BA422C8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D8D668EC-FB43-A0F4-6543-EDBA074E35E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06" name="PlaceHolder 3">
            <a:extLst>
              <a:ext uri="{FF2B5EF4-FFF2-40B4-BE49-F238E27FC236}">
                <a16:creationId xmlns:a16="http://schemas.microsoft.com/office/drawing/2014/main" id="{87487499-DD1B-46AD-D013-BB05AC06009E}"/>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34099677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1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8801C66-0D28-445B-8BDC-B7CD68A3718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607643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a:noFill/>
          <a:ln w="0">
            <a:noFill/>
          </a:ln>
        </p:spPr>
        <p:txBody>
          <a:bodyPr lIns="0" tIns="0" rIns="0" bIns="0" anchor="ctr">
            <a:noAutofit/>
          </a:bodyPr>
          <a:lstStyle/>
          <a:p>
            <a:pPr indent="0">
              <a:buNone/>
            </a:pPr>
            <a:r>
              <a:rPr lang="en-US" sz="2400" b="0" u="none" strike="noStrike">
                <a:solidFill>
                  <a:schemeClr val="dk1"/>
                </a:solidFill>
                <a:effectLst/>
                <a:uFillTx/>
                <a:latin typeface="Calibri"/>
              </a:rPr>
              <a:t>Click to edit the title text format</a:t>
            </a:r>
          </a:p>
        </p:txBody>
      </p:sp>
      <p:sp>
        <p:nvSpPr>
          <p:cNvPr id="3" name="PlaceHolder 2"/>
          <p:cNvSpPr>
            <a:spLocks noGrp="1"/>
          </p:cNvSpPr>
          <p:nvPr>
            <p:ph type="body"/>
          </p:nvPr>
        </p:nvSpPr>
        <p:spPr>
          <a:xfrm>
            <a:off x="609600" y="1604640"/>
            <a:ext cx="1097232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4267" b="0" u="none" strike="noStrike">
                <a:solidFill>
                  <a:schemeClr val="dk1"/>
                </a:solidFill>
                <a:effectLst/>
                <a:uFillTx/>
                <a:latin typeface="Calibri"/>
              </a:rPr>
              <a:t>Click to edit the outline text format</a:t>
            </a:r>
          </a:p>
          <a:p>
            <a:pPr marL="1151971" lvl="1" indent="-431989">
              <a:spcBef>
                <a:spcPts val="1512"/>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1727957" lvl="2" indent="-383990">
              <a:spcBef>
                <a:spcPts val="1133"/>
              </a:spcBef>
              <a:buClr>
                <a:srgbClr val="000000"/>
              </a:buClr>
              <a:buSzPct val="45000"/>
              <a:buFont typeface="Wingdings" charset="2"/>
              <a:buChar char=""/>
            </a:pPr>
            <a:r>
              <a:rPr lang="en-US" sz="2667" b="0" u="none" strike="noStrike">
                <a:solidFill>
                  <a:schemeClr val="dk1"/>
                </a:solidFill>
                <a:effectLst/>
                <a:uFillTx/>
                <a:latin typeface="Calibri"/>
              </a:rPr>
              <a:t>Third Outline Level</a:t>
            </a:r>
          </a:p>
          <a:p>
            <a:pPr marL="2303942" lvl="3" indent="-287993">
              <a:spcBef>
                <a:spcPts val="756"/>
              </a:spcBef>
              <a:buClr>
                <a:srgbClr val="000000"/>
              </a:buClr>
              <a:buSzPct val="75000"/>
              <a:buFont typeface="Symbol" charset="2"/>
              <a:buChar char=""/>
            </a:pPr>
            <a:r>
              <a:rPr lang="en-US" sz="2667" b="0" u="none" strike="noStrike">
                <a:solidFill>
                  <a:schemeClr val="dk1"/>
                </a:solidFill>
                <a:effectLst/>
                <a:uFillTx/>
                <a:latin typeface="Calibri"/>
              </a:rPr>
              <a:t>Fourth Outline Level</a:t>
            </a:r>
          </a:p>
          <a:p>
            <a:pPr marL="2879928" lvl="4"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Fifth Outline Level</a:t>
            </a:r>
          </a:p>
          <a:p>
            <a:pPr marL="3455914" lvl="5"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Sixth Outline Level</a:t>
            </a:r>
          </a:p>
          <a:p>
            <a:pPr marL="4031899" lvl="6"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Seventh Outline Level</a:t>
            </a:r>
          </a:p>
        </p:txBody>
      </p:sp>
    </p:spTree>
    <p:extLst>
      <p:ext uri="{BB962C8B-B14F-4D97-AF65-F5344CB8AC3E}">
        <p14:creationId xmlns:p14="http://schemas.microsoft.com/office/powerpoint/2010/main" val="3358475438"/>
      </p:ext>
    </p:extLst>
  </p:cSld>
  <p:clrMap bg1="lt1" tx1="dk1" bg2="lt2" tx2="dk2" accent1="accent1" accent2="accent2" accent3="accent3" accent4="accent4" accent5="accent5" accent6="accent6" hlink="hlink" folHlink="folHlink"/>
  <p:sldLayoutIdLst>
    <p:sldLayoutId id="2147483652" r:id="rId1"/>
  </p:sldLayoutIdLst>
  <p:txStyles>
    <p:titleStyle>
      <a:lvl1pPr indent="0"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575986" indent="-431989" algn="l" defTabSz="1219170" rtl="0" eaLnBrk="1" latinLnBrk="0" hangingPunct="1">
        <a:lnSpc>
          <a:spcPct val="90000"/>
        </a:lnSpc>
        <a:spcBef>
          <a:spcPts val="1889"/>
        </a:spcBef>
        <a:buClr>
          <a:srgbClr val="000000"/>
        </a:buClr>
        <a:buSzPct val="45000"/>
        <a:buFont typeface="Wingdings" charset="2"/>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7FBE54B-D2FB-7E9D-E8D9-9F7D24EDEA66}"/>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48DD7D0F-F9F5-5344-D1D7-41257D31C514}"/>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4BBEA62-81F5-2C55-7E9D-74F3B2A5E25A}"/>
              </a:ext>
            </a:extLst>
          </p:cNvPr>
          <p:cNvSpPr/>
          <p:nvPr/>
        </p:nvSpPr>
        <p:spPr>
          <a:xfrm>
            <a:off x="426720" y="975360"/>
            <a:ext cx="11338080" cy="243792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Forecasting Volatility</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In Stock Market</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D0982A92-3E69-B2C5-C535-BF1C574922BD}"/>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4F090630-7208-BEDC-AE80-E37EC36F6053}"/>
              </a:ext>
            </a:extLst>
          </p:cNvPr>
          <p:cNvSpPr/>
          <p:nvPr/>
        </p:nvSpPr>
        <p:spPr>
          <a:xfrm>
            <a:off x="426720" y="3892303"/>
            <a:ext cx="11338080" cy="129423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Sid Sridhar – siddharthen_sridhar@berkeley.edu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Diogo Viveiros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diogoviveiros@berkeley.edu </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Ronald Ho – ronald.ho@berkeley.edu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Vinit S. Bhatt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vbhatt@berkeley.edu </a:t>
            </a:r>
          </a:p>
        </p:txBody>
      </p:sp>
      <p:sp>
        <p:nvSpPr>
          <p:cNvPr id="2" name="Text 4">
            <a:extLst>
              <a:ext uri="{FF2B5EF4-FFF2-40B4-BE49-F238E27FC236}">
                <a16:creationId xmlns:a16="http://schemas.microsoft.com/office/drawing/2014/main" id="{0860C2B8-2065-2F74-37FA-0EE61988D638}"/>
              </a:ext>
            </a:extLst>
          </p:cNvPr>
          <p:cNvSpPr/>
          <p:nvPr/>
        </p:nvSpPr>
        <p:spPr>
          <a:xfrm>
            <a:off x="487680" y="2983166"/>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defTabSz="1219170">
              <a:tabLst>
                <a:tab pos="0" algn="l"/>
              </a:tabLst>
            </a:pPr>
            <a:r>
              <a:rPr lang="en-US" sz="1733" dirty="0">
                <a:solidFill>
                  <a:srgbClr val="AAAACC"/>
                </a:solidFill>
                <a:ea typeface="Calibri"/>
              </a:rPr>
              <a:t>DATASCI 207 Final Project,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902177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Project: Forecasting Volatility In Stock Market</a:t>
            </a:r>
            <a:endParaRPr lang="en-US" sz="2900" dirty="0"/>
          </a:p>
        </p:txBody>
      </p:sp>
      <p:sp>
        <p:nvSpPr>
          <p:cNvPr id="4" name="Shape 2"/>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12" name="TextBox 11"/>
          <p:cNvSpPr txBox="1"/>
          <p:nvPr/>
        </p:nvSpPr>
        <p:spPr>
          <a:xfrm>
            <a:off x="3081351" y="6128039"/>
            <a:ext cx="5943037" cy="307777"/>
          </a:xfrm>
          <a:prstGeom prst="rect">
            <a:avLst/>
          </a:prstGeom>
          <a:noFill/>
        </p:spPr>
        <p:txBody>
          <a:bodyPr wrap="none">
            <a:spAutoFit/>
          </a:bodyPr>
          <a:lstStyle/>
          <a:p>
            <a:r>
              <a:rPr sz="1400" b="1" dirty="0">
                <a:solidFill>
                  <a:srgbClr val="1A1A2E"/>
                </a:solidFill>
                <a:latin typeface="Calibri"/>
              </a:rPr>
              <a:t>S&amp;P 500 chart highlighting major drawdowns and changing volatility regimes.</a:t>
            </a:r>
          </a:p>
        </p:txBody>
      </p:sp>
      <p:sp>
        <p:nvSpPr>
          <p:cNvPr id="13" name="TextBox 12"/>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pic>
        <p:nvPicPr>
          <p:cNvPr id="14" name="Picture 13">
            <a:extLst>
              <a:ext uri="{FF2B5EF4-FFF2-40B4-BE49-F238E27FC236}">
                <a16:creationId xmlns:a16="http://schemas.microsoft.com/office/drawing/2014/main" id="{484DE742-A634-5F95-CAAE-9A7B4C8620CE}"/>
              </a:ext>
            </a:extLst>
          </p:cNvPr>
          <p:cNvPicPr>
            <a:picLocks noChangeAspect="1"/>
          </p:cNvPicPr>
          <p:nvPr/>
        </p:nvPicPr>
        <p:blipFill>
          <a:blip r:embed="rId3"/>
          <a:stretch>
            <a:fillRect/>
          </a:stretch>
        </p:blipFill>
        <p:spPr>
          <a:xfrm>
            <a:off x="157886" y="1189318"/>
            <a:ext cx="11606784" cy="4863934"/>
          </a:xfrm>
          <a:prstGeom prst="rect">
            <a:avLst/>
          </a:prstGeom>
        </p:spPr>
      </p:pic>
      <p:sp>
        <p:nvSpPr>
          <p:cNvPr id="15" name="TextBox 14">
            <a:extLst>
              <a:ext uri="{FF2B5EF4-FFF2-40B4-BE49-F238E27FC236}">
                <a16:creationId xmlns:a16="http://schemas.microsoft.com/office/drawing/2014/main" id="{EC1E1F7B-8F5F-4DAE-AF18-3F253AF2F340}"/>
              </a:ext>
            </a:extLst>
          </p:cNvPr>
          <p:cNvSpPr txBox="1"/>
          <p:nvPr/>
        </p:nvSpPr>
        <p:spPr>
          <a:xfrm>
            <a:off x="5037224" y="730065"/>
            <a:ext cx="2117246" cy="400110"/>
          </a:xfrm>
          <a:prstGeom prst="rect">
            <a:avLst/>
          </a:prstGeom>
          <a:noFill/>
        </p:spPr>
        <p:txBody>
          <a:bodyPr wrap="none" rtlCol="0">
            <a:spAutoFit/>
          </a:bodyPr>
          <a:lstStyle/>
          <a:p>
            <a:r>
              <a:rPr lang="en-US" sz="2000" b="1" dirty="0">
                <a:solidFill>
                  <a:srgbClr val="00A8CC"/>
                </a:solidFill>
              </a:rPr>
              <a:t>What is Volatility?</a:t>
            </a:r>
          </a:p>
        </p:txBody>
      </p:sp>
      <p:sp>
        <p:nvSpPr>
          <p:cNvPr id="6" name="Shape 5">
            <a:extLst>
              <a:ext uri="{FF2B5EF4-FFF2-40B4-BE49-F238E27FC236}">
                <a16:creationId xmlns:a16="http://schemas.microsoft.com/office/drawing/2014/main" id="{01C70E8E-E084-C0AE-22BC-15F747F203D5}"/>
              </a:ext>
            </a:extLst>
          </p:cNvPr>
          <p:cNvSpPr/>
          <p:nvPr/>
        </p:nvSpPr>
        <p:spPr>
          <a:xfrm flipV="1">
            <a:off x="5166360" y="1112825"/>
            <a:ext cx="1848394" cy="0"/>
          </a:xfrm>
          <a:prstGeom prst="line">
            <a:avLst/>
          </a:prstGeom>
          <a:noFill/>
          <a:ln w="15240">
            <a:solidFill>
              <a:srgbClr val="08A3C7"/>
            </a:solidFill>
            <a:prstDash val="solid"/>
          </a:ln>
        </p:spPr>
        <p:txBody>
          <a:bodyPr/>
          <a:lstStyle/>
          <a:p>
            <a:endParaRPr lang="en-US"/>
          </a:p>
        </p:txBody>
      </p:sp>
      <p:sp>
        <p:nvSpPr>
          <p:cNvPr id="7" name="Text 3">
            <a:extLst>
              <a:ext uri="{FF2B5EF4-FFF2-40B4-BE49-F238E27FC236}">
                <a16:creationId xmlns:a16="http://schemas.microsoft.com/office/drawing/2014/main" id="{E62870E0-E75F-1918-96DE-CDE61EEC5EC4}"/>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B98E2-AF16-587D-437E-C5D6FABB52A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2A80EA9-B1D0-5AFD-9C55-03460E7F42B8}"/>
              </a:ext>
            </a:extLst>
          </p:cNvPr>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a:extLst>
              <a:ext uri="{FF2B5EF4-FFF2-40B4-BE49-F238E27FC236}">
                <a16:creationId xmlns:a16="http://schemas.microsoft.com/office/drawing/2014/main" id="{56CD40A9-4A9C-1EDF-2B10-B5FC12B0EA0F}"/>
              </a:ext>
            </a:extLst>
          </p:cNvPr>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EDA</a:t>
            </a:r>
            <a:endParaRPr lang="en-US" sz="2900" dirty="0"/>
          </a:p>
        </p:txBody>
      </p:sp>
      <p:sp>
        <p:nvSpPr>
          <p:cNvPr id="4" name="Shape 2">
            <a:extLst>
              <a:ext uri="{FF2B5EF4-FFF2-40B4-BE49-F238E27FC236}">
                <a16:creationId xmlns:a16="http://schemas.microsoft.com/office/drawing/2014/main" id="{1C34760E-152D-239E-2A72-B898A261CB41}"/>
              </a:ext>
            </a:extLst>
          </p:cNvPr>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a:extLst>
              <a:ext uri="{FF2B5EF4-FFF2-40B4-BE49-F238E27FC236}">
                <a16:creationId xmlns:a16="http://schemas.microsoft.com/office/drawing/2014/main" id="{18BD4C8A-2AE5-4A51-9768-8A0DF9AF38C4}"/>
              </a:ext>
            </a:extLst>
          </p:cNvPr>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9" name="TextBox 8">
            <a:extLst>
              <a:ext uri="{FF2B5EF4-FFF2-40B4-BE49-F238E27FC236}">
                <a16:creationId xmlns:a16="http://schemas.microsoft.com/office/drawing/2014/main" id="{F33BB6F4-62C4-F3C6-0026-DDEEB89A5D7D}"/>
              </a:ext>
            </a:extLst>
          </p:cNvPr>
          <p:cNvSpPr txBox="1"/>
          <p:nvPr/>
        </p:nvSpPr>
        <p:spPr>
          <a:xfrm>
            <a:off x="405536" y="1152144"/>
            <a:ext cx="11380622" cy="5187445"/>
          </a:xfrm>
          <a:prstGeom prst="rect">
            <a:avLst/>
          </a:prstGeom>
          <a:noFill/>
        </p:spPr>
        <p:txBody>
          <a:bodyPr wrap="square">
            <a:normAutofit/>
          </a:bodyPr>
          <a:lstStyle/>
          <a:p>
            <a:pPr>
              <a:spcAft>
                <a:spcPts val="200"/>
              </a:spcAft>
            </a:pPr>
            <a:r>
              <a:rPr lang="en-US" sz="2200" b="1" dirty="0">
                <a:solidFill>
                  <a:srgbClr val="00A8CC"/>
                </a:solidFill>
                <a:latin typeface="Calibri"/>
              </a:rPr>
              <a:t>The Problem: </a:t>
            </a:r>
            <a:endParaRPr sz="2200" b="1" dirty="0">
              <a:solidFill>
                <a:srgbClr val="00A8CC"/>
              </a:solidFill>
              <a:latin typeface="Calibri"/>
            </a:endParaRPr>
          </a:p>
          <a:p>
            <a:pPr marL="285750" indent="-285750">
              <a:spcAft>
                <a:spcPts val="100"/>
              </a:spcAft>
              <a:buFont typeface="Arial" panose="020B0604020202020204" pitchFamily="34" charset="0"/>
              <a:buChar char="•"/>
            </a:pPr>
            <a:r>
              <a:rPr lang="en-US" b="1" dirty="0">
                <a:solidFill>
                  <a:srgbClr val="1A1A2E"/>
                </a:solidFill>
                <a:latin typeface="Calibri"/>
              </a:rPr>
              <a:t>Features might be correlated, but with a lag of some days. </a:t>
            </a:r>
            <a:r>
              <a:rPr lang="en-US" dirty="0">
                <a:solidFill>
                  <a:srgbClr val="1A1A2E"/>
                </a:solidFill>
                <a:latin typeface="Calibri"/>
              </a:rPr>
              <a:t>Pearson correlation is impractical. Need models that address this.</a:t>
            </a:r>
          </a:p>
          <a:p>
            <a:pPr marL="285750" indent="-285750">
              <a:spcAft>
                <a:spcPts val="100"/>
              </a:spcAft>
              <a:buFont typeface="Arial" panose="020B0604020202020204" pitchFamily="34" charset="0"/>
              <a:buChar char="•"/>
            </a:pPr>
            <a:r>
              <a:rPr lang="en-US" b="1" dirty="0">
                <a:solidFill>
                  <a:srgbClr val="1A1A2E"/>
                </a:solidFill>
                <a:latin typeface="Calibri"/>
              </a:rPr>
              <a:t>Time Series fails Linear Assumptions, making most traditional models impractical. </a:t>
            </a:r>
            <a:r>
              <a:rPr lang="en-US" dirty="0">
                <a:solidFill>
                  <a:srgbClr val="1A1A2E"/>
                </a:solidFill>
                <a:latin typeface="Calibri"/>
              </a:rPr>
              <a:t>The underlying data is inherently noisy and prone to shocks</a:t>
            </a:r>
            <a:r>
              <a:rPr lang="en-US" b="1" dirty="0">
                <a:solidFill>
                  <a:srgbClr val="1A1A2E"/>
                </a:solidFill>
                <a:latin typeface="Calibri"/>
              </a:rPr>
              <a:t> </a:t>
            </a:r>
            <a:endParaRPr lang="en-US" b="0" dirty="0">
              <a:solidFill>
                <a:srgbClr val="1A1A2E"/>
              </a:solidFill>
              <a:latin typeface="Calibri"/>
            </a:endParaRPr>
          </a:p>
          <a:p>
            <a:pPr marL="285750" indent="-285750">
              <a:spcAft>
                <a:spcPts val="600"/>
              </a:spcAft>
              <a:buFont typeface="Arial" panose="020B0604020202020204" pitchFamily="34" charset="0"/>
              <a:buChar char="•"/>
            </a:pPr>
            <a:endParaRPr lang="en-US" sz="2200" b="1" dirty="0">
              <a:solidFill>
                <a:srgbClr val="00A8CC"/>
              </a:solidFill>
              <a:latin typeface="Calibri"/>
            </a:endParaRPr>
          </a:p>
        </p:txBody>
      </p:sp>
      <p:sp>
        <p:nvSpPr>
          <p:cNvPr id="13" name="TextBox 12">
            <a:extLst>
              <a:ext uri="{FF2B5EF4-FFF2-40B4-BE49-F238E27FC236}">
                <a16:creationId xmlns:a16="http://schemas.microsoft.com/office/drawing/2014/main" id="{B7F985E7-080B-4D6B-5F55-F51EE85E5A15}"/>
              </a:ext>
            </a:extLst>
          </p:cNvPr>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sp>
        <p:nvSpPr>
          <p:cNvPr id="6" name="Text 4">
            <a:extLst>
              <a:ext uri="{FF2B5EF4-FFF2-40B4-BE49-F238E27FC236}">
                <a16:creationId xmlns:a16="http://schemas.microsoft.com/office/drawing/2014/main" id="{E2A68944-3EA6-E105-5E5C-642636D2AD89}"/>
              </a:ext>
            </a:extLst>
          </p:cNvPr>
          <p:cNvSpPr/>
          <p:nvPr/>
        </p:nvSpPr>
        <p:spPr>
          <a:xfrm>
            <a:off x="3404376" y="835838"/>
            <a:ext cx="4217802" cy="256032"/>
          </a:xfrm>
          <a:prstGeom prst="rect">
            <a:avLst/>
          </a:prstGeom>
          <a:noFill/>
          <a:ln/>
        </p:spPr>
        <p:txBody>
          <a:bodyPr wrap="square" lIns="0" tIns="0" rIns="0" bIns="0" rtlCol="0" anchor="ctr"/>
          <a:lstStyle/>
          <a:p>
            <a:pPr algn="ctr">
              <a:spcAft>
                <a:spcPts val="800"/>
              </a:spcAft>
            </a:pPr>
            <a:r>
              <a:rPr lang="en-US" sz="2000" b="1" dirty="0">
                <a:solidFill>
                  <a:srgbClr val="00A8CC"/>
                </a:solidFill>
              </a:rPr>
              <a:t>Time Series Data is Tricky</a:t>
            </a:r>
          </a:p>
        </p:txBody>
      </p:sp>
      <p:sp>
        <p:nvSpPr>
          <p:cNvPr id="7" name="Shape 5">
            <a:extLst>
              <a:ext uri="{FF2B5EF4-FFF2-40B4-BE49-F238E27FC236}">
                <a16:creationId xmlns:a16="http://schemas.microsoft.com/office/drawing/2014/main" id="{D8F1BBD2-0C6D-440C-BA9C-0FF54D704AF6}"/>
              </a:ext>
            </a:extLst>
          </p:cNvPr>
          <p:cNvSpPr/>
          <p:nvPr/>
        </p:nvSpPr>
        <p:spPr>
          <a:xfrm>
            <a:off x="3404376" y="1152144"/>
            <a:ext cx="4217802" cy="0"/>
          </a:xfrm>
          <a:prstGeom prst="line">
            <a:avLst/>
          </a:prstGeom>
          <a:noFill/>
          <a:ln w="15240">
            <a:solidFill>
              <a:srgbClr val="08A3C7"/>
            </a:solidFill>
            <a:prstDash val="solid"/>
          </a:ln>
        </p:spPr>
        <p:txBody>
          <a:bodyPr/>
          <a:lstStyle/>
          <a:p>
            <a:endParaRPr lang="en-US"/>
          </a:p>
        </p:txBody>
      </p:sp>
      <p:sp>
        <p:nvSpPr>
          <p:cNvPr id="10" name="Text 3">
            <a:extLst>
              <a:ext uri="{FF2B5EF4-FFF2-40B4-BE49-F238E27FC236}">
                <a16:creationId xmlns:a16="http://schemas.microsoft.com/office/drawing/2014/main" id="{4E85D978-167C-6BE1-85E7-4B247EBF43D7}"/>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pic>
        <p:nvPicPr>
          <p:cNvPr id="11" name="Picture 10">
            <a:extLst>
              <a:ext uri="{FF2B5EF4-FFF2-40B4-BE49-F238E27FC236}">
                <a16:creationId xmlns:a16="http://schemas.microsoft.com/office/drawing/2014/main" id="{1AFABF7E-BDF3-2A92-1A59-3AE2260B3CA4}"/>
              </a:ext>
            </a:extLst>
          </p:cNvPr>
          <p:cNvPicPr>
            <a:picLocks noChangeAspect="1"/>
          </p:cNvPicPr>
          <p:nvPr/>
        </p:nvPicPr>
        <p:blipFill>
          <a:blip r:embed="rId3"/>
          <a:stretch>
            <a:fillRect/>
          </a:stretch>
        </p:blipFill>
        <p:spPr>
          <a:xfrm>
            <a:off x="932567" y="2664477"/>
            <a:ext cx="4535666" cy="3451167"/>
          </a:xfrm>
          <a:prstGeom prst="rect">
            <a:avLst/>
          </a:prstGeom>
        </p:spPr>
      </p:pic>
      <p:pic>
        <p:nvPicPr>
          <p:cNvPr id="14" name="Picture 13">
            <a:extLst>
              <a:ext uri="{FF2B5EF4-FFF2-40B4-BE49-F238E27FC236}">
                <a16:creationId xmlns:a16="http://schemas.microsoft.com/office/drawing/2014/main" id="{1D090C80-83E7-7E17-61D7-EB86B00E7E4B}"/>
              </a:ext>
            </a:extLst>
          </p:cNvPr>
          <p:cNvPicPr>
            <a:picLocks noChangeAspect="1"/>
          </p:cNvPicPr>
          <p:nvPr/>
        </p:nvPicPr>
        <p:blipFill>
          <a:blip r:embed="rId4"/>
          <a:stretch>
            <a:fillRect/>
          </a:stretch>
        </p:blipFill>
        <p:spPr>
          <a:xfrm>
            <a:off x="6095847" y="2615266"/>
            <a:ext cx="5169709" cy="3500378"/>
          </a:xfrm>
          <a:prstGeom prst="rect">
            <a:avLst/>
          </a:prstGeom>
        </p:spPr>
      </p:pic>
    </p:spTree>
    <p:extLst>
      <p:ext uri="{BB962C8B-B14F-4D97-AF65-F5344CB8AC3E}">
        <p14:creationId xmlns:p14="http://schemas.microsoft.com/office/powerpoint/2010/main" val="889434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0B2445"/>
          </a:solidFill>
          <a:ln w="12700">
            <a:solidFill>
              <a:srgbClr val="0B2445">
                <a:alpha val="0"/>
              </a:srgbClr>
            </a:solidFill>
            <a:prstDash val="solid"/>
          </a:ln>
        </p:spPr>
        <p:txBody>
          <a:bodyPr/>
          <a:lstStyle/>
          <a:p>
            <a:endParaRPr lang="en-US"/>
          </a:p>
        </p:txBody>
      </p:sp>
      <p:sp>
        <p:nvSpPr>
          <p:cNvPr id="3" name="Text 1"/>
          <p:cNvSpPr/>
          <p:nvPr/>
        </p:nvSpPr>
        <p:spPr>
          <a:xfrm>
            <a:off x="420624" y="155448"/>
            <a:ext cx="11338560" cy="310896"/>
          </a:xfrm>
          <a:prstGeom prst="rect">
            <a:avLst/>
          </a:prstGeom>
          <a:noFill/>
          <a:ln/>
        </p:spPr>
        <p:txBody>
          <a:bodyPr wrap="square" lIns="0" tIns="0" rIns="0" bIns="0" rtlCol="0" anchor="ctr"/>
          <a:lstStyle/>
          <a:p>
            <a:pPr marL="0" indent="0">
              <a:buNone/>
            </a:pPr>
            <a:r>
              <a:rPr lang="en-US" sz="2900" b="1" dirty="0">
                <a:solidFill>
                  <a:srgbClr val="FFFFFF"/>
                </a:solidFill>
                <a:ea typeface="Arial" pitchFamily="34" charset="-122"/>
                <a:cs typeface="Arial" pitchFamily="34" charset="-120"/>
              </a:rPr>
              <a:t>EDA (Vinit can add some things here but needs to simplify)</a:t>
            </a:r>
            <a:endParaRPr lang="en-US" sz="2900" dirty="0"/>
          </a:p>
        </p:txBody>
      </p:sp>
      <p:sp>
        <p:nvSpPr>
          <p:cNvPr id="4" name="Shape 2"/>
          <p:cNvSpPr/>
          <p:nvPr/>
        </p:nvSpPr>
        <p:spPr>
          <a:xfrm>
            <a:off x="0" y="6537960"/>
            <a:ext cx="12191695" cy="320040"/>
          </a:xfrm>
          <a:prstGeom prst="rect">
            <a:avLst/>
          </a:prstGeom>
          <a:solidFill>
            <a:srgbClr val="0B2445"/>
          </a:solidFill>
          <a:ln w="12700">
            <a:solidFill>
              <a:srgbClr val="0B2445">
                <a:alpha val="0"/>
              </a:srgbClr>
            </a:solidFill>
            <a:prstDash val="solid"/>
          </a:ln>
        </p:spPr>
        <p:txBody>
          <a:bodyPr/>
          <a:lstStyle/>
          <a:p>
            <a:endParaRPr lang="en-US"/>
          </a:p>
        </p:txBody>
      </p:sp>
      <p:sp>
        <p:nvSpPr>
          <p:cNvPr id="6" name="Text 4"/>
          <p:cNvSpPr/>
          <p:nvPr/>
        </p:nvSpPr>
        <p:spPr>
          <a:xfrm>
            <a:off x="7559040" y="822960"/>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Outputs &amp; Plots</a:t>
            </a:r>
            <a:endParaRPr lang="en-US" sz="2000" dirty="0"/>
          </a:p>
        </p:txBody>
      </p:sp>
      <p:sp>
        <p:nvSpPr>
          <p:cNvPr id="7" name="Shape 5"/>
          <p:cNvSpPr/>
          <p:nvPr/>
        </p:nvSpPr>
        <p:spPr>
          <a:xfrm>
            <a:off x="7905445" y="1152144"/>
            <a:ext cx="1643637" cy="0"/>
          </a:xfrm>
          <a:prstGeom prst="line">
            <a:avLst/>
          </a:prstGeom>
          <a:noFill/>
          <a:ln w="15240">
            <a:solidFill>
              <a:srgbClr val="08A3C7"/>
            </a:solidFill>
            <a:prstDash val="solid"/>
          </a:ln>
        </p:spPr>
        <p:txBody>
          <a:bodyPr/>
          <a:lstStyle/>
          <a:p>
            <a:endParaRPr lang="en-US"/>
          </a:p>
        </p:txBody>
      </p:sp>
      <p:sp>
        <p:nvSpPr>
          <p:cNvPr id="8" name="Shape 6"/>
          <p:cNvSpPr/>
          <p:nvPr/>
        </p:nvSpPr>
        <p:spPr>
          <a:xfrm>
            <a:off x="502920" y="1417320"/>
            <a:ext cx="4709160" cy="4983480"/>
          </a:xfrm>
          <a:prstGeom prst="roundRect">
            <a:avLst>
              <a:gd name="adj" fmla="val 1553"/>
            </a:avLst>
          </a:prstGeom>
          <a:solidFill>
            <a:srgbClr val="FFFFFF"/>
          </a:solidFill>
          <a:ln w="15875">
            <a:solidFill>
              <a:srgbClr val="C8D5E6"/>
            </a:solidFill>
            <a:prstDash val="solid"/>
          </a:ln>
        </p:spPr>
        <p:txBody>
          <a:bodyPr/>
          <a:lstStyle/>
          <a:p>
            <a:endParaRPr lang="en-US"/>
          </a:p>
        </p:txBody>
      </p:sp>
      <p:sp>
        <p:nvSpPr>
          <p:cNvPr id="9" name="Text 7"/>
          <p:cNvSpPr/>
          <p:nvPr/>
        </p:nvSpPr>
        <p:spPr>
          <a:xfrm>
            <a:off x="667512" y="1563624"/>
            <a:ext cx="4379976"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All EDA tests/checks performed</a:t>
            </a:r>
            <a:endParaRPr lang="en-US" sz="1400" dirty="0"/>
          </a:p>
        </p:txBody>
      </p:sp>
      <p:sp>
        <p:nvSpPr>
          <p:cNvPr id="10" name="Text 8"/>
          <p:cNvSpPr/>
          <p:nvPr/>
        </p:nvSpPr>
        <p:spPr>
          <a:xfrm>
            <a:off x="667512"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1) </a:t>
            </a:r>
            <a:r>
              <a:rPr lang="en-US" sz="1200" b="1" dirty="0">
                <a:solidFill>
                  <a:srgbClr val="1F2A44"/>
                </a:solidFill>
                <a:ea typeface="Arial" pitchFamily="34" charset="-122"/>
                <a:cs typeface="Arial" pitchFamily="34" charset="-120"/>
              </a:rPr>
              <a:t>Load + robust date parse </a:t>
            </a:r>
            <a:r>
              <a:rPr lang="en-US" sz="1200" dirty="0">
                <a:solidFill>
                  <a:srgbClr val="1F2A44"/>
                </a:solidFill>
                <a:ea typeface="Arial" pitchFamily="34" charset="-122"/>
                <a:cs typeface="Arial" pitchFamily="34" charset="-120"/>
              </a:rPr>
              <a:t>+ canonical (ticker, date) sort</a:t>
            </a:r>
          </a:p>
          <a:p>
            <a:pPr>
              <a:buSzPct val="100000"/>
            </a:pPr>
            <a:endParaRPr lang="en-US" sz="1200" dirty="0"/>
          </a:p>
          <a:p>
            <a:pPr>
              <a:buSzPct val="100000"/>
            </a:pPr>
            <a:r>
              <a:rPr lang="en-US" sz="1200" dirty="0">
                <a:solidFill>
                  <a:srgbClr val="1F2A44"/>
                </a:solidFill>
                <a:ea typeface="Arial" pitchFamily="34" charset="-122"/>
                <a:cs typeface="Arial" pitchFamily="34" charset="-120"/>
              </a:rPr>
              <a:t>2) </a:t>
            </a:r>
            <a:r>
              <a:rPr lang="en-US" sz="1200" b="1" dirty="0">
                <a:solidFill>
                  <a:srgbClr val="1F2A44"/>
                </a:solidFill>
                <a:ea typeface="Arial" pitchFamily="34" charset="-122"/>
                <a:cs typeface="Arial" pitchFamily="34" charset="-120"/>
              </a:rPr>
              <a:t>Panel integrity</a:t>
            </a:r>
            <a:r>
              <a:rPr lang="en-US" sz="1200" dirty="0">
                <a:solidFill>
                  <a:srgbClr val="1F2A44"/>
                </a:solidFill>
                <a:ea typeface="Arial" pitchFamily="34" charset="-122"/>
                <a:cs typeface="Arial" pitchFamily="34" charset="-120"/>
              </a:rPr>
              <a:t>: duplicate key check; per-ticker monotone dates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3) </a:t>
            </a:r>
            <a:r>
              <a:rPr lang="en-US" sz="1200" b="1" dirty="0">
                <a:solidFill>
                  <a:srgbClr val="1F2A44"/>
                </a:solidFill>
                <a:ea typeface="Arial" pitchFamily="34" charset="-122"/>
                <a:cs typeface="Arial" pitchFamily="34" charset="-120"/>
              </a:rPr>
              <a:t>Coverage</a:t>
            </a:r>
            <a:r>
              <a:rPr lang="en-US" sz="1200" b="1" dirty="0">
                <a:ea typeface="Arial" pitchFamily="34" charset="-122"/>
                <a:cs typeface="Arial" pitchFamily="34" charset="-120"/>
              </a:rPr>
              <a:t>: </a:t>
            </a:r>
            <a:r>
              <a:rPr lang="en-US" sz="1200" dirty="0">
                <a:ea typeface="Arial" pitchFamily="34" charset="-122"/>
                <a:cs typeface="Arial" pitchFamily="34" charset="-120"/>
              </a:rPr>
              <a:t>per-ticker </a:t>
            </a:r>
            <a:r>
              <a:rPr lang="en-US" sz="1200" dirty="0">
                <a:solidFill>
                  <a:srgbClr val="1F2A44"/>
                </a:solidFill>
                <a:ea typeface="Arial" pitchFamily="34" charset="-122"/>
                <a:cs typeface="Arial" pitchFamily="34" charset="-120"/>
              </a:rPr>
              <a:t>start/end and n_days table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4) </a:t>
            </a:r>
            <a:r>
              <a:rPr lang="en-US" sz="1200" b="1" dirty="0">
                <a:solidFill>
                  <a:srgbClr val="1F2A44"/>
                </a:solidFill>
                <a:ea typeface="Arial" pitchFamily="34" charset="-122"/>
                <a:cs typeface="Arial" pitchFamily="34" charset="-120"/>
              </a:rPr>
              <a:t>Gaps: </a:t>
            </a:r>
            <a:r>
              <a:rPr lang="en-US" sz="1200" dirty="0">
                <a:solidFill>
                  <a:srgbClr val="1F2A44"/>
                </a:solidFill>
                <a:ea typeface="Arial" pitchFamily="34" charset="-122"/>
                <a:cs typeface="Arial" pitchFamily="34" charset="-120"/>
              </a:rPr>
              <a:t>flag calendar gaps &gt; 10 days within ticker</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5) </a:t>
            </a:r>
            <a:r>
              <a:rPr lang="en-US" sz="1200" b="1" dirty="0">
                <a:solidFill>
                  <a:srgbClr val="1F2A44"/>
                </a:solidFill>
                <a:ea typeface="Arial" pitchFamily="34" charset="-122"/>
                <a:cs typeface="Arial" pitchFamily="34" charset="-120"/>
              </a:rPr>
              <a:t>Missingness: </a:t>
            </a:r>
            <a:r>
              <a:rPr lang="en-US" sz="1200" dirty="0">
                <a:solidFill>
                  <a:srgbClr val="1F2A44"/>
                </a:solidFill>
                <a:ea typeface="Arial" pitchFamily="34" charset="-122"/>
                <a:cs typeface="Arial" pitchFamily="34" charset="-120"/>
              </a:rPr>
              <a:t>by-column rates + target missingness by ticker</a:t>
            </a:r>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6) </a:t>
            </a:r>
            <a:r>
              <a:rPr lang="en-US" sz="1200" b="1" dirty="0">
                <a:solidFill>
                  <a:srgbClr val="1F2A44"/>
                </a:solidFill>
                <a:ea typeface="Arial" pitchFamily="34" charset="-122"/>
                <a:cs typeface="Arial" pitchFamily="34" charset="-120"/>
              </a:rPr>
              <a:t>Macro sanity: </a:t>
            </a:r>
            <a:r>
              <a:rPr lang="en-US" sz="1200" dirty="0">
                <a:solidFill>
                  <a:srgbClr val="1F2A44"/>
                </a:solidFill>
                <a:ea typeface="Arial" pitchFamily="34" charset="-122"/>
                <a:cs typeface="Arial" pitchFamily="34" charset="-120"/>
              </a:rPr>
              <a:t>macro columns constant across tickers per date (</a:t>
            </a:r>
            <a:r>
              <a:rPr lang="en-US" sz="1200" dirty="0" err="1">
                <a:solidFill>
                  <a:srgbClr val="1F2A44"/>
                </a:solidFill>
                <a:ea typeface="Arial" pitchFamily="34" charset="-122"/>
                <a:cs typeface="Arial" pitchFamily="34" charset="-120"/>
              </a:rPr>
              <a:t>nunique</a:t>
            </a:r>
            <a:r>
              <a:rPr lang="en-US" sz="1200" dirty="0">
                <a:solidFill>
                  <a:srgbClr val="1F2A44"/>
                </a:solidFill>
                <a:ea typeface="Arial" pitchFamily="34" charset="-122"/>
                <a:cs typeface="Arial" pitchFamily="34" charset="-120"/>
              </a:rPr>
              <a: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7) </a:t>
            </a:r>
            <a:r>
              <a:rPr lang="en-US" sz="1200" b="1" dirty="0">
                <a:solidFill>
                  <a:srgbClr val="1F2A44"/>
                </a:solidFill>
                <a:ea typeface="Arial" pitchFamily="34" charset="-122"/>
                <a:cs typeface="Arial" pitchFamily="34" charset="-120"/>
              </a:rPr>
              <a:t>Distribution EDA: </a:t>
            </a:r>
            <a:r>
              <a:rPr lang="en-US" sz="1200" dirty="0">
                <a:solidFill>
                  <a:srgbClr val="1F2A44"/>
                </a:solidFill>
                <a:ea typeface="Arial" pitchFamily="34" charset="-122"/>
                <a:cs typeface="Arial" pitchFamily="34" charset="-120"/>
              </a:rPr>
              <a:t>returns, log(volume), trailing vol (calc + FactSet), target</a:t>
            </a:r>
            <a:endParaRPr lang="en-US" sz="1200" dirty="0"/>
          </a:p>
          <a:p>
            <a:pPr>
              <a:buSzPct val="100000"/>
            </a:pPr>
            <a:endParaRPr lang="en-US" sz="1200" dirty="0"/>
          </a:p>
        </p:txBody>
      </p:sp>
      <p:sp>
        <p:nvSpPr>
          <p:cNvPr id="11" name="Text 9"/>
          <p:cNvSpPr/>
          <p:nvPr/>
        </p:nvSpPr>
        <p:spPr>
          <a:xfrm>
            <a:off x="2948940"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8) </a:t>
            </a:r>
            <a:r>
              <a:rPr lang="en-US" sz="1200" b="1" dirty="0">
                <a:solidFill>
                  <a:srgbClr val="1F2A44"/>
                </a:solidFill>
                <a:ea typeface="Arial" pitchFamily="34" charset="-122"/>
                <a:cs typeface="Arial" pitchFamily="34" charset="-120"/>
              </a:rPr>
              <a:t>Single-ticker series</a:t>
            </a:r>
            <a:r>
              <a:rPr lang="en-US" sz="1200" dirty="0">
                <a:solidFill>
                  <a:srgbClr val="1F2A44"/>
                </a:solidFill>
                <a:ea typeface="Arial" pitchFamily="34" charset="-122"/>
                <a:cs typeface="Arial" pitchFamily="34" charset="-120"/>
              </a:rPr>
              <a:t>: price, returns, trailing vol, target + macro overlays</a:t>
            </a:r>
            <a:endParaRPr lang="en-US" sz="1200" dirty="0"/>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9) </a:t>
            </a:r>
            <a:r>
              <a:rPr lang="en-US" sz="1200" b="1" dirty="0">
                <a:solidFill>
                  <a:srgbClr val="1F2A44"/>
                </a:solidFill>
                <a:ea typeface="Arial" pitchFamily="34" charset="-122"/>
                <a:cs typeface="Arial" pitchFamily="34" charset="-120"/>
              </a:rPr>
              <a:t>ACF diagnostics: </a:t>
            </a:r>
            <a:r>
              <a:rPr lang="en-US" sz="1200" dirty="0">
                <a:solidFill>
                  <a:srgbClr val="1F2A44"/>
                </a:solidFill>
                <a:ea typeface="Arial" pitchFamily="34" charset="-122"/>
                <a:cs typeface="Arial" pitchFamily="34" charset="-120"/>
              </a:rPr>
              <a:t>returns vs squared returns vs target forward vol</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10) </a:t>
            </a:r>
            <a:r>
              <a:rPr lang="en-US" sz="1200" b="1" dirty="0">
                <a:solidFill>
                  <a:srgbClr val="1F2A44"/>
                </a:solidFill>
                <a:ea typeface="Arial" pitchFamily="34" charset="-122"/>
                <a:cs typeface="Arial" pitchFamily="34" charset="-120"/>
              </a:rPr>
              <a:t>Feature–target checks: </a:t>
            </a:r>
            <a:r>
              <a:rPr lang="en-US" sz="1200" dirty="0">
                <a:solidFill>
                  <a:srgbClr val="1F2A44"/>
                </a:solidFill>
                <a:ea typeface="Arial" pitchFamily="34" charset="-122"/>
                <a:cs typeface="Arial" pitchFamily="34" charset="-120"/>
              </a:rPr>
              <a:t>train-only corr table + scatter plots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11) </a:t>
            </a:r>
            <a:r>
              <a:rPr lang="en-US" sz="1200" b="1" dirty="0">
                <a:solidFill>
                  <a:srgbClr val="1F2A44"/>
                </a:solidFill>
                <a:ea typeface="Arial" pitchFamily="34" charset="-122"/>
                <a:cs typeface="Arial" pitchFamily="34" charset="-120"/>
              </a:rPr>
              <a:t>Leakage/alignment: </a:t>
            </a:r>
            <a:r>
              <a:rPr lang="en-US" sz="1200" dirty="0">
                <a:solidFill>
                  <a:srgbClr val="1F2A44"/>
                </a:solidFill>
                <a:ea typeface="Arial" pitchFamily="34" charset="-122"/>
                <a:cs typeface="Arial" pitchFamily="34" charset="-120"/>
              </a:rPr>
              <a:t>recompute returns, trailing vol, forward vol; compare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12) </a:t>
            </a:r>
            <a:r>
              <a:rPr lang="en-US" sz="1200" b="1" dirty="0">
                <a:solidFill>
                  <a:srgbClr val="1F2A44"/>
                </a:solidFill>
                <a:ea typeface="Arial" pitchFamily="34" charset="-122"/>
                <a:cs typeface="Arial" pitchFamily="34" charset="-120"/>
              </a:rPr>
              <a:t>Baselines: </a:t>
            </a:r>
            <a:r>
              <a:rPr lang="en-US" sz="1200" dirty="0">
                <a:solidFill>
                  <a:srgbClr val="1F2A44"/>
                </a:solidFill>
                <a:ea typeface="Arial" pitchFamily="34" charset="-122"/>
                <a:cs typeface="Arial" pitchFamily="34" charset="-120"/>
              </a:rPr>
              <a:t>persistence using trailing 5d/20d vol (RMSE/MAE on train/val/test)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13) </a:t>
            </a:r>
            <a:r>
              <a:rPr lang="en-US" sz="1200" b="1" dirty="0">
                <a:solidFill>
                  <a:srgbClr val="1F2A44"/>
                </a:solidFill>
                <a:ea typeface="Arial" pitchFamily="34" charset="-122"/>
                <a:cs typeface="Arial" pitchFamily="34" charset="-120"/>
              </a:rPr>
              <a:t>Save artifacts: </a:t>
            </a:r>
            <a:r>
              <a:rPr lang="en-US" sz="1200" dirty="0">
                <a:solidFill>
                  <a:srgbClr val="1F2A44"/>
                </a:solidFill>
                <a:ea typeface="Arial" pitchFamily="34" charset="-122"/>
                <a:cs typeface="Arial" pitchFamily="34" charset="-120"/>
              </a:rPr>
              <a:t>coverage/missingness/macro-check tables to disk</a:t>
            </a:r>
            <a:endParaRPr lang="en-US" sz="1200" dirty="0"/>
          </a:p>
        </p:txBody>
      </p:sp>
      <p:sp>
        <p:nvSpPr>
          <p:cNvPr id="12" name="Shape 10"/>
          <p:cNvSpPr/>
          <p:nvPr/>
        </p:nvSpPr>
        <p:spPr>
          <a:xfrm>
            <a:off x="5349240" y="1417320"/>
            <a:ext cx="6793992" cy="4983480"/>
          </a:xfrm>
          <a:prstGeom prst="roundRect">
            <a:avLst>
              <a:gd name="adj" fmla="val 1468"/>
            </a:avLst>
          </a:prstGeom>
          <a:solidFill>
            <a:srgbClr val="FFFFFF"/>
          </a:solidFill>
          <a:ln w="15875">
            <a:solidFill>
              <a:srgbClr val="C8D5E6"/>
            </a:solidFill>
            <a:prstDash val="solid"/>
          </a:ln>
        </p:spPr>
        <p:txBody>
          <a:bodyPr/>
          <a:lstStyle/>
          <a:p>
            <a:endParaRPr lang="en-US"/>
          </a:p>
        </p:txBody>
      </p:sp>
      <p:sp>
        <p:nvSpPr>
          <p:cNvPr id="13" name="Text 11"/>
          <p:cNvSpPr/>
          <p:nvPr/>
        </p:nvSpPr>
        <p:spPr>
          <a:xfrm>
            <a:off x="5513832" y="1563624"/>
            <a:ext cx="6464808"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Representative plots produced by the notebook</a:t>
            </a:r>
            <a:endParaRPr lang="en-US" sz="1400" dirty="0"/>
          </a:p>
        </p:txBody>
      </p:sp>
      <p:sp>
        <p:nvSpPr>
          <p:cNvPr id="14" name="Text 12"/>
          <p:cNvSpPr/>
          <p:nvPr/>
        </p:nvSpPr>
        <p:spPr>
          <a:xfrm>
            <a:off x="5513832" y="1764792"/>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Data quality</a:t>
            </a:r>
            <a:endParaRPr lang="en-US" sz="1200" dirty="0"/>
          </a:p>
        </p:txBody>
      </p:sp>
      <p:sp>
        <p:nvSpPr>
          <p:cNvPr id="15" name="Text 13"/>
          <p:cNvSpPr/>
          <p:nvPr/>
        </p:nvSpPr>
        <p:spPr>
          <a:xfrm>
            <a:off x="5513832" y="3328416"/>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Time-series structure</a:t>
            </a:r>
            <a:endParaRPr lang="en-US" sz="1200" dirty="0"/>
          </a:p>
        </p:txBody>
      </p:sp>
      <p:sp>
        <p:nvSpPr>
          <p:cNvPr id="16" name="Text 14"/>
          <p:cNvSpPr/>
          <p:nvPr/>
        </p:nvSpPr>
        <p:spPr>
          <a:xfrm>
            <a:off x="5513832" y="4892040"/>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Signal, leakage checks, baselines</a:t>
            </a:r>
            <a:endParaRPr lang="en-US" sz="1200" b="1" dirty="0"/>
          </a:p>
        </p:txBody>
      </p:sp>
      <p:sp>
        <p:nvSpPr>
          <p:cNvPr id="17" name="Shape 15"/>
          <p:cNvSpPr/>
          <p:nvPr/>
        </p:nvSpPr>
        <p:spPr>
          <a:xfrm>
            <a:off x="55138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18" name="Image 0" descr="/mnt/data/eda_thumbs/coverage_crop.png"/>
          <p:cNvPicPr>
            <a:picLocks noChangeAspect="1"/>
          </p:cNvPicPr>
          <p:nvPr/>
        </p:nvPicPr>
        <p:blipFill>
          <a:blip r:embed="rId3"/>
          <a:stretch>
            <a:fillRect/>
          </a:stretch>
        </p:blipFill>
        <p:spPr>
          <a:xfrm>
            <a:off x="6211884" y="1988820"/>
            <a:ext cx="1136107" cy="1097280"/>
          </a:xfrm>
          <a:prstGeom prst="rect">
            <a:avLst/>
          </a:prstGeom>
        </p:spPr>
      </p:pic>
      <p:sp>
        <p:nvSpPr>
          <p:cNvPr id="19" name="Shape 16"/>
          <p:cNvSpPr/>
          <p:nvPr/>
        </p:nvSpPr>
        <p:spPr>
          <a:xfrm>
            <a:off x="77236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0" name="Image 1" descr="/mnt/data/eda_thumbs/missingness_crop.png"/>
          <p:cNvPicPr>
            <a:picLocks noChangeAspect="1"/>
          </p:cNvPicPr>
          <p:nvPr/>
        </p:nvPicPr>
        <p:blipFill>
          <a:blip r:embed="rId4"/>
          <a:stretch>
            <a:fillRect/>
          </a:stretch>
        </p:blipFill>
        <p:spPr>
          <a:xfrm>
            <a:off x="8042605" y="2020824"/>
            <a:ext cx="1681582" cy="1097280"/>
          </a:xfrm>
          <a:prstGeom prst="rect">
            <a:avLst/>
          </a:prstGeom>
        </p:spPr>
      </p:pic>
      <p:sp>
        <p:nvSpPr>
          <p:cNvPr id="21" name="Shape 17"/>
          <p:cNvSpPr/>
          <p:nvPr/>
        </p:nvSpPr>
        <p:spPr>
          <a:xfrm>
            <a:off x="99334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2" name="Image 2" descr="/mnt/data/eda_thumbs/macro_crop.png"/>
          <p:cNvPicPr>
            <a:picLocks noChangeAspect="1"/>
          </p:cNvPicPr>
          <p:nvPr/>
        </p:nvPicPr>
        <p:blipFill>
          <a:blip r:embed="rId5"/>
          <a:stretch>
            <a:fillRect/>
          </a:stretch>
        </p:blipFill>
        <p:spPr>
          <a:xfrm>
            <a:off x="9951719" y="2079783"/>
            <a:ext cx="1900646" cy="745713"/>
          </a:xfrm>
          <a:prstGeom prst="rect">
            <a:avLst/>
          </a:prstGeom>
        </p:spPr>
      </p:pic>
      <p:sp>
        <p:nvSpPr>
          <p:cNvPr id="23" name="Shape 18"/>
          <p:cNvSpPr/>
          <p:nvPr/>
        </p:nvSpPr>
        <p:spPr>
          <a:xfrm>
            <a:off x="55138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4" name="Image 3" descr="/mnt/data/eda_thumbs/dist.png"/>
          <p:cNvPicPr>
            <a:picLocks noChangeAspect="1"/>
          </p:cNvPicPr>
          <p:nvPr/>
        </p:nvPicPr>
        <p:blipFill>
          <a:blip r:embed="rId6"/>
          <a:stretch>
            <a:fillRect/>
          </a:stretch>
        </p:blipFill>
        <p:spPr>
          <a:xfrm>
            <a:off x="6130015" y="3584448"/>
            <a:ext cx="812841" cy="1097280"/>
          </a:xfrm>
          <a:prstGeom prst="rect">
            <a:avLst/>
          </a:prstGeom>
        </p:spPr>
      </p:pic>
      <p:sp>
        <p:nvSpPr>
          <p:cNvPr id="25" name="Shape 19"/>
          <p:cNvSpPr/>
          <p:nvPr/>
        </p:nvSpPr>
        <p:spPr>
          <a:xfrm>
            <a:off x="77236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6" name="Image 4" descr="/mnt/data/eda_thumbs/ts.png"/>
          <p:cNvPicPr>
            <a:picLocks noChangeAspect="1"/>
          </p:cNvPicPr>
          <p:nvPr/>
        </p:nvPicPr>
        <p:blipFill>
          <a:blip r:embed="rId7"/>
          <a:stretch>
            <a:fillRect/>
          </a:stretch>
        </p:blipFill>
        <p:spPr>
          <a:xfrm>
            <a:off x="8352573" y="3563548"/>
            <a:ext cx="812841" cy="1097280"/>
          </a:xfrm>
          <a:prstGeom prst="rect">
            <a:avLst/>
          </a:prstGeom>
        </p:spPr>
      </p:pic>
      <p:sp>
        <p:nvSpPr>
          <p:cNvPr id="27" name="Shape 20"/>
          <p:cNvSpPr/>
          <p:nvPr/>
        </p:nvSpPr>
        <p:spPr>
          <a:xfrm>
            <a:off x="99334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8" name="Image 5" descr="/mnt/data/eda_thumbs/acf_combo_final.png"/>
          <p:cNvPicPr>
            <a:picLocks noChangeAspect="1"/>
          </p:cNvPicPr>
          <p:nvPr/>
        </p:nvPicPr>
        <p:blipFill>
          <a:blip r:embed="rId8"/>
          <a:stretch>
            <a:fillRect/>
          </a:stretch>
        </p:blipFill>
        <p:spPr>
          <a:xfrm>
            <a:off x="10565453" y="3584448"/>
            <a:ext cx="781166" cy="1097280"/>
          </a:xfrm>
          <a:prstGeom prst="rect">
            <a:avLst/>
          </a:prstGeom>
        </p:spPr>
      </p:pic>
      <p:sp>
        <p:nvSpPr>
          <p:cNvPr id="29" name="Shape 21"/>
          <p:cNvSpPr/>
          <p:nvPr/>
        </p:nvSpPr>
        <p:spPr>
          <a:xfrm>
            <a:off x="55138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0" name="Image 6" descr="/mnt/data/eda_thumbs/scatter.png"/>
          <p:cNvPicPr>
            <a:picLocks noChangeAspect="1"/>
          </p:cNvPicPr>
          <p:nvPr/>
        </p:nvPicPr>
        <p:blipFill>
          <a:blip r:embed="rId9"/>
          <a:stretch>
            <a:fillRect/>
          </a:stretch>
        </p:blipFill>
        <p:spPr>
          <a:xfrm>
            <a:off x="6130015" y="5148072"/>
            <a:ext cx="812841" cy="1097280"/>
          </a:xfrm>
          <a:prstGeom prst="rect">
            <a:avLst/>
          </a:prstGeom>
        </p:spPr>
      </p:pic>
      <p:sp>
        <p:nvSpPr>
          <p:cNvPr id="31" name="Shape 22"/>
          <p:cNvSpPr/>
          <p:nvPr/>
        </p:nvSpPr>
        <p:spPr>
          <a:xfrm>
            <a:off x="77236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2" name="Image 7" descr="/mnt/data/eda_thumbs/leak.png"/>
          <p:cNvPicPr>
            <a:picLocks noChangeAspect="1"/>
          </p:cNvPicPr>
          <p:nvPr/>
        </p:nvPicPr>
        <p:blipFill>
          <a:blip r:embed="rId10"/>
          <a:stretch>
            <a:fillRect/>
          </a:stretch>
        </p:blipFill>
        <p:spPr>
          <a:xfrm>
            <a:off x="8339815" y="5148072"/>
            <a:ext cx="812841" cy="1097280"/>
          </a:xfrm>
          <a:prstGeom prst="rect">
            <a:avLst/>
          </a:prstGeom>
        </p:spPr>
      </p:pic>
      <p:sp>
        <p:nvSpPr>
          <p:cNvPr id="33" name="Shape 23"/>
          <p:cNvSpPr/>
          <p:nvPr/>
        </p:nvSpPr>
        <p:spPr>
          <a:xfrm>
            <a:off x="99334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4" name="Image 8" descr="/mnt/data/eda_thumbs/baseline_crop.png"/>
          <p:cNvPicPr>
            <a:picLocks noChangeAspect="1"/>
          </p:cNvPicPr>
          <p:nvPr/>
        </p:nvPicPr>
        <p:blipFill>
          <a:blip r:embed="rId11"/>
          <a:stretch>
            <a:fillRect/>
          </a:stretch>
        </p:blipFill>
        <p:spPr>
          <a:xfrm>
            <a:off x="9992435" y="5257133"/>
            <a:ext cx="1953768" cy="458839"/>
          </a:xfrm>
          <a:prstGeom prst="rect">
            <a:avLst/>
          </a:prstGeom>
        </p:spPr>
      </p:pic>
      <p:sp>
        <p:nvSpPr>
          <p:cNvPr id="36" name="Rectangle 35">
            <a:extLst>
              <a:ext uri="{FF2B5EF4-FFF2-40B4-BE49-F238E27FC236}">
                <a16:creationId xmlns:a16="http://schemas.microsoft.com/office/drawing/2014/main" id="{FD897550-A202-3B81-3CAF-EF872806DCBC}"/>
              </a:ext>
            </a:extLst>
          </p:cNvPr>
          <p:cNvSpPr/>
          <p:nvPr/>
        </p:nvSpPr>
        <p:spPr>
          <a:xfrm>
            <a:off x="5968383" y="2916936"/>
            <a:ext cx="1136107"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Coverage by ticker</a:t>
            </a:r>
          </a:p>
        </p:txBody>
      </p:sp>
      <p:sp>
        <p:nvSpPr>
          <p:cNvPr id="37" name="Rectangle 36">
            <a:extLst>
              <a:ext uri="{FF2B5EF4-FFF2-40B4-BE49-F238E27FC236}">
                <a16:creationId xmlns:a16="http://schemas.microsoft.com/office/drawing/2014/main" id="{679420DD-5BF9-3E50-8418-BD3B4D5F7B51}"/>
              </a:ext>
            </a:extLst>
          </p:cNvPr>
          <p:cNvSpPr/>
          <p:nvPr/>
        </p:nvSpPr>
        <p:spPr>
          <a:xfrm>
            <a:off x="7905445" y="2916936"/>
            <a:ext cx="1681582"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Gaps &amp; missingness</a:t>
            </a:r>
          </a:p>
        </p:txBody>
      </p:sp>
      <p:sp>
        <p:nvSpPr>
          <p:cNvPr id="38" name="Rectangle 37">
            <a:extLst>
              <a:ext uri="{FF2B5EF4-FFF2-40B4-BE49-F238E27FC236}">
                <a16:creationId xmlns:a16="http://schemas.microsoft.com/office/drawing/2014/main" id="{6A8FC696-DFE6-43CA-5B3B-C47D0567F302}"/>
              </a:ext>
            </a:extLst>
          </p:cNvPr>
          <p:cNvSpPr/>
          <p:nvPr/>
        </p:nvSpPr>
        <p:spPr>
          <a:xfrm>
            <a:off x="9979152" y="2935224"/>
            <a:ext cx="1953768"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Macro constancy check</a:t>
            </a:r>
          </a:p>
        </p:txBody>
      </p:sp>
      <p:sp>
        <p:nvSpPr>
          <p:cNvPr id="39" name="Rectangle 38">
            <a:extLst>
              <a:ext uri="{FF2B5EF4-FFF2-40B4-BE49-F238E27FC236}">
                <a16:creationId xmlns:a16="http://schemas.microsoft.com/office/drawing/2014/main" id="{5026C52B-3CBD-39DE-84EC-42C809BDBDFF}"/>
              </a:ext>
            </a:extLst>
          </p:cNvPr>
          <p:cNvSpPr/>
          <p:nvPr/>
        </p:nvSpPr>
        <p:spPr>
          <a:xfrm>
            <a:off x="6043968" y="4432881"/>
            <a:ext cx="1101714" cy="265176"/>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Pooled distributions
(returns/volume/vol)</a:t>
            </a:r>
          </a:p>
        </p:txBody>
      </p:sp>
      <p:sp>
        <p:nvSpPr>
          <p:cNvPr id="40" name="Rectangle 39">
            <a:extLst>
              <a:ext uri="{FF2B5EF4-FFF2-40B4-BE49-F238E27FC236}">
                <a16:creationId xmlns:a16="http://schemas.microsoft.com/office/drawing/2014/main" id="{729D3D25-8A0D-71C9-FA33-26C761269473}"/>
              </a:ext>
            </a:extLst>
          </p:cNvPr>
          <p:cNvSpPr/>
          <p:nvPr/>
        </p:nvSpPr>
        <p:spPr>
          <a:xfrm>
            <a:off x="8339815" y="4493623"/>
            <a:ext cx="903245"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Single-ticker</a:t>
            </a:r>
          </a:p>
        </p:txBody>
      </p:sp>
      <p:sp>
        <p:nvSpPr>
          <p:cNvPr id="41" name="Rectangle 40">
            <a:extLst>
              <a:ext uri="{FF2B5EF4-FFF2-40B4-BE49-F238E27FC236}">
                <a16:creationId xmlns:a16="http://schemas.microsoft.com/office/drawing/2014/main" id="{D89BF1CC-4B4F-BB49-CC51-836CC243F754}"/>
              </a:ext>
            </a:extLst>
          </p:cNvPr>
          <p:cNvSpPr/>
          <p:nvPr/>
        </p:nvSpPr>
        <p:spPr>
          <a:xfrm>
            <a:off x="10497990" y="4455741"/>
            <a:ext cx="1123627" cy="233172"/>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ACF diagnostics 
returns, sq. returns, </a:t>
            </a:r>
          </a:p>
        </p:txBody>
      </p:sp>
      <p:sp>
        <p:nvSpPr>
          <p:cNvPr id="42" name="Rectangle 41">
            <a:extLst>
              <a:ext uri="{FF2B5EF4-FFF2-40B4-BE49-F238E27FC236}">
                <a16:creationId xmlns:a16="http://schemas.microsoft.com/office/drawing/2014/main" id="{6209993F-2B4F-0510-66E4-5F62070DEE45}"/>
              </a:ext>
            </a:extLst>
          </p:cNvPr>
          <p:cNvSpPr/>
          <p:nvPr/>
        </p:nvSpPr>
        <p:spPr>
          <a:xfrm>
            <a:off x="5828263" y="6038957"/>
            <a:ext cx="1519728" cy="219457"/>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Feature–target relationships
(</a:t>
            </a:r>
            <a:r>
              <a:rPr sz="850" b="1" dirty="0" err="1">
                <a:solidFill>
                  <a:schemeClr val="tx1"/>
                </a:solidFill>
                <a:latin typeface="Arial"/>
              </a:rPr>
              <a:t>corr</a:t>
            </a:r>
            <a:r>
              <a:rPr sz="850" b="1" dirty="0">
                <a:solidFill>
                  <a:schemeClr val="tx1"/>
                </a:solidFill>
                <a:latin typeface="Arial"/>
              </a:rPr>
              <a:t> + scatter)</a:t>
            </a:r>
          </a:p>
        </p:txBody>
      </p:sp>
      <p:sp>
        <p:nvSpPr>
          <p:cNvPr id="43" name="Rectangle 42">
            <a:extLst>
              <a:ext uri="{FF2B5EF4-FFF2-40B4-BE49-F238E27FC236}">
                <a16:creationId xmlns:a16="http://schemas.microsoft.com/office/drawing/2014/main" id="{E88D3FBE-ED9B-049D-694C-6C0BD1AC17E0}"/>
              </a:ext>
            </a:extLst>
          </p:cNvPr>
          <p:cNvSpPr/>
          <p:nvPr/>
        </p:nvSpPr>
        <p:spPr>
          <a:xfrm>
            <a:off x="8033791" y="6050716"/>
            <a:ext cx="1515291" cy="21031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Leakage/alignment checks</a:t>
            </a:r>
          </a:p>
        </p:txBody>
      </p:sp>
      <p:sp>
        <p:nvSpPr>
          <p:cNvPr id="44" name="Rectangle 43">
            <a:extLst>
              <a:ext uri="{FF2B5EF4-FFF2-40B4-BE49-F238E27FC236}">
                <a16:creationId xmlns:a16="http://schemas.microsoft.com/office/drawing/2014/main" id="{D56C1AB5-ED87-50D6-3046-593844A64EFB}"/>
              </a:ext>
            </a:extLst>
          </p:cNvPr>
          <p:cNvSpPr/>
          <p:nvPr/>
        </p:nvSpPr>
        <p:spPr>
          <a:xfrm>
            <a:off x="10142437" y="6059207"/>
            <a:ext cx="1709928" cy="17112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Baselines to beat</a:t>
            </a:r>
          </a:p>
        </p:txBody>
      </p:sp>
      <p:sp>
        <p:nvSpPr>
          <p:cNvPr id="45" name="Text 4">
            <a:extLst>
              <a:ext uri="{FF2B5EF4-FFF2-40B4-BE49-F238E27FC236}">
                <a16:creationId xmlns:a16="http://schemas.microsoft.com/office/drawing/2014/main" id="{E5345DA6-C830-2CF4-453D-19E2ABE68BC6}"/>
              </a:ext>
            </a:extLst>
          </p:cNvPr>
          <p:cNvSpPr/>
          <p:nvPr/>
        </p:nvSpPr>
        <p:spPr>
          <a:xfrm>
            <a:off x="1896291" y="847344"/>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EDA Tests</a:t>
            </a:r>
            <a:endParaRPr lang="en-US" sz="2000" dirty="0"/>
          </a:p>
        </p:txBody>
      </p:sp>
      <p:sp>
        <p:nvSpPr>
          <p:cNvPr id="46" name="Shape 5">
            <a:extLst>
              <a:ext uri="{FF2B5EF4-FFF2-40B4-BE49-F238E27FC236}">
                <a16:creationId xmlns:a16="http://schemas.microsoft.com/office/drawing/2014/main" id="{093B9FA4-F5C8-06E5-E026-A7E3FFF94532}"/>
              </a:ext>
            </a:extLst>
          </p:cNvPr>
          <p:cNvSpPr/>
          <p:nvPr/>
        </p:nvSpPr>
        <p:spPr>
          <a:xfrm flipV="1">
            <a:off x="2599508" y="1152144"/>
            <a:ext cx="979715" cy="0"/>
          </a:xfrm>
          <a:prstGeom prst="line">
            <a:avLst/>
          </a:prstGeom>
          <a:noFill/>
          <a:ln w="15240">
            <a:solidFill>
              <a:srgbClr val="08A3C7"/>
            </a:solidFill>
            <a:prstDash val="solid"/>
          </a:ln>
        </p:spPr>
        <p:txBody>
          <a:bodyPr/>
          <a:lstStyle/>
          <a:p>
            <a:endParaRPr lang="en-US"/>
          </a:p>
        </p:txBody>
      </p:sp>
      <p:sp>
        <p:nvSpPr>
          <p:cNvPr id="35" name="Text 3">
            <a:extLst>
              <a:ext uri="{FF2B5EF4-FFF2-40B4-BE49-F238E27FC236}">
                <a16:creationId xmlns:a16="http://schemas.microsoft.com/office/drawing/2014/main" id="{5FCC1BC8-5AEE-0C4A-72D1-04569D7295A9}"/>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D38F3-9CCD-288E-2F25-B5BEF5256B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1CC733E-286B-DB4C-4C3D-26B1BA7D38C0}"/>
              </a:ext>
            </a:extLst>
          </p:cNvPr>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a:extLst>
              <a:ext uri="{FF2B5EF4-FFF2-40B4-BE49-F238E27FC236}">
                <a16:creationId xmlns:a16="http://schemas.microsoft.com/office/drawing/2014/main" id="{42142922-2786-A3D8-94C6-5218335D60BE}"/>
              </a:ext>
            </a:extLst>
          </p:cNvPr>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Forecasting Volatility In Stock Market</a:t>
            </a:r>
            <a:endParaRPr lang="en-US" sz="2900" dirty="0"/>
          </a:p>
        </p:txBody>
      </p:sp>
      <p:sp>
        <p:nvSpPr>
          <p:cNvPr id="4" name="Shape 2">
            <a:extLst>
              <a:ext uri="{FF2B5EF4-FFF2-40B4-BE49-F238E27FC236}">
                <a16:creationId xmlns:a16="http://schemas.microsoft.com/office/drawing/2014/main" id="{5BDBA904-3875-2D8B-B440-D4BB0858E2B5}"/>
              </a:ext>
            </a:extLst>
          </p:cNvPr>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a:extLst>
              <a:ext uri="{FF2B5EF4-FFF2-40B4-BE49-F238E27FC236}">
                <a16:creationId xmlns:a16="http://schemas.microsoft.com/office/drawing/2014/main" id="{26382F0A-05BB-1ED2-EFB3-4EC93A08AFBF}"/>
              </a:ext>
            </a:extLst>
          </p:cNvPr>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9" name="TextBox 8">
            <a:extLst>
              <a:ext uri="{FF2B5EF4-FFF2-40B4-BE49-F238E27FC236}">
                <a16:creationId xmlns:a16="http://schemas.microsoft.com/office/drawing/2014/main" id="{1D433F22-3FAE-CC59-CFA3-ACC37CEB1C86}"/>
              </a:ext>
            </a:extLst>
          </p:cNvPr>
          <p:cNvSpPr txBox="1"/>
          <p:nvPr/>
        </p:nvSpPr>
        <p:spPr>
          <a:xfrm>
            <a:off x="405536" y="1152144"/>
            <a:ext cx="11380622" cy="5187445"/>
          </a:xfrm>
          <a:prstGeom prst="rect">
            <a:avLst/>
          </a:prstGeom>
          <a:noFill/>
        </p:spPr>
        <p:txBody>
          <a:bodyPr wrap="square">
            <a:normAutofit fontScale="70000" lnSpcReduction="20000"/>
          </a:bodyPr>
          <a:lstStyle/>
          <a:p>
            <a:pPr>
              <a:spcAft>
                <a:spcPts val="200"/>
              </a:spcAft>
            </a:pPr>
            <a:r>
              <a:rPr lang="en-US" sz="2200" b="1" dirty="0">
                <a:solidFill>
                  <a:srgbClr val="00A8CC"/>
                </a:solidFill>
                <a:latin typeface="Calibri"/>
              </a:rPr>
              <a:t>Our </a:t>
            </a:r>
            <a:r>
              <a:rPr sz="2200" b="1" dirty="0">
                <a:solidFill>
                  <a:srgbClr val="00A8CC"/>
                </a:solidFill>
                <a:latin typeface="Calibri"/>
              </a:rPr>
              <a:t>Objective</a:t>
            </a:r>
            <a:r>
              <a:rPr lang="en-US" sz="2200" b="1" dirty="0">
                <a:solidFill>
                  <a:srgbClr val="00A8CC"/>
                </a:solidFill>
                <a:latin typeface="Calibri"/>
              </a:rPr>
              <a:t>: </a:t>
            </a:r>
            <a:endParaRPr sz="2200" b="1" dirty="0">
              <a:solidFill>
                <a:srgbClr val="00A8CC"/>
              </a:solidFill>
              <a:latin typeface="Calibri"/>
            </a:endParaRPr>
          </a:p>
          <a:p>
            <a:pPr marL="285750" indent="-285750">
              <a:spcAft>
                <a:spcPts val="100"/>
              </a:spcAft>
              <a:buFont typeface="Arial" panose="020B0604020202020204" pitchFamily="34" charset="0"/>
              <a:buChar char="•"/>
            </a:pPr>
            <a:r>
              <a:rPr sz="2200" b="1" dirty="0">
                <a:solidFill>
                  <a:srgbClr val="1A1A2E"/>
                </a:solidFill>
                <a:latin typeface="Calibri"/>
              </a:rPr>
              <a:t>Predict next-week (next 5 trading days) realized volatility </a:t>
            </a:r>
            <a:r>
              <a:rPr lang="en-US" sz="2200" b="0" dirty="0">
                <a:solidFill>
                  <a:srgbClr val="1A1A2E"/>
                </a:solidFill>
                <a:latin typeface="Calibri"/>
              </a:rPr>
              <a:t>using 36</a:t>
            </a:r>
            <a:r>
              <a:rPr sz="2200" b="0" dirty="0">
                <a:solidFill>
                  <a:srgbClr val="1A1A2E"/>
                </a:solidFill>
                <a:latin typeface="Calibri"/>
              </a:rPr>
              <a:t> S&amp;P 500-linked ETFs using only information known at the prediction date.</a:t>
            </a:r>
          </a:p>
          <a:p>
            <a:pPr marL="285750" indent="-285750">
              <a:spcAft>
                <a:spcPts val="600"/>
              </a:spcAft>
              <a:buFont typeface="Arial" panose="020B0604020202020204" pitchFamily="34" charset="0"/>
              <a:buChar char="•"/>
            </a:pPr>
            <a:r>
              <a:rPr sz="2200" b="1" dirty="0">
                <a:solidFill>
                  <a:srgbClr val="1A1A2E"/>
                </a:solidFill>
                <a:latin typeface="Calibri"/>
              </a:rPr>
              <a:t>Why it matters: </a:t>
            </a:r>
            <a:r>
              <a:rPr sz="2200" b="0" dirty="0">
                <a:solidFill>
                  <a:srgbClr val="1A1A2E"/>
                </a:solidFill>
                <a:latin typeface="Calibri"/>
              </a:rPr>
              <a:t>volatility drives position sizing, risk budgeting, drawdown control, and derivatives/risk-management pricing.</a:t>
            </a:r>
            <a:endParaRPr lang="en-US" sz="2200" b="1" dirty="0">
              <a:solidFill>
                <a:srgbClr val="00A8CC"/>
              </a:solidFill>
              <a:latin typeface="Calibri"/>
            </a:endParaRPr>
          </a:p>
          <a:p>
            <a:pPr>
              <a:spcAft>
                <a:spcPts val="200"/>
              </a:spcAft>
            </a:pPr>
            <a:endParaRPr lang="en-US" sz="2200" b="1" dirty="0">
              <a:solidFill>
                <a:srgbClr val="00A8CC"/>
              </a:solidFill>
              <a:latin typeface="Calibri"/>
            </a:endParaRPr>
          </a:p>
          <a:p>
            <a:pPr>
              <a:spcAft>
                <a:spcPts val="200"/>
              </a:spcAft>
            </a:pPr>
            <a:r>
              <a:rPr lang="en-US" sz="2200" b="1" dirty="0">
                <a:solidFill>
                  <a:srgbClr val="00A8CC"/>
                </a:solidFill>
                <a:latin typeface="Calibri"/>
              </a:rPr>
              <a:t>Our Data:</a:t>
            </a:r>
            <a:endParaRPr lang="en-US" sz="2200" b="1" dirty="0">
              <a:solidFill>
                <a:srgbClr val="1A1A2E"/>
              </a:solidFill>
              <a:latin typeface="Calibri"/>
            </a:endParaRPr>
          </a:p>
          <a:p>
            <a:pPr marL="285750" indent="-285750">
              <a:spcAft>
                <a:spcPts val="200"/>
              </a:spcAft>
              <a:buFont typeface="Arial" panose="020B0604020202020204" pitchFamily="34" charset="0"/>
              <a:buChar char="•"/>
            </a:pPr>
            <a:r>
              <a:rPr lang="en-US" sz="2200" b="1" dirty="0">
                <a:solidFill>
                  <a:srgbClr val="1A1A2E"/>
                </a:solidFill>
                <a:latin typeface="Calibri"/>
              </a:rPr>
              <a:t>Downloads from FactSet.</a:t>
            </a:r>
          </a:p>
          <a:p>
            <a:pPr marL="285750" indent="-285750">
              <a:spcAft>
                <a:spcPts val="200"/>
              </a:spcAft>
              <a:buFont typeface="Arial" panose="020B0604020202020204" pitchFamily="34" charset="0"/>
              <a:buChar char="•"/>
            </a:pPr>
            <a:r>
              <a:rPr lang="en-US" sz="2200" b="1" dirty="0">
                <a:solidFill>
                  <a:srgbClr val="1A1A2E"/>
                </a:solidFill>
              </a:rPr>
              <a:t>6 macro/risk series for regime context: </a:t>
            </a:r>
            <a:endParaRPr lang="en-US" sz="2200" b="1" dirty="0">
              <a:solidFill>
                <a:srgbClr val="1A1A2E"/>
              </a:solidFill>
              <a:latin typeface="Calibri"/>
            </a:endParaRPr>
          </a:p>
          <a:p>
            <a:pPr marL="742950" lvl="1" indent="-285750">
              <a:spcAft>
                <a:spcPts val="200"/>
              </a:spcAft>
              <a:buFont typeface="Wingdings" panose="05000000000000000000" pitchFamily="2" charset="2"/>
              <a:buChar char="Ø"/>
            </a:pPr>
            <a:r>
              <a:rPr lang="en-US" sz="2200" b="0" dirty="0">
                <a:solidFill>
                  <a:srgbClr val="1A1A2E"/>
                </a:solidFill>
                <a:latin typeface="Calibri"/>
              </a:rPr>
              <a:t>3 month T-Bill yield</a:t>
            </a:r>
          </a:p>
          <a:p>
            <a:pPr marL="742950" lvl="1" indent="-285750">
              <a:spcAft>
                <a:spcPts val="200"/>
              </a:spcAft>
              <a:buFont typeface="Wingdings" panose="05000000000000000000" pitchFamily="2" charset="2"/>
              <a:buChar char="Ø"/>
            </a:pPr>
            <a:r>
              <a:rPr lang="en-US" sz="2200" b="0" dirty="0">
                <a:solidFill>
                  <a:srgbClr val="1A1A2E"/>
                </a:solidFill>
                <a:latin typeface="Calibri"/>
              </a:rPr>
              <a:t>10 year US bond yield</a:t>
            </a:r>
          </a:p>
          <a:p>
            <a:pPr marL="742950" lvl="1" indent="-285750">
              <a:spcAft>
                <a:spcPts val="200"/>
              </a:spcAft>
              <a:buFont typeface="Wingdings" panose="05000000000000000000" pitchFamily="2" charset="2"/>
              <a:buChar char="Ø"/>
            </a:pPr>
            <a:r>
              <a:rPr sz="2200" b="0" dirty="0">
                <a:solidFill>
                  <a:srgbClr val="1A1A2E"/>
                </a:solidFill>
                <a:latin typeface="Calibri"/>
              </a:rPr>
              <a:t>US</a:t>
            </a:r>
            <a:r>
              <a:rPr lang="en-US" sz="2200" b="0" dirty="0">
                <a:solidFill>
                  <a:srgbClr val="1A1A2E"/>
                </a:solidFill>
                <a:latin typeface="Calibri"/>
              </a:rPr>
              <a:t> 10 year </a:t>
            </a:r>
            <a:r>
              <a:rPr lang="en-US" sz="2200" dirty="0">
                <a:solidFill>
                  <a:srgbClr val="1A1A2E"/>
                </a:solidFill>
                <a:latin typeface="Calibri"/>
              </a:rPr>
              <a:t>-</a:t>
            </a:r>
            <a:r>
              <a:rPr lang="en-US" sz="2200" b="0" dirty="0">
                <a:solidFill>
                  <a:srgbClr val="1A1A2E"/>
                </a:solidFill>
                <a:latin typeface="Calibri"/>
              </a:rPr>
              <a:t> month yield spread</a:t>
            </a:r>
          </a:p>
          <a:p>
            <a:pPr marL="742950" lvl="1" indent="-285750">
              <a:spcAft>
                <a:spcPts val="200"/>
              </a:spcAft>
              <a:buFont typeface="Wingdings" panose="05000000000000000000" pitchFamily="2" charset="2"/>
              <a:buChar char="Ø"/>
            </a:pPr>
            <a:r>
              <a:rPr lang="en-US" sz="2200" b="0" dirty="0">
                <a:solidFill>
                  <a:srgbClr val="1A1A2E"/>
                </a:solidFill>
                <a:latin typeface="Calibri"/>
              </a:rPr>
              <a:t>Gold spot price</a:t>
            </a:r>
          </a:p>
          <a:p>
            <a:pPr marL="742950" lvl="1" indent="-285750">
              <a:spcAft>
                <a:spcPts val="200"/>
              </a:spcAft>
              <a:buFont typeface="Wingdings" panose="05000000000000000000" pitchFamily="2" charset="2"/>
              <a:buChar char="Ø"/>
            </a:pPr>
            <a:r>
              <a:rPr lang="en-US" sz="2200" b="0" dirty="0">
                <a:solidFill>
                  <a:srgbClr val="1A1A2E"/>
                </a:solidFill>
                <a:latin typeface="Calibri"/>
              </a:rPr>
              <a:t>Oil spot price</a:t>
            </a:r>
            <a:endParaRPr lang="en-US" sz="2200" dirty="0">
              <a:solidFill>
                <a:srgbClr val="1A1A2E"/>
              </a:solidFill>
              <a:latin typeface="Calibri"/>
            </a:endParaRPr>
          </a:p>
          <a:p>
            <a:pPr marL="742950" lvl="1" indent="-285750">
              <a:spcAft>
                <a:spcPts val="200"/>
              </a:spcAft>
              <a:buFont typeface="Wingdings" panose="05000000000000000000" pitchFamily="2" charset="2"/>
              <a:buChar char="Ø"/>
            </a:pPr>
            <a:r>
              <a:rPr sz="2200" b="0" dirty="0">
                <a:solidFill>
                  <a:srgbClr val="1A1A2E"/>
                </a:solidFill>
                <a:latin typeface="Calibri"/>
              </a:rPr>
              <a:t>VIX</a:t>
            </a:r>
          </a:p>
          <a:p>
            <a:pPr marL="285750" indent="-285750">
              <a:spcAft>
                <a:spcPts val="100"/>
              </a:spcAft>
              <a:buFont typeface="Arial" panose="020B0604020202020204" pitchFamily="34" charset="0"/>
              <a:buChar char="•"/>
            </a:pPr>
            <a:r>
              <a:rPr sz="2200" b="1" dirty="0">
                <a:solidFill>
                  <a:srgbClr val="1A1A2E"/>
                </a:solidFill>
                <a:latin typeface="Calibri"/>
              </a:rPr>
              <a:t>Market (1): </a:t>
            </a:r>
            <a:r>
              <a:rPr sz="2200" b="0" dirty="0">
                <a:solidFill>
                  <a:srgbClr val="1A1A2E"/>
                </a:solidFill>
                <a:latin typeface="Calibri"/>
              </a:rPr>
              <a:t>SPY</a:t>
            </a:r>
          </a:p>
          <a:p>
            <a:pPr marL="285750" indent="-285750">
              <a:spcAft>
                <a:spcPts val="100"/>
              </a:spcAft>
              <a:buFont typeface="Arial" panose="020B0604020202020204" pitchFamily="34" charset="0"/>
              <a:buChar char="•"/>
            </a:pPr>
            <a:r>
              <a:rPr sz="2200" b="1" dirty="0">
                <a:solidFill>
                  <a:srgbClr val="1A1A2E"/>
                </a:solidFill>
                <a:latin typeface="Calibri"/>
              </a:rPr>
              <a:t>Sector (13): </a:t>
            </a:r>
            <a:r>
              <a:rPr sz="2200" b="0" dirty="0">
                <a:solidFill>
                  <a:srgbClr val="1A1A2E"/>
                </a:solidFill>
                <a:latin typeface="Calibri"/>
              </a:rPr>
              <a:t>IYZ, VGT, XLB, XLC, XLE, XLF, XLI, XLK, XLP, XLRE, XLU, XLV, XLY</a:t>
            </a:r>
            <a:endParaRPr lang="en-US" sz="2200" b="0" dirty="0">
              <a:solidFill>
                <a:srgbClr val="1A1A2E"/>
              </a:solidFill>
              <a:latin typeface="Calibri"/>
            </a:endParaRPr>
          </a:p>
          <a:p>
            <a:pPr marL="285750" indent="-285750">
              <a:spcAft>
                <a:spcPts val="100"/>
              </a:spcAft>
              <a:buFont typeface="Arial" panose="020B0604020202020204" pitchFamily="34" charset="0"/>
              <a:buChar char="•"/>
            </a:pPr>
            <a:r>
              <a:rPr lang="en-US" sz="2200" b="1" dirty="0">
                <a:solidFill>
                  <a:srgbClr val="1A1A2E"/>
                </a:solidFill>
              </a:rPr>
              <a:t>Industry (22): </a:t>
            </a:r>
            <a:r>
              <a:rPr lang="en-US" sz="2200" dirty="0">
                <a:solidFill>
                  <a:srgbClr val="1A1A2E"/>
                </a:solidFill>
              </a:rPr>
              <a:t>BEDZ, FTXG, KBE, KCE, KIE, KRE, PEJ, PNQI, PXQ, XAR, XBI, XES, XHB, XHE, XHS, XME, XOP, XPH, XSD, XSW, XTL, XTN</a:t>
            </a:r>
            <a:endParaRPr lang="en-US" sz="2200" b="0" dirty="0">
              <a:solidFill>
                <a:srgbClr val="1A1A2E"/>
              </a:solidFill>
              <a:latin typeface="Calibri"/>
            </a:endParaRPr>
          </a:p>
          <a:p>
            <a:pPr marL="285750" indent="-285750">
              <a:spcAft>
                <a:spcPts val="100"/>
              </a:spcAft>
              <a:buFont typeface="Arial" panose="020B0604020202020204" pitchFamily="34" charset="0"/>
              <a:buChar char="•"/>
            </a:pPr>
            <a:r>
              <a:rPr lang="en-US" sz="2100" b="1" dirty="0">
                <a:solidFill>
                  <a:srgbClr val="1A1A2E"/>
                </a:solidFill>
                <a:latin typeface="Calibri"/>
              </a:rPr>
              <a:t>Date range: </a:t>
            </a:r>
            <a:r>
              <a:rPr lang="en-US" sz="2100" dirty="0">
                <a:solidFill>
                  <a:srgbClr val="1A1A2E"/>
                </a:solidFill>
                <a:latin typeface="Calibri"/>
              </a:rPr>
              <a:t>2014-12-31 to 2025-12-31</a:t>
            </a:r>
            <a:endParaRPr lang="en-US" sz="2200" b="1" dirty="0">
              <a:solidFill>
                <a:srgbClr val="00A8CC"/>
              </a:solidFill>
            </a:endParaRPr>
          </a:p>
          <a:p>
            <a:endParaRPr lang="en-US" sz="2200" b="1" dirty="0">
              <a:solidFill>
                <a:srgbClr val="00A8CC"/>
              </a:solidFill>
            </a:endParaRPr>
          </a:p>
          <a:p>
            <a:r>
              <a:rPr lang="en-US" sz="2200" b="1" dirty="0">
                <a:solidFill>
                  <a:srgbClr val="00A8CC"/>
                </a:solidFill>
              </a:rPr>
              <a:t>Our Models:</a:t>
            </a:r>
          </a:p>
          <a:p>
            <a:pPr marL="285750" indent="-285750">
              <a:buFont typeface="Arial" panose="020B0604020202020204" pitchFamily="34" charset="0"/>
              <a:buChar char="•"/>
            </a:pPr>
            <a:r>
              <a:rPr lang="en-US" sz="2200" b="1" dirty="0">
                <a:solidFill>
                  <a:srgbClr val="1A1A2E"/>
                </a:solidFill>
              </a:rPr>
              <a:t>Transformer 1: </a:t>
            </a:r>
            <a:r>
              <a:rPr lang="en-US" sz="2200" dirty="0">
                <a:solidFill>
                  <a:srgbClr val="1A1A2E"/>
                </a:solidFill>
              </a:rPr>
              <a:t>Diogo</a:t>
            </a:r>
          </a:p>
          <a:p>
            <a:pPr marL="285750" indent="-285750">
              <a:buFont typeface="Arial" panose="020B0604020202020204" pitchFamily="34" charset="0"/>
              <a:buChar char="•"/>
            </a:pPr>
            <a:r>
              <a:rPr lang="en-US" sz="2200" b="1" dirty="0">
                <a:solidFill>
                  <a:srgbClr val="1A1A2E"/>
                </a:solidFill>
              </a:rPr>
              <a:t>Transformer 2: </a:t>
            </a:r>
            <a:r>
              <a:rPr lang="en-US" sz="2200" dirty="0">
                <a:solidFill>
                  <a:srgbClr val="1A1A2E"/>
                </a:solidFill>
              </a:rPr>
              <a:t>Ronald</a:t>
            </a:r>
          </a:p>
          <a:p>
            <a:pPr marL="285750" indent="-285750">
              <a:buFont typeface="Arial" panose="020B0604020202020204" pitchFamily="34" charset="0"/>
              <a:buChar char="•"/>
            </a:pPr>
            <a:r>
              <a:rPr lang="en-US" sz="2200" b="1" dirty="0">
                <a:solidFill>
                  <a:srgbClr val="1A1A2E"/>
                </a:solidFill>
              </a:rPr>
              <a:t>LSTM: </a:t>
            </a:r>
            <a:r>
              <a:rPr lang="en-US" sz="2200" dirty="0">
                <a:solidFill>
                  <a:srgbClr val="1A1A2E"/>
                </a:solidFill>
              </a:rPr>
              <a:t>Sid</a:t>
            </a:r>
          </a:p>
          <a:p>
            <a:pPr marL="285750" indent="-285750">
              <a:buFont typeface="Arial" panose="020B0604020202020204" pitchFamily="34" charset="0"/>
              <a:buChar char="•"/>
            </a:pPr>
            <a:r>
              <a:rPr lang="en-US" sz="2200" b="1" dirty="0">
                <a:solidFill>
                  <a:srgbClr val="1A1A2E"/>
                </a:solidFill>
              </a:rPr>
              <a:t>Elastic Net Regression: </a:t>
            </a:r>
            <a:r>
              <a:rPr lang="en-US" sz="2200" dirty="0">
                <a:solidFill>
                  <a:srgbClr val="1A1A2E"/>
                </a:solidFill>
              </a:rPr>
              <a:t>Vinit</a:t>
            </a:r>
          </a:p>
          <a:p>
            <a:pPr marL="285750" indent="-285750">
              <a:buFont typeface="Arial" panose="020B0604020202020204" pitchFamily="34" charset="0"/>
              <a:buChar char="•"/>
            </a:pPr>
            <a:r>
              <a:rPr lang="en-US" sz="2200" u="sng" dirty="0">
                <a:solidFill>
                  <a:srgbClr val="1A1A2E"/>
                </a:solidFill>
                <a:latin typeface="Calibri"/>
              </a:rPr>
              <a:t>6 Baseline Models to compare to</a:t>
            </a:r>
            <a:endParaRPr sz="2200" u="sng" dirty="0">
              <a:solidFill>
                <a:srgbClr val="1A1A2E"/>
              </a:solidFill>
              <a:latin typeface="Calibri"/>
            </a:endParaRPr>
          </a:p>
        </p:txBody>
      </p:sp>
      <p:sp>
        <p:nvSpPr>
          <p:cNvPr id="13" name="TextBox 12">
            <a:extLst>
              <a:ext uri="{FF2B5EF4-FFF2-40B4-BE49-F238E27FC236}">
                <a16:creationId xmlns:a16="http://schemas.microsoft.com/office/drawing/2014/main" id="{E08A7C2B-6610-A068-F22A-20B8D98D043D}"/>
              </a:ext>
            </a:extLst>
          </p:cNvPr>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sp>
        <p:nvSpPr>
          <p:cNvPr id="6" name="Text 4">
            <a:extLst>
              <a:ext uri="{FF2B5EF4-FFF2-40B4-BE49-F238E27FC236}">
                <a16:creationId xmlns:a16="http://schemas.microsoft.com/office/drawing/2014/main" id="{CB58AC01-D69F-0961-3DB3-71446248FD7B}"/>
              </a:ext>
            </a:extLst>
          </p:cNvPr>
          <p:cNvSpPr/>
          <p:nvPr/>
        </p:nvSpPr>
        <p:spPr>
          <a:xfrm>
            <a:off x="3404375" y="835838"/>
            <a:ext cx="4217803" cy="256032"/>
          </a:xfrm>
          <a:prstGeom prst="rect">
            <a:avLst/>
          </a:prstGeom>
          <a:noFill/>
          <a:ln/>
        </p:spPr>
        <p:txBody>
          <a:bodyPr wrap="square" lIns="0" tIns="0" rIns="0" bIns="0" rtlCol="0" anchor="ctr"/>
          <a:lstStyle/>
          <a:p>
            <a:pPr algn="ctr">
              <a:spcAft>
                <a:spcPts val="800"/>
              </a:spcAft>
            </a:pPr>
            <a:r>
              <a:rPr lang="en-US" sz="2000" b="1" dirty="0">
                <a:solidFill>
                  <a:srgbClr val="00A8CC"/>
                </a:solidFill>
              </a:rPr>
              <a:t>Project Scope</a:t>
            </a:r>
          </a:p>
        </p:txBody>
      </p:sp>
      <p:sp>
        <p:nvSpPr>
          <p:cNvPr id="7" name="Shape 5">
            <a:extLst>
              <a:ext uri="{FF2B5EF4-FFF2-40B4-BE49-F238E27FC236}">
                <a16:creationId xmlns:a16="http://schemas.microsoft.com/office/drawing/2014/main" id="{55344706-2FDA-4EF5-FED1-46EE2344AF75}"/>
              </a:ext>
            </a:extLst>
          </p:cNvPr>
          <p:cNvSpPr/>
          <p:nvPr/>
        </p:nvSpPr>
        <p:spPr>
          <a:xfrm>
            <a:off x="3404376" y="1152144"/>
            <a:ext cx="4217802" cy="0"/>
          </a:xfrm>
          <a:prstGeom prst="line">
            <a:avLst/>
          </a:prstGeom>
          <a:noFill/>
          <a:ln w="15240">
            <a:solidFill>
              <a:srgbClr val="08A3C7"/>
            </a:solidFill>
            <a:prstDash val="solid"/>
          </a:ln>
        </p:spPr>
        <p:txBody>
          <a:bodyPr/>
          <a:lstStyle/>
          <a:p>
            <a:endParaRPr lang="en-US"/>
          </a:p>
        </p:txBody>
      </p:sp>
      <p:sp>
        <p:nvSpPr>
          <p:cNvPr id="10" name="Text 3">
            <a:extLst>
              <a:ext uri="{FF2B5EF4-FFF2-40B4-BE49-F238E27FC236}">
                <a16:creationId xmlns:a16="http://schemas.microsoft.com/office/drawing/2014/main" id="{69AACFBE-0627-E569-226C-EBF28D4C041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520621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p:cNvGrpSpPr/>
        <p:nvPr/>
      </p:nvGrpSpPr>
      <p:grpSpPr>
        <a:xfrm>
          <a:off x="0" y="0"/>
          <a:ext cx="0" cy="0"/>
          <a:chOff x="0" y="0"/>
          <a:chExt cx="0" cy="0"/>
        </a:xfrm>
      </p:grpSpPr>
      <p:sp>
        <p:nvSpPr>
          <p:cNvPr id="8" name="Shape 0"/>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p:cNvSpPr/>
          <p:nvPr/>
        </p:nvSpPr>
        <p:spPr>
          <a:xfrm>
            <a:off x="426720" y="975360"/>
            <a:ext cx="11338080" cy="1086086"/>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Elastic Net Regression</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Vinit Bhatt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32"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Is Elastic Net?</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p:cNvSpPr/>
          <p:nvPr/>
        </p:nvSpPr>
        <p:spPr>
          <a:xfrm>
            <a:off x="219360" y="3887896"/>
            <a:ext cx="5510400" cy="1950331"/>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1" name="Text 9"/>
          <p:cNvSpPr/>
          <p:nvPr/>
        </p:nvSpPr>
        <p:spPr>
          <a:xfrm>
            <a:off x="243840" y="3985826"/>
            <a:ext cx="5242080" cy="123787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is a strong, interpretable benchmark that helps us identify which features matter and which do not</a:t>
            </a:r>
            <a:r>
              <a:rPr kumimoji="0" lang="en-US" sz="1533" b="0" i="0" u="none" strike="noStrike" kern="1200" cap="none" spc="0" normalizeH="0" baseline="0" noProof="0" dirty="0">
                <a:ln>
                  <a:noFill/>
                </a:ln>
                <a:solidFill>
                  <a:srgbClr val="000000"/>
                </a:solidFill>
                <a:effectLst/>
                <a:uLnTx/>
                <a:uFillTx/>
                <a:latin typeface="Arial"/>
                <a:ea typeface="+mn-ea"/>
                <a:cs typeface="+mn-cs"/>
              </a:rPr>
              <a:t>.</a:t>
            </a:r>
          </a:p>
        </p:txBody>
      </p:sp>
      <p:sp>
        <p:nvSpPr>
          <p:cNvPr id="43" name="Shape 11"/>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5" name="Text 13"/>
          <p:cNvSpPr/>
          <p:nvPr/>
        </p:nvSpPr>
        <p:spPr>
          <a:xfrm>
            <a:off x="6136745" y="1174542"/>
            <a:ext cx="5607840" cy="17517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Our volatility features overlap</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Some macro variables may add little value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We want a model that is still easy to interpret</a:t>
            </a:r>
          </a:p>
        </p:txBody>
      </p:sp>
      <p:sp>
        <p:nvSpPr>
          <p:cNvPr id="46" name="Shape 14"/>
          <p:cNvSpPr/>
          <p:nvPr/>
        </p:nvSpPr>
        <p:spPr>
          <a:xfrm>
            <a:off x="6096000" y="3863416"/>
            <a:ext cx="5876160" cy="1974808"/>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Elastic Net is transparent and disciplined</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But it is still linear, so it may miss nonlinear volatility patterns</a:t>
            </a:r>
            <a:endPar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Shape 13">
            <a:extLst>
              <a:ext uri="{FF2B5EF4-FFF2-40B4-BE49-F238E27FC236}">
                <a16:creationId xmlns:a16="http://schemas.microsoft.com/office/drawing/2014/main" id="{C8B8F06B-FD16-7B16-3190-45285D1E9BE4}"/>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0" marR="0" lvl="0" indent="0" algn="l" defTabSz="1219170" rtl="0" eaLnBrk="1" fontAlgn="auto" latinLnBrk="0" hangingPunct="1">
              <a:lnSpc>
                <a:spcPct val="100000"/>
              </a:lnSpc>
              <a:spcBef>
                <a:spcPts val="0"/>
              </a:spcBef>
              <a:spcAft>
                <a:spcPts val="533"/>
              </a:spcAft>
              <a:buClrTx/>
              <a:buSzTx/>
              <a:buFontTx/>
              <a:buNone/>
              <a:tabLst>
                <a:tab pos="0" algn="l"/>
              </a:tabLst>
              <a:defRPr/>
            </a:pPr>
            <a:r>
              <a:rPr kumimoji="0" lang="en-US" sz="1467" b="1" i="0" u="none" strike="noStrike" kern="1200" cap="none" spc="0" normalizeH="0" baseline="0" noProof="0" dirty="0">
                <a:ln>
                  <a:noFill/>
                </a:ln>
                <a:solidFill>
                  <a:srgbClr val="1A1A2E"/>
                </a:solidFill>
                <a:effectLst/>
                <a:uLnTx/>
                <a:uFillTx/>
                <a:latin typeface="Calibri" panose="020F0502020204030204"/>
                <a:ea typeface="Calibri"/>
                <a:cs typeface="+mn-cs"/>
              </a:rPr>
              <a:t>Elastic Net is a linear regression model with built-in regularization.  </a:t>
            </a:r>
            <a:r>
              <a:rPr kumimoji="0" lang="en-US" sz="1467" b="0" i="0" u="none" strike="noStrike" kern="1200" cap="none" spc="0" normalizeH="0" baseline="0" noProof="0" dirty="0">
                <a:ln>
                  <a:noFill/>
                </a:ln>
                <a:solidFill>
                  <a:srgbClr val="1A1A2E"/>
                </a:solidFill>
                <a:effectLst/>
                <a:uLnTx/>
                <a:uFillTx/>
                <a:latin typeface="Calibri" panose="020F0502020204030204"/>
                <a:ea typeface="Calibri"/>
                <a:cs typeface="+mn-cs"/>
              </a:rPr>
              <a:t>It helps the model fit the data while avoiding noisy or unstable coefficients.</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Think of it as a combination of two ideas: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Lasso (L1):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removes weak or redundant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Ridge (L2):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shrinks and stabilizes correlated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does both at the same time</a:t>
            </a:r>
            <a:endParaRPr kumimoji="0" lang="en-US" sz="1533" b="0" i="0" u="none" strike="noStrike" kern="1200" cap="none" spc="0" normalizeH="0" baseline="0" noProof="0" dirty="0">
              <a:ln>
                <a:noFill/>
              </a:ln>
              <a:solidFill>
                <a:srgbClr val="000000"/>
              </a:solidFill>
              <a:effectLst/>
              <a:uLnTx/>
              <a:uFillTx/>
              <a:latin typeface="Calibri" panose="020F050202020403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 name="Text 3">
            <a:extLst>
              <a:ext uri="{FF2B5EF4-FFF2-40B4-BE49-F238E27FC236}">
                <a16:creationId xmlns:a16="http://schemas.microsoft.com/office/drawing/2014/main" id="{36DD4909-E9CD-657C-677A-54C3E4B100F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8" name="Shape 6">
            <a:extLst>
              <a:ext uri="{FF2B5EF4-FFF2-40B4-BE49-F238E27FC236}">
                <a16:creationId xmlns:a16="http://schemas.microsoft.com/office/drawing/2014/main" id="{D3C723B6-84B5-A592-FFF5-03C0407F2AA6}"/>
              </a:ext>
            </a:extLst>
          </p:cNvPr>
          <p:cNvSpPr/>
          <p:nvPr/>
        </p:nvSpPr>
        <p:spPr>
          <a:xfrm>
            <a:off x="504161" y="4804523"/>
            <a:ext cx="5449629" cy="1255773"/>
          </a:xfrm>
          <a:prstGeom prst="rect">
            <a:avLst/>
          </a:prstGeom>
          <a:solidFill>
            <a:srgbClr val="D5F5E3"/>
          </a:solidFill>
          <a:ln w="12700">
            <a:solidFill>
              <a:srgbClr val="1E844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
        <p:nvSpPr>
          <p:cNvPr id="2" name="Shape 0"/>
          <p:cNvSpPr/>
          <p:nvPr/>
        </p:nvSpPr>
        <p:spPr>
          <a:xfrm>
            <a:off x="0" y="0"/>
            <a:ext cx="12191695" cy="7772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164592"/>
            <a:ext cx="10088575" cy="5029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Interpretation: What Elastic Net Retained (We should get rid of V1)</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0" y="6537960"/>
            <a:ext cx="12191695" cy="3200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510692" y="1536192"/>
            <a:ext cx="5432908" cy="2971800"/>
          </a:xfrm>
          <a:prstGeom prst="rect">
            <a:avLst/>
          </a:prstGeom>
          <a:solidFill>
            <a:srgbClr val="DFF5E6"/>
          </a:solidFill>
          <a:ln w="15875">
            <a:solidFill>
              <a:srgbClr val="2E7D3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731520"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V1 retained features (2/2)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731520" y="2130552"/>
            <a:ext cx="4892040" cy="1737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731520"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841248"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2697480"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2807208"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3794760"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3904488"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1248" y="2651759"/>
            <a:ext cx="17556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841248" y="267919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679192" y="2642616"/>
            <a:ext cx="10698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807208" y="267919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+0.0487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3822192" y="2640002"/>
            <a:ext cx="1755648" cy="560397"/>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3794760" y="2606041"/>
            <a:ext cx="1783080" cy="55778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Dominant, smoother persistence signal</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41248" y="3264409"/>
            <a:ext cx="1746504" cy="563008"/>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841248" y="331927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2697480" y="3278777"/>
            <a:ext cx="1033272" cy="54864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2807208" y="331927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+0.0377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794760" y="3246120"/>
            <a:ext cx="1783080" cy="581297"/>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850996" y="3280083"/>
            <a:ext cx="1726844" cy="54733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beyond the 20-day average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255868" y="1536192"/>
            <a:ext cx="5432908" cy="2971800"/>
          </a:xfrm>
          <a:prstGeom prst="rect">
            <a:avLst/>
          </a:prstGeom>
          <a:solidFill>
            <a:srgbClr val="DFF4FB"/>
          </a:solidFill>
          <a:ln w="15875">
            <a:solidFill>
              <a:srgbClr val="00A3C4"/>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84468"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retained features (3/8)</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6484468" y="2148840"/>
            <a:ext cx="4892040" cy="224028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84468"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594196"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450428"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60156"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9547708"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9657436"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484468" y="260604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594196" y="267919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50428" y="260604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8560156" y="267919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+0.0405</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9547708" y="260604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9657436" y="267919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Still dominant; slightly smaller with VIX added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6484468" y="3200400"/>
            <a:ext cx="196596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6594196" y="327355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8450428" y="3200400"/>
            <a:ext cx="109728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8560156" y="327355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+0.0323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547708" y="3200400"/>
            <a:ext cx="182880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657436" y="327355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remains informative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8"/>
          <p:cNvSpPr/>
          <p:nvPr/>
        </p:nvSpPr>
        <p:spPr>
          <a:xfrm>
            <a:off x="6484468" y="379476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6594196" y="386791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VIX</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8450428" y="379476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1"/>
          <p:cNvSpPr/>
          <p:nvPr/>
        </p:nvSpPr>
        <p:spPr>
          <a:xfrm>
            <a:off x="8560156" y="386791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+0.0293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2"/>
          <p:cNvSpPr/>
          <p:nvPr/>
        </p:nvSpPr>
        <p:spPr>
          <a:xfrm>
            <a:off x="9547708" y="379476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9657436" y="386791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Forward-looking implied volatility signal</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7">
            <a:extLst>
              <a:ext uri="{FF2B5EF4-FFF2-40B4-BE49-F238E27FC236}">
                <a16:creationId xmlns:a16="http://schemas.microsoft.com/office/drawing/2014/main" id="{FD349E88-F102-AB6B-4A74-3AA11753C701}"/>
              </a:ext>
            </a:extLst>
          </p:cNvPr>
          <p:cNvSpPr/>
          <p:nvPr/>
        </p:nvSpPr>
        <p:spPr>
          <a:xfrm>
            <a:off x="6269791" y="4804524"/>
            <a:ext cx="5432908" cy="1255772"/>
          </a:xfrm>
          <a:prstGeom prst="rect">
            <a:avLst/>
          </a:prstGeom>
          <a:solidFill>
            <a:srgbClr val="D6F2FA"/>
          </a:solidFill>
          <a:ln w="12700">
            <a:solidFill>
              <a:srgbClr val="00A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61" name="Text 8">
            <a:extLst>
              <a:ext uri="{FF2B5EF4-FFF2-40B4-BE49-F238E27FC236}">
                <a16:creationId xmlns:a16="http://schemas.microsoft.com/office/drawing/2014/main" id="{6B13C97D-3A48-96FF-998F-CE8C71F1BDC5}"/>
              </a:ext>
            </a:extLst>
          </p:cNvPr>
          <p:cNvSpPr/>
          <p:nvPr/>
        </p:nvSpPr>
        <p:spPr>
          <a:xfrm>
            <a:off x="582152" y="4853724"/>
            <a:ext cx="5289987" cy="115736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400"/>
              </a:spcAft>
              <a:buClr>
                <a:srgbClr val="1A1A2E"/>
              </a:buClr>
              <a:buSzTx/>
              <a:buFontTx/>
              <a:buNone/>
              <a:tabLst/>
              <a:defRPr/>
            </a:pPr>
            <a:r>
              <a:rPr kumimoji="0" lang="en-US" sz="1300" b="1" i="0" u="none" strike="noStrike" kern="1200" cap="none" spc="0" normalizeH="0" baseline="0" noProof="0" dirty="0">
                <a:ln>
                  <a:noFill/>
                </a:ln>
                <a:solidFill>
                  <a:srgbClr val="2E7D32"/>
                </a:solidFill>
                <a:effectLst/>
                <a:uLnTx/>
                <a:uFillTx/>
                <a:latin typeface="Calibri" panose="020F0502020204030204"/>
                <a:ea typeface="Calibri" pitchFamily="34" charset="-122"/>
                <a:cs typeface="Calibri" pitchFamily="34" charset="-120"/>
              </a:rPr>
              <a:t>V1 Economic Meaning: Volatility</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Both coefficients are positive</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20-day trailing volatility is the stronger signal</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Current volatility recency</a:t>
            </a:r>
          </a:p>
          <a:p>
            <a:pPr marL="171450" marR="0" lvl="0" indent="-171450" algn="l" defTabSz="914400" rtl="0" eaLnBrk="1" fontAlgn="auto" latinLnBrk="0" hangingPunct="1">
              <a:lnSpc>
                <a:spcPct val="100000"/>
              </a:lnSpc>
              <a:spcBef>
                <a:spcPts val="0"/>
              </a:spcBef>
              <a:spcAft>
                <a:spcPts val="601"/>
              </a:spcAft>
              <a:buClr>
                <a:srgbClr val="1A1A2E"/>
              </a:buClr>
              <a:buSzTx/>
              <a:buFont typeface="Arial" panose="020B0604020202020204" pitchFamily="34" charset="0"/>
              <a:buChar char="•"/>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100" name="Text 8">
            <a:extLst>
              <a:ext uri="{FF2B5EF4-FFF2-40B4-BE49-F238E27FC236}">
                <a16:creationId xmlns:a16="http://schemas.microsoft.com/office/drawing/2014/main" id="{CCF61E46-DCB3-164B-99B6-3C57DF654206}"/>
              </a:ext>
            </a:extLst>
          </p:cNvPr>
          <p:cNvSpPr/>
          <p:nvPr/>
        </p:nvSpPr>
        <p:spPr>
          <a:xfrm>
            <a:off x="6338571" y="4853725"/>
            <a:ext cx="5295347" cy="998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400"/>
              </a:spcAft>
              <a:buClrTx/>
              <a:buSzTx/>
              <a:buFontTx/>
              <a:buNone/>
              <a:tabLst>
                <a:tab pos="0" algn="l"/>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Why VIX Survives</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VIX forward-looking, while the other retained volatility measures are backward-looking.</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That gives VIX unique predictive value in V2.</a:t>
            </a:r>
          </a:p>
        </p:txBody>
      </p:sp>
      <p:sp>
        <p:nvSpPr>
          <p:cNvPr id="101" name="Text 5">
            <a:extLst>
              <a:ext uri="{FF2B5EF4-FFF2-40B4-BE49-F238E27FC236}">
                <a16:creationId xmlns:a16="http://schemas.microsoft.com/office/drawing/2014/main" id="{93BDD627-9A92-B266-94CA-7154B61271BB}"/>
              </a:ext>
            </a:extLst>
          </p:cNvPr>
          <p:cNvSpPr/>
          <p:nvPr/>
        </p:nvSpPr>
        <p:spPr>
          <a:xfrm>
            <a:off x="520882" y="896111"/>
            <a:ext cx="5432908"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V1 retains two current-state volatility features.</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20-day trailing volatility term is the stronger predictor.</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102" name="Text 5">
            <a:extLst>
              <a:ext uri="{FF2B5EF4-FFF2-40B4-BE49-F238E27FC236}">
                <a16:creationId xmlns:a16="http://schemas.microsoft.com/office/drawing/2014/main" id="{F4A5F84F-65E6-8FA9-813D-75D3989A7BBE}"/>
              </a:ext>
            </a:extLst>
          </p:cNvPr>
          <p:cNvSpPr/>
          <p:nvPr/>
        </p:nvSpPr>
        <p:spPr>
          <a:xfrm>
            <a:off x="6255868" y="896110"/>
            <a:ext cx="5432907"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V2 adds six macro and market features. </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Only VIX is retained; the others are shrunk to zero. </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56" name="Text 3">
            <a:extLst>
              <a:ext uri="{FF2B5EF4-FFF2-40B4-BE49-F238E27FC236}">
                <a16:creationId xmlns:a16="http://schemas.microsoft.com/office/drawing/2014/main" id="{881F9AEE-4A6C-8B73-1042-3CBAAB706B31}"/>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193"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Conclusions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8" name="Shape 4"/>
          <p:cNvSpPr/>
          <p:nvPr/>
        </p:nvSpPr>
        <p:spPr>
          <a:xfrm>
            <a:off x="219600" y="1045032"/>
            <a:ext cx="11752800" cy="2339365"/>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199" name="Text 5"/>
          <p:cNvSpPr/>
          <p:nvPr/>
        </p:nvSpPr>
        <p:spPr>
          <a:xfrm>
            <a:off x="341520" y="1103040"/>
            <a:ext cx="353520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Key Conclusions</a:t>
            </a: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200" name="Text 6"/>
          <p:cNvSpPr/>
          <p:nvPr/>
        </p:nvSpPr>
        <p:spPr>
          <a:xfrm>
            <a:off x="341520" y="1468321"/>
            <a:ext cx="11423520" cy="182550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1A1A2E"/>
                </a:solidFill>
                <a:effectLst/>
                <a:uLnTx/>
                <a:uFillTx/>
                <a:latin typeface="Calibri" panose="020F0502020204030204"/>
                <a:ea typeface="Calibri"/>
                <a:cs typeface="+mn-cs"/>
              </a:rPr>
              <a:t>V1 showed that current-state volatility features carry real predictive signal.</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improved on V1 modestly, and most of that improvement came from VIX.</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was the best Elastic Net model, but XGBoost remained the strongest benchmark on test MAE.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All retained coefficients were positive, consistent with volatility clustering and persistence.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Overall, Elastic Net provided a transparent and interpretable benchmark for the project.</a:t>
            </a:r>
          </a:p>
        </p:txBody>
      </p:sp>
      <p:sp>
        <p:nvSpPr>
          <p:cNvPr id="4" name="Text 3">
            <a:extLst>
              <a:ext uri="{FF2B5EF4-FFF2-40B4-BE49-F238E27FC236}">
                <a16:creationId xmlns:a16="http://schemas.microsoft.com/office/drawing/2014/main" id="{17A2A655-8549-7660-86C1-DDB5E5BE378B}"/>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B1404D75-18BC-D665-23F3-A867A7E049BA}"/>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DAA6D360-E1CA-306B-37C2-AC6AFA2269C8}"/>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F98C06AD-E53E-F165-88DB-3EAF6EFEC227}"/>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Long Short-Term Memory (LSTM)</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F311261F-24A4-01E6-D62D-0B0ABFFA3480}"/>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256D60BD-02FD-FD3C-5C21-8889B537CFBE}"/>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Sid Sridhar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567249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0AA3E-DD9D-E481-47D0-88773419ABCC}"/>
            </a:ext>
          </a:extLst>
        </p:cNvPr>
        <p:cNvGrpSpPr/>
        <p:nvPr/>
      </p:nvGrpSpPr>
      <p:grpSpPr>
        <a:xfrm>
          <a:off x="0" y="0"/>
          <a:ext cx="0" cy="0"/>
          <a:chOff x="0" y="0"/>
          <a:chExt cx="0" cy="0"/>
        </a:xfrm>
      </p:grpSpPr>
      <p:sp>
        <p:nvSpPr>
          <p:cNvPr id="32" name="Shape 0">
            <a:extLst>
              <a:ext uri="{FF2B5EF4-FFF2-40B4-BE49-F238E27FC236}">
                <a16:creationId xmlns:a16="http://schemas.microsoft.com/office/drawing/2014/main" id="{26F6B927-685C-5FCC-F4E6-FC44E1A0E95C}"/>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a:extLst>
              <a:ext uri="{FF2B5EF4-FFF2-40B4-BE49-F238E27FC236}">
                <a16:creationId xmlns:a16="http://schemas.microsoft.com/office/drawing/2014/main" id="{25C58D38-4DE4-B6AB-FCC3-5306E40496C5}"/>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Is LSTM?</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a:extLst>
              <a:ext uri="{FF2B5EF4-FFF2-40B4-BE49-F238E27FC236}">
                <a16:creationId xmlns:a16="http://schemas.microsoft.com/office/drawing/2014/main" id="{BDB16DC3-50EA-C67D-A0E3-0AE7F5EE7DB6}"/>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a:extLst>
              <a:ext uri="{FF2B5EF4-FFF2-40B4-BE49-F238E27FC236}">
                <a16:creationId xmlns:a16="http://schemas.microsoft.com/office/drawing/2014/main" id="{E2EBA8D9-B643-F8FF-A0EE-595CAB50451A}"/>
              </a:ext>
            </a:extLst>
          </p:cNvPr>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a:extLst>
              <a:ext uri="{FF2B5EF4-FFF2-40B4-BE49-F238E27FC236}">
                <a16:creationId xmlns:a16="http://schemas.microsoft.com/office/drawing/2014/main" id="{06FA4B7B-F18B-148C-983C-E15E53CB0E40}"/>
              </a:ext>
            </a:extLst>
          </p:cNvPr>
          <p:cNvSpPr/>
          <p:nvPr/>
        </p:nvSpPr>
        <p:spPr>
          <a:xfrm>
            <a:off x="219360" y="3887896"/>
            <a:ext cx="5510400" cy="1950331"/>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1" name="Text 9">
            <a:extLst>
              <a:ext uri="{FF2B5EF4-FFF2-40B4-BE49-F238E27FC236}">
                <a16:creationId xmlns:a16="http://schemas.microsoft.com/office/drawing/2014/main" id="{1E4DBCD9-93AB-7F43-2D98-E263ABF58122}"/>
              </a:ext>
            </a:extLst>
          </p:cNvPr>
          <p:cNvSpPr/>
          <p:nvPr/>
        </p:nvSpPr>
        <p:spPr>
          <a:xfrm>
            <a:off x="243840" y="3985826"/>
            <a:ext cx="5242080" cy="123787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p:txBody>
      </p:sp>
      <p:sp>
        <p:nvSpPr>
          <p:cNvPr id="43" name="Shape 11">
            <a:extLst>
              <a:ext uri="{FF2B5EF4-FFF2-40B4-BE49-F238E27FC236}">
                <a16:creationId xmlns:a16="http://schemas.microsoft.com/office/drawing/2014/main" id="{B6F3A3CA-0F57-496E-CB14-926539EAB3D1}"/>
              </a:ext>
            </a:extLst>
          </p:cNvPr>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5" name="Text 13">
            <a:extLst>
              <a:ext uri="{FF2B5EF4-FFF2-40B4-BE49-F238E27FC236}">
                <a16:creationId xmlns:a16="http://schemas.microsoft.com/office/drawing/2014/main" id="{BDAE5B0A-FD4D-04C0-7AA0-FB575146A4BC}"/>
              </a:ext>
            </a:extLst>
          </p:cNvPr>
          <p:cNvSpPr/>
          <p:nvPr/>
        </p:nvSpPr>
        <p:spPr>
          <a:xfrm>
            <a:off x="6136745" y="1174542"/>
            <a:ext cx="5607840" cy="17517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p:txBody>
      </p:sp>
      <p:sp>
        <p:nvSpPr>
          <p:cNvPr id="46" name="Shape 14">
            <a:extLst>
              <a:ext uri="{FF2B5EF4-FFF2-40B4-BE49-F238E27FC236}">
                <a16:creationId xmlns:a16="http://schemas.microsoft.com/office/drawing/2014/main" id="{A2066E74-C2CC-806D-240A-496797402A1B}"/>
              </a:ext>
            </a:extLst>
          </p:cNvPr>
          <p:cNvSpPr/>
          <p:nvPr/>
        </p:nvSpPr>
        <p:spPr>
          <a:xfrm>
            <a:off x="6096000" y="3863416"/>
            <a:ext cx="5876160" cy="1974808"/>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a:extLst>
              <a:ext uri="{FF2B5EF4-FFF2-40B4-BE49-F238E27FC236}">
                <a16:creationId xmlns:a16="http://schemas.microsoft.com/office/drawing/2014/main" id="{FC1E08FC-882C-B191-CBAF-3B9CCEEAC9C1}"/>
              </a:ext>
            </a:extLst>
          </p:cNvPr>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p:txBody>
      </p:sp>
      <p:sp>
        <p:nvSpPr>
          <p:cNvPr id="3" name="Shape 13">
            <a:extLst>
              <a:ext uri="{FF2B5EF4-FFF2-40B4-BE49-F238E27FC236}">
                <a16:creationId xmlns:a16="http://schemas.microsoft.com/office/drawing/2014/main" id="{E3E56339-375B-50CC-1A33-B5F83873E781}"/>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 name="Text 3">
            <a:extLst>
              <a:ext uri="{FF2B5EF4-FFF2-40B4-BE49-F238E27FC236}">
                <a16:creationId xmlns:a16="http://schemas.microsoft.com/office/drawing/2014/main" id="{BE32060B-4994-03C4-2239-98F1C5B678E1}"/>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3777098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F5F6A81-39C9-176D-3B90-2DA1F9EAD1E4}"/>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B925745C-D981-0EC8-4CA9-21EA9B848430}"/>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931C609-86AB-9ED8-54C0-85A840AD3A70}"/>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Transformer</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CD79616A-4A6B-D738-46A5-1F2E04FBF9CE}"/>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D8235E81-F496-11A0-4781-D3F73B4473D5}"/>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lvl="0" defTabSz="1219170">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a:t>
            </a:r>
            <a:r>
              <a:rPr lang="en-US" sz="1733" dirty="0">
                <a:solidFill>
                  <a:srgbClr val="AAAACC"/>
                </a:solidFill>
                <a:ea typeface="Calibri"/>
              </a:rPr>
              <a:t>Ronald Ho ·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501433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00196-87DA-DC81-1751-8A5F739935AB}"/>
            </a:ext>
          </a:extLst>
        </p:cNvPr>
        <p:cNvGrpSpPr/>
        <p:nvPr/>
      </p:nvGrpSpPr>
      <p:grpSpPr>
        <a:xfrm>
          <a:off x="0" y="0"/>
          <a:ext cx="0" cy="0"/>
          <a:chOff x="0" y="0"/>
          <a:chExt cx="0" cy="0"/>
        </a:xfrm>
      </p:grpSpPr>
      <p:sp>
        <p:nvSpPr>
          <p:cNvPr id="32" name="Shape 0">
            <a:extLst>
              <a:ext uri="{FF2B5EF4-FFF2-40B4-BE49-F238E27FC236}">
                <a16:creationId xmlns:a16="http://schemas.microsoft.com/office/drawing/2014/main" id="{E4897F18-0A20-BEC2-8BD0-55949132E0B3}"/>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a:extLst>
              <a:ext uri="{FF2B5EF4-FFF2-40B4-BE49-F238E27FC236}">
                <a16:creationId xmlns:a16="http://schemas.microsoft.com/office/drawing/2014/main" id="{8D6253C5-092D-F9AC-0A10-353B3191F65D}"/>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Are Transformers?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a:extLst>
              <a:ext uri="{FF2B5EF4-FFF2-40B4-BE49-F238E27FC236}">
                <a16:creationId xmlns:a16="http://schemas.microsoft.com/office/drawing/2014/main" id="{190930D0-64DB-44F0-807E-5FFB602E3ACF}"/>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a:extLst>
              <a:ext uri="{FF2B5EF4-FFF2-40B4-BE49-F238E27FC236}">
                <a16:creationId xmlns:a16="http://schemas.microsoft.com/office/drawing/2014/main" id="{7181F2FF-4FDA-591D-AF03-9F188B726EE9}"/>
              </a:ext>
            </a:extLst>
          </p:cNvPr>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a:extLst>
              <a:ext uri="{FF2B5EF4-FFF2-40B4-BE49-F238E27FC236}">
                <a16:creationId xmlns:a16="http://schemas.microsoft.com/office/drawing/2014/main" id="{89DAB7FD-1310-8847-8892-428BDE8DB476}"/>
              </a:ext>
            </a:extLst>
          </p:cNvPr>
          <p:cNvSpPr/>
          <p:nvPr/>
        </p:nvSpPr>
        <p:spPr>
          <a:xfrm>
            <a:off x="219360" y="3887896"/>
            <a:ext cx="5510400" cy="2410216"/>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1" name="Text 9">
            <a:extLst>
              <a:ext uri="{FF2B5EF4-FFF2-40B4-BE49-F238E27FC236}">
                <a16:creationId xmlns:a16="http://schemas.microsoft.com/office/drawing/2014/main" id="{4EA7E3B5-2A6A-80D6-861C-F555BE4BBDFA}"/>
              </a:ext>
            </a:extLst>
          </p:cNvPr>
          <p:cNvSpPr/>
          <p:nvPr/>
        </p:nvSpPr>
        <p:spPr>
          <a:xfrm>
            <a:off x="243840" y="3985826"/>
            <a:ext cx="5485920" cy="185239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A burgeoning field of research that is interesting to keep an eye on, because theoretically it could work very well.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With a more complex dataset (more data, a lot more features), this model might shine. </a:t>
            </a:r>
            <a:endParaRPr lang="en-US" sz="1467" dirty="0">
              <a:solidFill>
                <a:srgbClr val="1A1A2E"/>
              </a:solidFill>
              <a:latin typeface="Calibri" panose="020F0502020204030204"/>
              <a:ea typeface="Calibri"/>
            </a:endParaRPr>
          </a:p>
          <a:p>
            <a:pPr marR="0" lvl="0" algn="l" defTabSz="1219170" rtl="0" eaLnBrk="1" fontAlgn="auto" latinLnBrk="0" hangingPunct="1">
              <a:lnSpc>
                <a:spcPct val="100000"/>
              </a:lnSpc>
              <a:spcBef>
                <a:spcPts val="0"/>
              </a:spcBef>
              <a:spcAft>
                <a:spcPts val="533"/>
              </a:spcAft>
              <a:buClr>
                <a:srgbClr val="1A1A2E"/>
              </a:buClr>
              <a:buSzTx/>
              <a:tabLst/>
              <a:defRPr/>
            </a:pPr>
            <a:r>
              <a:rPr lang="en-US" sz="1467" dirty="0">
                <a:solidFill>
                  <a:srgbClr val="1A1A2E"/>
                </a:solidFill>
                <a:latin typeface="Calibri" panose="020F0502020204030204"/>
                <a:ea typeface="Calibri"/>
              </a:rPr>
              <a:t> </a:t>
            </a:r>
          </a:p>
        </p:txBody>
      </p:sp>
      <p:sp>
        <p:nvSpPr>
          <p:cNvPr id="43" name="Shape 11">
            <a:extLst>
              <a:ext uri="{FF2B5EF4-FFF2-40B4-BE49-F238E27FC236}">
                <a16:creationId xmlns:a16="http://schemas.microsoft.com/office/drawing/2014/main" id="{1F1C9B43-09F8-3BA9-720E-BF02AC15F1AA}"/>
              </a:ext>
            </a:extLst>
          </p:cNvPr>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5" name="Text 13">
            <a:extLst>
              <a:ext uri="{FF2B5EF4-FFF2-40B4-BE49-F238E27FC236}">
                <a16:creationId xmlns:a16="http://schemas.microsoft.com/office/drawing/2014/main" id="{81CA6B6B-03EE-D9BB-BBF1-028FF22D4E38}"/>
              </a:ext>
            </a:extLst>
          </p:cNvPr>
          <p:cNvSpPr/>
          <p:nvPr/>
        </p:nvSpPr>
        <p:spPr>
          <a:xfrm>
            <a:off x="6136744" y="1174541"/>
            <a:ext cx="5811415" cy="253182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Temporal Fusion Transformers (TFT) have become increasingly popular as an area of research for modeling time series data.</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In theory, the attention layer of the transformer should be ideal to model highly complex data patterns over time steps. </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endParaRPr lang="en-US" sz="1467" dirty="0">
              <a:solidFill>
                <a:srgbClr val="1A1A2E"/>
              </a:solidFill>
              <a:latin typeface="Calibri" panose="020F0502020204030204"/>
              <a:ea typeface="Calibri"/>
            </a:endParaRPr>
          </a:p>
        </p:txBody>
      </p:sp>
      <p:sp>
        <p:nvSpPr>
          <p:cNvPr id="46" name="Shape 14">
            <a:extLst>
              <a:ext uri="{FF2B5EF4-FFF2-40B4-BE49-F238E27FC236}">
                <a16:creationId xmlns:a16="http://schemas.microsoft.com/office/drawing/2014/main" id="{4E09F914-13AD-C25E-92EE-240F048A2D7E}"/>
              </a:ext>
            </a:extLst>
          </p:cNvPr>
          <p:cNvSpPr/>
          <p:nvPr/>
        </p:nvSpPr>
        <p:spPr>
          <a:xfrm>
            <a:off x="6096000" y="3863416"/>
            <a:ext cx="5876160" cy="2434696"/>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a:extLst>
              <a:ext uri="{FF2B5EF4-FFF2-40B4-BE49-F238E27FC236}">
                <a16:creationId xmlns:a16="http://schemas.microsoft.com/office/drawing/2014/main" id="{0DD696DA-779C-7E45-C0DB-1AAA93B5745E}"/>
              </a:ext>
            </a:extLst>
          </p:cNvPr>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This model is too complex for our data as it exists today.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We can only use a small amount of attention heads and encoder blocks before there’s a high degradation in RMSE, with the model trying to memorize patterns that don’t exist.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It is also slow and requires a lot of epochs to perform well.</a:t>
            </a:r>
          </a:p>
          <a:p>
            <a:pPr marL="285750" indent="-285750" defTabSz="1219170">
              <a:spcAft>
                <a:spcPts val="533"/>
              </a:spcAft>
              <a:buClr>
                <a:srgbClr val="1A1A2E"/>
              </a:buClr>
              <a:buFont typeface="Arial" panose="020B0604020202020204" pitchFamily="34" charset="0"/>
              <a:buChar char="•"/>
              <a:defRPr/>
            </a:pPr>
            <a:endParaRPr lang="en-US" sz="1467" dirty="0">
              <a:solidFill>
                <a:srgbClr val="1A1A2E"/>
              </a:solidFill>
              <a:ea typeface="Calibri"/>
            </a:endParaRPr>
          </a:p>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p:txBody>
      </p:sp>
      <p:sp>
        <p:nvSpPr>
          <p:cNvPr id="3" name="Shape 13">
            <a:extLst>
              <a:ext uri="{FF2B5EF4-FFF2-40B4-BE49-F238E27FC236}">
                <a16:creationId xmlns:a16="http://schemas.microsoft.com/office/drawing/2014/main" id="{805BAA97-CBCC-236E-5AB1-FAA24E51B6D8}"/>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342900" lvl="0" indent="-342900" defTabSz="1219170">
              <a:buFont typeface="Arial" panose="020B0604020202020204" pitchFamily="34" charset="0"/>
              <a:buChar char="•"/>
              <a:defRPr/>
            </a:pPr>
            <a:r>
              <a:rPr lang="en-US" sz="1467" b="1" dirty="0">
                <a:solidFill>
                  <a:srgbClr val="1A1A2E"/>
                </a:solidFill>
                <a:latin typeface="Calibri" panose="020F0502020204030204"/>
                <a:ea typeface="Calibri"/>
              </a:rPr>
              <a:t>Transformers </a:t>
            </a:r>
            <a:r>
              <a:rPr lang="en-US" sz="1467" dirty="0">
                <a:solidFill>
                  <a:srgbClr val="1A1A2E"/>
                </a:solidFill>
                <a:latin typeface="Calibri" panose="020F0502020204030204"/>
                <a:ea typeface="Calibri"/>
              </a:rPr>
              <a:t>are state-of-the-art deep learning models that utilize an “Attention Head” to analyze data sequentially (in time steps). </a:t>
            </a:r>
          </a:p>
          <a:p>
            <a:pPr marL="342900" lvl="0" indent="-342900" defTabSz="1219170">
              <a:buFont typeface="Arial" panose="020B0604020202020204" pitchFamily="34" charset="0"/>
              <a:buChar char="•"/>
              <a:defRPr/>
            </a:pPr>
            <a:r>
              <a:rPr lang="en-US" sz="1467" dirty="0">
                <a:solidFill>
                  <a:srgbClr val="1A1A2E"/>
                </a:solidFill>
                <a:latin typeface="Calibri" panose="020F0502020204030204"/>
                <a:ea typeface="Calibri"/>
              </a:rPr>
              <a:t>Each head can memorize patterns in the data in parallel, allowing us to map complex relationships. </a:t>
            </a:r>
          </a:p>
          <a:p>
            <a:pPr marL="342900" lvl="0" indent="-342900" defTabSz="1219170">
              <a:buFont typeface="Arial" panose="020B0604020202020204" pitchFamily="34" charset="0"/>
              <a:buChar char="•"/>
              <a:defRPr/>
            </a:pPr>
            <a:r>
              <a:rPr lang="en-US" sz="1467" dirty="0">
                <a:solidFill>
                  <a:srgbClr val="1A1A2E"/>
                </a:solidFill>
                <a:latin typeface="Calibri" panose="020F0502020204030204"/>
                <a:ea typeface="Calibri"/>
              </a:rPr>
              <a:t>The architecture is extremely complex, leading to many Hyper-Parameter considerations (# of heads, # of encoding blocks, dropout regularization) </a:t>
            </a:r>
          </a:p>
          <a:p>
            <a:pPr marL="342900" lvl="0" indent="-342900" defTabSz="1219170">
              <a:buFont typeface="Arial" panose="020B0604020202020204" pitchFamily="34" charset="0"/>
              <a:buChar char="•"/>
              <a:defRPr/>
            </a:pPr>
            <a:endParaRPr lang="en-US" sz="1467" dirty="0">
              <a:solidFill>
                <a:srgbClr val="1A1A2E"/>
              </a:solidFill>
              <a:latin typeface="Calibri" panose="020F0502020204030204"/>
              <a:ea typeface="Calibri"/>
            </a:endParaRPr>
          </a:p>
          <a:p>
            <a:pPr marL="342900" lvl="0" indent="-342900" defTabSz="1219170">
              <a:buFont typeface="Arial" panose="020B0604020202020204" pitchFamily="34" charset="0"/>
              <a:buChar char="•"/>
              <a:defRPr/>
            </a:pPr>
            <a:endParaRPr lang="en-US" sz="1467" b="1" dirty="0">
              <a:solidFill>
                <a:srgbClr val="1A1A2E"/>
              </a:solidFill>
              <a:latin typeface="Calibri" panose="020F0502020204030204"/>
              <a:ea typeface="Calibri"/>
            </a:endParaRPr>
          </a:p>
        </p:txBody>
      </p:sp>
      <p:sp>
        <p:nvSpPr>
          <p:cNvPr id="4" name="Text 3">
            <a:extLst>
              <a:ext uri="{FF2B5EF4-FFF2-40B4-BE49-F238E27FC236}">
                <a16:creationId xmlns:a16="http://schemas.microsoft.com/office/drawing/2014/main" id="{D38863B6-5B0F-859E-F62F-30FEFC2C9703}"/>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11346707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6224B3A4-81DC-C437-9C3A-C6BE624B27F7}"/>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713B7816-D9D9-F558-8C77-50C0B70EC7B5}"/>
              </a:ext>
            </a:extLst>
          </p:cNvPr>
          <p:cNvSpPr/>
          <p:nvPr/>
        </p:nvSpPr>
        <p:spPr>
          <a:xfrm>
            <a:off x="5576637" y="733926"/>
            <a:ext cx="3001879" cy="55345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Shape 0">
            <a:extLst>
              <a:ext uri="{FF2B5EF4-FFF2-40B4-BE49-F238E27FC236}">
                <a16:creationId xmlns:a16="http://schemas.microsoft.com/office/drawing/2014/main" id="{69F5ECB5-D50B-1D08-53F8-3CF9A6121EB6}"/>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1939BC8B-D1CC-7A00-F1A3-D8C92FCA72E7}"/>
              </a:ext>
            </a:extLst>
          </p:cNvPr>
          <p:cNvSpPr/>
          <p:nvPr/>
        </p:nvSpPr>
        <p:spPr>
          <a:xfrm>
            <a:off x="304800" y="18083"/>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Transformer Architecture</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25EA78FC-2E3C-C65A-CE2F-A0FEDBAF034D}"/>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4" name="Text 3">
            <a:extLst>
              <a:ext uri="{FF2B5EF4-FFF2-40B4-BE49-F238E27FC236}">
                <a16:creationId xmlns:a16="http://schemas.microsoft.com/office/drawing/2014/main" id="{8A122B40-E040-F8D1-F9F8-DFB1B43039B4}"/>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0870CFB9-4B26-2894-8661-BA6673A471DF}"/>
              </a:ext>
            </a:extLst>
          </p:cNvPr>
          <p:cNvSpPr txBox="1"/>
          <p:nvPr/>
        </p:nvSpPr>
        <p:spPr>
          <a:xfrm>
            <a:off x="749969" y="1455923"/>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3" name="TextBox 2">
            <a:extLst>
              <a:ext uri="{FF2B5EF4-FFF2-40B4-BE49-F238E27FC236}">
                <a16:creationId xmlns:a16="http://schemas.microsoft.com/office/drawing/2014/main" id="{DEB08ABF-949D-163A-587D-185E01E58033}"/>
              </a:ext>
            </a:extLst>
          </p:cNvPr>
          <p:cNvSpPr txBox="1"/>
          <p:nvPr/>
        </p:nvSpPr>
        <p:spPr>
          <a:xfrm>
            <a:off x="749969" y="3246812"/>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5" name="TextBox 4">
            <a:extLst>
              <a:ext uri="{FF2B5EF4-FFF2-40B4-BE49-F238E27FC236}">
                <a16:creationId xmlns:a16="http://schemas.microsoft.com/office/drawing/2014/main" id="{CA528BCE-327B-1CB6-F87D-C54FA2B735AB}"/>
              </a:ext>
            </a:extLst>
          </p:cNvPr>
          <p:cNvSpPr txBox="1"/>
          <p:nvPr/>
        </p:nvSpPr>
        <p:spPr>
          <a:xfrm>
            <a:off x="749969" y="4204510"/>
            <a:ext cx="2041278" cy="369332"/>
          </a:xfrm>
          <a:prstGeom prst="rect">
            <a:avLst/>
          </a:prstGeom>
          <a:noFill/>
          <a:ln>
            <a:solidFill>
              <a:schemeClr val="accent2">
                <a:lumMod val="75000"/>
              </a:schemeClr>
            </a:solidFill>
          </a:ln>
        </p:spPr>
        <p:txBody>
          <a:bodyPr wrap="square" rtlCol="0">
            <a:spAutoFit/>
          </a:bodyPr>
          <a:lstStyle/>
          <a:p>
            <a:pPr algn="ctr"/>
            <a:r>
              <a:rPr lang="en-US" dirty="0"/>
              <a:t>Flatten</a:t>
            </a:r>
          </a:p>
        </p:txBody>
      </p:sp>
      <p:sp>
        <p:nvSpPr>
          <p:cNvPr id="6" name="TextBox 5">
            <a:extLst>
              <a:ext uri="{FF2B5EF4-FFF2-40B4-BE49-F238E27FC236}">
                <a16:creationId xmlns:a16="http://schemas.microsoft.com/office/drawing/2014/main" id="{438BC5EE-3ADB-33D9-5AE5-6E23971A2A3E}"/>
              </a:ext>
            </a:extLst>
          </p:cNvPr>
          <p:cNvSpPr txBox="1"/>
          <p:nvPr/>
        </p:nvSpPr>
        <p:spPr>
          <a:xfrm>
            <a:off x="749969" y="4859660"/>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7" name="TextBox 6">
            <a:extLst>
              <a:ext uri="{FF2B5EF4-FFF2-40B4-BE49-F238E27FC236}">
                <a16:creationId xmlns:a16="http://schemas.microsoft.com/office/drawing/2014/main" id="{0D113A92-F124-84E5-EB81-D595C10FB129}"/>
              </a:ext>
            </a:extLst>
          </p:cNvPr>
          <p:cNvSpPr txBox="1"/>
          <p:nvPr/>
        </p:nvSpPr>
        <p:spPr>
          <a:xfrm>
            <a:off x="6003758" y="4166393"/>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8" name="TextBox 7">
            <a:extLst>
              <a:ext uri="{FF2B5EF4-FFF2-40B4-BE49-F238E27FC236}">
                <a16:creationId xmlns:a16="http://schemas.microsoft.com/office/drawing/2014/main" id="{4564BE52-ED4C-6D14-7826-6418EB2361F0}"/>
              </a:ext>
            </a:extLst>
          </p:cNvPr>
          <p:cNvSpPr txBox="1"/>
          <p:nvPr/>
        </p:nvSpPr>
        <p:spPr>
          <a:xfrm>
            <a:off x="749969" y="950727"/>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19" name="TextBox 18">
            <a:extLst>
              <a:ext uri="{FF2B5EF4-FFF2-40B4-BE49-F238E27FC236}">
                <a16:creationId xmlns:a16="http://schemas.microsoft.com/office/drawing/2014/main" id="{D6D1258B-C130-0483-DD7A-B77E58D43034}"/>
              </a:ext>
            </a:extLst>
          </p:cNvPr>
          <p:cNvSpPr txBox="1"/>
          <p:nvPr/>
        </p:nvSpPr>
        <p:spPr>
          <a:xfrm>
            <a:off x="6003758" y="1527121"/>
            <a:ext cx="2041278" cy="646331"/>
          </a:xfrm>
          <a:prstGeom prst="rect">
            <a:avLst/>
          </a:prstGeom>
          <a:noFill/>
          <a:ln>
            <a:solidFill>
              <a:schemeClr val="accent2">
                <a:lumMod val="75000"/>
              </a:schemeClr>
            </a:solidFill>
          </a:ln>
        </p:spPr>
        <p:txBody>
          <a:bodyPr wrap="square" rtlCol="0">
            <a:spAutoFit/>
          </a:bodyPr>
          <a:lstStyle/>
          <a:p>
            <a:pPr algn="ctr"/>
            <a:r>
              <a:rPr lang="en-US" dirty="0"/>
              <a:t>Multi-Head Attention</a:t>
            </a:r>
          </a:p>
        </p:txBody>
      </p:sp>
      <p:sp>
        <p:nvSpPr>
          <p:cNvPr id="20" name="TextBox 19">
            <a:extLst>
              <a:ext uri="{FF2B5EF4-FFF2-40B4-BE49-F238E27FC236}">
                <a16:creationId xmlns:a16="http://schemas.microsoft.com/office/drawing/2014/main" id="{F7B8377E-B092-3257-7DCD-CDD3302D8554}"/>
              </a:ext>
            </a:extLst>
          </p:cNvPr>
          <p:cNvSpPr txBox="1"/>
          <p:nvPr/>
        </p:nvSpPr>
        <p:spPr>
          <a:xfrm>
            <a:off x="770022" y="2683074"/>
            <a:ext cx="2041278" cy="369332"/>
          </a:xfrm>
          <a:prstGeom prst="rect">
            <a:avLst/>
          </a:prstGeom>
          <a:noFill/>
          <a:ln>
            <a:solidFill>
              <a:schemeClr val="accent2">
                <a:lumMod val="75000"/>
              </a:schemeClr>
            </a:solidFill>
          </a:ln>
        </p:spPr>
        <p:txBody>
          <a:bodyPr wrap="square" rtlCol="0">
            <a:spAutoFit/>
          </a:bodyPr>
          <a:lstStyle/>
          <a:p>
            <a:pPr algn="ctr"/>
            <a:r>
              <a:rPr lang="en-US" dirty="0"/>
              <a:t>(…) * </a:t>
            </a:r>
            <a:r>
              <a:rPr lang="en-US" dirty="0" err="1"/>
              <a:t>num_blocks</a:t>
            </a:r>
            <a:endParaRPr lang="en-US" dirty="0"/>
          </a:p>
        </p:txBody>
      </p:sp>
      <p:sp>
        <p:nvSpPr>
          <p:cNvPr id="21" name="TextBox 20">
            <a:extLst>
              <a:ext uri="{FF2B5EF4-FFF2-40B4-BE49-F238E27FC236}">
                <a16:creationId xmlns:a16="http://schemas.microsoft.com/office/drawing/2014/main" id="{36E37091-D872-BFFB-075A-329D839F96C4}"/>
              </a:ext>
            </a:extLst>
          </p:cNvPr>
          <p:cNvSpPr txBox="1"/>
          <p:nvPr/>
        </p:nvSpPr>
        <p:spPr>
          <a:xfrm>
            <a:off x="6003758" y="983010"/>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22" name="TextBox 21">
            <a:extLst>
              <a:ext uri="{FF2B5EF4-FFF2-40B4-BE49-F238E27FC236}">
                <a16:creationId xmlns:a16="http://schemas.microsoft.com/office/drawing/2014/main" id="{63403F21-289D-73F9-AA1A-C6DF43B9B34A}"/>
              </a:ext>
            </a:extLst>
          </p:cNvPr>
          <p:cNvSpPr txBox="1"/>
          <p:nvPr/>
        </p:nvSpPr>
        <p:spPr>
          <a:xfrm>
            <a:off x="770022" y="1916604"/>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23" name="TextBox 22">
            <a:extLst>
              <a:ext uri="{FF2B5EF4-FFF2-40B4-BE49-F238E27FC236}">
                <a16:creationId xmlns:a16="http://schemas.microsoft.com/office/drawing/2014/main" id="{4B47D3AF-C9D3-FA35-1853-078438049BD2}"/>
              </a:ext>
            </a:extLst>
          </p:cNvPr>
          <p:cNvSpPr txBox="1"/>
          <p:nvPr/>
        </p:nvSpPr>
        <p:spPr>
          <a:xfrm>
            <a:off x="6003758" y="2344296"/>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4" name="TextBox 23">
            <a:extLst>
              <a:ext uri="{FF2B5EF4-FFF2-40B4-BE49-F238E27FC236}">
                <a16:creationId xmlns:a16="http://schemas.microsoft.com/office/drawing/2014/main" id="{D7591C0A-B87D-CCF0-3F46-63E4A9F6870B}"/>
              </a:ext>
            </a:extLst>
          </p:cNvPr>
          <p:cNvSpPr txBox="1"/>
          <p:nvPr/>
        </p:nvSpPr>
        <p:spPr>
          <a:xfrm>
            <a:off x="6003758" y="2857736"/>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sp>
        <p:nvSpPr>
          <p:cNvPr id="25" name="TextBox 24">
            <a:extLst>
              <a:ext uri="{FF2B5EF4-FFF2-40B4-BE49-F238E27FC236}">
                <a16:creationId xmlns:a16="http://schemas.microsoft.com/office/drawing/2014/main" id="{ED97A854-F98B-D02D-53EB-EB50400E59C2}"/>
              </a:ext>
            </a:extLst>
          </p:cNvPr>
          <p:cNvSpPr txBox="1"/>
          <p:nvPr/>
        </p:nvSpPr>
        <p:spPr>
          <a:xfrm>
            <a:off x="6003758" y="3372068"/>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
        <p:nvSpPr>
          <p:cNvPr id="26" name="TextBox 25">
            <a:extLst>
              <a:ext uri="{FF2B5EF4-FFF2-40B4-BE49-F238E27FC236}">
                <a16:creationId xmlns:a16="http://schemas.microsoft.com/office/drawing/2014/main" id="{7CC1D007-DD36-5A0B-A6C1-2B762F74AE73}"/>
              </a:ext>
            </a:extLst>
          </p:cNvPr>
          <p:cNvSpPr txBox="1"/>
          <p:nvPr/>
        </p:nvSpPr>
        <p:spPr>
          <a:xfrm>
            <a:off x="770022" y="5519589"/>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27" name="TextBox 26">
            <a:extLst>
              <a:ext uri="{FF2B5EF4-FFF2-40B4-BE49-F238E27FC236}">
                <a16:creationId xmlns:a16="http://schemas.microsoft.com/office/drawing/2014/main" id="{FEF92617-62B3-ADB4-A145-24AAC788AECB}"/>
              </a:ext>
            </a:extLst>
          </p:cNvPr>
          <p:cNvSpPr txBox="1"/>
          <p:nvPr/>
        </p:nvSpPr>
        <p:spPr>
          <a:xfrm>
            <a:off x="6003758" y="4659598"/>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8" name="TextBox 27">
            <a:extLst>
              <a:ext uri="{FF2B5EF4-FFF2-40B4-BE49-F238E27FC236}">
                <a16:creationId xmlns:a16="http://schemas.microsoft.com/office/drawing/2014/main" id="{0203846B-C309-2CF7-8142-203665518D2F}"/>
              </a:ext>
            </a:extLst>
          </p:cNvPr>
          <p:cNvSpPr txBox="1"/>
          <p:nvPr/>
        </p:nvSpPr>
        <p:spPr>
          <a:xfrm>
            <a:off x="6003758" y="5833844"/>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cxnSp>
        <p:nvCxnSpPr>
          <p:cNvPr id="38" name="Straight Connector 37">
            <a:extLst>
              <a:ext uri="{FF2B5EF4-FFF2-40B4-BE49-F238E27FC236}">
                <a16:creationId xmlns:a16="http://schemas.microsoft.com/office/drawing/2014/main" id="{38991300-090C-E97E-B17D-BFE1A1138A39}"/>
              </a:ext>
            </a:extLst>
          </p:cNvPr>
          <p:cNvCxnSpPr>
            <a:stCxn id="22" idx="3"/>
          </p:cNvCxnSpPr>
          <p:nvPr/>
        </p:nvCxnSpPr>
        <p:spPr>
          <a:xfrm flipV="1">
            <a:off x="2811300" y="733926"/>
            <a:ext cx="2765337" cy="1505844"/>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A927AD-5B85-23FD-4E11-34CED8E90B09}"/>
              </a:ext>
            </a:extLst>
          </p:cNvPr>
          <p:cNvCxnSpPr>
            <a:stCxn id="22" idx="3"/>
          </p:cNvCxnSpPr>
          <p:nvPr/>
        </p:nvCxnSpPr>
        <p:spPr>
          <a:xfrm>
            <a:off x="2811300" y="2239770"/>
            <a:ext cx="2765337" cy="402868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0C4A20F-3671-E4EB-DB4C-166F58967F90}"/>
              </a:ext>
            </a:extLst>
          </p:cNvPr>
          <p:cNvSpPr txBox="1"/>
          <p:nvPr/>
        </p:nvSpPr>
        <p:spPr>
          <a:xfrm>
            <a:off x="6003758" y="5117491"/>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Tree>
    <p:extLst>
      <p:ext uri="{BB962C8B-B14F-4D97-AF65-F5344CB8AC3E}">
        <p14:creationId xmlns:p14="http://schemas.microsoft.com/office/powerpoint/2010/main" val="2411045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52BF2DA8-1AD0-9284-41EA-77D34AEDBE26}"/>
            </a:ext>
          </a:extLst>
        </p:cNvPr>
        <p:cNvGrpSpPr/>
        <p:nvPr/>
      </p:nvGrpSpPr>
      <p:grpSpPr>
        <a:xfrm>
          <a:off x="0" y="0"/>
          <a:ext cx="0" cy="0"/>
          <a:chOff x="0" y="0"/>
          <a:chExt cx="0" cy="0"/>
        </a:xfrm>
      </p:grpSpPr>
      <p:sp>
        <p:nvSpPr>
          <p:cNvPr id="94" name="Shape 0">
            <a:extLst>
              <a:ext uri="{FF2B5EF4-FFF2-40B4-BE49-F238E27FC236}">
                <a16:creationId xmlns:a16="http://schemas.microsoft.com/office/drawing/2014/main" id="{593FEA92-22B6-12B4-C9EF-BB27A6250068}"/>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5" name="Text 1">
            <a:extLst>
              <a:ext uri="{FF2B5EF4-FFF2-40B4-BE49-F238E27FC236}">
                <a16:creationId xmlns:a16="http://schemas.microsoft.com/office/drawing/2014/main" id="{534FD73E-2174-ED35-AAF3-8328C8082285}"/>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Model Comparisons — 2025 Test Set (8,820 rows)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7" name="Shape 3">
            <a:extLst>
              <a:ext uri="{FF2B5EF4-FFF2-40B4-BE49-F238E27FC236}">
                <a16:creationId xmlns:a16="http://schemas.microsoft.com/office/drawing/2014/main" id="{73340864-2159-E8C2-1228-C49C70516603}"/>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100" name="Table 0">
            <a:extLst>
              <a:ext uri="{FF2B5EF4-FFF2-40B4-BE49-F238E27FC236}">
                <a16:creationId xmlns:a16="http://schemas.microsoft.com/office/drawing/2014/main" id="{36CD25CE-68ED-7064-731D-323C5E7F2357}"/>
              </a:ext>
            </a:extLst>
          </p:cNvPr>
          <p:cNvGraphicFramePr/>
          <p:nvPr>
            <p:custDataLst>
              <p:tags r:id="rId1"/>
            </p:custDataLst>
            <p:extLst>
              <p:ext uri="{D42A27DB-BD31-4B8C-83A1-F6EECF244321}">
                <p14:modId xmlns:p14="http://schemas.microsoft.com/office/powerpoint/2010/main" val="3870027332"/>
              </p:ext>
            </p:extLst>
          </p:nvPr>
        </p:nvGraphicFramePr>
        <p:xfrm>
          <a:off x="1711234" y="1198189"/>
          <a:ext cx="8321040" cy="5298520"/>
        </p:xfrm>
        <a:graphic>
          <a:graphicData uri="http://schemas.openxmlformats.org/drawingml/2006/table">
            <a:tbl>
              <a:tblPr/>
              <a:tblGrid>
                <a:gridCol w="3449214">
                  <a:extLst>
                    <a:ext uri="{9D8B030D-6E8A-4147-A177-3AD203B41FA5}">
                      <a16:colId xmlns:a16="http://schemas.microsoft.com/office/drawing/2014/main" val="20000"/>
                    </a:ext>
                  </a:extLst>
                </a:gridCol>
                <a:gridCol w="1230179">
                  <a:extLst>
                    <a:ext uri="{9D8B030D-6E8A-4147-A177-3AD203B41FA5}">
                      <a16:colId xmlns:a16="http://schemas.microsoft.com/office/drawing/2014/main" val="20003"/>
                    </a:ext>
                  </a:extLst>
                </a:gridCol>
                <a:gridCol w="1222371">
                  <a:extLst>
                    <a:ext uri="{9D8B030D-6E8A-4147-A177-3AD203B41FA5}">
                      <a16:colId xmlns:a16="http://schemas.microsoft.com/office/drawing/2014/main" val="20004"/>
                    </a:ext>
                  </a:extLst>
                </a:gridCol>
                <a:gridCol w="1209638">
                  <a:extLst>
                    <a:ext uri="{9D8B030D-6E8A-4147-A177-3AD203B41FA5}">
                      <a16:colId xmlns:a16="http://schemas.microsoft.com/office/drawing/2014/main" val="20005"/>
                    </a:ext>
                  </a:extLst>
                </a:gridCol>
                <a:gridCol w="1209638">
                  <a:extLst>
                    <a:ext uri="{9D8B030D-6E8A-4147-A177-3AD203B41FA5}">
                      <a16:colId xmlns:a16="http://schemas.microsoft.com/office/drawing/2014/main" val="20006"/>
                    </a:ext>
                  </a:extLst>
                </a:gridCol>
              </a:tblGrid>
              <a:tr h="365760">
                <a:tc>
                  <a:txBody>
                    <a:bodyPr/>
                    <a:lstStyle/>
                    <a:p>
                      <a:pPr defTabSz="914400">
                        <a:lnSpc>
                          <a:spcPct val="100000"/>
                        </a:lnSpc>
                        <a:tabLst>
                          <a:tab pos="0" algn="l"/>
                        </a:tabLst>
                      </a:pPr>
                      <a:r>
                        <a:rPr lang="en-US" sz="1400" b="1" u="none" strike="noStrike" dirty="0">
                          <a:solidFill>
                            <a:srgbClr val="FFFFFF"/>
                          </a:solidFill>
                          <a:effectLst/>
                          <a:uFillTx/>
                          <a:latin typeface="Calibri"/>
                          <a:ea typeface="Calibri"/>
                        </a:rPr>
                        <a:t>Model / Baseline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MAE</a:t>
                      </a:r>
                      <a:endParaRPr lang="en-US" sz="1400" b="0" u="none" strike="noStrike" dirty="0">
                        <a:solidFill>
                          <a:srgbClr val="FFFFFF"/>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RMSE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R²</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vs XGBoost</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Elastic Net</a:t>
                      </a:r>
                      <a:r>
                        <a:rPr lang="en-US" sz="1400" b="1" u="none" strike="noStrike" dirty="0">
                          <a:solidFill>
                            <a:srgbClr val="000000"/>
                          </a:solidFill>
                          <a:effectLst/>
                          <a:uFillTx/>
                          <a:latin typeface="+mn-lt"/>
                          <a:ea typeface="Calibri"/>
                        </a:rPr>
                        <a:t>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0.0855</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0.1357</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0.1794</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+0.0032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Elastic Net</a:t>
                      </a:r>
                      <a:r>
                        <a:rPr lang="en-US" sz="1400" b="1" u="none" strike="noStrike" dirty="0">
                          <a:solidFill>
                            <a:srgbClr val="00A8CC"/>
                          </a:solidFill>
                          <a:effectLst/>
                          <a:uFillTx/>
                          <a:latin typeface="+mn-lt"/>
                          <a:ea typeface="Calibri"/>
                        </a:rPr>
                        <a:t> —</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0.0846</a:t>
                      </a: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0.1324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0.2188</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+0.0024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10002"/>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LSTM</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903431423"/>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LSTM</a:t>
                      </a:r>
                      <a:r>
                        <a:rPr lang="en-US" sz="1400" b="1" u="none" strike="noStrike" dirty="0">
                          <a:solidFill>
                            <a:srgbClr val="00A8CC"/>
                          </a:solidFill>
                          <a:effectLst/>
                          <a:uFillTx/>
                          <a:latin typeface="+mn-lt"/>
                          <a:ea typeface="Calibri"/>
                        </a:rPr>
                        <a:t>—</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976346831"/>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Only</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8339759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Only—</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34652706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(Diogo)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665006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(Diogo) – 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0.1034</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0.1503</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0.0425</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+0.0211</a:t>
                      </a: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4243249360"/>
                  </a:ext>
                </a:extLst>
              </a:tr>
              <a:tr h="352340">
                <a:tc>
                  <a:txBody>
                    <a:bodyPr/>
                    <a:lstStyle/>
                    <a:p>
                      <a:pPr defTabSz="914400">
                        <a:lnSpc>
                          <a:spcPct val="100000"/>
                        </a:lnSpc>
                        <a:tabLst>
                          <a:tab pos="0" algn="l"/>
                        </a:tabLst>
                      </a:pPr>
                      <a:r>
                        <a:rPr lang="en-US" sz="1400" b="1" u="none" strike="noStrike" dirty="0">
                          <a:solidFill>
                            <a:srgbClr val="E8972A"/>
                          </a:solidFill>
                          <a:effectLst/>
                          <a:uFillTx/>
                          <a:latin typeface="Calibri"/>
                          <a:ea typeface="Calibri"/>
                        </a:rPr>
                        <a:t>Baseline: </a:t>
                      </a:r>
                      <a:r>
                        <a:rPr lang="en-US" sz="1400" b="1" u="none" strike="noStrike" dirty="0" err="1">
                          <a:solidFill>
                            <a:srgbClr val="E8972A"/>
                          </a:solidFill>
                          <a:effectLst/>
                          <a:uFillTx/>
                          <a:latin typeface="Calibri"/>
                          <a:ea typeface="Calibri"/>
                        </a:rPr>
                        <a:t>XGBoost</a:t>
                      </a:r>
                      <a:r>
                        <a:rPr lang="en-US" sz="1400" b="1" u="none" strike="noStrike" dirty="0">
                          <a:solidFill>
                            <a:srgbClr val="E8972A"/>
                          </a:solidFill>
                          <a:effectLst/>
                          <a:uFillTx/>
                          <a:latin typeface="Calibri"/>
                          <a:ea typeface="Calibri"/>
                        </a:rPr>
                        <a:t> walk-forward</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0.0823</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0.1856</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BEST ★</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extLst>
                  <a:ext uri="{0D108BD9-81ED-4DB2-BD59-A6C34878D82A}">
                    <a16:rowId xmlns:a16="http://schemas.microsoft.com/office/drawing/2014/main" val="10003"/>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Baseline: Trailing 20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0.0922</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0.1491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0.0088</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+0.0099</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4"/>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0.1005</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0.1625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−0.1773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+0.0182</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Current Volatility</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0.1020</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0.1619</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−0.1680</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+0.0197</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6"/>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20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0.1298</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0.2091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−0.9498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+0.0475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7"/>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0.1644</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0.2478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−1.7383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+0.0821</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8"/>
                  </a:ext>
                </a:extLst>
              </a:tr>
            </a:tbl>
          </a:graphicData>
        </a:graphic>
      </p:graphicFrame>
      <p:sp>
        <p:nvSpPr>
          <p:cNvPr id="4" name="Text 3">
            <a:extLst>
              <a:ext uri="{FF2B5EF4-FFF2-40B4-BE49-F238E27FC236}">
                <a16:creationId xmlns:a16="http://schemas.microsoft.com/office/drawing/2014/main" id="{39D6D745-8213-0B28-5A97-8CC6A63C972D}"/>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5">
            <a:extLst>
              <a:ext uri="{FF2B5EF4-FFF2-40B4-BE49-F238E27FC236}">
                <a16:creationId xmlns:a16="http://schemas.microsoft.com/office/drawing/2014/main" id="{E2ED3607-8945-2BF1-B826-398C4C1CCFA4}"/>
              </a:ext>
            </a:extLst>
          </p:cNvPr>
          <p:cNvSpPr/>
          <p:nvPr/>
        </p:nvSpPr>
        <p:spPr>
          <a:xfrm>
            <a:off x="1711234" y="668022"/>
            <a:ext cx="8611228" cy="50568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a:ea typeface="Calibri"/>
                <a:cs typeface="+mn-cs"/>
              </a:rPr>
              <a:t>All results use the same 8,820-row test set. Lower MAE and RMSE are better; higher R² is better.</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969427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2154A49D-C027-369F-B7E6-79283D59151B}"/>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82EF9DDC-8D19-E009-5283-20BAC7A6A2DE}"/>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31E2C028-6C8B-318B-1CEE-D4430066B74C}"/>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pic>
        <p:nvPicPr>
          <p:cNvPr id="7" name="Picture 6">
            <a:extLst>
              <a:ext uri="{FF2B5EF4-FFF2-40B4-BE49-F238E27FC236}">
                <a16:creationId xmlns:a16="http://schemas.microsoft.com/office/drawing/2014/main" id="{0C141618-C374-B494-41EE-B0A8BC9DF1F8}"/>
              </a:ext>
            </a:extLst>
          </p:cNvPr>
          <p:cNvPicPr>
            <a:picLocks noChangeAspect="1"/>
          </p:cNvPicPr>
          <p:nvPr/>
        </p:nvPicPr>
        <p:blipFill>
          <a:blip r:embed="rId3"/>
          <a:stretch>
            <a:fillRect/>
          </a:stretch>
        </p:blipFill>
        <p:spPr>
          <a:xfrm>
            <a:off x="2676797" y="330200"/>
            <a:ext cx="6676209" cy="4450806"/>
          </a:xfrm>
          <a:prstGeom prst="rect">
            <a:avLst/>
          </a:prstGeom>
        </p:spPr>
      </p:pic>
      <p:sp>
        <p:nvSpPr>
          <p:cNvPr id="11" name="Shape 3">
            <a:extLst>
              <a:ext uri="{FF2B5EF4-FFF2-40B4-BE49-F238E27FC236}">
                <a16:creationId xmlns:a16="http://schemas.microsoft.com/office/drawing/2014/main" id="{1137C331-FA45-9782-2EB5-4A0163AC98AA}"/>
              </a:ext>
            </a:extLst>
          </p:cNvPr>
          <p:cNvSpPr/>
          <p:nvPr/>
        </p:nvSpPr>
        <p:spPr>
          <a:xfrm>
            <a:off x="145920" y="6559200"/>
            <a:ext cx="1204560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3" name="Text 3">
            <a:extLst>
              <a:ext uri="{FF2B5EF4-FFF2-40B4-BE49-F238E27FC236}">
                <a16:creationId xmlns:a16="http://schemas.microsoft.com/office/drawing/2014/main" id="{8F7065A9-0E13-67ED-52C0-2006B84512B7}"/>
              </a:ext>
            </a:extLst>
          </p:cNvPr>
          <p:cNvSpPr/>
          <p:nvPr/>
        </p:nvSpPr>
        <p:spPr>
          <a:xfrm>
            <a:off x="403606" y="6615684"/>
            <a:ext cx="6143498"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B018F97F-A11E-9A26-554B-9629E55A9627}"/>
              </a:ext>
            </a:extLst>
          </p:cNvPr>
          <p:cNvSpPr txBox="1"/>
          <p:nvPr/>
        </p:nvSpPr>
        <p:spPr>
          <a:xfrm>
            <a:off x="2743200" y="3911936"/>
            <a:ext cx="6676209" cy="1569660"/>
          </a:xfrm>
          <a:prstGeom prst="rect">
            <a:avLst/>
          </a:prstGeom>
          <a:noFill/>
        </p:spPr>
        <p:txBody>
          <a:bodyPr wrap="square" rtlCol="0">
            <a:spAutoFit/>
          </a:bodyPr>
          <a:lstStyle/>
          <a:p>
            <a:pPr algn="ctr"/>
            <a:r>
              <a:rPr lang="en-US" sz="9600" dirty="0">
                <a:solidFill>
                  <a:schemeClr val="bg1"/>
                </a:solidFill>
              </a:rPr>
              <a:t>THANK YOU!</a:t>
            </a:r>
          </a:p>
        </p:txBody>
      </p:sp>
    </p:spTree>
    <p:extLst>
      <p:ext uri="{BB962C8B-B14F-4D97-AF65-F5344CB8AC3E}">
        <p14:creationId xmlns:p14="http://schemas.microsoft.com/office/powerpoint/2010/main" val="3068750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87"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88"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Elastic Net Setup: V1 vs. V2 ( I think we should get rid of V1)</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0"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93" name="Table 0"/>
          <p:cNvGraphicFramePr/>
          <p:nvPr>
            <p:custDataLst>
              <p:tags r:id="rId1"/>
            </p:custDataLst>
          </p:nvPr>
        </p:nvGraphicFramePr>
        <p:xfrm>
          <a:off x="231600" y="1833441"/>
          <a:ext cx="11752800" cy="3312747"/>
        </p:xfrm>
        <a:graphic>
          <a:graphicData uri="http://schemas.openxmlformats.org/drawingml/2006/table">
            <a:tbl>
              <a:tblPr/>
              <a:tblGrid>
                <a:gridCol w="2535936">
                  <a:extLst>
                    <a:ext uri="{9D8B030D-6E8A-4147-A177-3AD203B41FA5}">
                      <a16:colId xmlns:a16="http://schemas.microsoft.com/office/drawing/2014/main" val="20000"/>
                    </a:ext>
                  </a:extLst>
                </a:gridCol>
                <a:gridCol w="4271893">
                  <a:extLst>
                    <a:ext uri="{9D8B030D-6E8A-4147-A177-3AD203B41FA5}">
                      <a16:colId xmlns:a16="http://schemas.microsoft.com/office/drawing/2014/main" val="20001"/>
                    </a:ext>
                  </a:extLst>
                </a:gridCol>
                <a:gridCol w="817880">
                  <a:extLst>
                    <a:ext uri="{9D8B030D-6E8A-4147-A177-3AD203B41FA5}">
                      <a16:colId xmlns:a16="http://schemas.microsoft.com/office/drawing/2014/main" val="20002"/>
                    </a:ext>
                  </a:extLst>
                </a:gridCol>
                <a:gridCol w="4127091">
                  <a:extLst>
                    <a:ext uri="{9D8B030D-6E8A-4147-A177-3AD203B41FA5}">
                      <a16:colId xmlns:a16="http://schemas.microsoft.com/office/drawing/2014/main" val="20003"/>
                    </a:ext>
                  </a:extLst>
                </a:gridCol>
              </a:tblGrid>
              <a:tr h="755520">
                <a:tc>
                  <a:txBody>
                    <a:bodyPr/>
                    <a:lstStyle/>
                    <a:p>
                      <a:pPr defTabSz="914400">
                        <a:lnSpc>
                          <a:spcPct val="100000"/>
                        </a:lnSpc>
                        <a:tabLst>
                          <a:tab pos="0" algn="l"/>
                        </a:tabLst>
                      </a:pPr>
                      <a:r>
                        <a:rPr lang="en-US" sz="1600" b="1" u="none" strike="noStrike">
                          <a:solidFill>
                            <a:srgbClr val="FFFFFF"/>
                          </a:solidFill>
                          <a:effectLst/>
                          <a:uFillTx/>
                          <a:latin typeface="Calibri"/>
                          <a:ea typeface="Calibri"/>
                        </a:rPr>
                        <a:t>Model Tier</a:t>
                      </a:r>
                      <a:endParaRPr lang="en-US" sz="16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Features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600" b="1" u="none" strike="noStrike" dirty="0">
                          <a:solidFill>
                            <a:srgbClr val="FFFFFF"/>
                          </a:solidFill>
                          <a:effectLst/>
                          <a:uFillTx/>
                          <a:latin typeface="Calibri"/>
                          <a:ea typeface="Calibri"/>
                        </a:rPr>
                        <a:t>Count</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Role / Notes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755520">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V1 — Current-State Volatility</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Current realized volatility (most recent observation)</a:t>
                      </a:r>
                    </a:p>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20-day trailing realized volatility</a:t>
                      </a: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900" b="1" u="none" strike="noStrike" dirty="0">
                          <a:solidFill>
                            <a:srgbClr val="1E8449"/>
                          </a:solidFill>
                          <a:effectLst/>
                          <a:uFillTx/>
                          <a:latin typeface="Calibri"/>
                          <a:ea typeface="Calibri"/>
                        </a:rPr>
                        <a:t>2</a:t>
                      </a:r>
                      <a:endParaRPr lang="en-US" sz="19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Pure vol-persistence model.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Both features genuinely retained by Lasso.</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1801707">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V2 — Added Macro/Market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Volume</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NYGOLDS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OIL_WTI_S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US_10Y_BOND_YLD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US_3M_TB_YLD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VIX</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700" b="1" u="none" strike="noStrike" dirty="0">
                          <a:solidFill>
                            <a:srgbClr val="00A8CC"/>
                          </a:solidFill>
                          <a:effectLst/>
                          <a:uFillTx/>
                          <a:latin typeface="Calibri"/>
                          <a:ea typeface="Calibri"/>
                        </a:rPr>
                        <a:t>8</a:t>
                      </a:r>
                      <a:endParaRPr lang="en-US" sz="17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Current-state macro context.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Only VIX survives Lasso regularization.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Other 5 macro features zeroed out.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extLst>
                  <a:ext uri="{0D108BD9-81ED-4DB2-BD59-A6C34878D82A}">
                    <a16:rowId xmlns:a16="http://schemas.microsoft.com/office/drawing/2014/main" val="10002"/>
                  </a:ext>
                </a:extLst>
              </a:tr>
            </a:tbl>
          </a:graphicData>
        </a:graphic>
      </p:graphicFrame>
      <p:sp>
        <p:nvSpPr>
          <p:cNvPr id="4" name="TextBox 3">
            <a:extLst>
              <a:ext uri="{FF2B5EF4-FFF2-40B4-BE49-F238E27FC236}">
                <a16:creationId xmlns:a16="http://schemas.microsoft.com/office/drawing/2014/main" id="{559A7459-E959-0EFB-A0FB-33A4AD2C3694}"/>
              </a:ext>
            </a:extLst>
          </p:cNvPr>
          <p:cNvSpPr txBox="1"/>
          <p:nvPr/>
        </p:nvSpPr>
        <p:spPr>
          <a:xfrm>
            <a:off x="231600" y="1038595"/>
            <a:ext cx="11728320" cy="359009"/>
          </a:xfrm>
          <a:prstGeom prst="rect">
            <a:avLst/>
          </a:prstGeom>
          <a:noFill/>
        </p:spPr>
        <p:txBody>
          <a:bodyPr wrap="square" rtlCol="0">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733" b="1" i="0" u="none" strike="noStrike" kern="1200" cap="none" spc="0" normalizeH="0" baseline="0" noProof="0" dirty="0">
                <a:ln>
                  <a:noFill/>
                </a:ln>
                <a:solidFill>
                  <a:srgbClr val="000000"/>
                </a:solidFill>
                <a:effectLst/>
                <a:uLnTx/>
                <a:uFillTx/>
                <a:latin typeface="Calibri" panose="020F0502020204030204"/>
                <a:ea typeface="+mn-ea"/>
                <a:cs typeface="+mn-cs"/>
              </a:rPr>
              <a:t>V2 tests whether macro and market context improves on the simple volatility-only V1 model</a:t>
            </a:r>
            <a:endPar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3">
            <a:extLst>
              <a:ext uri="{FF2B5EF4-FFF2-40B4-BE49-F238E27FC236}">
                <a16:creationId xmlns:a16="http://schemas.microsoft.com/office/drawing/2014/main" id="{3A2D322F-BCCC-7D67-B5C2-0E37FB5F266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ags/tag2.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2914</TotalTime>
  <Words>2271</Words>
  <Application>Microsoft Office PowerPoint</Application>
  <PresentationFormat>Widescreen</PresentationFormat>
  <Paragraphs>304</Paragraphs>
  <Slides>17</Slides>
  <Notes>17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17</vt:i4>
      </vt:variant>
    </vt:vector>
  </HeadingPairs>
  <TitlesOfParts>
    <vt:vector size="25" baseType="lpstr">
      <vt:lpstr>Aptos</vt:lpstr>
      <vt:lpstr>Arial</vt:lpstr>
      <vt:lpstr>Calibri</vt:lpstr>
      <vt:lpstr>Symbol</vt:lpstr>
      <vt:lpstr>Times New Roman</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Diogo Viveiros</cp:lastModifiedBy>
  <cp:revision>41</cp:revision>
  <dcterms:created xsi:type="dcterms:W3CDTF">2026-03-31T21:53:36Z</dcterms:created>
  <dcterms:modified xsi:type="dcterms:W3CDTF">2026-04-11T05:02:07Z</dcterms:modified>
</cp:coreProperties>
</file>