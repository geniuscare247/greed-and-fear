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20"/>
  </p:notesMasterIdLst>
  <p:sldIdLst>
    <p:sldId id="272" r:id="rId3"/>
    <p:sldId id="256" r:id="rId4"/>
    <p:sldId id="286" r:id="rId5"/>
    <p:sldId id="260" r:id="rId6"/>
    <p:sldId id="257" r:id="rId7"/>
    <p:sldId id="263" r:id="rId8"/>
    <p:sldId id="267" r:id="rId9"/>
    <p:sldId id="270" r:id="rId10"/>
    <p:sldId id="271" r:id="rId11"/>
    <p:sldId id="273" r:id="rId12"/>
    <p:sldId id="287" r:id="rId13"/>
    <p:sldId id="274" r:id="rId14"/>
    <p:sldId id="288" r:id="rId15"/>
    <p:sldId id="282" r:id="rId16"/>
    <p:sldId id="280" r:id="rId17"/>
    <p:sldId id="276"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3CF"/>
    <a:srgbClr val="EBF5FB"/>
    <a:srgbClr val="F5F6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1" autoAdjust="0"/>
    <p:restoredTop sz="84110" autoAdjust="0"/>
  </p:normalViewPr>
  <p:slideViewPr>
    <p:cSldViewPr snapToGrid="0" snapToObjects="1">
      <p:cViewPr varScale="1">
        <p:scale>
          <a:sx n="106" d="100"/>
          <a:sy n="106" d="100"/>
        </p:scale>
        <p:origin x="6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8423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30E27-3341-8D58-EFE0-6D22A3F8B4A3}"/>
            </a:ext>
          </a:extLst>
        </p:cNvPr>
        <p:cNvGrpSpPr/>
        <p:nvPr/>
      </p:nvGrpSpPr>
      <p:grpSpPr>
        <a:xfrm>
          <a:off x="0" y="0"/>
          <a:ext cx="0" cy="0"/>
          <a:chOff x="0" y="0"/>
          <a:chExt cx="0" cy="0"/>
        </a:xfrm>
      </p:grpSpPr>
      <p:sp>
        <p:nvSpPr>
          <p:cNvPr id="204" name="PlaceHolder 1">
            <a:extLst>
              <a:ext uri="{FF2B5EF4-FFF2-40B4-BE49-F238E27FC236}">
                <a16:creationId xmlns:a16="http://schemas.microsoft.com/office/drawing/2014/main" id="{D83479BE-F067-05E5-3FF8-E66FBFADB4F9}"/>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05" name="PlaceHolder 2">
            <a:extLst>
              <a:ext uri="{FF2B5EF4-FFF2-40B4-BE49-F238E27FC236}">
                <a16:creationId xmlns:a16="http://schemas.microsoft.com/office/drawing/2014/main" id="{AE9E29B2-8658-1A52-7E1D-9AC38CB66F3D}"/>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6" name="PlaceHolder 3">
            <a:extLst>
              <a:ext uri="{FF2B5EF4-FFF2-40B4-BE49-F238E27FC236}">
                <a16:creationId xmlns:a16="http://schemas.microsoft.com/office/drawing/2014/main" id="{039CF368-DD7A-E67E-A06B-7563E9AD49E6}"/>
              </a:ext>
            </a:extLst>
          </p:cNvPr>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38E9D2C-E2AA-4A61-811E-44DD82E65BDC}"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2247918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Project description summarized from the team project proposal and milestone report.
[Sources]
- Project Proposal PDF (uploaded in this chat)
- Project Milestone Report PDF (uploaded in this chat)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4D5C-9F01-8CD6-7E77-6A19B7D41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C17E64-43D3-F26D-6B48-06B0342A6C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FECE03-380F-65C2-A48E-889615CDC11A}"/>
              </a:ext>
            </a:extLst>
          </p:cNvPr>
          <p:cNvSpPr>
            <a:spLocks noGrp="1"/>
          </p:cNvSpPr>
          <p:nvPr>
            <p:ph type="body" idx="1"/>
          </p:nvPr>
        </p:nvSpPr>
        <p:spPr/>
        <p:txBody>
          <a:bodyPr/>
          <a:lstStyle/>
          <a:p>
            <a:r>
              <a:rPr lang="en-US" dirty="0"/>
              <a:t>Project description summarized from the team project proposal and milestone report.
[Sources]
- Project Proposal PDF (uploaded in this chat)
- Project Milestone Report PDF (uploaded in this chat)
[/Sources]</a:t>
            </a:r>
          </a:p>
        </p:txBody>
      </p:sp>
      <p:sp>
        <p:nvSpPr>
          <p:cNvPr id="4" name="Slide Number Placeholder 3">
            <a:extLst>
              <a:ext uri="{FF2B5EF4-FFF2-40B4-BE49-F238E27FC236}">
                <a16:creationId xmlns:a16="http://schemas.microsoft.com/office/drawing/2014/main" id="{A8228FFE-6455-1C96-2BB3-D82361ED80A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28638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
[Sources]
- Uploaded PDF: DATASCI 207 — ETF Volatility Dataset: Time-Series EDA (EDA_ETF_Volatility_TimeSeries_vb_done_021126_VB_021026) — used for the checklist text and plot thumbnails.
- Uploaded PPTX: project slide deck (style reference for header/footer and typography).
[/Sources]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62D1D-100A-9BF4-C08D-8DE1D559B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3E7F2-6B5C-B694-D2CE-1FD0E11B3C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DBA7ED3-720E-44B9-946C-EB13DEABD327}"/>
              </a:ext>
            </a:extLst>
          </p:cNvPr>
          <p:cNvSpPr>
            <a:spLocks noGrp="1"/>
          </p:cNvSpPr>
          <p:nvPr>
            <p:ph type="body" idx="1"/>
          </p:nvPr>
        </p:nvSpPr>
        <p:spPr/>
        <p:txBody>
          <a:bodyPr/>
          <a:lstStyle/>
          <a:p>
            <a:r>
              <a:rPr lang="en-US" dirty="0"/>
              <a:t>Project description summarized from the team project proposal and milestone report.
[Sources]
- Project Proposal PDF (uploaded in this chat)
- Project Milestone Report PDF (uploaded in this chat)
[/Sources]</a:t>
            </a:r>
          </a:p>
        </p:txBody>
      </p:sp>
      <p:sp>
        <p:nvSpPr>
          <p:cNvPr id="4" name="Slide Number Placeholder 3">
            <a:extLst>
              <a:ext uri="{FF2B5EF4-FFF2-40B4-BE49-F238E27FC236}">
                <a16:creationId xmlns:a16="http://schemas.microsoft.com/office/drawing/2014/main" id="{14C2FB2B-BDB5-C4C6-EB3D-C2666701240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0336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38E9D2C-E2AA-4A61-811E-44DD82E65BDC}"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2"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2AB39F7-BA42-41FD-BC49-F42D7046AA93}"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Coefficient interpretation for V1 and V2 (Elastic Net).
[Sources]
- elastic_net_vol_v1v2_vb_done_032726.ipynb (user-provided notebook)
- elastic_net_vol_slides_wip_032726.pptx (user-provided deck)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39"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404CCE6-61FE-46B3-8996-5BF314FE3D04}"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DD616-2E0A-5CA5-FAD2-3E7652DDAC99}"/>
            </a:ext>
          </a:extLst>
        </p:cNvPr>
        <p:cNvGrpSpPr/>
        <p:nvPr/>
      </p:nvGrpSpPr>
      <p:grpSpPr>
        <a:xfrm>
          <a:off x="0" y="0"/>
          <a:ext cx="0" cy="0"/>
          <a:chOff x="0" y="0"/>
          <a:chExt cx="0" cy="0"/>
        </a:xfrm>
      </p:grpSpPr>
      <p:sp>
        <p:nvSpPr>
          <p:cNvPr id="204" name="PlaceHolder 1">
            <a:extLst>
              <a:ext uri="{FF2B5EF4-FFF2-40B4-BE49-F238E27FC236}">
                <a16:creationId xmlns:a16="http://schemas.microsoft.com/office/drawing/2014/main" id="{CD61C938-BD10-5839-4160-D3350AC5B8E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05" name="PlaceHolder 2">
            <a:extLst>
              <a:ext uri="{FF2B5EF4-FFF2-40B4-BE49-F238E27FC236}">
                <a16:creationId xmlns:a16="http://schemas.microsoft.com/office/drawing/2014/main" id="{0F16ED71-5446-4139-8B84-900E3C7BBB34}"/>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6" name="PlaceHolder 3">
            <a:extLst>
              <a:ext uri="{FF2B5EF4-FFF2-40B4-BE49-F238E27FC236}">
                <a16:creationId xmlns:a16="http://schemas.microsoft.com/office/drawing/2014/main" id="{2D7F721B-2ECE-2160-B713-1B41E9F317F8}"/>
              </a:ext>
            </a:extLst>
          </p:cNvPr>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38E9D2C-E2AA-4A61-811E-44DD82E65BDC}"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617314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BF800-DBE5-1785-12C6-9EA6C533FD84}"/>
            </a:ext>
          </a:extLst>
        </p:cNvPr>
        <p:cNvGrpSpPr/>
        <p:nvPr/>
      </p:nvGrpSpPr>
      <p:grpSpPr>
        <a:xfrm>
          <a:off x="0" y="0"/>
          <a:ext cx="0" cy="0"/>
          <a:chOff x="0" y="0"/>
          <a:chExt cx="0" cy="0"/>
        </a:xfrm>
      </p:grpSpPr>
      <p:sp>
        <p:nvSpPr>
          <p:cNvPr id="210" name="PlaceHolder 1">
            <a:extLst>
              <a:ext uri="{FF2B5EF4-FFF2-40B4-BE49-F238E27FC236}">
                <a16:creationId xmlns:a16="http://schemas.microsoft.com/office/drawing/2014/main" id="{9A2811E6-4D50-7298-49B6-682954F337E3}"/>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11" name="PlaceHolder 2">
            <a:extLst>
              <a:ext uri="{FF2B5EF4-FFF2-40B4-BE49-F238E27FC236}">
                <a16:creationId xmlns:a16="http://schemas.microsoft.com/office/drawing/2014/main" id="{92D43C77-5DB8-1F7C-7018-98FAB18D5528}"/>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dirty="0">
              <a:solidFill>
                <a:srgbClr val="000000"/>
              </a:solidFill>
              <a:effectLst/>
              <a:uFillTx/>
              <a:latin typeface="Arial"/>
            </a:endParaRPr>
          </a:p>
        </p:txBody>
      </p:sp>
      <p:sp>
        <p:nvSpPr>
          <p:cNvPr id="212" name="PlaceHolder 3">
            <a:extLst>
              <a:ext uri="{FF2B5EF4-FFF2-40B4-BE49-F238E27FC236}">
                <a16:creationId xmlns:a16="http://schemas.microsoft.com/office/drawing/2014/main" id="{4A34DC90-2D07-753F-A53D-DFB67C5DD8CE}"/>
              </a:ext>
            </a:extLst>
          </p:cNvPr>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2AB39F7-BA42-41FD-BC49-F42D7046AA93}"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656063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E657A-B680-1396-322F-FC663BB7F616}"/>
            </a:ext>
          </a:extLst>
        </p:cNvPr>
        <p:cNvGrpSpPr/>
        <p:nvPr/>
      </p:nvGrpSpPr>
      <p:grpSpPr>
        <a:xfrm>
          <a:off x="0" y="0"/>
          <a:ext cx="0" cy="0"/>
          <a:chOff x="0" y="0"/>
          <a:chExt cx="0" cy="0"/>
        </a:xfrm>
      </p:grpSpPr>
      <p:sp>
        <p:nvSpPr>
          <p:cNvPr id="204" name="PlaceHolder 1">
            <a:extLst>
              <a:ext uri="{FF2B5EF4-FFF2-40B4-BE49-F238E27FC236}">
                <a16:creationId xmlns:a16="http://schemas.microsoft.com/office/drawing/2014/main" id="{9C4F7010-23FA-B7E2-5114-6D3F40BF4554}"/>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05" name="PlaceHolder 2">
            <a:extLst>
              <a:ext uri="{FF2B5EF4-FFF2-40B4-BE49-F238E27FC236}">
                <a16:creationId xmlns:a16="http://schemas.microsoft.com/office/drawing/2014/main" id="{916653ED-2156-E169-CDB0-D49DCA6FA645}"/>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6" name="PlaceHolder 3">
            <a:extLst>
              <a:ext uri="{FF2B5EF4-FFF2-40B4-BE49-F238E27FC236}">
                <a16:creationId xmlns:a16="http://schemas.microsoft.com/office/drawing/2014/main" id="{22C9D295-0937-AB72-94AD-92DD6918EE3C}"/>
              </a:ext>
            </a:extLst>
          </p:cNvPr>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38E9D2C-E2AA-4A61-811E-44DD82E65BDC}"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646322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89DE-A4D5-8BD5-278D-BE85F51C6BCC}"/>
            </a:ext>
          </a:extLst>
        </p:cNvPr>
        <p:cNvGrpSpPr/>
        <p:nvPr/>
      </p:nvGrpSpPr>
      <p:grpSpPr>
        <a:xfrm>
          <a:off x="0" y="0"/>
          <a:ext cx="0" cy="0"/>
          <a:chOff x="0" y="0"/>
          <a:chExt cx="0" cy="0"/>
        </a:xfrm>
      </p:grpSpPr>
      <p:sp>
        <p:nvSpPr>
          <p:cNvPr id="210" name="PlaceHolder 1">
            <a:extLst>
              <a:ext uri="{FF2B5EF4-FFF2-40B4-BE49-F238E27FC236}">
                <a16:creationId xmlns:a16="http://schemas.microsoft.com/office/drawing/2014/main" id="{B9E975BB-82B5-6479-33DB-3D85B10F04B7}"/>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11" name="PlaceHolder 2">
            <a:extLst>
              <a:ext uri="{FF2B5EF4-FFF2-40B4-BE49-F238E27FC236}">
                <a16:creationId xmlns:a16="http://schemas.microsoft.com/office/drawing/2014/main" id="{CF6B09BC-932E-56CE-7E9B-A51D7341277A}"/>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1800" b="0" u="none" strike="noStrike" dirty="0">
                <a:solidFill>
                  <a:srgbClr val="000000"/>
                </a:solidFill>
                <a:effectLst/>
                <a:uFillTx/>
                <a:latin typeface="Arial"/>
              </a:rPr>
              <a:t>Building a transformer requires a lot of specific choices to optimize the hyperparameters in the architecture. </a:t>
            </a:r>
            <a:br>
              <a:rPr lang="en-US" sz="1800" b="0" u="none" strike="noStrike" dirty="0">
                <a:solidFill>
                  <a:srgbClr val="000000"/>
                </a:solidFill>
                <a:effectLst/>
                <a:uFillTx/>
                <a:latin typeface="Arial"/>
              </a:rPr>
            </a:br>
            <a:br>
              <a:rPr lang="en-US" sz="1800" b="0" u="none" strike="noStrike" dirty="0">
                <a:solidFill>
                  <a:srgbClr val="000000"/>
                </a:solidFill>
                <a:effectLst/>
                <a:uFillTx/>
                <a:latin typeface="Arial"/>
              </a:rPr>
            </a:br>
            <a:r>
              <a:rPr lang="en-US" sz="1800" b="0" u="none" strike="noStrike" dirty="0">
                <a:solidFill>
                  <a:srgbClr val="000000"/>
                </a:solidFill>
                <a:effectLst/>
                <a:uFillTx/>
                <a:latin typeface="Arial"/>
              </a:rPr>
              <a:t>Due to its high memorization ability, we should keep the number of encoder blocks simple, approximately 2 to 4. Any more than that and we see a large amount of overfitting. </a:t>
            </a:r>
            <a:br>
              <a:rPr lang="en-US" sz="1800" b="0" u="none" strike="noStrike" dirty="0">
                <a:solidFill>
                  <a:srgbClr val="000000"/>
                </a:solidFill>
                <a:effectLst/>
                <a:uFillTx/>
                <a:latin typeface="Arial"/>
              </a:rPr>
            </a:br>
            <a:br>
              <a:rPr lang="en-US" sz="1800" b="0" u="none" strike="noStrike" dirty="0">
                <a:solidFill>
                  <a:srgbClr val="000000"/>
                </a:solidFill>
                <a:effectLst/>
                <a:uFillTx/>
                <a:latin typeface="Arial"/>
              </a:rPr>
            </a:br>
            <a:r>
              <a:rPr lang="en-US" sz="1800" b="0" u="none" strike="noStrike" dirty="0">
                <a:solidFill>
                  <a:srgbClr val="000000"/>
                </a:solidFill>
                <a:effectLst/>
                <a:uFillTx/>
                <a:latin typeface="Arial"/>
              </a:rPr>
              <a:t>This is paired with the Dropout (or Mask Padding in Ronald’s model), making our model ignore random weights in order to force the model to generalize well, not just memorize all of the data it sees. </a:t>
            </a:r>
          </a:p>
          <a:p>
            <a:pPr indent="0">
              <a:buNone/>
            </a:pPr>
            <a:endParaRPr lang="en-US" sz="1800" b="0" u="none" strike="noStrike" dirty="0">
              <a:solidFill>
                <a:srgbClr val="000000"/>
              </a:solidFill>
              <a:effectLst/>
              <a:uFillTx/>
              <a:latin typeface="Arial"/>
            </a:endParaRPr>
          </a:p>
          <a:p>
            <a:pPr indent="0">
              <a:buNone/>
            </a:pPr>
            <a:r>
              <a:rPr lang="en-US" sz="1800" b="0" u="none" strike="noStrike" dirty="0">
                <a:solidFill>
                  <a:srgbClr val="000000"/>
                </a:solidFill>
                <a:effectLst/>
                <a:uFillTx/>
                <a:latin typeface="Arial"/>
              </a:rPr>
              <a:t>Within the Encoder, we must make decisions on the Sequence length, Head Size, and the Feed Forward dimension. The Sequence Length determines how many days of history we look at (since one of our V2 variables looks at the past 20 days, I set this length to 21).</a:t>
            </a:r>
            <a:br>
              <a:rPr lang="en-US" sz="1800" b="0" u="none" strike="noStrike" dirty="0">
                <a:solidFill>
                  <a:srgbClr val="000000"/>
                </a:solidFill>
                <a:effectLst/>
                <a:uFillTx/>
                <a:latin typeface="Arial"/>
              </a:rPr>
            </a:br>
            <a:br>
              <a:rPr lang="en-US" sz="1800" b="0" u="none" strike="noStrike" dirty="0">
                <a:solidFill>
                  <a:srgbClr val="000000"/>
                </a:solidFill>
                <a:effectLst/>
                <a:uFillTx/>
                <a:latin typeface="Arial"/>
              </a:rPr>
            </a:br>
            <a:r>
              <a:rPr lang="en-US" sz="1800" b="0" u="none" strike="noStrike" dirty="0">
                <a:solidFill>
                  <a:srgbClr val="000000"/>
                </a:solidFill>
                <a:effectLst/>
                <a:uFillTx/>
                <a:latin typeface="Arial"/>
              </a:rPr>
              <a:t>Choosing Epochs is tricky: Transformers learn slowly but are also extremely consuming per epoch to calculate. We have to set a high epoch limit and let them train over a lengthened period of time, and rely on Early Stopping to check when our performance plateaus. </a:t>
            </a:r>
          </a:p>
          <a:p>
            <a:pPr indent="0">
              <a:buNone/>
            </a:pPr>
            <a:endParaRPr lang="en-US" sz="1800" b="0" u="none" strike="noStrike" dirty="0">
              <a:solidFill>
                <a:srgbClr val="000000"/>
              </a:solidFill>
              <a:effectLst/>
              <a:uFillTx/>
              <a:latin typeface="Arial"/>
            </a:endParaRPr>
          </a:p>
          <a:p>
            <a:pPr indent="0">
              <a:buNone/>
            </a:pPr>
            <a:endParaRPr lang="en-US" sz="1800" b="0" u="none" strike="noStrike" dirty="0">
              <a:solidFill>
                <a:srgbClr val="000000"/>
              </a:solidFill>
              <a:effectLst/>
              <a:uFillTx/>
              <a:latin typeface="Arial"/>
            </a:endParaRPr>
          </a:p>
        </p:txBody>
      </p:sp>
      <p:sp>
        <p:nvSpPr>
          <p:cNvPr id="212" name="PlaceHolder 3">
            <a:extLst>
              <a:ext uri="{FF2B5EF4-FFF2-40B4-BE49-F238E27FC236}">
                <a16:creationId xmlns:a16="http://schemas.microsoft.com/office/drawing/2014/main" id="{9E4B7CE4-54DE-3619-CEEE-1EF4579AC706}"/>
              </a:ext>
            </a:extLst>
          </p:cNvPr>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2AB39F7-BA42-41FD-BC49-F42D7046AA93}"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993221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F8E7-4A5A-B293-E545-D97C3D1523D7}"/>
            </a:ext>
          </a:extLst>
        </p:cNvPr>
        <p:cNvGrpSpPr/>
        <p:nvPr/>
      </p:nvGrpSpPr>
      <p:grpSpPr>
        <a:xfrm>
          <a:off x="0" y="0"/>
          <a:ext cx="0" cy="0"/>
          <a:chOff x="0" y="0"/>
          <a:chExt cx="0" cy="0"/>
        </a:xfrm>
      </p:grpSpPr>
      <p:sp>
        <p:nvSpPr>
          <p:cNvPr id="237" name="PlaceHolder 1">
            <a:extLst>
              <a:ext uri="{FF2B5EF4-FFF2-40B4-BE49-F238E27FC236}">
                <a16:creationId xmlns:a16="http://schemas.microsoft.com/office/drawing/2014/main" id="{CC4C3637-C2C5-7BDE-9041-E2252E695EB4}"/>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38" name="PlaceHolder 2">
            <a:extLst>
              <a:ext uri="{FF2B5EF4-FFF2-40B4-BE49-F238E27FC236}">
                <a16:creationId xmlns:a16="http://schemas.microsoft.com/office/drawing/2014/main" id="{29E6DDEF-4BB3-258C-0600-79695349BB62}"/>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39" name="PlaceHolder 3">
            <a:extLst>
              <a:ext uri="{FF2B5EF4-FFF2-40B4-BE49-F238E27FC236}">
                <a16:creationId xmlns:a16="http://schemas.microsoft.com/office/drawing/2014/main" id="{8AD9C1E5-475D-9E13-1D3B-7EF48FFC6291}"/>
              </a:ext>
            </a:extLst>
          </p:cNvPr>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404CCE6-61FE-46B3-8996-5BF314FE3D04}"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1796451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0FA0-3662-CBE5-E69D-0F20CB7A8CC8}"/>
            </a:ext>
          </a:extLst>
        </p:cNvPr>
        <p:cNvGrpSpPr/>
        <p:nvPr/>
      </p:nvGrpSpPr>
      <p:grpSpPr>
        <a:xfrm>
          <a:off x="0" y="0"/>
          <a:ext cx="0" cy="0"/>
          <a:chOff x="0" y="0"/>
          <a:chExt cx="0" cy="0"/>
        </a:xfrm>
      </p:grpSpPr>
      <p:sp>
        <p:nvSpPr>
          <p:cNvPr id="219" name="PlaceHolder 1">
            <a:extLst>
              <a:ext uri="{FF2B5EF4-FFF2-40B4-BE49-F238E27FC236}">
                <a16:creationId xmlns:a16="http://schemas.microsoft.com/office/drawing/2014/main" id="{CBB2859C-963A-B26C-1362-9F2A50F1F5CE}"/>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20" name="PlaceHolder 2">
            <a:extLst>
              <a:ext uri="{FF2B5EF4-FFF2-40B4-BE49-F238E27FC236}">
                <a16:creationId xmlns:a16="http://schemas.microsoft.com/office/drawing/2014/main" id="{3E9184C3-936B-89D6-E609-5ADF5AE6128F}"/>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21" name="PlaceHolder 3">
            <a:extLst>
              <a:ext uri="{FF2B5EF4-FFF2-40B4-BE49-F238E27FC236}">
                <a16:creationId xmlns:a16="http://schemas.microsoft.com/office/drawing/2014/main" id="{3FEC6C48-3DBE-93DE-D14A-767F3DB1B934}"/>
              </a:ext>
            </a:extLst>
          </p:cNvPr>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F1260DA-6912-4A9B-8AD9-FC04EB69A99D}"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408878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810B-6E70-C868-17A4-62348C2C3A56}"/>
            </a:ext>
          </a:extLst>
        </p:cNvPr>
        <p:cNvGrpSpPr/>
        <p:nvPr/>
      </p:nvGrpSpPr>
      <p:grpSpPr>
        <a:xfrm>
          <a:off x="0" y="0"/>
          <a:ext cx="0" cy="0"/>
          <a:chOff x="0" y="0"/>
          <a:chExt cx="0" cy="0"/>
        </a:xfrm>
      </p:grpSpPr>
      <p:sp>
        <p:nvSpPr>
          <p:cNvPr id="204" name="PlaceHolder 1">
            <a:extLst>
              <a:ext uri="{FF2B5EF4-FFF2-40B4-BE49-F238E27FC236}">
                <a16:creationId xmlns:a16="http://schemas.microsoft.com/office/drawing/2014/main" id="{EF047777-8674-B6A7-162D-B935BA422C8F}"/>
              </a:ext>
            </a:extLst>
          </p:cNvPr>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05" name="PlaceHolder 2">
            <a:extLst>
              <a:ext uri="{FF2B5EF4-FFF2-40B4-BE49-F238E27FC236}">
                <a16:creationId xmlns:a16="http://schemas.microsoft.com/office/drawing/2014/main" id="{D8D668EC-FB43-A0F4-6543-EDBA074E35EF}"/>
              </a:ext>
            </a:extLst>
          </p:cNvPr>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dirty="0">
              <a:solidFill>
                <a:srgbClr val="000000"/>
              </a:solidFill>
              <a:effectLst/>
              <a:uFillTx/>
              <a:latin typeface="Arial"/>
            </a:endParaRPr>
          </a:p>
        </p:txBody>
      </p:sp>
      <p:sp>
        <p:nvSpPr>
          <p:cNvPr id="206" name="PlaceHolder 3">
            <a:extLst>
              <a:ext uri="{FF2B5EF4-FFF2-40B4-BE49-F238E27FC236}">
                <a16:creationId xmlns:a16="http://schemas.microsoft.com/office/drawing/2014/main" id="{87487499-DD1B-46AD-D013-BB05AC06009E}"/>
              </a:ext>
            </a:extLst>
          </p:cNvPr>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38E9D2C-E2AA-4A61-811E-44DD82E65BDC}"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3409967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PlaceHolder 1"/>
          <p:cNvSpPr>
            <a:spLocks noGrp="1" noRot="1" noChangeAspect="1"/>
          </p:cNvSpPr>
          <p:nvPr>
            <p:ph type="sldImg"/>
          </p:nvPr>
        </p:nvSpPr>
        <p:spPr>
          <a:xfrm>
            <a:off x="685800" y="1143000"/>
            <a:ext cx="5486400" cy="3086100"/>
          </a:xfrm>
          <a:prstGeom prst="rect">
            <a:avLst/>
          </a:prstGeom>
          <a:ln w="0">
            <a:noFill/>
          </a:ln>
        </p:spPr>
        <p:txBody>
          <a:bodyPr/>
          <a:lstStyle/>
          <a:p>
            <a:endParaRPr lang="en-US"/>
          </a:p>
        </p:txBody>
      </p:sp>
      <p:sp>
        <p:nvSpPr>
          <p:cNvPr id="2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dirty="0">
              <a:solidFill>
                <a:srgbClr val="000000"/>
              </a:solidFill>
              <a:effectLst/>
              <a:uFillTx/>
              <a:latin typeface="Arial"/>
            </a:endParaRPr>
          </a:p>
        </p:txBody>
      </p:sp>
      <p:sp>
        <p:nvSpPr>
          <p:cNvPr id="218"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8801C66-0D28-445B-8BDC-B7CD68A3718D}" type="slidenum">
              <a:rPr kumimoji="0" lang="en-US" sz="1200" b="0" i="0" u="none" strike="noStrike" kern="1200" cap="none" spc="0" normalizeH="0" baseline="0" noProof="0">
                <a:ln>
                  <a:noFill/>
                </a:ln>
                <a:solidFill>
                  <a:srgbClr val="00000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000000"/>
              </a:solidFill>
              <a:effectLst/>
              <a:uLnTx/>
              <a:uFillTx/>
              <a:latin typeface="Times New Roman"/>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607643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5E028-11AB-57DC-8F43-6F14F32887B9}"/>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600" y="273600"/>
            <a:ext cx="10972320" cy="1144800"/>
          </a:xfrm>
          <a:prstGeom prst="rect">
            <a:avLst/>
          </a:prstGeom>
          <a:noFill/>
          <a:ln w="0">
            <a:noFill/>
          </a:ln>
        </p:spPr>
        <p:txBody>
          <a:bodyPr lIns="0" tIns="0" rIns="0" bIns="0" anchor="ctr">
            <a:noAutofit/>
          </a:bodyPr>
          <a:lstStyle/>
          <a:p>
            <a:pPr indent="0">
              <a:buNone/>
            </a:pPr>
            <a:r>
              <a:rPr lang="en-US" sz="2400" b="0" u="none" strike="noStrike">
                <a:solidFill>
                  <a:schemeClr val="dk1"/>
                </a:solidFill>
                <a:effectLst/>
                <a:uFillTx/>
                <a:latin typeface="Calibri"/>
              </a:rPr>
              <a:t>Click to edit the title text format</a:t>
            </a:r>
          </a:p>
        </p:txBody>
      </p:sp>
      <p:sp>
        <p:nvSpPr>
          <p:cNvPr id="3" name="PlaceHolder 2"/>
          <p:cNvSpPr>
            <a:spLocks noGrp="1"/>
          </p:cNvSpPr>
          <p:nvPr>
            <p:ph type="body"/>
          </p:nvPr>
        </p:nvSpPr>
        <p:spPr>
          <a:xfrm>
            <a:off x="609600" y="1604640"/>
            <a:ext cx="1097232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4267" b="0" u="none" strike="noStrike">
                <a:solidFill>
                  <a:schemeClr val="dk1"/>
                </a:solidFill>
                <a:effectLst/>
                <a:uFillTx/>
                <a:latin typeface="Calibri"/>
              </a:rPr>
              <a:t>Click to edit the outline text format</a:t>
            </a:r>
          </a:p>
          <a:p>
            <a:pPr marL="1151971" lvl="1" indent="-431989">
              <a:spcBef>
                <a:spcPts val="1512"/>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727957" lvl="2" indent="-383990">
              <a:spcBef>
                <a:spcPts val="1133"/>
              </a:spcBef>
              <a:buClr>
                <a:srgbClr val="000000"/>
              </a:buClr>
              <a:buSzPct val="45000"/>
              <a:buFont typeface="Wingdings" charset="2"/>
              <a:buChar char=""/>
            </a:pPr>
            <a:r>
              <a:rPr lang="en-US" sz="2667" b="0" u="none" strike="noStrike">
                <a:solidFill>
                  <a:schemeClr val="dk1"/>
                </a:solidFill>
                <a:effectLst/>
                <a:uFillTx/>
                <a:latin typeface="Calibri"/>
              </a:rPr>
              <a:t>Third Outline Level</a:t>
            </a:r>
          </a:p>
          <a:p>
            <a:pPr marL="2303942" lvl="3" indent="-287993">
              <a:spcBef>
                <a:spcPts val="756"/>
              </a:spcBef>
              <a:buClr>
                <a:srgbClr val="000000"/>
              </a:buClr>
              <a:buSzPct val="75000"/>
              <a:buFont typeface="Symbol" charset="2"/>
              <a:buChar char=""/>
            </a:pPr>
            <a:r>
              <a:rPr lang="en-US" sz="2667" b="0" u="none" strike="noStrike">
                <a:solidFill>
                  <a:schemeClr val="dk1"/>
                </a:solidFill>
                <a:effectLst/>
                <a:uFillTx/>
                <a:latin typeface="Calibri"/>
              </a:rPr>
              <a:t>Fourth Outline Level</a:t>
            </a:r>
          </a:p>
          <a:p>
            <a:pPr marL="2879928" lvl="4" indent="-287993">
              <a:spcBef>
                <a:spcPts val="377"/>
              </a:spcBef>
              <a:buClr>
                <a:srgbClr val="000000"/>
              </a:buClr>
              <a:buSzPct val="45000"/>
              <a:buFont typeface="Wingdings" charset="2"/>
              <a:buChar char=""/>
            </a:pPr>
            <a:r>
              <a:rPr lang="en-US" sz="2667" b="0" u="none" strike="noStrike">
                <a:solidFill>
                  <a:schemeClr val="dk1"/>
                </a:solidFill>
                <a:effectLst/>
                <a:uFillTx/>
                <a:latin typeface="Calibri"/>
              </a:rPr>
              <a:t>Fifth Outline Level</a:t>
            </a:r>
          </a:p>
          <a:p>
            <a:pPr marL="3455914" lvl="5" indent="-287993">
              <a:spcBef>
                <a:spcPts val="377"/>
              </a:spcBef>
              <a:buClr>
                <a:srgbClr val="000000"/>
              </a:buClr>
              <a:buSzPct val="45000"/>
              <a:buFont typeface="Wingdings" charset="2"/>
              <a:buChar char=""/>
            </a:pPr>
            <a:r>
              <a:rPr lang="en-US" sz="2667" b="0" u="none" strike="noStrike">
                <a:solidFill>
                  <a:schemeClr val="dk1"/>
                </a:solidFill>
                <a:effectLst/>
                <a:uFillTx/>
                <a:latin typeface="Calibri"/>
              </a:rPr>
              <a:t>Sixth Outline Level</a:t>
            </a:r>
          </a:p>
          <a:p>
            <a:pPr marL="4031899" lvl="6" indent="-287993">
              <a:spcBef>
                <a:spcPts val="377"/>
              </a:spcBef>
              <a:buClr>
                <a:srgbClr val="000000"/>
              </a:buClr>
              <a:buSzPct val="45000"/>
              <a:buFont typeface="Wingdings" charset="2"/>
              <a:buChar char=""/>
            </a:pPr>
            <a:r>
              <a:rPr lang="en-US" sz="2667" b="0" u="none" strike="noStrike">
                <a:solidFill>
                  <a:schemeClr val="dk1"/>
                </a:solidFill>
                <a:effectLst/>
                <a:uFillTx/>
                <a:latin typeface="Calibri"/>
              </a:rPr>
              <a:t>Seventh Outline Level</a:t>
            </a:r>
          </a:p>
        </p:txBody>
      </p:sp>
      <p:sp>
        <p:nvSpPr>
          <p:cNvPr id="5" name="TextBox 4">
            <a:extLst>
              <a:ext uri="{FF2B5EF4-FFF2-40B4-BE49-F238E27FC236}">
                <a16:creationId xmlns:a16="http://schemas.microsoft.com/office/drawing/2014/main" id="{9F634321-B970-3C96-FB29-7E30736FFE29}"/>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3358475438"/>
      </p:ext>
    </p:extLst>
  </p:cSld>
  <p:clrMap bg1="lt1" tx1="dk1" bg2="lt2" tx2="dk2" accent1="accent1" accent2="accent2" accent3="accent3" accent4="accent4" accent5="accent5" accent6="accent6" hlink="hlink" folHlink="folHlink"/>
  <p:sldLayoutIdLst>
    <p:sldLayoutId id="2147483652" r:id="rId1"/>
  </p:sldLayoutIdLst>
  <p:txStyles>
    <p:titleStyle>
      <a:lvl1pPr indent="0"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340"/>
        </a:solidFill>
        <a:effectLst/>
      </p:bgPr>
    </p:bg>
    <p:spTree>
      <p:nvGrpSpPr>
        <p:cNvPr id="1" name="">
          <a:extLst>
            <a:ext uri="{FF2B5EF4-FFF2-40B4-BE49-F238E27FC236}">
              <a16:creationId xmlns:a16="http://schemas.microsoft.com/office/drawing/2014/main" id="{77FBE54B-D2FB-7E9D-E8D9-9F7D24EDEA66}"/>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48DD7D0F-F9F5-5344-D1D7-41257D31C514}"/>
              </a:ext>
            </a:extLst>
          </p:cNvPr>
          <p:cNvSpPr/>
          <p:nvPr/>
        </p:nvSpPr>
        <p:spPr>
          <a:xfrm>
            <a:off x="0" y="0"/>
            <a:ext cx="145920" cy="685776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9" name="Text 1">
            <a:extLst>
              <a:ext uri="{FF2B5EF4-FFF2-40B4-BE49-F238E27FC236}">
                <a16:creationId xmlns:a16="http://schemas.microsoft.com/office/drawing/2014/main" id="{B4BBEA62-81F5-2C55-7E9D-74F3B2A5E25A}"/>
              </a:ext>
            </a:extLst>
          </p:cNvPr>
          <p:cNvSpPr/>
          <p:nvPr/>
        </p:nvSpPr>
        <p:spPr>
          <a:xfrm>
            <a:off x="426720" y="975360"/>
            <a:ext cx="11338080" cy="243792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6400" b="1" i="0" u="none" strike="noStrike" kern="1200" cap="none" spc="0" normalizeH="0" baseline="0" noProof="0" dirty="0">
                <a:ln>
                  <a:noFill/>
                </a:ln>
                <a:solidFill>
                  <a:srgbClr val="FFFFFF"/>
                </a:solidFill>
                <a:effectLst/>
                <a:uLnTx/>
                <a:uFillTx/>
                <a:latin typeface="Calibri"/>
                <a:ea typeface="Calibri"/>
                <a:cs typeface="+mn-cs"/>
              </a:rPr>
              <a:t>Forecasting Volatility</a:t>
            </a:r>
            <a:endParaRPr kumimoji="0" lang="en-US" sz="6400" b="0"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6400" b="1" i="0" u="none" strike="noStrike" kern="1200" cap="none" spc="0" normalizeH="0" baseline="0" noProof="0" dirty="0">
                <a:ln>
                  <a:noFill/>
                </a:ln>
                <a:solidFill>
                  <a:srgbClr val="FFFFFF"/>
                </a:solidFill>
                <a:effectLst/>
                <a:uLnTx/>
                <a:uFillTx/>
                <a:latin typeface="Calibri"/>
                <a:ea typeface="Calibri"/>
                <a:cs typeface="+mn-cs"/>
              </a:rPr>
              <a:t>In Stock Market</a:t>
            </a:r>
            <a:endParaRPr kumimoji="0" lang="en-US" sz="64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Shape 2">
            <a:extLst>
              <a:ext uri="{FF2B5EF4-FFF2-40B4-BE49-F238E27FC236}">
                <a16:creationId xmlns:a16="http://schemas.microsoft.com/office/drawing/2014/main" id="{D0982A92-3E69-B2C5-C535-BF1C574922BD}"/>
              </a:ext>
            </a:extLst>
          </p:cNvPr>
          <p:cNvSpPr/>
          <p:nvPr/>
        </p:nvSpPr>
        <p:spPr>
          <a:xfrm>
            <a:off x="426720" y="3596640"/>
            <a:ext cx="11460000" cy="4848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11040" rIns="120000" bIns="-1104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 4">
            <a:extLst>
              <a:ext uri="{FF2B5EF4-FFF2-40B4-BE49-F238E27FC236}">
                <a16:creationId xmlns:a16="http://schemas.microsoft.com/office/drawing/2014/main" id="{4F090630-7208-BEDC-AE80-E37EC36F6053}"/>
              </a:ext>
            </a:extLst>
          </p:cNvPr>
          <p:cNvSpPr/>
          <p:nvPr/>
        </p:nvSpPr>
        <p:spPr>
          <a:xfrm>
            <a:off x="426720" y="3892303"/>
            <a:ext cx="11338080" cy="1294233"/>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pt-BR" sz="1733" b="0" i="0" u="none" strike="noStrike" kern="1200" cap="none" spc="0" normalizeH="0" baseline="0" noProof="0" dirty="0">
                <a:ln>
                  <a:noFill/>
                </a:ln>
                <a:solidFill>
                  <a:srgbClr val="AAAACC"/>
                </a:solidFill>
                <a:effectLst/>
                <a:uLnTx/>
                <a:uFillTx/>
                <a:latin typeface="Calibri"/>
                <a:ea typeface="Calibri"/>
                <a:cs typeface="+mn-cs"/>
              </a:rPr>
              <a:t>Sid Sridhar – siddharthen_sridhar@berkeley.edu </a:t>
            </a:r>
          </a:p>
          <a:p>
            <a:pPr lvl="0" defTabSz="1219170">
              <a:tabLst>
                <a:tab pos="0" algn="l"/>
              </a:tabLst>
              <a:defRPr/>
            </a:pPr>
            <a:r>
              <a:rPr kumimoji="0" lang="pt-BR" sz="1733" b="0" i="0" u="none" strike="noStrike" kern="1200" cap="none" spc="0" normalizeH="0" baseline="0" noProof="0" dirty="0">
                <a:ln>
                  <a:noFill/>
                </a:ln>
                <a:solidFill>
                  <a:srgbClr val="AAAACC"/>
                </a:solidFill>
                <a:effectLst/>
                <a:uLnTx/>
                <a:uFillTx/>
                <a:latin typeface="Calibri"/>
                <a:ea typeface="Calibri"/>
                <a:cs typeface="+mn-cs"/>
              </a:rPr>
              <a:t>Diogo Viveiros </a:t>
            </a:r>
            <a:r>
              <a:rPr lang="pt-BR" sz="1733" dirty="0">
                <a:solidFill>
                  <a:srgbClr val="AAAACC"/>
                </a:solidFill>
                <a:ea typeface="Calibri"/>
              </a:rPr>
              <a:t>–</a:t>
            </a:r>
            <a:r>
              <a:rPr kumimoji="0" lang="pt-BR" sz="1733" b="0" i="0" u="none" strike="noStrike" kern="1200" cap="none" spc="0" normalizeH="0" baseline="0" noProof="0" dirty="0">
                <a:ln>
                  <a:noFill/>
                </a:ln>
                <a:solidFill>
                  <a:srgbClr val="AAAACC"/>
                </a:solidFill>
                <a:effectLst/>
                <a:uLnTx/>
                <a:uFillTx/>
                <a:latin typeface="Calibri"/>
                <a:ea typeface="Calibri"/>
                <a:cs typeface="+mn-cs"/>
              </a:rPr>
              <a:t> diogoviveiros@berkeley.edu </a:t>
            </a:r>
          </a:p>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pt-BR" sz="1733" b="0" i="0" u="none" strike="noStrike" kern="1200" cap="none" spc="0" normalizeH="0" baseline="0" noProof="0" dirty="0">
                <a:ln>
                  <a:noFill/>
                </a:ln>
                <a:solidFill>
                  <a:srgbClr val="AAAACC"/>
                </a:solidFill>
                <a:effectLst/>
                <a:uLnTx/>
                <a:uFillTx/>
                <a:latin typeface="Calibri"/>
                <a:ea typeface="Calibri"/>
                <a:cs typeface="+mn-cs"/>
              </a:rPr>
              <a:t>Ronald Ho – ronald.ho@berkeley.edu </a:t>
            </a:r>
          </a:p>
          <a:p>
            <a:pPr lvl="0" defTabSz="1219170">
              <a:tabLst>
                <a:tab pos="0" algn="l"/>
              </a:tabLst>
              <a:defRPr/>
            </a:pPr>
            <a:r>
              <a:rPr kumimoji="0" lang="pt-BR" sz="1733" b="0" i="0" u="none" strike="noStrike" kern="1200" cap="none" spc="0" normalizeH="0" baseline="0" noProof="0" dirty="0">
                <a:ln>
                  <a:noFill/>
                </a:ln>
                <a:solidFill>
                  <a:srgbClr val="AAAACC"/>
                </a:solidFill>
                <a:effectLst/>
                <a:uLnTx/>
                <a:uFillTx/>
                <a:latin typeface="Calibri"/>
                <a:ea typeface="Calibri"/>
                <a:cs typeface="+mn-cs"/>
              </a:rPr>
              <a:t>Vinit S. Bhatt </a:t>
            </a:r>
            <a:r>
              <a:rPr lang="pt-BR" sz="1733" dirty="0">
                <a:solidFill>
                  <a:srgbClr val="AAAACC"/>
                </a:solidFill>
                <a:ea typeface="Calibri"/>
              </a:rPr>
              <a:t>–</a:t>
            </a:r>
            <a:r>
              <a:rPr kumimoji="0" lang="pt-BR" sz="1733" b="0" i="0" u="none" strike="noStrike" kern="1200" cap="none" spc="0" normalizeH="0" baseline="0" noProof="0" dirty="0">
                <a:ln>
                  <a:noFill/>
                </a:ln>
                <a:solidFill>
                  <a:srgbClr val="AAAACC"/>
                </a:solidFill>
                <a:effectLst/>
                <a:uLnTx/>
                <a:uFillTx/>
                <a:latin typeface="Calibri"/>
                <a:ea typeface="Calibri"/>
                <a:cs typeface="+mn-cs"/>
              </a:rPr>
              <a:t> vbhatt@berkeley.edu </a:t>
            </a:r>
          </a:p>
        </p:txBody>
      </p:sp>
      <p:sp>
        <p:nvSpPr>
          <p:cNvPr id="2" name="Text 4">
            <a:extLst>
              <a:ext uri="{FF2B5EF4-FFF2-40B4-BE49-F238E27FC236}">
                <a16:creationId xmlns:a16="http://schemas.microsoft.com/office/drawing/2014/main" id="{0860C2B8-2065-2F74-37FA-0EE61988D638}"/>
              </a:ext>
            </a:extLst>
          </p:cNvPr>
          <p:cNvSpPr/>
          <p:nvPr/>
        </p:nvSpPr>
        <p:spPr>
          <a:xfrm>
            <a:off x="487680" y="2983166"/>
            <a:ext cx="113380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defTabSz="1219170">
              <a:tabLst>
                <a:tab pos="0" algn="l"/>
              </a:tabLst>
            </a:pPr>
            <a:r>
              <a:rPr lang="en-US" sz="1733" dirty="0">
                <a:solidFill>
                  <a:srgbClr val="AAAACC"/>
                </a:solidFill>
                <a:ea typeface="Calibri"/>
              </a:rPr>
              <a:t>DATASCI 207 Final Project, </a:t>
            </a:r>
            <a:r>
              <a:rPr kumimoji="0" lang="en-US" sz="1733" b="0" i="0" u="none" strike="noStrike" kern="1200" cap="none" spc="0" normalizeH="0" baseline="0" noProof="0" dirty="0">
                <a:ln>
                  <a:noFill/>
                </a:ln>
                <a:solidFill>
                  <a:srgbClr val="AAAACC"/>
                </a:solidFill>
                <a:effectLst/>
                <a:uLnTx/>
                <a:uFillTx/>
                <a:latin typeface="Calibri"/>
                <a:ea typeface="Calibri"/>
                <a:cs typeface="+mn-cs"/>
              </a:rPr>
              <a:t>March 27, 2026</a:t>
            </a:r>
            <a:endParaRPr kumimoji="0" lang="en-US" sz="1733"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902177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33679"/>
          </a:xfrm>
          <a:prstGeom prst="rect">
            <a:avLst/>
          </a:prstGeom>
          <a:solidFill>
            <a:srgbClr val="0D2340"/>
          </a:solidFill>
          <a:ln w="12700">
            <a:solidFill>
              <a:srgbClr val="0D2340"/>
            </a:solidFill>
            <a:prstDash val="solid"/>
          </a:ln>
        </p:spPr>
        <p:txBody>
          <a:bodyPr/>
          <a:lstStyle/>
          <a:p>
            <a:endParaRPr lang="en-US"/>
          </a:p>
        </p:txBody>
      </p:sp>
      <p:sp>
        <p:nvSpPr>
          <p:cNvPr id="3" name="Text 1"/>
          <p:cNvSpPr/>
          <p:nvPr/>
        </p:nvSpPr>
        <p:spPr>
          <a:xfrm>
            <a:off x="341071" y="49378"/>
            <a:ext cx="11581790" cy="560527"/>
          </a:xfrm>
          <a:prstGeom prst="rect">
            <a:avLst/>
          </a:prstGeom>
          <a:noFill/>
          <a:ln/>
        </p:spPr>
        <p:txBody>
          <a:bodyPr wrap="square"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Project: Forecasting Volatility In Stock Market</a:t>
            </a:r>
            <a:endParaRPr lang="en-US" sz="2900" dirty="0"/>
          </a:p>
        </p:txBody>
      </p:sp>
      <p:sp>
        <p:nvSpPr>
          <p:cNvPr id="4" name="Shape 2"/>
          <p:cNvSpPr/>
          <p:nvPr/>
        </p:nvSpPr>
        <p:spPr>
          <a:xfrm>
            <a:off x="0" y="6558991"/>
            <a:ext cx="12191695" cy="298094"/>
          </a:xfrm>
          <a:prstGeom prst="rect">
            <a:avLst/>
          </a:prstGeom>
          <a:solidFill>
            <a:srgbClr val="0D2340"/>
          </a:solidFill>
          <a:ln w="12700">
            <a:solidFill>
              <a:srgbClr val="0D2340"/>
            </a:solidFill>
            <a:prstDash val="solid"/>
          </a:ln>
        </p:spPr>
        <p:txBody>
          <a:bodyPr/>
          <a:lstStyle/>
          <a:p>
            <a:endParaRPr lang="en-US"/>
          </a:p>
        </p:txBody>
      </p:sp>
      <p:sp>
        <p:nvSpPr>
          <p:cNvPr id="8" name="Text 6"/>
          <p:cNvSpPr/>
          <p:nvPr/>
        </p:nvSpPr>
        <p:spPr>
          <a:xfrm>
            <a:off x="341071" y="1389888"/>
            <a:ext cx="11423599" cy="4892040"/>
          </a:xfrm>
          <a:prstGeom prst="rect">
            <a:avLst/>
          </a:prstGeom>
          <a:noFill/>
          <a:ln/>
        </p:spPr>
        <p:txBody>
          <a:bodyPr wrap="square" lIns="0" tIns="0" rIns="0" bIns="0" rtlCol="0" anchor="t"/>
          <a:lstStyle/>
          <a:p>
            <a:pPr marL="228600" indent="-228600">
              <a:lnSpc>
                <a:spcPct val="110000"/>
              </a:lnSpc>
              <a:buSzPct val="100000"/>
              <a:buChar char="•"/>
            </a:pPr>
            <a:endParaRPr lang="en-US" sz="1600" dirty="0"/>
          </a:p>
        </p:txBody>
      </p:sp>
      <p:sp>
        <p:nvSpPr>
          <p:cNvPr id="12" name="TextBox 11"/>
          <p:cNvSpPr txBox="1"/>
          <p:nvPr/>
        </p:nvSpPr>
        <p:spPr>
          <a:xfrm>
            <a:off x="3081351" y="6128039"/>
            <a:ext cx="5943037" cy="307777"/>
          </a:xfrm>
          <a:prstGeom prst="rect">
            <a:avLst/>
          </a:prstGeom>
          <a:noFill/>
        </p:spPr>
        <p:txBody>
          <a:bodyPr wrap="none">
            <a:spAutoFit/>
          </a:bodyPr>
          <a:lstStyle/>
          <a:p>
            <a:r>
              <a:rPr sz="1400" b="1" dirty="0">
                <a:solidFill>
                  <a:srgbClr val="1A1A2E"/>
                </a:solidFill>
                <a:latin typeface="Calibri"/>
              </a:rPr>
              <a:t>S&amp;P 500 chart highlighting major drawdowns and changing volatility regimes.</a:t>
            </a:r>
          </a:p>
        </p:txBody>
      </p:sp>
      <p:sp>
        <p:nvSpPr>
          <p:cNvPr id="13" name="TextBox 12"/>
          <p:cNvSpPr txBox="1"/>
          <p:nvPr/>
        </p:nvSpPr>
        <p:spPr>
          <a:xfrm>
            <a:off x="7776514" y="4151321"/>
            <a:ext cx="184731" cy="312393"/>
          </a:xfrm>
          <a:prstGeom prst="rect">
            <a:avLst/>
          </a:prstGeom>
          <a:noFill/>
        </p:spPr>
        <p:txBody>
          <a:bodyPr wrap="none">
            <a:spAutoFit/>
          </a:bodyPr>
          <a:lstStyle/>
          <a:p>
            <a:endParaRPr sz="1430" b="1" dirty="0">
              <a:solidFill>
                <a:srgbClr val="1A1A2E"/>
              </a:solidFill>
              <a:latin typeface="Calibri"/>
            </a:endParaRPr>
          </a:p>
        </p:txBody>
      </p:sp>
      <p:pic>
        <p:nvPicPr>
          <p:cNvPr id="14" name="Picture 13">
            <a:extLst>
              <a:ext uri="{FF2B5EF4-FFF2-40B4-BE49-F238E27FC236}">
                <a16:creationId xmlns:a16="http://schemas.microsoft.com/office/drawing/2014/main" id="{484DE742-A634-5F95-CAAE-9A7B4C8620CE}"/>
              </a:ext>
            </a:extLst>
          </p:cNvPr>
          <p:cNvPicPr>
            <a:picLocks noChangeAspect="1"/>
          </p:cNvPicPr>
          <p:nvPr/>
        </p:nvPicPr>
        <p:blipFill>
          <a:blip r:embed="rId3"/>
          <a:stretch>
            <a:fillRect/>
          </a:stretch>
        </p:blipFill>
        <p:spPr>
          <a:xfrm>
            <a:off x="157886" y="1189318"/>
            <a:ext cx="11606784" cy="4863934"/>
          </a:xfrm>
          <a:prstGeom prst="rect">
            <a:avLst/>
          </a:prstGeom>
        </p:spPr>
      </p:pic>
      <p:sp>
        <p:nvSpPr>
          <p:cNvPr id="15" name="TextBox 14">
            <a:extLst>
              <a:ext uri="{FF2B5EF4-FFF2-40B4-BE49-F238E27FC236}">
                <a16:creationId xmlns:a16="http://schemas.microsoft.com/office/drawing/2014/main" id="{EC1E1F7B-8F5F-4DAE-AF18-3F253AF2F340}"/>
              </a:ext>
            </a:extLst>
          </p:cNvPr>
          <p:cNvSpPr txBox="1"/>
          <p:nvPr/>
        </p:nvSpPr>
        <p:spPr>
          <a:xfrm>
            <a:off x="5037224" y="730065"/>
            <a:ext cx="2117246" cy="400110"/>
          </a:xfrm>
          <a:prstGeom prst="rect">
            <a:avLst/>
          </a:prstGeom>
          <a:noFill/>
        </p:spPr>
        <p:txBody>
          <a:bodyPr wrap="none" rtlCol="0">
            <a:spAutoFit/>
          </a:bodyPr>
          <a:lstStyle/>
          <a:p>
            <a:r>
              <a:rPr lang="en-US" sz="2000" b="1" dirty="0">
                <a:solidFill>
                  <a:srgbClr val="00A8CC"/>
                </a:solidFill>
              </a:rPr>
              <a:t>What is Volatility?</a:t>
            </a:r>
          </a:p>
        </p:txBody>
      </p:sp>
      <p:sp>
        <p:nvSpPr>
          <p:cNvPr id="6" name="Shape 5">
            <a:extLst>
              <a:ext uri="{FF2B5EF4-FFF2-40B4-BE49-F238E27FC236}">
                <a16:creationId xmlns:a16="http://schemas.microsoft.com/office/drawing/2014/main" id="{01C70E8E-E084-C0AE-22BC-15F747F203D5}"/>
              </a:ext>
            </a:extLst>
          </p:cNvPr>
          <p:cNvSpPr/>
          <p:nvPr/>
        </p:nvSpPr>
        <p:spPr>
          <a:xfrm flipV="1">
            <a:off x="5166360" y="1112825"/>
            <a:ext cx="1848394" cy="0"/>
          </a:xfrm>
          <a:prstGeom prst="line">
            <a:avLst/>
          </a:prstGeom>
          <a:noFill/>
          <a:ln w="15240">
            <a:solidFill>
              <a:srgbClr val="08A3C7"/>
            </a:solidFill>
            <a:prstDash val="solid"/>
          </a:ln>
        </p:spPr>
        <p:txBody>
          <a:bodyPr/>
          <a:lstStyle/>
          <a:p>
            <a:endParaRPr lang="en-US"/>
          </a:p>
        </p:txBody>
      </p:sp>
      <p:sp>
        <p:nvSpPr>
          <p:cNvPr id="7" name="Text 3">
            <a:extLst>
              <a:ext uri="{FF2B5EF4-FFF2-40B4-BE49-F238E27FC236}">
                <a16:creationId xmlns:a16="http://schemas.microsoft.com/office/drawing/2014/main" id="{E62870E0-E75F-1918-96DE-CDE61EEC5EC4}"/>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B98E2-AF16-587D-437E-C5D6FABB52A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2A80EA9-B1D0-5AFD-9C55-03460E7F42B8}"/>
              </a:ext>
            </a:extLst>
          </p:cNvPr>
          <p:cNvSpPr/>
          <p:nvPr/>
        </p:nvSpPr>
        <p:spPr>
          <a:xfrm>
            <a:off x="0" y="0"/>
            <a:ext cx="12191695" cy="633679"/>
          </a:xfrm>
          <a:prstGeom prst="rect">
            <a:avLst/>
          </a:prstGeom>
          <a:solidFill>
            <a:srgbClr val="0D2340"/>
          </a:solidFill>
          <a:ln w="12700">
            <a:solidFill>
              <a:srgbClr val="0D2340"/>
            </a:solidFill>
            <a:prstDash val="solid"/>
          </a:ln>
        </p:spPr>
        <p:txBody>
          <a:bodyPr/>
          <a:lstStyle/>
          <a:p>
            <a:endParaRPr lang="en-US"/>
          </a:p>
        </p:txBody>
      </p:sp>
      <p:sp>
        <p:nvSpPr>
          <p:cNvPr id="3" name="Text 1">
            <a:extLst>
              <a:ext uri="{FF2B5EF4-FFF2-40B4-BE49-F238E27FC236}">
                <a16:creationId xmlns:a16="http://schemas.microsoft.com/office/drawing/2014/main" id="{56CD40A9-4A9C-1EDF-2B10-B5FC12B0EA0F}"/>
              </a:ext>
            </a:extLst>
          </p:cNvPr>
          <p:cNvSpPr/>
          <p:nvPr/>
        </p:nvSpPr>
        <p:spPr>
          <a:xfrm>
            <a:off x="341071" y="49378"/>
            <a:ext cx="11581790" cy="560527"/>
          </a:xfrm>
          <a:prstGeom prst="rect">
            <a:avLst/>
          </a:prstGeom>
          <a:noFill/>
          <a:ln/>
        </p:spPr>
        <p:txBody>
          <a:bodyPr wrap="square"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EDA</a:t>
            </a:r>
            <a:endParaRPr lang="en-US" sz="2900" dirty="0"/>
          </a:p>
        </p:txBody>
      </p:sp>
      <p:sp>
        <p:nvSpPr>
          <p:cNvPr id="4" name="Shape 2">
            <a:extLst>
              <a:ext uri="{FF2B5EF4-FFF2-40B4-BE49-F238E27FC236}">
                <a16:creationId xmlns:a16="http://schemas.microsoft.com/office/drawing/2014/main" id="{1C34760E-152D-239E-2A72-B898A261CB41}"/>
              </a:ext>
            </a:extLst>
          </p:cNvPr>
          <p:cNvSpPr/>
          <p:nvPr/>
        </p:nvSpPr>
        <p:spPr>
          <a:xfrm>
            <a:off x="0" y="6558991"/>
            <a:ext cx="12191695" cy="298094"/>
          </a:xfrm>
          <a:prstGeom prst="rect">
            <a:avLst/>
          </a:prstGeom>
          <a:solidFill>
            <a:srgbClr val="0D2340"/>
          </a:solidFill>
          <a:ln w="12700">
            <a:solidFill>
              <a:srgbClr val="0D2340"/>
            </a:solidFill>
            <a:prstDash val="solid"/>
          </a:ln>
        </p:spPr>
        <p:txBody>
          <a:bodyPr/>
          <a:lstStyle/>
          <a:p>
            <a:endParaRPr lang="en-US"/>
          </a:p>
        </p:txBody>
      </p:sp>
      <p:sp>
        <p:nvSpPr>
          <p:cNvPr id="8" name="Text 6">
            <a:extLst>
              <a:ext uri="{FF2B5EF4-FFF2-40B4-BE49-F238E27FC236}">
                <a16:creationId xmlns:a16="http://schemas.microsoft.com/office/drawing/2014/main" id="{18BD4C8A-2AE5-4A51-9768-8A0DF9AF38C4}"/>
              </a:ext>
            </a:extLst>
          </p:cNvPr>
          <p:cNvSpPr/>
          <p:nvPr/>
        </p:nvSpPr>
        <p:spPr>
          <a:xfrm>
            <a:off x="341071" y="1389888"/>
            <a:ext cx="11423599" cy="4892040"/>
          </a:xfrm>
          <a:prstGeom prst="rect">
            <a:avLst/>
          </a:prstGeom>
          <a:noFill/>
          <a:ln/>
        </p:spPr>
        <p:txBody>
          <a:bodyPr wrap="square" lIns="0" tIns="0" rIns="0" bIns="0" rtlCol="0" anchor="t"/>
          <a:lstStyle/>
          <a:p>
            <a:pPr marL="228600" indent="-228600">
              <a:lnSpc>
                <a:spcPct val="110000"/>
              </a:lnSpc>
              <a:buSzPct val="100000"/>
              <a:buChar char="•"/>
            </a:pPr>
            <a:endParaRPr lang="en-US" sz="1600" dirty="0"/>
          </a:p>
        </p:txBody>
      </p:sp>
      <p:sp>
        <p:nvSpPr>
          <p:cNvPr id="9" name="TextBox 8">
            <a:extLst>
              <a:ext uri="{FF2B5EF4-FFF2-40B4-BE49-F238E27FC236}">
                <a16:creationId xmlns:a16="http://schemas.microsoft.com/office/drawing/2014/main" id="{F33BB6F4-62C4-F3C6-0026-DDEEB89A5D7D}"/>
              </a:ext>
            </a:extLst>
          </p:cNvPr>
          <p:cNvSpPr txBox="1"/>
          <p:nvPr/>
        </p:nvSpPr>
        <p:spPr>
          <a:xfrm>
            <a:off x="405536" y="1152144"/>
            <a:ext cx="11380622" cy="5187445"/>
          </a:xfrm>
          <a:prstGeom prst="rect">
            <a:avLst/>
          </a:prstGeom>
          <a:noFill/>
        </p:spPr>
        <p:txBody>
          <a:bodyPr wrap="square">
            <a:normAutofit/>
          </a:bodyPr>
          <a:lstStyle/>
          <a:p>
            <a:pPr>
              <a:spcAft>
                <a:spcPts val="200"/>
              </a:spcAft>
            </a:pPr>
            <a:r>
              <a:rPr lang="en-US" sz="2200" b="1" dirty="0">
                <a:solidFill>
                  <a:srgbClr val="00A8CC"/>
                </a:solidFill>
                <a:latin typeface="Calibri"/>
              </a:rPr>
              <a:t>The Problem: </a:t>
            </a:r>
            <a:endParaRPr sz="2200" b="1" dirty="0">
              <a:solidFill>
                <a:srgbClr val="00A8CC"/>
              </a:solidFill>
              <a:latin typeface="Calibri"/>
            </a:endParaRPr>
          </a:p>
          <a:p>
            <a:pPr marL="285750" indent="-285750">
              <a:spcAft>
                <a:spcPts val="100"/>
              </a:spcAft>
              <a:buFont typeface="Arial" panose="020B0604020202020204" pitchFamily="34" charset="0"/>
              <a:buChar char="•"/>
            </a:pPr>
            <a:r>
              <a:rPr lang="en-US" b="1" dirty="0">
                <a:solidFill>
                  <a:srgbClr val="1A1A2E"/>
                </a:solidFill>
                <a:latin typeface="Calibri"/>
              </a:rPr>
              <a:t>Features might be correlated, but with a lag of some days. </a:t>
            </a:r>
            <a:r>
              <a:rPr lang="en-US" dirty="0">
                <a:solidFill>
                  <a:srgbClr val="1A1A2E"/>
                </a:solidFill>
                <a:latin typeface="Calibri"/>
              </a:rPr>
              <a:t>Pearson correlation is impractical. Need models that address this.</a:t>
            </a:r>
          </a:p>
          <a:p>
            <a:pPr marL="285750" indent="-285750">
              <a:spcAft>
                <a:spcPts val="100"/>
              </a:spcAft>
              <a:buFont typeface="Arial" panose="020B0604020202020204" pitchFamily="34" charset="0"/>
              <a:buChar char="•"/>
            </a:pPr>
            <a:r>
              <a:rPr lang="en-US" b="1" dirty="0">
                <a:solidFill>
                  <a:srgbClr val="1A1A2E"/>
                </a:solidFill>
                <a:latin typeface="Calibri"/>
              </a:rPr>
              <a:t>Time Series fails Linear Assumptions, making most traditional models impractical. </a:t>
            </a:r>
            <a:r>
              <a:rPr lang="en-US" dirty="0">
                <a:solidFill>
                  <a:srgbClr val="1A1A2E"/>
                </a:solidFill>
                <a:latin typeface="Calibri"/>
              </a:rPr>
              <a:t>The underlying data is inherently noisy and prone to shocks</a:t>
            </a:r>
            <a:r>
              <a:rPr lang="en-US" b="1" dirty="0">
                <a:solidFill>
                  <a:srgbClr val="1A1A2E"/>
                </a:solidFill>
                <a:latin typeface="Calibri"/>
              </a:rPr>
              <a:t> </a:t>
            </a:r>
            <a:endParaRPr lang="en-US" b="0" dirty="0">
              <a:solidFill>
                <a:srgbClr val="1A1A2E"/>
              </a:solidFill>
              <a:latin typeface="Calibri"/>
            </a:endParaRPr>
          </a:p>
          <a:p>
            <a:pPr marL="285750" indent="-285750">
              <a:spcAft>
                <a:spcPts val="600"/>
              </a:spcAft>
              <a:buFont typeface="Arial" panose="020B0604020202020204" pitchFamily="34" charset="0"/>
              <a:buChar char="•"/>
            </a:pPr>
            <a:endParaRPr lang="en-US" sz="2200" b="1" dirty="0">
              <a:solidFill>
                <a:srgbClr val="00A8CC"/>
              </a:solidFill>
              <a:latin typeface="Calibri"/>
            </a:endParaRPr>
          </a:p>
        </p:txBody>
      </p:sp>
      <p:sp>
        <p:nvSpPr>
          <p:cNvPr id="13" name="TextBox 12">
            <a:extLst>
              <a:ext uri="{FF2B5EF4-FFF2-40B4-BE49-F238E27FC236}">
                <a16:creationId xmlns:a16="http://schemas.microsoft.com/office/drawing/2014/main" id="{B7F985E7-080B-4D6B-5F55-F51EE85E5A15}"/>
              </a:ext>
            </a:extLst>
          </p:cNvPr>
          <p:cNvSpPr txBox="1"/>
          <p:nvPr/>
        </p:nvSpPr>
        <p:spPr>
          <a:xfrm>
            <a:off x="7776514" y="4151321"/>
            <a:ext cx="184731" cy="312393"/>
          </a:xfrm>
          <a:prstGeom prst="rect">
            <a:avLst/>
          </a:prstGeom>
          <a:noFill/>
        </p:spPr>
        <p:txBody>
          <a:bodyPr wrap="none">
            <a:spAutoFit/>
          </a:bodyPr>
          <a:lstStyle/>
          <a:p>
            <a:endParaRPr sz="1430" b="1" dirty="0">
              <a:solidFill>
                <a:srgbClr val="1A1A2E"/>
              </a:solidFill>
              <a:latin typeface="Calibri"/>
            </a:endParaRPr>
          </a:p>
        </p:txBody>
      </p:sp>
      <p:sp>
        <p:nvSpPr>
          <p:cNvPr id="6" name="Text 4">
            <a:extLst>
              <a:ext uri="{FF2B5EF4-FFF2-40B4-BE49-F238E27FC236}">
                <a16:creationId xmlns:a16="http://schemas.microsoft.com/office/drawing/2014/main" id="{E2A68944-3EA6-E105-5E5C-642636D2AD89}"/>
              </a:ext>
            </a:extLst>
          </p:cNvPr>
          <p:cNvSpPr/>
          <p:nvPr/>
        </p:nvSpPr>
        <p:spPr>
          <a:xfrm>
            <a:off x="3404376" y="835838"/>
            <a:ext cx="4217802" cy="256032"/>
          </a:xfrm>
          <a:prstGeom prst="rect">
            <a:avLst/>
          </a:prstGeom>
          <a:noFill/>
          <a:ln/>
        </p:spPr>
        <p:txBody>
          <a:bodyPr wrap="square" lIns="0" tIns="0" rIns="0" bIns="0" rtlCol="0" anchor="ctr"/>
          <a:lstStyle/>
          <a:p>
            <a:pPr algn="ctr">
              <a:spcAft>
                <a:spcPts val="800"/>
              </a:spcAft>
            </a:pPr>
            <a:r>
              <a:rPr lang="en-US" sz="2000" b="1" dirty="0">
                <a:solidFill>
                  <a:srgbClr val="00A8CC"/>
                </a:solidFill>
              </a:rPr>
              <a:t>Time Series Data is Tricky</a:t>
            </a:r>
          </a:p>
        </p:txBody>
      </p:sp>
      <p:sp>
        <p:nvSpPr>
          <p:cNvPr id="7" name="Shape 5">
            <a:extLst>
              <a:ext uri="{FF2B5EF4-FFF2-40B4-BE49-F238E27FC236}">
                <a16:creationId xmlns:a16="http://schemas.microsoft.com/office/drawing/2014/main" id="{D8F1BBD2-0C6D-440C-BA9C-0FF54D704AF6}"/>
              </a:ext>
            </a:extLst>
          </p:cNvPr>
          <p:cNvSpPr/>
          <p:nvPr/>
        </p:nvSpPr>
        <p:spPr>
          <a:xfrm>
            <a:off x="3404376" y="1152144"/>
            <a:ext cx="4217802" cy="0"/>
          </a:xfrm>
          <a:prstGeom prst="line">
            <a:avLst/>
          </a:prstGeom>
          <a:noFill/>
          <a:ln w="15240">
            <a:solidFill>
              <a:srgbClr val="08A3C7"/>
            </a:solidFill>
            <a:prstDash val="solid"/>
          </a:ln>
        </p:spPr>
        <p:txBody>
          <a:bodyPr/>
          <a:lstStyle/>
          <a:p>
            <a:endParaRPr lang="en-US"/>
          </a:p>
        </p:txBody>
      </p:sp>
      <p:sp>
        <p:nvSpPr>
          <p:cNvPr id="10" name="Text 3">
            <a:extLst>
              <a:ext uri="{FF2B5EF4-FFF2-40B4-BE49-F238E27FC236}">
                <a16:creationId xmlns:a16="http://schemas.microsoft.com/office/drawing/2014/main" id="{4E85D978-167C-6BE1-85E7-4B247EBF43D7}"/>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pic>
        <p:nvPicPr>
          <p:cNvPr id="11" name="Picture 10">
            <a:extLst>
              <a:ext uri="{FF2B5EF4-FFF2-40B4-BE49-F238E27FC236}">
                <a16:creationId xmlns:a16="http://schemas.microsoft.com/office/drawing/2014/main" id="{1AFABF7E-BDF3-2A92-1A59-3AE2260B3CA4}"/>
              </a:ext>
            </a:extLst>
          </p:cNvPr>
          <p:cNvPicPr>
            <a:picLocks noChangeAspect="1"/>
          </p:cNvPicPr>
          <p:nvPr/>
        </p:nvPicPr>
        <p:blipFill>
          <a:blip r:embed="rId3"/>
          <a:stretch>
            <a:fillRect/>
          </a:stretch>
        </p:blipFill>
        <p:spPr>
          <a:xfrm>
            <a:off x="932567" y="2664477"/>
            <a:ext cx="4535666" cy="3451167"/>
          </a:xfrm>
          <a:prstGeom prst="rect">
            <a:avLst/>
          </a:prstGeom>
        </p:spPr>
      </p:pic>
      <p:pic>
        <p:nvPicPr>
          <p:cNvPr id="14" name="Picture 13">
            <a:extLst>
              <a:ext uri="{FF2B5EF4-FFF2-40B4-BE49-F238E27FC236}">
                <a16:creationId xmlns:a16="http://schemas.microsoft.com/office/drawing/2014/main" id="{1D090C80-83E7-7E17-61D7-EB86B00E7E4B}"/>
              </a:ext>
            </a:extLst>
          </p:cNvPr>
          <p:cNvPicPr>
            <a:picLocks noChangeAspect="1"/>
          </p:cNvPicPr>
          <p:nvPr/>
        </p:nvPicPr>
        <p:blipFill>
          <a:blip r:embed="rId4"/>
          <a:stretch>
            <a:fillRect/>
          </a:stretch>
        </p:blipFill>
        <p:spPr>
          <a:xfrm>
            <a:off x="6095847" y="2615266"/>
            <a:ext cx="5169709" cy="3500378"/>
          </a:xfrm>
          <a:prstGeom prst="rect">
            <a:avLst/>
          </a:prstGeom>
        </p:spPr>
      </p:pic>
    </p:spTree>
    <p:extLst>
      <p:ext uri="{BB962C8B-B14F-4D97-AF65-F5344CB8AC3E}">
        <p14:creationId xmlns:p14="http://schemas.microsoft.com/office/powerpoint/2010/main" val="889434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40080"/>
          </a:xfrm>
          <a:prstGeom prst="rect">
            <a:avLst/>
          </a:prstGeom>
          <a:solidFill>
            <a:srgbClr val="0B2445"/>
          </a:solidFill>
          <a:ln w="12700">
            <a:solidFill>
              <a:srgbClr val="0B2445">
                <a:alpha val="0"/>
              </a:srgbClr>
            </a:solidFill>
            <a:prstDash val="solid"/>
          </a:ln>
        </p:spPr>
        <p:txBody>
          <a:bodyPr/>
          <a:lstStyle/>
          <a:p>
            <a:endParaRPr lang="en-US"/>
          </a:p>
        </p:txBody>
      </p:sp>
      <p:sp>
        <p:nvSpPr>
          <p:cNvPr id="3" name="Text 1"/>
          <p:cNvSpPr/>
          <p:nvPr/>
        </p:nvSpPr>
        <p:spPr>
          <a:xfrm>
            <a:off x="420624" y="155448"/>
            <a:ext cx="11338560" cy="310896"/>
          </a:xfrm>
          <a:prstGeom prst="rect">
            <a:avLst/>
          </a:prstGeom>
          <a:noFill/>
          <a:ln/>
        </p:spPr>
        <p:txBody>
          <a:bodyPr wrap="square" lIns="0" tIns="0" rIns="0" bIns="0" rtlCol="0" anchor="ctr"/>
          <a:lstStyle/>
          <a:p>
            <a:pPr marL="0" indent="0">
              <a:buNone/>
            </a:pPr>
            <a:r>
              <a:rPr lang="en-US" sz="2900" b="1" dirty="0">
                <a:solidFill>
                  <a:srgbClr val="FFFFFF"/>
                </a:solidFill>
                <a:ea typeface="Arial" pitchFamily="34" charset="-122"/>
                <a:cs typeface="Arial" pitchFamily="34" charset="-120"/>
              </a:rPr>
              <a:t>EDA (Vinit can add some things here but needs to simplify)</a:t>
            </a:r>
            <a:endParaRPr lang="en-US" sz="2900" dirty="0"/>
          </a:p>
        </p:txBody>
      </p:sp>
      <p:sp>
        <p:nvSpPr>
          <p:cNvPr id="4" name="Shape 2"/>
          <p:cNvSpPr/>
          <p:nvPr/>
        </p:nvSpPr>
        <p:spPr>
          <a:xfrm>
            <a:off x="0" y="6537960"/>
            <a:ext cx="12191695" cy="320040"/>
          </a:xfrm>
          <a:prstGeom prst="rect">
            <a:avLst/>
          </a:prstGeom>
          <a:solidFill>
            <a:srgbClr val="0B2445"/>
          </a:solidFill>
          <a:ln w="12700">
            <a:solidFill>
              <a:srgbClr val="0B2445">
                <a:alpha val="0"/>
              </a:srgbClr>
            </a:solidFill>
            <a:prstDash val="solid"/>
          </a:ln>
        </p:spPr>
        <p:txBody>
          <a:bodyPr/>
          <a:lstStyle/>
          <a:p>
            <a:endParaRPr lang="en-US"/>
          </a:p>
        </p:txBody>
      </p:sp>
      <p:sp>
        <p:nvSpPr>
          <p:cNvPr id="6" name="Text 4"/>
          <p:cNvSpPr/>
          <p:nvPr/>
        </p:nvSpPr>
        <p:spPr>
          <a:xfrm>
            <a:off x="7559040" y="822960"/>
            <a:ext cx="2338251" cy="256032"/>
          </a:xfrm>
          <a:prstGeom prst="rect">
            <a:avLst/>
          </a:prstGeom>
          <a:noFill/>
          <a:ln/>
        </p:spPr>
        <p:txBody>
          <a:bodyPr wrap="square" lIns="0" tIns="0" rIns="0" bIns="0" rtlCol="0" anchor="ctr"/>
          <a:lstStyle/>
          <a:p>
            <a:pPr marL="0" indent="0" algn="ctr">
              <a:buNone/>
            </a:pPr>
            <a:r>
              <a:rPr lang="en-US" sz="2000" b="1" dirty="0">
                <a:solidFill>
                  <a:srgbClr val="08A3C7"/>
                </a:solidFill>
                <a:ea typeface="Arial" pitchFamily="34" charset="-122"/>
                <a:cs typeface="Arial" pitchFamily="34" charset="-120"/>
              </a:rPr>
              <a:t>Outputs &amp; Plots</a:t>
            </a:r>
            <a:endParaRPr lang="en-US" sz="2000" dirty="0"/>
          </a:p>
        </p:txBody>
      </p:sp>
      <p:sp>
        <p:nvSpPr>
          <p:cNvPr id="7" name="Shape 5"/>
          <p:cNvSpPr/>
          <p:nvPr/>
        </p:nvSpPr>
        <p:spPr>
          <a:xfrm>
            <a:off x="7905445" y="1152144"/>
            <a:ext cx="1643637" cy="0"/>
          </a:xfrm>
          <a:prstGeom prst="line">
            <a:avLst/>
          </a:prstGeom>
          <a:noFill/>
          <a:ln w="15240">
            <a:solidFill>
              <a:srgbClr val="08A3C7"/>
            </a:solidFill>
            <a:prstDash val="solid"/>
          </a:ln>
        </p:spPr>
        <p:txBody>
          <a:bodyPr/>
          <a:lstStyle/>
          <a:p>
            <a:endParaRPr lang="en-US"/>
          </a:p>
        </p:txBody>
      </p:sp>
      <p:sp>
        <p:nvSpPr>
          <p:cNvPr id="8" name="Shape 6"/>
          <p:cNvSpPr/>
          <p:nvPr/>
        </p:nvSpPr>
        <p:spPr>
          <a:xfrm>
            <a:off x="502920" y="1417320"/>
            <a:ext cx="4709160" cy="4983480"/>
          </a:xfrm>
          <a:prstGeom prst="roundRect">
            <a:avLst>
              <a:gd name="adj" fmla="val 1553"/>
            </a:avLst>
          </a:prstGeom>
          <a:solidFill>
            <a:srgbClr val="FFFFFF"/>
          </a:solidFill>
          <a:ln w="15875">
            <a:solidFill>
              <a:srgbClr val="C8D5E6"/>
            </a:solidFill>
            <a:prstDash val="solid"/>
          </a:ln>
        </p:spPr>
        <p:txBody>
          <a:bodyPr/>
          <a:lstStyle/>
          <a:p>
            <a:endParaRPr lang="en-US"/>
          </a:p>
        </p:txBody>
      </p:sp>
      <p:sp>
        <p:nvSpPr>
          <p:cNvPr id="9" name="Text 7"/>
          <p:cNvSpPr/>
          <p:nvPr/>
        </p:nvSpPr>
        <p:spPr>
          <a:xfrm>
            <a:off x="667512" y="1563624"/>
            <a:ext cx="4379976" cy="182880"/>
          </a:xfrm>
          <a:prstGeom prst="rect">
            <a:avLst/>
          </a:prstGeom>
          <a:noFill/>
          <a:ln/>
        </p:spPr>
        <p:txBody>
          <a:bodyPr wrap="square" lIns="0" tIns="0" rIns="0" bIns="0" rtlCol="0" anchor="ctr"/>
          <a:lstStyle/>
          <a:p>
            <a:pPr marL="0" indent="0">
              <a:buNone/>
            </a:pPr>
            <a:r>
              <a:rPr lang="en-US" sz="1400" b="1" dirty="0">
                <a:solidFill>
                  <a:srgbClr val="08A3C7"/>
                </a:solidFill>
                <a:ea typeface="Arial" pitchFamily="34" charset="-122"/>
                <a:cs typeface="Arial" pitchFamily="34" charset="-120"/>
              </a:rPr>
              <a:t>All EDA tests/checks performed</a:t>
            </a:r>
            <a:endParaRPr lang="en-US" sz="1400" dirty="0"/>
          </a:p>
        </p:txBody>
      </p:sp>
      <p:sp>
        <p:nvSpPr>
          <p:cNvPr id="10" name="Text 8"/>
          <p:cNvSpPr/>
          <p:nvPr/>
        </p:nvSpPr>
        <p:spPr>
          <a:xfrm>
            <a:off x="667512" y="1837944"/>
            <a:ext cx="2098548" cy="4526280"/>
          </a:xfrm>
          <a:prstGeom prst="rect">
            <a:avLst/>
          </a:prstGeom>
          <a:noFill/>
          <a:ln/>
        </p:spPr>
        <p:txBody>
          <a:bodyPr wrap="square" lIns="0" tIns="0" rIns="0" bIns="0" rtlCol="0" anchor="t"/>
          <a:lstStyle/>
          <a:p>
            <a:pPr>
              <a:buSzPct val="100000"/>
            </a:pPr>
            <a:r>
              <a:rPr lang="en-US" sz="1200" dirty="0">
                <a:solidFill>
                  <a:srgbClr val="1F2A44"/>
                </a:solidFill>
                <a:ea typeface="Arial" pitchFamily="34" charset="-122"/>
                <a:cs typeface="Arial" pitchFamily="34" charset="-120"/>
              </a:rPr>
              <a:t>1) </a:t>
            </a:r>
            <a:r>
              <a:rPr lang="en-US" sz="1200" b="1" dirty="0">
                <a:solidFill>
                  <a:srgbClr val="1F2A44"/>
                </a:solidFill>
                <a:ea typeface="Arial" pitchFamily="34" charset="-122"/>
                <a:cs typeface="Arial" pitchFamily="34" charset="-120"/>
              </a:rPr>
              <a:t>Load + robust date parse </a:t>
            </a:r>
            <a:r>
              <a:rPr lang="en-US" sz="1200" dirty="0">
                <a:solidFill>
                  <a:srgbClr val="1F2A44"/>
                </a:solidFill>
                <a:ea typeface="Arial" pitchFamily="34" charset="-122"/>
                <a:cs typeface="Arial" pitchFamily="34" charset="-120"/>
              </a:rPr>
              <a:t>+ canonical (ticker, date) sort</a:t>
            </a:r>
          </a:p>
          <a:p>
            <a:pPr>
              <a:buSzPct val="100000"/>
            </a:pPr>
            <a:endParaRPr lang="en-US" sz="1200" dirty="0"/>
          </a:p>
          <a:p>
            <a:pPr>
              <a:buSzPct val="100000"/>
            </a:pPr>
            <a:r>
              <a:rPr lang="en-US" sz="1200" dirty="0">
                <a:solidFill>
                  <a:srgbClr val="1F2A44"/>
                </a:solidFill>
                <a:ea typeface="Arial" pitchFamily="34" charset="-122"/>
                <a:cs typeface="Arial" pitchFamily="34" charset="-120"/>
              </a:rPr>
              <a:t>2) </a:t>
            </a:r>
            <a:r>
              <a:rPr lang="en-US" sz="1200" b="1" dirty="0">
                <a:solidFill>
                  <a:srgbClr val="1F2A44"/>
                </a:solidFill>
                <a:ea typeface="Arial" pitchFamily="34" charset="-122"/>
                <a:cs typeface="Arial" pitchFamily="34" charset="-120"/>
              </a:rPr>
              <a:t>Panel integrity</a:t>
            </a:r>
            <a:r>
              <a:rPr lang="en-US" sz="1200" dirty="0">
                <a:solidFill>
                  <a:srgbClr val="1F2A44"/>
                </a:solidFill>
                <a:ea typeface="Arial" pitchFamily="34" charset="-122"/>
                <a:cs typeface="Arial" pitchFamily="34" charset="-120"/>
              </a:rPr>
              <a:t>: duplicate key check; per-ticker monotone dates</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3) </a:t>
            </a:r>
            <a:r>
              <a:rPr lang="en-US" sz="1200" b="1" dirty="0">
                <a:solidFill>
                  <a:srgbClr val="1F2A44"/>
                </a:solidFill>
                <a:ea typeface="Arial" pitchFamily="34" charset="-122"/>
                <a:cs typeface="Arial" pitchFamily="34" charset="-120"/>
              </a:rPr>
              <a:t>Coverage</a:t>
            </a:r>
            <a:r>
              <a:rPr lang="en-US" sz="1200" b="1" dirty="0">
                <a:ea typeface="Arial" pitchFamily="34" charset="-122"/>
                <a:cs typeface="Arial" pitchFamily="34" charset="-120"/>
              </a:rPr>
              <a:t>: </a:t>
            </a:r>
            <a:r>
              <a:rPr lang="en-US" sz="1200" dirty="0">
                <a:ea typeface="Arial" pitchFamily="34" charset="-122"/>
                <a:cs typeface="Arial" pitchFamily="34" charset="-120"/>
              </a:rPr>
              <a:t>per-ticker </a:t>
            </a:r>
            <a:r>
              <a:rPr lang="en-US" sz="1200" dirty="0">
                <a:solidFill>
                  <a:srgbClr val="1F2A44"/>
                </a:solidFill>
                <a:ea typeface="Arial" pitchFamily="34" charset="-122"/>
                <a:cs typeface="Arial" pitchFamily="34" charset="-120"/>
              </a:rPr>
              <a:t>start/end and n_days table</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4) </a:t>
            </a:r>
            <a:r>
              <a:rPr lang="en-US" sz="1200" b="1" dirty="0">
                <a:solidFill>
                  <a:srgbClr val="1F2A44"/>
                </a:solidFill>
                <a:ea typeface="Arial" pitchFamily="34" charset="-122"/>
                <a:cs typeface="Arial" pitchFamily="34" charset="-120"/>
              </a:rPr>
              <a:t>Gaps: </a:t>
            </a:r>
            <a:r>
              <a:rPr lang="en-US" sz="1200" dirty="0">
                <a:solidFill>
                  <a:srgbClr val="1F2A44"/>
                </a:solidFill>
                <a:ea typeface="Arial" pitchFamily="34" charset="-122"/>
                <a:cs typeface="Arial" pitchFamily="34" charset="-120"/>
              </a:rPr>
              <a:t>flag calendar gaps &gt; 10 days within ticker</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5) </a:t>
            </a:r>
            <a:r>
              <a:rPr lang="en-US" sz="1200" b="1" dirty="0">
                <a:solidFill>
                  <a:srgbClr val="1F2A44"/>
                </a:solidFill>
                <a:ea typeface="Arial" pitchFamily="34" charset="-122"/>
                <a:cs typeface="Arial" pitchFamily="34" charset="-120"/>
              </a:rPr>
              <a:t>Missingness: </a:t>
            </a:r>
            <a:r>
              <a:rPr lang="en-US" sz="1200" dirty="0">
                <a:solidFill>
                  <a:srgbClr val="1F2A44"/>
                </a:solidFill>
                <a:ea typeface="Arial" pitchFamily="34" charset="-122"/>
                <a:cs typeface="Arial" pitchFamily="34" charset="-120"/>
              </a:rPr>
              <a:t>by-column rates + target missingness by ticker</a:t>
            </a:r>
          </a:p>
          <a:p>
            <a:pPr marL="228600" indent="-228600">
              <a:buSzPct val="100000"/>
              <a:buChar char="•"/>
            </a:pPr>
            <a:endParaRPr lang="en-US" sz="1200" dirty="0">
              <a:solidFill>
                <a:srgbClr val="1F2A44"/>
              </a:solidFill>
              <a:ea typeface="Arial" pitchFamily="34" charset="-122"/>
              <a:cs typeface="Arial" pitchFamily="34" charset="-120"/>
            </a:endParaRPr>
          </a:p>
          <a:p>
            <a:pPr>
              <a:buSzPct val="100000"/>
            </a:pPr>
            <a:r>
              <a:rPr lang="en-US" sz="1200" dirty="0">
                <a:solidFill>
                  <a:srgbClr val="1F2A44"/>
                </a:solidFill>
                <a:ea typeface="Arial" pitchFamily="34" charset="-122"/>
                <a:cs typeface="Arial" pitchFamily="34" charset="-120"/>
              </a:rPr>
              <a:t>6) </a:t>
            </a:r>
            <a:r>
              <a:rPr lang="en-US" sz="1200" b="1" dirty="0">
                <a:solidFill>
                  <a:srgbClr val="1F2A44"/>
                </a:solidFill>
                <a:ea typeface="Arial" pitchFamily="34" charset="-122"/>
                <a:cs typeface="Arial" pitchFamily="34" charset="-120"/>
              </a:rPr>
              <a:t>Macro sanity: </a:t>
            </a:r>
            <a:r>
              <a:rPr lang="en-US" sz="1200" dirty="0">
                <a:solidFill>
                  <a:srgbClr val="1F2A44"/>
                </a:solidFill>
                <a:ea typeface="Arial" pitchFamily="34" charset="-122"/>
                <a:cs typeface="Arial" pitchFamily="34" charset="-120"/>
              </a:rPr>
              <a:t>macro columns constant across tickers per date (</a:t>
            </a:r>
            <a:r>
              <a:rPr lang="en-US" sz="1200" dirty="0" err="1">
                <a:solidFill>
                  <a:srgbClr val="1F2A44"/>
                </a:solidFill>
                <a:ea typeface="Arial" pitchFamily="34" charset="-122"/>
                <a:cs typeface="Arial" pitchFamily="34" charset="-120"/>
              </a:rPr>
              <a:t>nunique</a:t>
            </a:r>
            <a:r>
              <a:rPr lang="en-US" sz="1200" dirty="0">
                <a:solidFill>
                  <a:srgbClr val="1F2A44"/>
                </a:solidFill>
                <a:ea typeface="Arial" pitchFamily="34" charset="-122"/>
                <a:cs typeface="Arial" pitchFamily="34" charset="-120"/>
              </a:rPr>
              <a:t>)</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7) </a:t>
            </a:r>
            <a:r>
              <a:rPr lang="en-US" sz="1200" b="1" dirty="0">
                <a:solidFill>
                  <a:srgbClr val="1F2A44"/>
                </a:solidFill>
                <a:ea typeface="Arial" pitchFamily="34" charset="-122"/>
                <a:cs typeface="Arial" pitchFamily="34" charset="-120"/>
              </a:rPr>
              <a:t>Distribution EDA: </a:t>
            </a:r>
            <a:r>
              <a:rPr lang="en-US" sz="1200" dirty="0">
                <a:solidFill>
                  <a:srgbClr val="1F2A44"/>
                </a:solidFill>
                <a:ea typeface="Arial" pitchFamily="34" charset="-122"/>
                <a:cs typeface="Arial" pitchFamily="34" charset="-120"/>
              </a:rPr>
              <a:t>returns, log(volume), trailing vol (calc + FactSet), target</a:t>
            </a:r>
            <a:endParaRPr lang="en-US" sz="1200" dirty="0"/>
          </a:p>
          <a:p>
            <a:pPr>
              <a:buSzPct val="100000"/>
            </a:pPr>
            <a:endParaRPr lang="en-US" sz="1200" dirty="0"/>
          </a:p>
        </p:txBody>
      </p:sp>
      <p:sp>
        <p:nvSpPr>
          <p:cNvPr id="11" name="Text 9"/>
          <p:cNvSpPr/>
          <p:nvPr/>
        </p:nvSpPr>
        <p:spPr>
          <a:xfrm>
            <a:off x="2948940" y="1837944"/>
            <a:ext cx="2098548" cy="4526280"/>
          </a:xfrm>
          <a:prstGeom prst="rect">
            <a:avLst/>
          </a:prstGeom>
          <a:noFill/>
          <a:ln/>
        </p:spPr>
        <p:txBody>
          <a:bodyPr wrap="square" lIns="0" tIns="0" rIns="0" bIns="0" rtlCol="0" anchor="t"/>
          <a:lstStyle/>
          <a:p>
            <a:pPr>
              <a:buSzPct val="100000"/>
            </a:pPr>
            <a:r>
              <a:rPr lang="en-US" sz="1200" dirty="0">
                <a:solidFill>
                  <a:srgbClr val="1F2A44"/>
                </a:solidFill>
                <a:ea typeface="Arial" pitchFamily="34" charset="-122"/>
                <a:cs typeface="Arial" pitchFamily="34" charset="-120"/>
              </a:rPr>
              <a:t>8) </a:t>
            </a:r>
            <a:r>
              <a:rPr lang="en-US" sz="1200" b="1" dirty="0">
                <a:solidFill>
                  <a:srgbClr val="1F2A44"/>
                </a:solidFill>
                <a:ea typeface="Arial" pitchFamily="34" charset="-122"/>
                <a:cs typeface="Arial" pitchFamily="34" charset="-120"/>
              </a:rPr>
              <a:t>Single-ticker series</a:t>
            </a:r>
            <a:r>
              <a:rPr lang="en-US" sz="1200" dirty="0">
                <a:solidFill>
                  <a:srgbClr val="1F2A44"/>
                </a:solidFill>
                <a:ea typeface="Arial" pitchFamily="34" charset="-122"/>
                <a:cs typeface="Arial" pitchFamily="34" charset="-120"/>
              </a:rPr>
              <a:t>: price, returns, trailing vol, target + macro overlays</a:t>
            </a:r>
            <a:endParaRPr lang="en-US" sz="1200" dirty="0"/>
          </a:p>
          <a:p>
            <a:pPr marL="228600" indent="-228600">
              <a:buSzPct val="100000"/>
              <a:buChar char="•"/>
            </a:pPr>
            <a:endParaRPr lang="en-US" sz="1200" dirty="0">
              <a:solidFill>
                <a:srgbClr val="1F2A44"/>
              </a:solidFill>
              <a:ea typeface="Arial" pitchFamily="34" charset="-122"/>
              <a:cs typeface="Arial" pitchFamily="34" charset="-120"/>
            </a:endParaRPr>
          </a:p>
          <a:p>
            <a:pPr>
              <a:buSzPct val="100000"/>
            </a:pPr>
            <a:r>
              <a:rPr lang="en-US" sz="1200" dirty="0">
                <a:solidFill>
                  <a:srgbClr val="1F2A44"/>
                </a:solidFill>
                <a:ea typeface="Arial" pitchFamily="34" charset="-122"/>
                <a:cs typeface="Arial" pitchFamily="34" charset="-120"/>
              </a:rPr>
              <a:t>9) </a:t>
            </a:r>
            <a:r>
              <a:rPr lang="en-US" sz="1200" b="1" dirty="0">
                <a:solidFill>
                  <a:srgbClr val="1F2A44"/>
                </a:solidFill>
                <a:ea typeface="Arial" pitchFamily="34" charset="-122"/>
                <a:cs typeface="Arial" pitchFamily="34" charset="-120"/>
              </a:rPr>
              <a:t>ACF diagnostics: </a:t>
            </a:r>
            <a:r>
              <a:rPr lang="en-US" sz="1200" dirty="0">
                <a:solidFill>
                  <a:srgbClr val="1F2A44"/>
                </a:solidFill>
                <a:ea typeface="Arial" pitchFamily="34" charset="-122"/>
                <a:cs typeface="Arial" pitchFamily="34" charset="-120"/>
              </a:rPr>
              <a:t>returns vs squared returns vs target forward vol</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10) </a:t>
            </a:r>
            <a:r>
              <a:rPr lang="en-US" sz="1200" b="1" dirty="0">
                <a:solidFill>
                  <a:srgbClr val="1F2A44"/>
                </a:solidFill>
                <a:ea typeface="Arial" pitchFamily="34" charset="-122"/>
                <a:cs typeface="Arial" pitchFamily="34" charset="-120"/>
              </a:rPr>
              <a:t>Feature–target checks: </a:t>
            </a:r>
            <a:r>
              <a:rPr lang="en-US" sz="1200" dirty="0">
                <a:solidFill>
                  <a:srgbClr val="1F2A44"/>
                </a:solidFill>
                <a:ea typeface="Arial" pitchFamily="34" charset="-122"/>
                <a:cs typeface="Arial" pitchFamily="34" charset="-120"/>
              </a:rPr>
              <a:t>train-only corr table + scatter plots</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11) </a:t>
            </a:r>
            <a:r>
              <a:rPr lang="en-US" sz="1200" b="1" dirty="0">
                <a:solidFill>
                  <a:srgbClr val="1F2A44"/>
                </a:solidFill>
                <a:ea typeface="Arial" pitchFamily="34" charset="-122"/>
                <a:cs typeface="Arial" pitchFamily="34" charset="-120"/>
              </a:rPr>
              <a:t>Leakage/alignment: </a:t>
            </a:r>
            <a:r>
              <a:rPr lang="en-US" sz="1200" dirty="0">
                <a:solidFill>
                  <a:srgbClr val="1F2A44"/>
                </a:solidFill>
                <a:ea typeface="Arial" pitchFamily="34" charset="-122"/>
                <a:cs typeface="Arial" pitchFamily="34" charset="-120"/>
              </a:rPr>
              <a:t>recompute returns, trailing vol, forward vol; compare</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12) </a:t>
            </a:r>
            <a:r>
              <a:rPr lang="en-US" sz="1200" b="1" dirty="0">
                <a:solidFill>
                  <a:srgbClr val="1F2A44"/>
                </a:solidFill>
                <a:ea typeface="Arial" pitchFamily="34" charset="-122"/>
                <a:cs typeface="Arial" pitchFamily="34" charset="-120"/>
              </a:rPr>
              <a:t>Baselines: </a:t>
            </a:r>
            <a:r>
              <a:rPr lang="en-US" sz="1200" dirty="0">
                <a:solidFill>
                  <a:srgbClr val="1F2A44"/>
                </a:solidFill>
                <a:ea typeface="Arial" pitchFamily="34" charset="-122"/>
                <a:cs typeface="Arial" pitchFamily="34" charset="-120"/>
              </a:rPr>
              <a:t>persistence using trailing 5d/20d vol (RMSE/MAE on train/val/test)</a:t>
            </a:r>
          </a:p>
          <a:p>
            <a:pPr marL="228600" indent="-228600">
              <a:buSzPct val="100000"/>
              <a:buChar char="•"/>
            </a:pPr>
            <a:endParaRPr lang="en-US" sz="1200" dirty="0"/>
          </a:p>
          <a:p>
            <a:pPr>
              <a:buSzPct val="100000"/>
            </a:pPr>
            <a:r>
              <a:rPr lang="en-US" sz="1200" dirty="0">
                <a:solidFill>
                  <a:srgbClr val="1F2A44"/>
                </a:solidFill>
                <a:ea typeface="Arial" pitchFamily="34" charset="-122"/>
                <a:cs typeface="Arial" pitchFamily="34" charset="-120"/>
              </a:rPr>
              <a:t>13) </a:t>
            </a:r>
            <a:r>
              <a:rPr lang="en-US" sz="1200" b="1" dirty="0">
                <a:solidFill>
                  <a:srgbClr val="1F2A44"/>
                </a:solidFill>
                <a:ea typeface="Arial" pitchFamily="34" charset="-122"/>
                <a:cs typeface="Arial" pitchFamily="34" charset="-120"/>
              </a:rPr>
              <a:t>Save artifacts: </a:t>
            </a:r>
            <a:r>
              <a:rPr lang="en-US" sz="1200" dirty="0">
                <a:solidFill>
                  <a:srgbClr val="1F2A44"/>
                </a:solidFill>
                <a:ea typeface="Arial" pitchFamily="34" charset="-122"/>
                <a:cs typeface="Arial" pitchFamily="34" charset="-120"/>
              </a:rPr>
              <a:t>coverage/missingness/macro-check tables to disk</a:t>
            </a:r>
            <a:endParaRPr lang="en-US" sz="1200" dirty="0"/>
          </a:p>
        </p:txBody>
      </p:sp>
      <p:sp>
        <p:nvSpPr>
          <p:cNvPr id="12" name="Shape 10"/>
          <p:cNvSpPr/>
          <p:nvPr/>
        </p:nvSpPr>
        <p:spPr>
          <a:xfrm>
            <a:off x="5349240" y="1417320"/>
            <a:ext cx="6793992" cy="4983480"/>
          </a:xfrm>
          <a:prstGeom prst="roundRect">
            <a:avLst>
              <a:gd name="adj" fmla="val 1468"/>
            </a:avLst>
          </a:prstGeom>
          <a:solidFill>
            <a:srgbClr val="FFFFFF"/>
          </a:solidFill>
          <a:ln w="15875">
            <a:solidFill>
              <a:srgbClr val="C8D5E6"/>
            </a:solidFill>
            <a:prstDash val="solid"/>
          </a:ln>
        </p:spPr>
        <p:txBody>
          <a:bodyPr/>
          <a:lstStyle/>
          <a:p>
            <a:endParaRPr lang="en-US"/>
          </a:p>
        </p:txBody>
      </p:sp>
      <p:sp>
        <p:nvSpPr>
          <p:cNvPr id="13" name="Text 11"/>
          <p:cNvSpPr/>
          <p:nvPr/>
        </p:nvSpPr>
        <p:spPr>
          <a:xfrm>
            <a:off x="5513832" y="1563624"/>
            <a:ext cx="6464808" cy="182880"/>
          </a:xfrm>
          <a:prstGeom prst="rect">
            <a:avLst/>
          </a:prstGeom>
          <a:noFill/>
          <a:ln/>
        </p:spPr>
        <p:txBody>
          <a:bodyPr wrap="square" lIns="0" tIns="0" rIns="0" bIns="0" rtlCol="0" anchor="ctr"/>
          <a:lstStyle/>
          <a:p>
            <a:pPr marL="0" indent="0">
              <a:buNone/>
            </a:pPr>
            <a:r>
              <a:rPr lang="en-US" sz="1400" b="1" dirty="0">
                <a:solidFill>
                  <a:srgbClr val="08A3C7"/>
                </a:solidFill>
                <a:ea typeface="Arial" pitchFamily="34" charset="-122"/>
                <a:cs typeface="Arial" pitchFamily="34" charset="-120"/>
              </a:rPr>
              <a:t>Representative plots produced by the notebook</a:t>
            </a:r>
            <a:endParaRPr lang="en-US" sz="1400" dirty="0"/>
          </a:p>
        </p:txBody>
      </p:sp>
      <p:sp>
        <p:nvSpPr>
          <p:cNvPr id="14" name="Text 12"/>
          <p:cNvSpPr/>
          <p:nvPr/>
        </p:nvSpPr>
        <p:spPr>
          <a:xfrm>
            <a:off x="5513832" y="1764792"/>
            <a:ext cx="6464808" cy="146304"/>
          </a:xfrm>
          <a:prstGeom prst="rect">
            <a:avLst/>
          </a:prstGeom>
          <a:noFill/>
          <a:ln/>
        </p:spPr>
        <p:txBody>
          <a:bodyPr wrap="square" lIns="0" tIns="0" rIns="0" bIns="0" rtlCol="0" anchor="ctr"/>
          <a:lstStyle/>
          <a:p>
            <a:pPr marL="0" indent="0">
              <a:buNone/>
            </a:pPr>
            <a:r>
              <a:rPr lang="en-US" sz="1200" b="1" dirty="0">
                <a:ea typeface="Arial" pitchFamily="34" charset="-122"/>
                <a:cs typeface="Arial" pitchFamily="34" charset="-120"/>
              </a:rPr>
              <a:t>Data quality</a:t>
            </a:r>
            <a:endParaRPr lang="en-US" sz="1200" dirty="0"/>
          </a:p>
        </p:txBody>
      </p:sp>
      <p:sp>
        <p:nvSpPr>
          <p:cNvPr id="15" name="Text 13"/>
          <p:cNvSpPr/>
          <p:nvPr/>
        </p:nvSpPr>
        <p:spPr>
          <a:xfrm>
            <a:off x="5513832" y="3328416"/>
            <a:ext cx="6464808" cy="146304"/>
          </a:xfrm>
          <a:prstGeom prst="rect">
            <a:avLst/>
          </a:prstGeom>
          <a:noFill/>
          <a:ln/>
        </p:spPr>
        <p:txBody>
          <a:bodyPr wrap="square" lIns="0" tIns="0" rIns="0" bIns="0" rtlCol="0" anchor="ctr"/>
          <a:lstStyle/>
          <a:p>
            <a:pPr marL="0" indent="0">
              <a:buNone/>
            </a:pPr>
            <a:r>
              <a:rPr lang="en-US" sz="1200" b="1" dirty="0">
                <a:ea typeface="Arial" pitchFamily="34" charset="-122"/>
                <a:cs typeface="Arial" pitchFamily="34" charset="-120"/>
              </a:rPr>
              <a:t>Time-series structure</a:t>
            </a:r>
            <a:endParaRPr lang="en-US" sz="1200" dirty="0"/>
          </a:p>
        </p:txBody>
      </p:sp>
      <p:sp>
        <p:nvSpPr>
          <p:cNvPr id="16" name="Text 14"/>
          <p:cNvSpPr/>
          <p:nvPr/>
        </p:nvSpPr>
        <p:spPr>
          <a:xfrm>
            <a:off x="5513832" y="4892040"/>
            <a:ext cx="6464808" cy="146304"/>
          </a:xfrm>
          <a:prstGeom prst="rect">
            <a:avLst/>
          </a:prstGeom>
          <a:noFill/>
          <a:ln/>
        </p:spPr>
        <p:txBody>
          <a:bodyPr wrap="square" lIns="0" tIns="0" rIns="0" bIns="0" rtlCol="0" anchor="ctr"/>
          <a:lstStyle/>
          <a:p>
            <a:pPr marL="0" indent="0">
              <a:buNone/>
            </a:pPr>
            <a:r>
              <a:rPr lang="en-US" sz="1200" b="1" dirty="0">
                <a:ea typeface="Arial" pitchFamily="34" charset="-122"/>
                <a:cs typeface="Arial" pitchFamily="34" charset="-120"/>
              </a:rPr>
              <a:t>Signal, leakage checks, baselines</a:t>
            </a:r>
            <a:endParaRPr lang="en-US" sz="1200" b="1" dirty="0"/>
          </a:p>
        </p:txBody>
      </p:sp>
      <p:sp>
        <p:nvSpPr>
          <p:cNvPr id="17" name="Shape 15"/>
          <p:cNvSpPr/>
          <p:nvPr/>
        </p:nvSpPr>
        <p:spPr>
          <a:xfrm>
            <a:off x="5513832" y="1975104"/>
            <a:ext cx="2045208" cy="1188720"/>
          </a:xfrm>
          <a:prstGeom prst="rect">
            <a:avLst/>
          </a:prstGeom>
          <a:solidFill>
            <a:srgbClr val="FFFFFF"/>
          </a:solidFill>
          <a:ln w="11430">
            <a:solidFill>
              <a:srgbClr val="C8D5E6"/>
            </a:solidFill>
            <a:prstDash val="solid"/>
          </a:ln>
        </p:spPr>
        <p:txBody>
          <a:bodyPr/>
          <a:lstStyle/>
          <a:p>
            <a:endParaRPr lang="en-US"/>
          </a:p>
        </p:txBody>
      </p:sp>
      <p:pic>
        <p:nvPicPr>
          <p:cNvPr id="18" name="Image 0" descr="/mnt/data/eda_thumbs/coverage_crop.png"/>
          <p:cNvPicPr>
            <a:picLocks noChangeAspect="1"/>
          </p:cNvPicPr>
          <p:nvPr/>
        </p:nvPicPr>
        <p:blipFill>
          <a:blip r:embed="rId3"/>
          <a:stretch>
            <a:fillRect/>
          </a:stretch>
        </p:blipFill>
        <p:spPr>
          <a:xfrm>
            <a:off x="6211884" y="1988820"/>
            <a:ext cx="1136107" cy="1097280"/>
          </a:xfrm>
          <a:prstGeom prst="rect">
            <a:avLst/>
          </a:prstGeom>
        </p:spPr>
      </p:pic>
      <p:sp>
        <p:nvSpPr>
          <p:cNvPr id="19" name="Shape 16"/>
          <p:cNvSpPr/>
          <p:nvPr/>
        </p:nvSpPr>
        <p:spPr>
          <a:xfrm>
            <a:off x="7723632" y="1975104"/>
            <a:ext cx="2045208" cy="1188720"/>
          </a:xfrm>
          <a:prstGeom prst="rect">
            <a:avLst/>
          </a:prstGeom>
          <a:solidFill>
            <a:srgbClr val="FFFFFF"/>
          </a:solidFill>
          <a:ln w="11430">
            <a:solidFill>
              <a:srgbClr val="C8D5E6"/>
            </a:solidFill>
            <a:prstDash val="solid"/>
          </a:ln>
        </p:spPr>
        <p:txBody>
          <a:bodyPr/>
          <a:lstStyle/>
          <a:p>
            <a:endParaRPr lang="en-US"/>
          </a:p>
        </p:txBody>
      </p:sp>
      <p:pic>
        <p:nvPicPr>
          <p:cNvPr id="20" name="Image 1" descr="/mnt/data/eda_thumbs/missingness_crop.png"/>
          <p:cNvPicPr>
            <a:picLocks noChangeAspect="1"/>
          </p:cNvPicPr>
          <p:nvPr/>
        </p:nvPicPr>
        <p:blipFill>
          <a:blip r:embed="rId4"/>
          <a:stretch>
            <a:fillRect/>
          </a:stretch>
        </p:blipFill>
        <p:spPr>
          <a:xfrm>
            <a:off x="8042605" y="2020824"/>
            <a:ext cx="1681582" cy="1097280"/>
          </a:xfrm>
          <a:prstGeom prst="rect">
            <a:avLst/>
          </a:prstGeom>
        </p:spPr>
      </p:pic>
      <p:sp>
        <p:nvSpPr>
          <p:cNvPr id="21" name="Shape 17"/>
          <p:cNvSpPr/>
          <p:nvPr/>
        </p:nvSpPr>
        <p:spPr>
          <a:xfrm>
            <a:off x="9933432" y="1975104"/>
            <a:ext cx="2045208" cy="1188720"/>
          </a:xfrm>
          <a:prstGeom prst="rect">
            <a:avLst/>
          </a:prstGeom>
          <a:solidFill>
            <a:srgbClr val="FFFFFF"/>
          </a:solidFill>
          <a:ln w="11430">
            <a:solidFill>
              <a:srgbClr val="C8D5E6"/>
            </a:solidFill>
            <a:prstDash val="solid"/>
          </a:ln>
        </p:spPr>
        <p:txBody>
          <a:bodyPr/>
          <a:lstStyle/>
          <a:p>
            <a:endParaRPr lang="en-US"/>
          </a:p>
        </p:txBody>
      </p:sp>
      <p:pic>
        <p:nvPicPr>
          <p:cNvPr id="22" name="Image 2" descr="/mnt/data/eda_thumbs/macro_crop.png"/>
          <p:cNvPicPr>
            <a:picLocks noChangeAspect="1"/>
          </p:cNvPicPr>
          <p:nvPr/>
        </p:nvPicPr>
        <p:blipFill>
          <a:blip r:embed="rId5"/>
          <a:stretch>
            <a:fillRect/>
          </a:stretch>
        </p:blipFill>
        <p:spPr>
          <a:xfrm>
            <a:off x="9951719" y="2079783"/>
            <a:ext cx="1900646" cy="745713"/>
          </a:xfrm>
          <a:prstGeom prst="rect">
            <a:avLst/>
          </a:prstGeom>
        </p:spPr>
      </p:pic>
      <p:sp>
        <p:nvSpPr>
          <p:cNvPr id="23" name="Shape 18"/>
          <p:cNvSpPr/>
          <p:nvPr/>
        </p:nvSpPr>
        <p:spPr>
          <a:xfrm>
            <a:off x="5513832" y="3538728"/>
            <a:ext cx="2045208" cy="1188720"/>
          </a:xfrm>
          <a:prstGeom prst="rect">
            <a:avLst/>
          </a:prstGeom>
          <a:solidFill>
            <a:srgbClr val="FFFFFF"/>
          </a:solidFill>
          <a:ln w="11430">
            <a:solidFill>
              <a:srgbClr val="C8D5E6"/>
            </a:solidFill>
            <a:prstDash val="solid"/>
          </a:ln>
        </p:spPr>
        <p:txBody>
          <a:bodyPr/>
          <a:lstStyle/>
          <a:p>
            <a:endParaRPr lang="en-US"/>
          </a:p>
        </p:txBody>
      </p:sp>
      <p:pic>
        <p:nvPicPr>
          <p:cNvPr id="24" name="Image 3" descr="/mnt/data/eda_thumbs/dist.png"/>
          <p:cNvPicPr>
            <a:picLocks noChangeAspect="1"/>
          </p:cNvPicPr>
          <p:nvPr/>
        </p:nvPicPr>
        <p:blipFill>
          <a:blip r:embed="rId6"/>
          <a:stretch>
            <a:fillRect/>
          </a:stretch>
        </p:blipFill>
        <p:spPr>
          <a:xfrm>
            <a:off x="6130015" y="3584448"/>
            <a:ext cx="812841" cy="1097280"/>
          </a:xfrm>
          <a:prstGeom prst="rect">
            <a:avLst/>
          </a:prstGeom>
        </p:spPr>
      </p:pic>
      <p:sp>
        <p:nvSpPr>
          <p:cNvPr id="25" name="Shape 19"/>
          <p:cNvSpPr/>
          <p:nvPr/>
        </p:nvSpPr>
        <p:spPr>
          <a:xfrm>
            <a:off x="7723632" y="3538728"/>
            <a:ext cx="2045208" cy="1188720"/>
          </a:xfrm>
          <a:prstGeom prst="rect">
            <a:avLst/>
          </a:prstGeom>
          <a:solidFill>
            <a:srgbClr val="FFFFFF"/>
          </a:solidFill>
          <a:ln w="11430">
            <a:solidFill>
              <a:srgbClr val="C8D5E6"/>
            </a:solidFill>
            <a:prstDash val="solid"/>
          </a:ln>
        </p:spPr>
        <p:txBody>
          <a:bodyPr/>
          <a:lstStyle/>
          <a:p>
            <a:endParaRPr lang="en-US"/>
          </a:p>
        </p:txBody>
      </p:sp>
      <p:pic>
        <p:nvPicPr>
          <p:cNvPr id="26" name="Image 4" descr="/mnt/data/eda_thumbs/ts.png"/>
          <p:cNvPicPr>
            <a:picLocks noChangeAspect="1"/>
          </p:cNvPicPr>
          <p:nvPr/>
        </p:nvPicPr>
        <p:blipFill>
          <a:blip r:embed="rId7"/>
          <a:stretch>
            <a:fillRect/>
          </a:stretch>
        </p:blipFill>
        <p:spPr>
          <a:xfrm>
            <a:off x="8352573" y="3563548"/>
            <a:ext cx="812841" cy="1097280"/>
          </a:xfrm>
          <a:prstGeom prst="rect">
            <a:avLst/>
          </a:prstGeom>
        </p:spPr>
      </p:pic>
      <p:sp>
        <p:nvSpPr>
          <p:cNvPr id="27" name="Shape 20"/>
          <p:cNvSpPr/>
          <p:nvPr/>
        </p:nvSpPr>
        <p:spPr>
          <a:xfrm>
            <a:off x="9933432" y="3538728"/>
            <a:ext cx="2045208" cy="1188720"/>
          </a:xfrm>
          <a:prstGeom prst="rect">
            <a:avLst/>
          </a:prstGeom>
          <a:solidFill>
            <a:srgbClr val="FFFFFF"/>
          </a:solidFill>
          <a:ln w="11430">
            <a:solidFill>
              <a:srgbClr val="C8D5E6"/>
            </a:solidFill>
            <a:prstDash val="solid"/>
          </a:ln>
        </p:spPr>
        <p:txBody>
          <a:bodyPr/>
          <a:lstStyle/>
          <a:p>
            <a:endParaRPr lang="en-US"/>
          </a:p>
        </p:txBody>
      </p:sp>
      <p:pic>
        <p:nvPicPr>
          <p:cNvPr id="28" name="Image 5" descr="/mnt/data/eda_thumbs/acf_combo_final.png"/>
          <p:cNvPicPr>
            <a:picLocks noChangeAspect="1"/>
          </p:cNvPicPr>
          <p:nvPr/>
        </p:nvPicPr>
        <p:blipFill>
          <a:blip r:embed="rId8"/>
          <a:stretch>
            <a:fillRect/>
          </a:stretch>
        </p:blipFill>
        <p:spPr>
          <a:xfrm>
            <a:off x="10565453" y="3584448"/>
            <a:ext cx="781166" cy="1097280"/>
          </a:xfrm>
          <a:prstGeom prst="rect">
            <a:avLst/>
          </a:prstGeom>
        </p:spPr>
      </p:pic>
      <p:sp>
        <p:nvSpPr>
          <p:cNvPr id="29" name="Shape 21"/>
          <p:cNvSpPr/>
          <p:nvPr/>
        </p:nvSpPr>
        <p:spPr>
          <a:xfrm>
            <a:off x="5513832" y="5102352"/>
            <a:ext cx="2045208" cy="1188720"/>
          </a:xfrm>
          <a:prstGeom prst="rect">
            <a:avLst/>
          </a:prstGeom>
          <a:solidFill>
            <a:srgbClr val="FFFFFF"/>
          </a:solidFill>
          <a:ln w="11430">
            <a:solidFill>
              <a:srgbClr val="C8D5E6"/>
            </a:solidFill>
            <a:prstDash val="solid"/>
          </a:ln>
        </p:spPr>
        <p:txBody>
          <a:bodyPr/>
          <a:lstStyle/>
          <a:p>
            <a:endParaRPr lang="en-US"/>
          </a:p>
        </p:txBody>
      </p:sp>
      <p:pic>
        <p:nvPicPr>
          <p:cNvPr id="30" name="Image 6" descr="/mnt/data/eda_thumbs/scatter.png"/>
          <p:cNvPicPr>
            <a:picLocks noChangeAspect="1"/>
          </p:cNvPicPr>
          <p:nvPr/>
        </p:nvPicPr>
        <p:blipFill>
          <a:blip r:embed="rId9"/>
          <a:stretch>
            <a:fillRect/>
          </a:stretch>
        </p:blipFill>
        <p:spPr>
          <a:xfrm>
            <a:off x="6130015" y="5148072"/>
            <a:ext cx="812841" cy="1097280"/>
          </a:xfrm>
          <a:prstGeom prst="rect">
            <a:avLst/>
          </a:prstGeom>
        </p:spPr>
      </p:pic>
      <p:sp>
        <p:nvSpPr>
          <p:cNvPr id="31" name="Shape 22"/>
          <p:cNvSpPr/>
          <p:nvPr/>
        </p:nvSpPr>
        <p:spPr>
          <a:xfrm>
            <a:off x="7723632" y="5102352"/>
            <a:ext cx="2045208" cy="1188720"/>
          </a:xfrm>
          <a:prstGeom prst="rect">
            <a:avLst/>
          </a:prstGeom>
          <a:solidFill>
            <a:srgbClr val="FFFFFF"/>
          </a:solidFill>
          <a:ln w="11430">
            <a:solidFill>
              <a:srgbClr val="C8D5E6"/>
            </a:solidFill>
            <a:prstDash val="solid"/>
          </a:ln>
        </p:spPr>
        <p:txBody>
          <a:bodyPr/>
          <a:lstStyle/>
          <a:p>
            <a:endParaRPr lang="en-US"/>
          </a:p>
        </p:txBody>
      </p:sp>
      <p:pic>
        <p:nvPicPr>
          <p:cNvPr id="32" name="Image 7" descr="/mnt/data/eda_thumbs/leak.png"/>
          <p:cNvPicPr>
            <a:picLocks noChangeAspect="1"/>
          </p:cNvPicPr>
          <p:nvPr/>
        </p:nvPicPr>
        <p:blipFill>
          <a:blip r:embed="rId10"/>
          <a:stretch>
            <a:fillRect/>
          </a:stretch>
        </p:blipFill>
        <p:spPr>
          <a:xfrm>
            <a:off x="8339815" y="5148072"/>
            <a:ext cx="812841" cy="1097280"/>
          </a:xfrm>
          <a:prstGeom prst="rect">
            <a:avLst/>
          </a:prstGeom>
        </p:spPr>
      </p:pic>
      <p:sp>
        <p:nvSpPr>
          <p:cNvPr id="33" name="Shape 23"/>
          <p:cNvSpPr/>
          <p:nvPr/>
        </p:nvSpPr>
        <p:spPr>
          <a:xfrm>
            <a:off x="9933432" y="5102352"/>
            <a:ext cx="2045208" cy="1188720"/>
          </a:xfrm>
          <a:prstGeom prst="rect">
            <a:avLst/>
          </a:prstGeom>
          <a:solidFill>
            <a:srgbClr val="FFFFFF"/>
          </a:solidFill>
          <a:ln w="11430">
            <a:solidFill>
              <a:srgbClr val="C8D5E6"/>
            </a:solidFill>
            <a:prstDash val="solid"/>
          </a:ln>
        </p:spPr>
        <p:txBody>
          <a:bodyPr/>
          <a:lstStyle/>
          <a:p>
            <a:endParaRPr lang="en-US"/>
          </a:p>
        </p:txBody>
      </p:sp>
      <p:pic>
        <p:nvPicPr>
          <p:cNvPr id="34" name="Image 8" descr="/mnt/data/eda_thumbs/baseline_crop.png"/>
          <p:cNvPicPr>
            <a:picLocks noChangeAspect="1"/>
          </p:cNvPicPr>
          <p:nvPr/>
        </p:nvPicPr>
        <p:blipFill>
          <a:blip r:embed="rId11"/>
          <a:stretch>
            <a:fillRect/>
          </a:stretch>
        </p:blipFill>
        <p:spPr>
          <a:xfrm>
            <a:off x="9992435" y="5257133"/>
            <a:ext cx="1953768" cy="458839"/>
          </a:xfrm>
          <a:prstGeom prst="rect">
            <a:avLst/>
          </a:prstGeom>
        </p:spPr>
      </p:pic>
      <p:sp>
        <p:nvSpPr>
          <p:cNvPr id="36" name="Rectangle 35">
            <a:extLst>
              <a:ext uri="{FF2B5EF4-FFF2-40B4-BE49-F238E27FC236}">
                <a16:creationId xmlns:a16="http://schemas.microsoft.com/office/drawing/2014/main" id="{FD897550-A202-3B81-3CAF-EF872806DCBC}"/>
              </a:ext>
            </a:extLst>
          </p:cNvPr>
          <p:cNvSpPr/>
          <p:nvPr/>
        </p:nvSpPr>
        <p:spPr>
          <a:xfrm>
            <a:off x="5968383" y="2916936"/>
            <a:ext cx="1136107" cy="201168"/>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Coverage by ticker</a:t>
            </a:r>
          </a:p>
        </p:txBody>
      </p:sp>
      <p:sp>
        <p:nvSpPr>
          <p:cNvPr id="37" name="Rectangle 36">
            <a:extLst>
              <a:ext uri="{FF2B5EF4-FFF2-40B4-BE49-F238E27FC236}">
                <a16:creationId xmlns:a16="http://schemas.microsoft.com/office/drawing/2014/main" id="{679420DD-5BF9-3E50-8418-BD3B4D5F7B51}"/>
              </a:ext>
            </a:extLst>
          </p:cNvPr>
          <p:cNvSpPr/>
          <p:nvPr/>
        </p:nvSpPr>
        <p:spPr>
          <a:xfrm>
            <a:off x="7905445" y="2916936"/>
            <a:ext cx="1681582" cy="201168"/>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Gaps &amp; missingness</a:t>
            </a:r>
          </a:p>
        </p:txBody>
      </p:sp>
      <p:sp>
        <p:nvSpPr>
          <p:cNvPr id="38" name="Rectangle 37">
            <a:extLst>
              <a:ext uri="{FF2B5EF4-FFF2-40B4-BE49-F238E27FC236}">
                <a16:creationId xmlns:a16="http://schemas.microsoft.com/office/drawing/2014/main" id="{6A8FC696-DFE6-43CA-5B3B-C47D0567F302}"/>
              </a:ext>
            </a:extLst>
          </p:cNvPr>
          <p:cNvSpPr/>
          <p:nvPr/>
        </p:nvSpPr>
        <p:spPr>
          <a:xfrm>
            <a:off x="9979152" y="2935224"/>
            <a:ext cx="1953768" cy="201168"/>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Macro constancy check</a:t>
            </a:r>
          </a:p>
        </p:txBody>
      </p:sp>
      <p:sp>
        <p:nvSpPr>
          <p:cNvPr id="39" name="Rectangle 38">
            <a:extLst>
              <a:ext uri="{FF2B5EF4-FFF2-40B4-BE49-F238E27FC236}">
                <a16:creationId xmlns:a16="http://schemas.microsoft.com/office/drawing/2014/main" id="{5026C52B-3CBD-39DE-84EC-42C809BDBDFF}"/>
              </a:ext>
            </a:extLst>
          </p:cNvPr>
          <p:cNvSpPr/>
          <p:nvPr/>
        </p:nvSpPr>
        <p:spPr>
          <a:xfrm>
            <a:off x="6043968" y="4432881"/>
            <a:ext cx="1101714" cy="265176"/>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Pooled distributions
(returns/volume/vol)</a:t>
            </a:r>
          </a:p>
        </p:txBody>
      </p:sp>
      <p:sp>
        <p:nvSpPr>
          <p:cNvPr id="40" name="Rectangle 39">
            <a:extLst>
              <a:ext uri="{FF2B5EF4-FFF2-40B4-BE49-F238E27FC236}">
                <a16:creationId xmlns:a16="http://schemas.microsoft.com/office/drawing/2014/main" id="{729D3D25-8A0D-71C9-FA33-26C761269473}"/>
              </a:ext>
            </a:extLst>
          </p:cNvPr>
          <p:cNvSpPr/>
          <p:nvPr/>
        </p:nvSpPr>
        <p:spPr>
          <a:xfrm>
            <a:off x="8339815" y="4493623"/>
            <a:ext cx="903245" cy="201168"/>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Single-ticker</a:t>
            </a:r>
          </a:p>
        </p:txBody>
      </p:sp>
      <p:sp>
        <p:nvSpPr>
          <p:cNvPr id="41" name="Rectangle 40">
            <a:extLst>
              <a:ext uri="{FF2B5EF4-FFF2-40B4-BE49-F238E27FC236}">
                <a16:creationId xmlns:a16="http://schemas.microsoft.com/office/drawing/2014/main" id="{D89BF1CC-4B4F-BB49-CC51-836CC243F754}"/>
              </a:ext>
            </a:extLst>
          </p:cNvPr>
          <p:cNvSpPr/>
          <p:nvPr/>
        </p:nvSpPr>
        <p:spPr>
          <a:xfrm>
            <a:off x="10497990" y="4455741"/>
            <a:ext cx="1123627" cy="233172"/>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ACF diagnostics 
returns, sq. returns, </a:t>
            </a:r>
          </a:p>
        </p:txBody>
      </p:sp>
      <p:sp>
        <p:nvSpPr>
          <p:cNvPr id="42" name="Rectangle 41">
            <a:extLst>
              <a:ext uri="{FF2B5EF4-FFF2-40B4-BE49-F238E27FC236}">
                <a16:creationId xmlns:a16="http://schemas.microsoft.com/office/drawing/2014/main" id="{6209993F-2B4F-0510-66E4-5F62070DEE45}"/>
              </a:ext>
            </a:extLst>
          </p:cNvPr>
          <p:cNvSpPr/>
          <p:nvPr/>
        </p:nvSpPr>
        <p:spPr>
          <a:xfrm>
            <a:off x="5828263" y="6038957"/>
            <a:ext cx="1519728" cy="219457"/>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Feature–target relationships
(</a:t>
            </a:r>
            <a:r>
              <a:rPr sz="850" b="1" dirty="0" err="1">
                <a:solidFill>
                  <a:schemeClr val="tx1"/>
                </a:solidFill>
                <a:latin typeface="Arial"/>
              </a:rPr>
              <a:t>corr</a:t>
            </a:r>
            <a:r>
              <a:rPr sz="850" b="1" dirty="0">
                <a:solidFill>
                  <a:schemeClr val="tx1"/>
                </a:solidFill>
                <a:latin typeface="Arial"/>
              </a:rPr>
              <a:t> + scatter)</a:t>
            </a:r>
          </a:p>
        </p:txBody>
      </p:sp>
      <p:sp>
        <p:nvSpPr>
          <p:cNvPr id="43" name="Rectangle 42">
            <a:extLst>
              <a:ext uri="{FF2B5EF4-FFF2-40B4-BE49-F238E27FC236}">
                <a16:creationId xmlns:a16="http://schemas.microsoft.com/office/drawing/2014/main" id="{E88D3FBE-ED9B-049D-694C-6C0BD1AC17E0}"/>
              </a:ext>
            </a:extLst>
          </p:cNvPr>
          <p:cNvSpPr/>
          <p:nvPr/>
        </p:nvSpPr>
        <p:spPr>
          <a:xfrm>
            <a:off x="8033791" y="6050716"/>
            <a:ext cx="1515291" cy="210311"/>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Leakage/alignment checks</a:t>
            </a:r>
          </a:p>
        </p:txBody>
      </p:sp>
      <p:sp>
        <p:nvSpPr>
          <p:cNvPr id="44" name="Rectangle 43">
            <a:extLst>
              <a:ext uri="{FF2B5EF4-FFF2-40B4-BE49-F238E27FC236}">
                <a16:creationId xmlns:a16="http://schemas.microsoft.com/office/drawing/2014/main" id="{D56C1AB5-ED87-50D6-3046-593844A64EFB}"/>
              </a:ext>
            </a:extLst>
          </p:cNvPr>
          <p:cNvSpPr/>
          <p:nvPr/>
        </p:nvSpPr>
        <p:spPr>
          <a:xfrm>
            <a:off x="10142437" y="6059207"/>
            <a:ext cx="1709928" cy="171121"/>
          </a:xfrm>
          <a:prstGeom prst="rect">
            <a:avLst/>
          </a:prstGeom>
          <a:solidFill>
            <a:srgbClr val="FFFFFF"/>
          </a:solidFill>
          <a:ln w="6350">
            <a:solidFill>
              <a:srgbClr val="C8D5E6"/>
            </a:solidFill>
          </a:ln>
        </p:spPr>
        <p:style>
          <a:lnRef idx="1">
            <a:schemeClr val="accent1"/>
          </a:lnRef>
          <a:fillRef idx="3">
            <a:schemeClr val="accent1"/>
          </a:fillRef>
          <a:effectRef idx="2">
            <a:schemeClr val="accent1"/>
          </a:effectRef>
          <a:fontRef idx="minor">
            <a:schemeClr val="lt1"/>
          </a:fontRef>
        </p:style>
        <p:txBody>
          <a:bodyPr wrap="square" lIns="12000" tIns="4000" rIns="12000" bIns="2000" rtlCol="0" anchor="ctr"/>
          <a:lstStyle/>
          <a:p>
            <a:pPr algn="ctr"/>
            <a:r>
              <a:rPr sz="850" b="1" dirty="0">
                <a:solidFill>
                  <a:schemeClr val="tx1"/>
                </a:solidFill>
                <a:latin typeface="Arial"/>
              </a:rPr>
              <a:t>Baselines to beat</a:t>
            </a:r>
          </a:p>
        </p:txBody>
      </p:sp>
      <p:sp>
        <p:nvSpPr>
          <p:cNvPr id="45" name="Text 4">
            <a:extLst>
              <a:ext uri="{FF2B5EF4-FFF2-40B4-BE49-F238E27FC236}">
                <a16:creationId xmlns:a16="http://schemas.microsoft.com/office/drawing/2014/main" id="{E5345DA6-C830-2CF4-453D-19E2ABE68BC6}"/>
              </a:ext>
            </a:extLst>
          </p:cNvPr>
          <p:cNvSpPr/>
          <p:nvPr/>
        </p:nvSpPr>
        <p:spPr>
          <a:xfrm>
            <a:off x="1896291" y="847344"/>
            <a:ext cx="2338251" cy="256032"/>
          </a:xfrm>
          <a:prstGeom prst="rect">
            <a:avLst/>
          </a:prstGeom>
          <a:noFill/>
          <a:ln/>
        </p:spPr>
        <p:txBody>
          <a:bodyPr wrap="square" lIns="0" tIns="0" rIns="0" bIns="0" rtlCol="0" anchor="ctr"/>
          <a:lstStyle/>
          <a:p>
            <a:pPr marL="0" indent="0" algn="ctr">
              <a:buNone/>
            </a:pPr>
            <a:r>
              <a:rPr lang="en-US" sz="2000" b="1" dirty="0">
                <a:solidFill>
                  <a:srgbClr val="08A3C7"/>
                </a:solidFill>
                <a:ea typeface="Arial" pitchFamily="34" charset="-122"/>
                <a:cs typeface="Arial" pitchFamily="34" charset="-120"/>
              </a:rPr>
              <a:t>EDA Tests</a:t>
            </a:r>
            <a:endParaRPr lang="en-US" sz="2000" dirty="0"/>
          </a:p>
        </p:txBody>
      </p:sp>
      <p:sp>
        <p:nvSpPr>
          <p:cNvPr id="46" name="Shape 5">
            <a:extLst>
              <a:ext uri="{FF2B5EF4-FFF2-40B4-BE49-F238E27FC236}">
                <a16:creationId xmlns:a16="http://schemas.microsoft.com/office/drawing/2014/main" id="{093B9FA4-F5C8-06E5-E026-A7E3FFF94532}"/>
              </a:ext>
            </a:extLst>
          </p:cNvPr>
          <p:cNvSpPr/>
          <p:nvPr/>
        </p:nvSpPr>
        <p:spPr>
          <a:xfrm flipV="1">
            <a:off x="2599508" y="1152144"/>
            <a:ext cx="979715" cy="0"/>
          </a:xfrm>
          <a:prstGeom prst="line">
            <a:avLst/>
          </a:prstGeom>
          <a:noFill/>
          <a:ln w="15240">
            <a:solidFill>
              <a:srgbClr val="08A3C7"/>
            </a:solidFill>
            <a:prstDash val="solid"/>
          </a:ln>
        </p:spPr>
        <p:txBody>
          <a:bodyPr/>
          <a:lstStyle/>
          <a:p>
            <a:endParaRPr lang="en-US"/>
          </a:p>
        </p:txBody>
      </p:sp>
      <p:sp>
        <p:nvSpPr>
          <p:cNvPr id="35" name="Text 3">
            <a:extLst>
              <a:ext uri="{FF2B5EF4-FFF2-40B4-BE49-F238E27FC236}">
                <a16:creationId xmlns:a16="http://schemas.microsoft.com/office/drawing/2014/main" id="{5FCC1BC8-5AEE-0C4A-72D1-04569D7295A9}"/>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D38F3-9CCD-288E-2F25-B5BEF5256B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1CC733E-286B-DB4C-4C3D-26B1BA7D38C0}"/>
              </a:ext>
            </a:extLst>
          </p:cNvPr>
          <p:cNvSpPr/>
          <p:nvPr/>
        </p:nvSpPr>
        <p:spPr>
          <a:xfrm>
            <a:off x="0" y="0"/>
            <a:ext cx="12191695" cy="633679"/>
          </a:xfrm>
          <a:prstGeom prst="rect">
            <a:avLst/>
          </a:prstGeom>
          <a:solidFill>
            <a:srgbClr val="0D2340"/>
          </a:solidFill>
          <a:ln w="12700">
            <a:solidFill>
              <a:srgbClr val="0D2340"/>
            </a:solidFill>
            <a:prstDash val="solid"/>
          </a:ln>
        </p:spPr>
        <p:txBody>
          <a:bodyPr/>
          <a:lstStyle/>
          <a:p>
            <a:endParaRPr lang="en-US"/>
          </a:p>
        </p:txBody>
      </p:sp>
      <p:sp>
        <p:nvSpPr>
          <p:cNvPr id="3" name="Text 1">
            <a:extLst>
              <a:ext uri="{FF2B5EF4-FFF2-40B4-BE49-F238E27FC236}">
                <a16:creationId xmlns:a16="http://schemas.microsoft.com/office/drawing/2014/main" id="{42142922-2786-A3D8-94C6-5218335D60BE}"/>
              </a:ext>
            </a:extLst>
          </p:cNvPr>
          <p:cNvSpPr/>
          <p:nvPr/>
        </p:nvSpPr>
        <p:spPr>
          <a:xfrm>
            <a:off x="341071" y="49378"/>
            <a:ext cx="11581790" cy="560527"/>
          </a:xfrm>
          <a:prstGeom prst="rect">
            <a:avLst/>
          </a:prstGeom>
          <a:noFill/>
          <a:ln/>
        </p:spPr>
        <p:txBody>
          <a:bodyPr wrap="square" rtlCol="0" anchor="ctr"/>
          <a:lstStyle/>
          <a:p>
            <a:pPr marL="0" indent="0">
              <a:buNone/>
            </a:pPr>
            <a:r>
              <a:rPr lang="en-US" sz="2900" b="1" dirty="0">
                <a:solidFill>
                  <a:srgbClr val="FFFFFF"/>
                </a:solidFill>
                <a:latin typeface="Calibri" pitchFamily="34" charset="0"/>
                <a:ea typeface="Calibri" pitchFamily="34" charset="-122"/>
                <a:cs typeface="Calibri" pitchFamily="34" charset="-120"/>
              </a:rPr>
              <a:t>Forecasting Volatility In Stock Market</a:t>
            </a:r>
            <a:endParaRPr lang="en-US" sz="2900" dirty="0"/>
          </a:p>
        </p:txBody>
      </p:sp>
      <p:sp>
        <p:nvSpPr>
          <p:cNvPr id="4" name="Shape 2">
            <a:extLst>
              <a:ext uri="{FF2B5EF4-FFF2-40B4-BE49-F238E27FC236}">
                <a16:creationId xmlns:a16="http://schemas.microsoft.com/office/drawing/2014/main" id="{5BDBA904-3875-2D8B-B440-D4BB0858E2B5}"/>
              </a:ext>
            </a:extLst>
          </p:cNvPr>
          <p:cNvSpPr/>
          <p:nvPr/>
        </p:nvSpPr>
        <p:spPr>
          <a:xfrm>
            <a:off x="0" y="6558991"/>
            <a:ext cx="12191695" cy="298094"/>
          </a:xfrm>
          <a:prstGeom prst="rect">
            <a:avLst/>
          </a:prstGeom>
          <a:solidFill>
            <a:srgbClr val="0D2340"/>
          </a:solidFill>
          <a:ln w="12700">
            <a:solidFill>
              <a:srgbClr val="0D2340"/>
            </a:solidFill>
            <a:prstDash val="solid"/>
          </a:ln>
        </p:spPr>
        <p:txBody>
          <a:bodyPr/>
          <a:lstStyle/>
          <a:p>
            <a:endParaRPr lang="en-US"/>
          </a:p>
        </p:txBody>
      </p:sp>
      <p:sp>
        <p:nvSpPr>
          <p:cNvPr id="8" name="Text 6">
            <a:extLst>
              <a:ext uri="{FF2B5EF4-FFF2-40B4-BE49-F238E27FC236}">
                <a16:creationId xmlns:a16="http://schemas.microsoft.com/office/drawing/2014/main" id="{26382F0A-05BB-1ED2-EFB3-4EC93A08AFBF}"/>
              </a:ext>
            </a:extLst>
          </p:cNvPr>
          <p:cNvSpPr/>
          <p:nvPr/>
        </p:nvSpPr>
        <p:spPr>
          <a:xfrm>
            <a:off x="341071" y="1389888"/>
            <a:ext cx="11423599" cy="4892040"/>
          </a:xfrm>
          <a:prstGeom prst="rect">
            <a:avLst/>
          </a:prstGeom>
          <a:noFill/>
          <a:ln/>
        </p:spPr>
        <p:txBody>
          <a:bodyPr wrap="square" lIns="0" tIns="0" rIns="0" bIns="0" rtlCol="0" anchor="t"/>
          <a:lstStyle/>
          <a:p>
            <a:pPr marL="228600" indent="-228600">
              <a:lnSpc>
                <a:spcPct val="110000"/>
              </a:lnSpc>
              <a:buSzPct val="100000"/>
              <a:buChar char="•"/>
            </a:pPr>
            <a:endParaRPr lang="en-US" sz="1600" dirty="0"/>
          </a:p>
        </p:txBody>
      </p:sp>
      <p:sp>
        <p:nvSpPr>
          <p:cNvPr id="9" name="TextBox 8">
            <a:extLst>
              <a:ext uri="{FF2B5EF4-FFF2-40B4-BE49-F238E27FC236}">
                <a16:creationId xmlns:a16="http://schemas.microsoft.com/office/drawing/2014/main" id="{1D433F22-3FAE-CC59-CFA3-ACC37CEB1C86}"/>
              </a:ext>
            </a:extLst>
          </p:cNvPr>
          <p:cNvSpPr txBox="1"/>
          <p:nvPr/>
        </p:nvSpPr>
        <p:spPr>
          <a:xfrm>
            <a:off x="405536" y="1152144"/>
            <a:ext cx="11380622" cy="5187445"/>
          </a:xfrm>
          <a:prstGeom prst="rect">
            <a:avLst/>
          </a:prstGeom>
          <a:noFill/>
        </p:spPr>
        <p:txBody>
          <a:bodyPr wrap="square">
            <a:normAutofit fontScale="70000" lnSpcReduction="20000"/>
          </a:bodyPr>
          <a:lstStyle/>
          <a:p>
            <a:pPr>
              <a:spcAft>
                <a:spcPts val="200"/>
              </a:spcAft>
            </a:pPr>
            <a:r>
              <a:rPr lang="en-US" sz="2200" b="1" dirty="0">
                <a:solidFill>
                  <a:srgbClr val="00A8CC"/>
                </a:solidFill>
                <a:latin typeface="Calibri"/>
              </a:rPr>
              <a:t>Our </a:t>
            </a:r>
            <a:r>
              <a:rPr sz="2200" b="1" dirty="0">
                <a:solidFill>
                  <a:srgbClr val="00A8CC"/>
                </a:solidFill>
                <a:latin typeface="Calibri"/>
              </a:rPr>
              <a:t>Objective</a:t>
            </a:r>
            <a:r>
              <a:rPr lang="en-US" sz="2200" b="1" dirty="0">
                <a:solidFill>
                  <a:srgbClr val="00A8CC"/>
                </a:solidFill>
                <a:latin typeface="Calibri"/>
              </a:rPr>
              <a:t>: </a:t>
            </a:r>
            <a:endParaRPr sz="2200" b="1" dirty="0">
              <a:solidFill>
                <a:srgbClr val="00A8CC"/>
              </a:solidFill>
              <a:latin typeface="Calibri"/>
            </a:endParaRPr>
          </a:p>
          <a:p>
            <a:pPr marL="285750" indent="-285750">
              <a:spcAft>
                <a:spcPts val="100"/>
              </a:spcAft>
              <a:buFont typeface="Arial" panose="020B0604020202020204" pitchFamily="34" charset="0"/>
              <a:buChar char="•"/>
            </a:pPr>
            <a:r>
              <a:rPr sz="2200" b="1" dirty="0">
                <a:solidFill>
                  <a:srgbClr val="1A1A2E"/>
                </a:solidFill>
                <a:latin typeface="Calibri"/>
              </a:rPr>
              <a:t>Predict next-week (next 5 trading days) realized volatility </a:t>
            </a:r>
            <a:r>
              <a:rPr lang="en-US" sz="2200" b="0" dirty="0">
                <a:solidFill>
                  <a:srgbClr val="1A1A2E"/>
                </a:solidFill>
                <a:latin typeface="Calibri"/>
              </a:rPr>
              <a:t>using 36</a:t>
            </a:r>
            <a:r>
              <a:rPr sz="2200" b="0" dirty="0">
                <a:solidFill>
                  <a:srgbClr val="1A1A2E"/>
                </a:solidFill>
                <a:latin typeface="Calibri"/>
              </a:rPr>
              <a:t> S&amp;P 500-linked ETFs using only information known at the prediction date.</a:t>
            </a:r>
          </a:p>
          <a:p>
            <a:pPr marL="285750" indent="-285750">
              <a:spcAft>
                <a:spcPts val="600"/>
              </a:spcAft>
              <a:buFont typeface="Arial" panose="020B0604020202020204" pitchFamily="34" charset="0"/>
              <a:buChar char="•"/>
            </a:pPr>
            <a:r>
              <a:rPr sz="2200" b="1" dirty="0">
                <a:solidFill>
                  <a:srgbClr val="1A1A2E"/>
                </a:solidFill>
                <a:latin typeface="Calibri"/>
              </a:rPr>
              <a:t>Why it matters: </a:t>
            </a:r>
            <a:r>
              <a:rPr sz="2200" b="0" dirty="0">
                <a:solidFill>
                  <a:srgbClr val="1A1A2E"/>
                </a:solidFill>
                <a:latin typeface="Calibri"/>
              </a:rPr>
              <a:t>volatility drives position sizing, risk budgeting, drawdown control, and derivatives/risk-management pricing.</a:t>
            </a:r>
            <a:endParaRPr lang="en-US" sz="2200" b="1" dirty="0">
              <a:solidFill>
                <a:srgbClr val="00A8CC"/>
              </a:solidFill>
              <a:latin typeface="Calibri"/>
            </a:endParaRPr>
          </a:p>
          <a:p>
            <a:pPr>
              <a:spcAft>
                <a:spcPts val="200"/>
              </a:spcAft>
            </a:pPr>
            <a:endParaRPr lang="en-US" sz="2200" b="1" dirty="0">
              <a:solidFill>
                <a:srgbClr val="00A8CC"/>
              </a:solidFill>
              <a:latin typeface="Calibri"/>
            </a:endParaRPr>
          </a:p>
          <a:p>
            <a:pPr>
              <a:spcAft>
                <a:spcPts val="200"/>
              </a:spcAft>
            </a:pPr>
            <a:r>
              <a:rPr lang="en-US" sz="2200" b="1" dirty="0">
                <a:solidFill>
                  <a:srgbClr val="00A8CC"/>
                </a:solidFill>
                <a:latin typeface="Calibri"/>
              </a:rPr>
              <a:t>Our Data:</a:t>
            </a:r>
            <a:endParaRPr lang="en-US" sz="2200" b="1" dirty="0">
              <a:solidFill>
                <a:srgbClr val="1A1A2E"/>
              </a:solidFill>
              <a:latin typeface="Calibri"/>
            </a:endParaRPr>
          </a:p>
          <a:p>
            <a:pPr marL="285750" indent="-285750">
              <a:spcAft>
                <a:spcPts val="200"/>
              </a:spcAft>
              <a:buFont typeface="Arial" panose="020B0604020202020204" pitchFamily="34" charset="0"/>
              <a:buChar char="•"/>
            </a:pPr>
            <a:r>
              <a:rPr lang="en-US" sz="2200" b="1" dirty="0">
                <a:solidFill>
                  <a:srgbClr val="1A1A2E"/>
                </a:solidFill>
                <a:latin typeface="Calibri"/>
              </a:rPr>
              <a:t>Downloads from FactSet.</a:t>
            </a:r>
          </a:p>
          <a:p>
            <a:pPr marL="285750" indent="-285750">
              <a:spcAft>
                <a:spcPts val="200"/>
              </a:spcAft>
              <a:buFont typeface="Arial" panose="020B0604020202020204" pitchFamily="34" charset="0"/>
              <a:buChar char="•"/>
            </a:pPr>
            <a:r>
              <a:rPr lang="en-US" sz="2200" b="1" dirty="0">
                <a:solidFill>
                  <a:srgbClr val="1A1A2E"/>
                </a:solidFill>
              </a:rPr>
              <a:t>6 macro/risk series for regime context: </a:t>
            </a:r>
            <a:endParaRPr lang="en-US" sz="2200" b="1" dirty="0">
              <a:solidFill>
                <a:srgbClr val="1A1A2E"/>
              </a:solidFill>
              <a:latin typeface="Calibri"/>
            </a:endParaRPr>
          </a:p>
          <a:p>
            <a:pPr marL="742950" lvl="1" indent="-285750">
              <a:spcAft>
                <a:spcPts val="200"/>
              </a:spcAft>
              <a:buFont typeface="Wingdings" panose="05000000000000000000" pitchFamily="2" charset="2"/>
              <a:buChar char="Ø"/>
            </a:pPr>
            <a:r>
              <a:rPr lang="en-US" sz="2200" b="0" dirty="0">
                <a:solidFill>
                  <a:srgbClr val="1A1A2E"/>
                </a:solidFill>
                <a:latin typeface="Calibri"/>
              </a:rPr>
              <a:t>3 month T-Bill yield</a:t>
            </a:r>
          </a:p>
          <a:p>
            <a:pPr marL="742950" lvl="1" indent="-285750">
              <a:spcAft>
                <a:spcPts val="200"/>
              </a:spcAft>
              <a:buFont typeface="Wingdings" panose="05000000000000000000" pitchFamily="2" charset="2"/>
              <a:buChar char="Ø"/>
            </a:pPr>
            <a:r>
              <a:rPr lang="en-US" sz="2200" b="0" dirty="0">
                <a:solidFill>
                  <a:srgbClr val="1A1A2E"/>
                </a:solidFill>
                <a:latin typeface="Calibri"/>
              </a:rPr>
              <a:t>10 year US bond yield</a:t>
            </a:r>
          </a:p>
          <a:p>
            <a:pPr marL="742950" lvl="1" indent="-285750">
              <a:spcAft>
                <a:spcPts val="200"/>
              </a:spcAft>
              <a:buFont typeface="Wingdings" panose="05000000000000000000" pitchFamily="2" charset="2"/>
              <a:buChar char="Ø"/>
            </a:pPr>
            <a:r>
              <a:rPr sz="2200" b="0" dirty="0">
                <a:solidFill>
                  <a:srgbClr val="1A1A2E"/>
                </a:solidFill>
                <a:latin typeface="Calibri"/>
              </a:rPr>
              <a:t>US</a:t>
            </a:r>
            <a:r>
              <a:rPr lang="en-US" sz="2200" b="0" dirty="0">
                <a:solidFill>
                  <a:srgbClr val="1A1A2E"/>
                </a:solidFill>
                <a:latin typeface="Calibri"/>
              </a:rPr>
              <a:t> 10 year </a:t>
            </a:r>
            <a:r>
              <a:rPr lang="en-US" sz="2200" dirty="0">
                <a:solidFill>
                  <a:srgbClr val="1A1A2E"/>
                </a:solidFill>
                <a:latin typeface="Calibri"/>
              </a:rPr>
              <a:t>-</a:t>
            </a:r>
            <a:r>
              <a:rPr lang="en-US" sz="2200" b="0" dirty="0">
                <a:solidFill>
                  <a:srgbClr val="1A1A2E"/>
                </a:solidFill>
                <a:latin typeface="Calibri"/>
              </a:rPr>
              <a:t> month yield spread</a:t>
            </a:r>
          </a:p>
          <a:p>
            <a:pPr marL="742950" lvl="1" indent="-285750">
              <a:spcAft>
                <a:spcPts val="200"/>
              </a:spcAft>
              <a:buFont typeface="Wingdings" panose="05000000000000000000" pitchFamily="2" charset="2"/>
              <a:buChar char="Ø"/>
            </a:pPr>
            <a:r>
              <a:rPr lang="en-US" sz="2200" b="0" dirty="0">
                <a:solidFill>
                  <a:srgbClr val="1A1A2E"/>
                </a:solidFill>
                <a:latin typeface="Calibri"/>
              </a:rPr>
              <a:t>Gold spot price</a:t>
            </a:r>
          </a:p>
          <a:p>
            <a:pPr marL="742950" lvl="1" indent="-285750">
              <a:spcAft>
                <a:spcPts val="200"/>
              </a:spcAft>
              <a:buFont typeface="Wingdings" panose="05000000000000000000" pitchFamily="2" charset="2"/>
              <a:buChar char="Ø"/>
            </a:pPr>
            <a:r>
              <a:rPr lang="en-US" sz="2200" b="0" dirty="0">
                <a:solidFill>
                  <a:srgbClr val="1A1A2E"/>
                </a:solidFill>
                <a:latin typeface="Calibri"/>
              </a:rPr>
              <a:t>Oil spot price</a:t>
            </a:r>
            <a:endParaRPr lang="en-US" sz="2200" dirty="0">
              <a:solidFill>
                <a:srgbClr val="1A1A2E"/>
              </a:solidFill>
              <a:latin typeface="Calibri"/>
            </a:endParaRPr>
          </a:p>
          <a:p>
            <a:pPr marL="742950" lvl="1" indent="-285750">
              <a:spcAft>
                <a:spcPts val="200"/>
              </a:spcAft>
              <a:buFont typeface="Wingdings" panose="05000000000000000000" pitchFamily="2" charset="2"/>
              <a:buChar char="Ø"/>
            </a:pPr>
            <a:r>
              <a:rPr sz="2200" b="0" dirty="0">
                <a:solidFill>
                  <a:srgbClr val="1A1A2E"/>
                </a:solidFill>
                <a:latin typeface="Calibri"/>
              </a:rPr>
              <a:t>VIX</a:t>
            </a:r>
          </a:p>
          <a:p>
            <a:pPr marL="285750" indent="-285750">
              <a:spcAft>
                <a:spcPts val="100"/>
              </a:spcAft>
              <a:buFont typeface="Arial" panose="020B0604020202020204" pitchFamily="34" charset="0"/>
              <a:buChar char="•"/>
            </a:pPr>
            <a:r>
              <a:rPr sz="2200" b="1" dirty="0">
                <a:solidFill>
                  <a:srgbClr val="1A1A2E"/>
                </a:solidFill>
                <a:latin typeface="Calibri"/>
              </a:rPr>
              <a:t>Market (1): </a:t>
            </a:r>
            <a:r>
              <a:rPr sz="2200" b="0" dirty="0">
                <a:solidFill>
                  <a:srgbClr val="1A1A2E"/>
                </a:solidFill>
                <a:latin typeface="Calibri"/>
              </a:rPr>
              <a:t>SPY</a:t>
            </a:r>
          </a:p>
          <a:p>
            <a:pPr marL="285750" indent="-285750">
              <a:spcAft>
                <a:spcPts val="100"/>
              </a:spcAft>
              <a:buFont typeface="Arial" panose="020B0604020202020204" pitchFamily="34" charset="0"/>
              <a:buChar char="•"/>
            </a:pPr>
            <a:r>
              <a:rPr sz="2200" b="1" dirty="0">
                <a:solidFill>
                  <a:srgbClr val="1A1A2E"/>
                </a:solidFill>
                <a:latin typeface="Calibri"/>
              </a:rPr>
              <a:t>Sector (13): </a:t>
            </a:r>
            <a:r>
              <a:rPr sz="2200" b="0" dirty="0">
                <a:solidFill>
                  <a:srgbClr val="1A1A2E"/>
                </a:solidFill>
                <a:latin typeface="Calibri"/>
              </a:rPr>
              <a:t>IYZ, VGT, XLB, XLC, XLE, XLF, XLI, XLK, XLP, XLRE, XLU, XLV, XLY</a:t>
            </a:r>
            <a:endParaRPr lang="en-US" sz="2200" b="0" dirty="0">
              <a:solidFill>
                <a:srgbClr val="1A1A2E"/>
              </a:solidFill>
              <a:latin typeface="Calibri"/>
            </a:endParaRPr>
          </a:p>
          <a:p>
            <a:pPr marL="285750" indent="-285750">
              <a:spcAft>
                <a:spcPts val="100"/>
              </a:spcAft>
              <a:buFont typeface="Arial" panose="020B0604020202020204" pitchFamily="34" charset="0"/>
              <a:buChar char="•"/>
            </a:pPr>
            <a:r>
              <a:rPr lang="en-US" sz="2200" b="1" dirty="0">
                <a:solidFill>
                  <a:srgbClr val="1A1A2E"/>
                </a:solidFill>
              </a:rPr>
              <a:t>Industry (22): </a:t>
            </a:r>
            <a:r>
              <a:rPr lang="en-US" sz="2200" dirty="0">
                <a:solidFill>
                  <a:srgbClr val="1A1A2E"/>
                </a:solidFill>
              </a:rPr>
              <a:t>BEDZ, FTXG, KBE, KCE, KIE, KRE, PEJ, PNQI, PXQ, XAR, XBI, XES, XHB, XHE, XHS, XME, XOP, XPH, XSD, XSW, XTL, XTN</a:t>
            </a:r>
            <a:endParaRPr lang="en-US" sz="2200" b="0" dirty="0">
              <a:solidFill>
                <a:srgbClr val="1A1A2E"/>
              </a:solidFill>
              <a:latin typeface="Calibri"/>
            </a:endParaRPr>
          </a:p>
          <a:p>
            <a:pPr marL="285750" indent="-285750">
              <a:spcAft>
                <a:spcPts val="100"/>
              </a:spcAft>
              <a:buFont typeface="Arial" panose="020B0604020202020204" pitchFamily="34" charset="0"/>
              <a:buChar char="•"/>
            </a:pPr>
            <a:r>
              <a:rPr lang="en-US" sz="2100" b="1" dirty="0">
                <a:solidFill>
                  <a:srgbClr val="1A1A2E"/>
                </a:solidFill>
                <a:latin typeface="Calibri"/>
              </a:rPr>
              <a:t>Date range: </a:t>
            </a:r>
            <a:r>
              <a:rPr lang="en-US" sz="2100" dirty="0">
                <a:solidFill>
                  <a:srgbClr val="1A1A2E"/>
                </a:solidFill>
                <a:latin typeface="Calibri"/>
              </a:rPr>
              <a:t>2014-12-31 to 2025-12-31</a:t>
            </a:r>
            <a:endParaRPr lang="en-US" sz="2200" b="1" dirty="0">
              <a:solidFill>
                <a:srgbClr val="00A8CC"/>
              </a:solidFill>
            </a:endParaRPr>
          </a:p>
          <a:p>
            <a:endParaRPr lang="en-US" sz="2200" b="1" dirty="0">
              <a:solidFill>
                <a:srgbClr val="00A8CC"/>
              </a:solidFill>
            </a:endParaRPr>
          </a:p>
          <a:p>
            <a:r>
              <a:rPr lang="en-US" sz="2200" b="1" dirty="0">
                <a:solidFill>
                  <a:srgbClr val="00A8CC"/>
                </a:solidFill>
              </a:rPr>
              <a:t>Our Models:</a:t>
            </a:r>
          </a:p>
          <a:p>
            <a:pPr marL="285750" indent="-285750">
              <a:buFont typeface="Arial" panose="020B0604020202020204" pitchFamily="34" charset="0"/>
              <a:buChar char="•"/>
            </a:pPr>
            <a:r>
              <a:rPr lang="en-US" sz="2200" b="1" dirty="0">
                <a:solidFill>
                  <a:srgbClr val="1A1A2E"/>
                </a:solidFill>
              </a:rPr>
              <a:t>Transformer 1: </a:t>
            </a:r>
            <a:r>
              <a:rPr lang="en-US" sz="2200" dirty="0">
                <a:solidFill>
                  <a:srgbClr val="1A1A2E"/>
                </a:solidFill>
              </a:rPr>
              <a:t>Diogo</a:t>
            </a:r>
          </a:p>
          <a:p>
            <a:pPr marL="285750" indent="-285750">
              <a:buFont typeface="Arial" panose="020B0604020202020204" pitchFamily="34" charset="0"/>
              <a:buChar char="•"/>
            </a:pPr>
            <a:r>
              <a:rPr lang="en-US" sz="2200" b="1" dirty="0">
                <a:solidFill>
                  <a:srgbClr val="1A1A2E"/>
                </a:solidFill>
              </a:rPr>
              <a:t>Transformer 2: </a:t>
            </a:r>
            <a:r>
              <a:rPr lang="en-US" sz="2200" dirty="0">
                <a:solidFill>
                  <a:srgbClr val="1A1A2E"/>
                </a:solidFill>
              </a:rPr>
              <a:t>Ronald</a:t>
            </a:r>
          </a:p>
          <a:p>
            <a:pPr marL="285750" indent="-285750">
              <a:buFont typeface="Arial" panose="020B0604020202020204" pitchFamily="34" charset="0"/>
              <a:buChar char="•"/>
            </a:pPr>
            <a:r>
              <a:rPr lang="en-US" sz="2200" b="1" dirty="0">
                <a:solidFill>
                  <a:srgbClr val="1A1A2E"/>
                </a:solidFill>
              </a:rPr>
              <a:t>LSTM: </a:t>
            </a:r>
            <a:r>
              <a:rPr lang="en-US" sz="2200" dirty="0">
                <a:solidFill>
                  <a:srgbClr val="1A1A2E"/>
                </a:solidFill>
              </a:rPr>
              <a:t>Sid</a:t>
            </a:r>
          </a:p>
          <a:p>
            <a:pPr marL="285750" indent="-285750">
              <a:buFont typeface="Arial" panose="020B0604020202020204" pitchFamily="34" charset="0"/>
              <a:buChar char="•"/>
            </a:pPr>
            <a:r>
              <a:rPr lang="en-US" sz="2200" b="1" dirty="0">
                <a:solidFill>
                  <a:srgbClr val="1A1A2E"/>
                </a:solidFill>
              </a:rPr>
              <a:t>Elastic Net Regression: </a:t>
            </a:r>
            <a:r>
              <a:rPr lang="en-US" sz="2200" dirty="0">
                <a:solidFill>
                  <a:srgbClr val="1A1A2E"/>
                </a:solidFill>
              </a:rPr>
              <a:t>Vinit</a:t>
            </a:r>
          </a:p>
          <a:p>
            <a:pPr marL="285750" indent="-285750">
              <a:buFont typeface="Arial" panose="020B0604020202020204" pitchFamily="34" charset="0"/>
              <a:buChar char="•"/>
            </a:pPr>
            <a:r>
              <a:rPr lang="en-US" sz="2200" u="sng" dirty="0">
                <a:solidFill>
                  <a:srgbClr val="1A1A2E"/>
                </a:solidFill>
                <a:latin typeface="Calibri"/>
              </a:rPr>
              <a:t>6 Baseline Models to compare to</a:t>
            </a:r>
            <a:endParaRPr sz="2200" u="sng" dirty="0">
              <a:solidFill>
                <a:srgbClr val="1A1A2E"/>
              </a:solidFill>
              <a:latin typeface="Calibri"/>
            </a:endParaRPr>
          </a:p>
        </p:txBody>
      </p:sp>
      <p:sp>
        <p:nvSpPr>
          <p:cNvPr id="13" name="TextBox 12">
            <a:extLst>
              <a:ext uri="{FF2B5EF4-FFF2-40B4-BE49-F238E27FC236}">
                <a16:creationId xmlns:a16="http://schemas.microsoft.com/office/drawing/2014/main" id="{E08A7C2B-6610-A068-F22A-20B8D98D043D}"/>
              </a:ext>
            </a:extLst>
          </p:cNvPr>
          <p:cNvSpPr txBox="1"/>
          <p:nvPr/>
        </p:nvSpPr>
        <p:spPr>
          <a:xfrm>
            <a:off x="7776514" y="4151321"/>
            <a:ext cx="184731" cy="312393"/>
          </a:xfrm>
          <a:prstGeom prst="rect">
            <a:avLst/>
          </a:prstGeom>
          <a:noFill/>
        </p:spPr>
        <p:txBody>
          <a:bodyPr wrap="none">
            <a:spAutoFit/>
          </a:bodyPr>
          <a:lstStyle/>
          <a:p>
            <a:endParaRPr sz="1430" b="1" dirty="0">
              <a:solidFill>
                <a:srgbClr val="1A1A2E"/>
              </a:solidFill>
              <a:latin typeface="Calibri"/>
            </a:endParaRPr>
          </a:p>
        </p:txBody>
      </p:sp>
      <p:sp>
        <p:nvSpPr>
          <p:cNvPr id="6" name="Text 4">
            <a:extLst>
              <a:ext uri="{FF2B5EF4-FFF2-40B4-BE49-F238E27FC236}">
                <a16:creationId xmlns:a16="http://schemas.microsoft.com/office/drawing/2014/main" id="{CB58AC01-D69F-0961-3DB3-71446248FD7B}"/>
              </a:ext>
            </a:extLst>
          </p:cNvPr>
          <p:cNvSpPr/>
          <p:nvPr/>
        </p:nvSpPr>
        <p:spPr>
          <a:xfrm>
            <a:off x="3404375" y="835838"/>
            <a:ext cx="4217803" cy="256032"/>
          </a:xfrm>
          <a:prstGeom prst="rect">
            <a:avLst/>
          </a:prstGeom>
          <a:noFill/>
          <a:ln/>
        </p:spPr>
        <p:txBody>
          <a:bodyPr wrap="square" lIns="0" tIns="0" rIns="0" bIns="0" rtlCol="0" anchor="ctr"/>
          <a:lstStyle/>
          <a:p>
            <a:pPr algn="ctr">
              <a:spcAft>
                <a:spcPts val="800"/>
              </a:spcAft>
            </a:pPr>
            <a:r>
              <a:rPr lang="en-US" sz="2000" b="1" dirty="0">
                <a:solidFill>
                  <a:srgbClr val="00A8CC"/>
                </a:solidFill>
              </a:rPr>
              <a:t>Project Scope</a:t>
            </a:r>
          </a:p>
        </p:txBody>
      </p:sp>
      <p:sp>
        <p:nvSpPr>
          <p:cNvPr id="7" name="Shape 5">
            <a:extLst>
              <a:ext uri="{FF2B5EF4-FFF2-40B4-BE49-F238E27FC236}">
                <a16:creationId xmlns:a16="http://schemas.microsoft.com/office/drawing/2014/main" id="{55344706-2FDA-4EF5-FED1-46EE2344AF75}"/>
              </a:ext>
            </a:extLst>
          </p:cNvPr>
          <p:cNvSpPr/>
          <p:nvPr/>
        </p:nvSpPr>
        <p:spPr>
          <a:xfrm>
            <a:off x="3404376" y="1152144"/>
            <a:ext cx="4217802" cy="0"/>
          </a:xfrm>
          <a:prstGeom prst="line">
            <a:avLst/>
          </a:prstGeom>
          <a:noFill/>
          <a:ln w="15240">
            <a:solidFill>
              <a:srgbClr val="08A3C7"/>
            </a:solidFill>
            <a:prstDash val="solid"/>
          </a:ln>
        </p:spPr>
        <p:txBody>
          <a:bodyPr/>
          <a:lstStyle/>
          <a:p>
            <a:endParaRPr lang="en-US"/>
          </a:p>
        </p:txBody>
      </p:sp>
      <p:sp>
        <p:nvSpPr>
          <p:cNvPr id="10" name="Text 3">
            <a:extLst>
              <a:ext uri="{FF2B5EF4-FFF2-40B4-BE49-F238E27FC236}">
                <a16:creationId xmlns:a16="http://schemas.microsoft.com/office/drawing/2014/main" id="{69AACFBE-0627-E569-226C-EBF28D4C041A}"/>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extLst>
      <p:ext uri="{BB962C8B-B14F-4D97-AF65-F5344CB8AC3E}">
        <p14:creationId xmlns:p14="http://schemas.microsoft.com/office/powerpoint/2010/main" val="520621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2340"/>
        </a:solidFill>
        <a:effectLst/>
      </p:bgPr>
    </p:bg>
    <p:spTree>
      <p:nvGrpSpPr>
        <p:cNvPr id="1" name=""/>
        <p:cNvGrpSpPr/>
        <p:nvPr/>
      </p:nvGrpSpPr>
      <p:grpSpPr>
        <a:xfrm>
          <a:off x="0" y="0"/>
          <a:ext cx="0" cy="0"/>
          <a:chOff x="0" y="0"/>
          <a:chExt cx="0" cy="0"/>
        </a:xfrm>
      </p:grpSpPr>
      <p:sp>
        <p:nvSpPr>
          <p:cNvPr id="8" name="Shape 0"/>
          <p:cNvSpPr/>
          <p:nvPr/>
        </p:nvSpPr>
        <p:spPr>
          <a:xfrm>
            <a:off x="0" y="0"/>
            <a:ext cx="145920" cy="685776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9" name="Text 1"/>
          <p:cNvSpPr/>
          <p:nvPr/>
        </p:nvSpPr>
        <p:spPr>
          <a:xfrm>
            <a:off x="426720" y="975360"/>
            <a:ext cx="11338080" cy="1086086"/>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6400" b="1" i="0" u="none" strike="noStrike" kern="1200" cap="none" spc="0" normalizeH="0" baseline="0" noProof="0" dirty="0">
                <a:ln>
                  <a:noFill/>
                </a:ln>
                <a:solidFill>
                  <a:srgbClr val="FFFFFF"/>
                </a:solidFill>
                <a:effectLst/>
                <a:uLnTx/>
                <a:uFillTx/>
                <a:latin typeface="Calibri"/>
                <a:ea typeface="Calibri"/>
                <a:cs typeface="+mn-cs"/>
              </a:rPr>
              <a:t>Elastic Net Regression</a:t>
            </a:r>
            <a:endParaRPr kumimoji="0" lang="en-US" sz="64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Shape 2"/>
          <p:cNvSpPr/>
          <p:nvPr/>
        </p:nvSpPr>
        <p:spPr>
          <a:xfrm>
            <a:off x="426720" y="3596640"/>
            <a:ext cx="11460000" cy="4848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11040" rIns="120000" bIns="-1104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 4"/>
          <p:cNvSpPr/>
          <p:nvPr/>
        </p:nvSpPr>
        <p:spPr>
          <a:xfrm>
            <a:off x="426720" y="5608320"/>
            <a:ext cx="113380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1733" b="0" i="0" u="none" strike="noStrike" kern="1200" cap="none" spc="0" normalizeH="0" baseline="0" noProof="0" dirty="0">
                <a:ln>
                  <a:noFill/>
                </a:ln>
                <a:solidFill>
                  <a:srgbClr val="AAAACC"/>
                </a:solidFill>
                <a:effectLst/>
                <a:uLnTx/>
                <a:uFillTx/>
                <a:latin typeface="Calibri"/>
                <a:ea typeface="Calibri"/>
                <a:cs typeface="+mn-cs"/>
              </a:rPr>
              <a:t>DS 207 Final Project  ·  Team: Greed and Fear  ·  Author: Vinit Bhatt  ·  March 27, 2026</a:t>
            </a:r>
            <a:endParaRPr kumimoji="0" lang="en-US" sz="1733" b="0" i="0" u="none" strike="noStrike" kern="1200" cap="none" spc="0" normalizeH="0" baseline="0" noProof="0" dirty="0">
              <a:ln>
                <a:noFill/>
              </a:ln>
              <a:solidFill>
                <a:srgbClr val="FFFFFF"/>
              </a:solidFill>
              <a:effectLst/>
              <a:uLnTx/>
              <a:uFillTx/>
              <a:latin typeface="Arial"/>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32" name="Shape 0"/>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33" name="Text 1"/>
          <p:cNvSpPr/>
          <p:nvPr/>
        </p:nvSpPr>
        <p:spPr>
          <a:xfrm>
            <a:off x="341280" y="48960"/>
            <a:ext cx="1060656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What Is Elastic Net?</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35" name="Shape 3"/>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37" name="Text 5"/>
          <p:cNvSpPr/>
          <p:nvPr/>
        </p:nvSpPr>
        <p:spPr>
          <a:xfrm>
            <a:off x="219360" y="731520"/>
            <a:ext cx="58516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endParaRPr kumimoji="0" lang="en-US" sz="1733" b="0" i="0" u="none" strike="noStrike" kern="1200" cap="none" spc="0" normalizeH="0" baseline="0" noProof="0" dirty="0">
              <a:ln>
                <a:noFill/>
              </a:ln>
              <a:solidFill>
                <a:srgbClr val="000000"/>
              </a:solidFill>
              <a:effectLst/>
              <a:uLnTx/>
              <a:uFillTx/>
              <a:latin typeface="Arial"/>
              <a:ea typeface="+mn-ea"/>
              <a:cs typeface="+mn-cs"/>
            </a:endParaRPr>
          </a:p>
        </p:txBody>
      </p:sp>
      <p:sp>
        <p:nvSpPr>
          <p:cNvPr id="39" name="Shape 7"/>
          <p:cNvSpPr/>
          <p:nvPr/>
        </p:nvSpPr>
        <p:spPr>
          <a:xfrm>
            <a:off x="219360" y="3887896"/>
            <a:ext cx="5510400" cy="1950331"/>
          </a:xfrm>
          <a:prstGeom prst="rect">
            <a:avLst/>
          </a:prstGeom>
          <a:solidFill>
            <a:srgbClr val="D6F2FA"/>
          </a:solidFill>
          <a:ln w="19050">
            <a:solidFill>
              <a:srgbClr val="00A8CC"/>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41" name="Text 9"/>
          <p:cNvSpPr/>
          <p:nvPr/>
        </p:nvSpPr>
        <p:spPr>
          <a:xfrm>
            <a:off x="243840" y="3985826"/>
            <a:ext cx="5242080" cy="1237877"/>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Bottom Line</a:t>
            </a:r>
          </a:p>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467" b="1" i="0" u="none" strike="noStrike" kern="1200" cap="none" spc="0" normalizeH="0" baseline="0" noProof="0" dirty="0">
                <a:ln>
                  <a:noFill/>
                </a:ln>
                <a:solidFill>
                  <a:srgbClr val="000000"/>
                </a:solidFill>
                <a:effectLst/>
                <a:uLnTx/>
                <a:uFillTx/>
                <a:latin typeface="Calibri" panose="020F0502020204030204"/>
                <a:ea typeface="+mn-ea"/>
                <a:cs typeface="+mn-cs"/>
              </a:rPr>
              <a:t>Elastic Net is a strong, interpretable benchmark that helps us identify which features matter and which do not</a:t>
            </a:r>
            <a:r>
              <a:rPr kumimoji="0" lang="en-US" sz="1533" b="0" i="0" u="none" strike="noStrike" kern="1200" cap="none" spc="0" normalizeH="0" baseline="0" noProof="0" dirty="0">
                <a:ln>
                  <a:noFill/>
                </a:ln>
                <a:solidFill>
                  <a:srgbClr val="000000"/>
                </a:solidFill>
                <a:effectLst/>
                <a:uLnTx/>
                <a:uFillTx/>
                <a:latin typeface="Arial"/>
                <a:ea typeface="+mn-ea"/>
                <a:cs typeface="+mn-cs"/>
              </a:rPr>
              <a:t>.</a:t>
            </a:r>
          </a:p>
        </p:txBody>
      </p:sp>
      <p:sp>
        <p:nvSpPr>
          <p:cNvPr id="43" name="Shape 11"/>
          <p:cNvSpPr/>
          <p:nvPr/>
        </p:nvSpPr>
        <p:spPr>
          <a:xfrm>
            <a:off x="6096000" y="1121760"/>
            <a:ext cx="5876160" cy="2584608"/>
          </a:xfrm>
          <a:prstGeom prst="rect">
            <a:avLst/>
          </a:prstGeom>
          <a:solidFill>
            <a:srgbClr val="D5F5E3"/>
          </a:solidFill>
          <a:ln w="19050">
            <a:solidFill>
              <a:srgbClr val="1E8449"/>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45" name="Text 13"/>
          <p:cNvSpPr/>
          <p:nvPr/>
        </p:nvSpPr>
        <p:spPr>
          <a:xfrm>
            <a:off x="6136745" y="1174542"/>
            <a:ext cx="5607840" cy="17517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Why We Use It Here</a:t>
            </a:r>
          </a:p>
          <a:p>
            <a:pPr marL="228594" marR="0" lvl="0" indent="-228594"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rPr>
              <a:t>Our volatility features overlap</a:t>
            </a:r>
          </a:p>
          <a:p>
            <a:pPr marL="228594" marR="0" lvl="0" indent="-228594"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rPr>
              <a:t>Some macro variables may add little value</a:t>
            </a:r>
          </a:p>
          <a:p>
            <a:pPr marL="228594" marR="0" lvl="0" indent="-228594"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rPr>
              <a:t>We want a model that is still easy to interpret</a:t>
            </a:r>
          </a:p>
        </p:txBody>
      </p:sp>
      <p:sp>
        <p:nvSpPr>
          <p:cNvPr id="46" name="Shape 14"/>
          <p:cNvSpPr/>
          <p:nvPr/>
        </p:nvSpPr>
        <p:spPr>
          <a:xfrm>
            <a:off x="6096000" y="3863416"/>
            <a:ext cx="5876160" cy="1974808"/>
          </a:xfrm>
          <a:prstGeom prst="rect">
            <a:avLst/>
          </a:prstGeom>
          <a:solidFill>
            <a:srgbClr val="FADBD8"/>
          </a:solidFill>
          <a:ln w="19050">
            <a:solidFill>
              <a:srgbClr val="C0392B"/>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48" name="Text 16"/>
          <p:cNvSpPr/>
          <p:nvPr/>
        </p:nvSpPr>
        <p:spPr>
          <a:xfrm>
            <a:off x="6071040" y="3985826"/>
            <a:ext cx="5607840" cy="1036621"/>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Main Tradeoff</a:t>
            </a:r>
            <a:endParaRPr kumimoji="0" lang="en-US" sz="1467" b="0" i="0" u="none" strike="noStrike" kern="1200" cap="none" spc="0" normalizeH="0" baseline="0" noProof="0" dirty="0">
              <a:ln>
                <a:noFill/>
              </a:ln>
              <a:solidFill>
                <a:srgbClr val="1A1A2E"/>
              </a:solidFill>
              <a:effectLst/>
              <a:uLnTx/>
              <a:uFillTx/>
              <a:latin typeface="Calibri"/>
              <a:ea typeface="Calibri"/>
              <a:cs typeface="+mn-cs"/>
            </a:endParaRPr>
          </a:p>
          <a:p>
            <a:pPr marL="228594" marR="0" lvl="0" indent="-228594"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kumimoji="0" lang="en-US" sz="1467" b="0" i="0" u="none" strike="noStrike" kern="1200" cap="none" spc="0" normalizeH="0" baseline="0" noProof="0" dirty="0">
                <a:ln>
                  <a:noFill/>
                </a:ln>
                <a:solidFill>
                  <a:srgbClr val="1A1A2E"/>
                </a:solidFill>
                <a:effectLst/>
                <a:uLnTx/>
                <a:uFillTx/>
                <a:latin typeface="Calibri"/>
                <a:ea typeface="Calibri"/>
                <a:cs typeface="+mn-cs"/>
              </a:rPr>
              <a:t>Elastic Net is transparent and disciplined</a:t>
            </a:r>
          </a:p>
          <a:p>
            <a:pPr marL="228594" marR="0" lvl="0" indent="-228594"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kumimoji="0" lang="en-US" sz="1467" b="0" i="0" u="none" strike="noStrike" kern="1200" cap="none" spc="0" normalizeH="0" baseline="0" noProof="0" dirty="0">
                <a:ln>
                  <a:noFill/>
                </a:ln>
                <a:solidFill>
                  <a:srgbClr val="1A1A2E"/>
                </a:solidFill>
                <a:effectLst/>
                <a:uLnTx/>
                <a:uFillTx/>
                <a:latin typeface="Calibri"/>
                <a:ea typeface="Calibri"/>
                <a:cs typeface="+mn-cs"/>
              </a:rPr>
              <a:t>But it is still linear, so it may miss nonlinear volatility patterns</a:t>
            </a:r>
            <a:endPar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Shape 13">
            <a:extLst>
              <a:ext uri="{FF2B5EF4-FFF2-40B4-BE49-F238E27FC236}">
                <a16:creationId xmlns:a16="http://schemas.microsoft.com/office/drawing/2014/main" id="{C8B8F06B-FD16-7B16-3190-45285D1E9BE4}"/>
              </a:ext>
            </a:extLst>
          </p:cNvPr>
          <p:cNvSpPr/>
          <p:nvPr/>
        </p:nvSpPr>
        <p:spPr>
          <a:xfrm>
            <a:off x="243840" y="1109280"/>
            <a:ext cx="5485920" cy="2597088"/>
          </a:xfrm>
          <a:prstGeom prst="rect">
            <a:avLst/>
          </a:prstGeom>
          <a:solidFill>
            <a:srgbClr val="FCF3CF"/>
          </a:solidFill>
          <a:ln w="25400">
            <a:solidFill>
              <a:srgbClr val="E8972A"/>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Tx/>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How It Works</a:t>
            </a:r>
          </a:p>
          <a:p>
            <a:pPr marL="0" marR="0" lvl="0" indent="0" algn="l" defTabSz="1219170" rtl="0" eaLnBrk="1" fontAlgn="auto" latinLnBrk="0" hangingPunct="1">
              <a:lnSpc>
                <a:spcPct val="100000"/>
              </a:lnSpc>
              <a:spcBef>
                <a:spcPts val="0"/>
              </a:spcBef>
              <a:spcAft>
                <a:spcPts val="533"/>
              </a:spcAft>
              <a:buClrTx/>
              <a:buSzTx/>
              <a:buFontTx/>
              <a:buNone/>
              <a:tabLst>
                <a:tab pos="0" algn="l"/>
              </a:tabLst>
              <a:defRPr/>
            </a:pPr>
            <a:r>
              <a:rPr kumimoji="0" lang="en-US" sz="1467" b="1" i="0" u="none" strike="noStrike" kern="1200" cap="none" spc="0" normalizeH="0" baseline="0" noProof="0" dirty="0">
                <a:ln>
                  <a:noFill/>
                </a:ln>
                <a:solidFill>
                  <a:srgbClr val="1A1A2E"/>
                </a:solidFill>
                <a:effectLst/>
                <a:uLnTx/>
                <a:uFillTx/>
                <a:latin typeface="Calibri" panose="020F0502020204030204"/>
                <a:ea typeface="Calibri"/>
                <a:cs typeface="+mn-cs"/>
              </a:rPr>
              <a:t>Elastic Net is a linear regression model with built-in regularization.  </a:t>
            </a:r>
            <a:r>
              <a:rPr kumimoji="0" lang="en-US" sz="1467" b="0" i="0" u="none" strike="noStrike" kern="1200" cap="none" spc="0" normalizeH="0" baseline="0" noProof="0" dirty="0">
                <a:ln>
                  <a:noFill/>
                </a:ln>
                <a:solidFill>
                  <a:srgbClr val="1A1A2E"/>
                </a:solidFill>
                <a:effectLst/>
                <a:uLnTx/>
                <a:uFillTx/>
                <a:latin typeface="Calibri" panose="020F0502020204030204"/>
                <a:ea typeface="Calibri"/>
                <a:cs typeface="+mn-cs"/>
              </a:rPr>
              <a:t>It helps the model fit the data while avoiding noisy or unstable coefficients.</a:t>
            </a:r>
          </a:p>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1467" b="1" i="0" u="none" strike="noStrike" kern="1200" cap="none" spc="0" normalizeH="0" baseline="0" noProof="0" dirty="0">
                <a:ln>
                  <a:noFill/>
                </a:ln>
                <a:solidFill>
                  <a:srgbClr val="000000"/>
                </a:solidFill>
                <a:effectLst/>
                <a:uLnTx/>
                <a:uFillTx/>
                <a:latin typeface="Calibri" panose="020F0502020204030204"/>
                <a:ea typeface="+mn-ea"/>
                <a:cs typeface="+mn-cs"/>
              </a:rPr>
              <a:t>Think of it as a combination of two ideas:</a:t>
            </a:r>
          </a:p>
          <a:p>
            <a:pPr marL="228594" marR="0" lvl="0" indent="-228594" algn="l" defTabSz="1219170" rtl="0" eaLnBrk="1" fontAlgn="auto" latinLnBrk="0" hangingPunct="1">
              <a:lnSpc>
                <a:spcPct val="100000"/>
              </a:lnSpc>
              <a:spcBef>
                <a:spcPts val="0"/>
              </a:spcBef>
              <a:spcAft>
                <a:spcPts val="533"/>
              </a:spcAft>
              <a:buClrTx/>
              <a:buSzTx/>
              <a:buFont typeface="Arial" panose="020B0604020202020204" pitchFamily="34" charset="0"/>
              <a:buChar char="•"/>
              <a:tabLst>
                <a:tab pos="0" algn="l"/>
              </a:tabLst>
              <a:defRPr/>
            </a:pPr>
            <a:r>
              <a:rPr kumimoji="0" lang="en-US" sz="1467" b="1" i="0" u="none" strike="noStrike" kern="1200" cap="none" spc="0" normalizeH="0" baseline="0" noProof="0" dirty="0">
                <a:ln>
                  <a:noFill/>
                </a:ln>
                <a:solidFill>
                  <a:srgbClr val="000000"/>
                </a:solidFill>
                <a:effectLst/>
                <a:uLnTx/>
                <a:uFillTx/>
                <a:latin typeface="Calibri" panose="020F0502020204030204"/>
                <a:ea typeface="+mn-ea"/>
                <a:cs typeface="+mn-cs"/>
              </a:rPr>
              <a:t>Lasso (L1): </a:t>
            </a:r>
            <a:r>
              <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rPr>
              <a:t>removes weak or redundant features</a:t>
            </a:r>
          </a:p>
          <a:p>
            <a:pPr marL="228594" marR="0" lvl="0" indent="-228594" algn="l" defTabSz="1219170" rtl="0" eaLnBrk="1" fontAlgn="auto" latinLnBrk="0" hangingPunct="1">
              <a:lnSpc>
                <a:spcPct val="100000"/>
              </a:lnSpc>
              <a:spcBef>
                <a:spcPts val="0"/>
              </a:spcBef>
              <a:spcAft>
                <a:spcPts val="533"/>
              </a:spcAft>
              <a:buClrTx/>
              <a:buSzTx/>
              <a:buFont typeface="Arial" panose="020B0604020202020204" pitchFamily="34" charset="0"/>
              <a:buChar char="•"/>
              <a:tabLst>
                <a:tab pos="0" algn="l"/>
              </a:tabLst>
              <a:defRPr/>
            </a:pPr>
            <a:r>
              <a:rPr kumimoji="0" lang="en-US" sz="1467" b="1" i="0" u="none" strike="noStrike" kern="1200" cap="none" spc="0" normalizeH="0" baseline="0" noProof="0" dirty="0">
                <a:ln>
                  <a:noFill/>
                </a:ln>
                <a:solidFill>
                  <a:srgbClr val="000000"/>
                </a:solidFill>
                <a:effectLst/>
                <a:uLnTx/>
                <a:uFillTx/>
                <a:latin typeface="Calibri" panose="020F0502020204030204"/>
                <a:ea typeface="+mn-ea"/>
                <a:cs typeface="+mn-cs"/>
              </a:rPr>
              <a:t>Ridge (L2): </a:t>
            </a:r>
            <a:r>
              <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rPr>
              <a:t>shrinks and stabilizes correlated features</a:t>
            </a:r>
          </a:p>
          <a:p>
            <a:pPr marL="228594" marR="0" lvl="0" indent="-228594" algn="l" defTabSz="1219170" rtl="0" eaLnBrk="1" fontAlgn="auto" latinLnBrk="0" hangingPunct="1">
              <a:lnSpc>
                <a:spcPct val="100000"/>
              </a:lnSpc>
              <a:spcBef>
                <a:spcPts val="0"/>
              </a:spcBef>
              <a:spcAft>
                <a:spcPts val="533"/>
              </a:spcAft>
              <a:buClrTx/>
              <a:buSzTx/>
              <a:buFont typeface="Arial" panose="020B0604020202020204" pitchFamily="34" charset="0"/>
              <a:buChar char="•"/>
              <a:tabLst>
                <a:tab pos="0" algn="l"/>
              </a:tabLst>
              <a:defRPr/>
            </a:pPr>
            <a:r>
              <a:rPr kumimoji="0" lang="en-US" sz="1467" b="1" i="0" u="none" strike="noStrike" kern="1200" cap="none" spc="0" normalizeH="0" baseline="0" noProof="0" dirty="0">
                <a:ln>
                  <a:noFill/>
                </a:ln>
                <a:solidFill>
                  <a:srgbClr val="000000"/>
                </a:solidFill>
                <a:effectLst/>
                <a:uLnTx/>
                <a:uFillTx/>
                <a:latin typeface="Calibri" panose="020F0502020204030204"/>
                <a:ea typeface="+mn-ea"/>
                <a:cs typeface="+mn-cs"/>
              </a:rPr>
              <a:t>Elastic Net: </a:t>
            </a:r>
            <a:r>
              <a:rPr kumimoji="0" lang="en-US" sz="1467" b="0" i="0" u="none" strike="noStrike" kern="1200" cap="none" spc="0" normalizeH="0" baseline="0" noProof="0" dirty="0">
                <a:ln>
                  <a:noFill/>
                </a:ln>
                <a:solidFill>
                  <a:srgbClr val="000000"/>
                </a:solidFill>
                <a:effectLst/>
                <a:uLnTx/>
                <a:uFillTx/>
                <a:latin typeface="Calibri" panose="020F0502020204030204"/>
                <a:ea typeface="+mn-ea"/>
                <a:cs typeface="+mn-cs"/>
              </a:rPr>
              <a:t>does both at the same time</a:t>
            </a:r>
            <a:endParaRPr kumimoji="0" lang="en-US" sz="1533"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 name="Text 3">
            <a:extLst>
              <a:ext uri="{FF2B5EF4-FFF2-40B4-BE49-F238E27FC236}">
                <a16:creationId xmlns:a16="http://schemas.microsoft.com/office/drawing/2014/main" id="{36DD4909-E9CD-657C-677A-54C3E4B100FA}"/>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98" name="Shape 6">
            <a:extLst>
              <a:ext uri="{FF2B5EF4-FFF2-40B4-BE49-F238E27FC236}">
                <a16:creationId xmlns:a16="http://schemas.microsoft.com/office/drawing/2014/main" id="{D3C723B6-84B5-A592-FFF5-03C0407F2AA6}"/>
              </a:ext>
            </a:extLst>
          </p:cNvPr>
          <p:cNvSpPr/>
          <p:nvPr/>
        </p:nvSpPr>
        <p:spPr>
          <a:xfrm>
            <a:off x="504161" y="4804523"/>
            <a:ext cx="5449629" cy="1255773"/>
          </a:xfrm>
          <a:prstGeom prst="rect">
            <a:avLst/>
          </a:prstGeom>
          <a:solidFill>
            <a:srgbClr val="D5F5E3"/>
          </a:solidFill>
          <a:ln w="12700">
            <a:solidFill>
              <a:srgbClr val="1E844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2" name="Shape 0"/>
          <p:cNvSpPr/>
          <p:nvPr/>
        </p:nvSpPr>
        <p:spPr>
          <a:xfrm>
            <a:off x="0" y="0"/>
            <a:ext cx="12191695" cy="777240"/>
          </a:xfrm>
          <a:prstGeom prst="rect">
            <a:avLst/>
          </a:prstGeom>
          <a:solidFill>
            <a:srgbClr val="0B2A45"/>
          </a:solidFill>
          <a:ln w="12700">
            <a:solidFill>
              <a:srgbClr val="0B2A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164592"/>
            <a:ext cx="10088575"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Interpretation: What Elastic Net Retained (We should get rid of V1)</a:t>
            </a:r>
            <a:endParaRPr kumimoji="0" lang="en-US" sz="3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0" y="6537960"/>
            <a:ext cx="12191695" cy="320040"/>
          </a:xfrm>
          <a:prstGeom prst="rect">
            <a:avLst/>
          </a:prstGeom>
          <a:solidFill>
            <a:srgbClr val="0B2A45"/>
          </a:solidFill>
          <a:ln w="12700">
            <a:solidFill>
              <a:srgbClr val="0B2A4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510692" y="1536192"/>
            <a:ext cx="5432908" cy="2971800"/>
          </a:xfrm>
          <a:prstGeom prst="rect">
            <a:avLst/>
          </a:prstGeom>
          <a:solidFill>
            <a:srgbClr val="DFF5E6"/>
          </a:solidFill>
          <a:ln w="15875">
            <a:solidFill>
              <a:srgbClr val="2E7D3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731520" y="1719072"/>
            <a:ext cx="4975708"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E7D32"/>
                </a:solidFill>
                <a:effectLst/>
                <a:uLnTx/>
                <a:uFillTx/>
                <a:latin typeface="Calibri" pitchFamily="34" charset="0"/>
                <a:ea typeface="Calibri" pitchFamily="34" charset="-122"/>
                <a:cs typeface="Calibri" pitchFamily="34" charset="-120"/>
              </a:rPr>
              <a:t>V1 retained features (2/2)</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731520" y="2130552"/>
            <a:ext cx="4892040" cy="1737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731520" y="2148840"/>
            <a:ext cx="1965960" cy="457200"/>
          </a:xfrm>
          <a:prstGeom prst="rect">
            <a:avLst/>
          </a:prstGeom>
          <a:solidFill>
            <a:srgbClr val="0B2A45"/>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841248" y="2221992"/>
            <a:ext cx="1746504"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2697480" y="2148840"/>
            <a:ext cx="1097280" cy="457200"/>
          </a:xfrm>
          <a:prstGeom prst="rect">
            <a:avLst/>
          </a:prstGeom>
          <a:solidFill>
            <a:srgbClr val="0B2A45"/>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2807208" y="2221992"/>
            <a:ext cx="877824"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Coeff</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794760" y="2148840"/>
            <a:ext cx="1828800" cy="457200"/>
          </a:xfrm>
          <a:prstGeom prst="rect">
            <a:avLst/>
          </a:prstGeom>
          <a:solidFill>
            <a:srgbClr val="0B2A45"/>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904488" y="2221992"/>
            <a:ext cx="1609344"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Meaning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41248" y="2651759"/>
            <a:ext cx="1755648" cy="557784"/>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841248" y="2679192"/>
            <a:ext cx="1746504" cy="4937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20-day trailing vol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2679192" y="2642616"/>
            <a:ext cx="1069848" cy="557784"/>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2807208" y="2679192"/>
            <a:ext cx="877824" cy="49377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7D32"/>
                </a:solidFill>
                <a:effectLst/>
                <a:uLnTx/>
                <a:uFillTx/>
                <a:latin typeface="Calibri" pitchFamily="34" charset="0"/>
                <a:ea typeface="Calibri" pitchFamily="34" charset="-122"/>
                <a:cs typeface="Calibri" pitchFamily="34" charset="-120"/>
              </a:rPr>
              <a:t>+0.0487</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822192" y="2640002"/>
            <a:ext cx="1755648" cy="560397"/>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794760" y="2606041"/>
            <a:ext cx="1783080" cy="55778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Dominant, smoother persistence signal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841248" y="3264409"/>
            <a:ext cx="1746504" cy="563008"/>
          </a:xfrm>
          <a:prstGeom prst="rect">
            <a:avLst/>
          </a:prstGeom>
          <a:solidFill>
            <a:srgbClr val="F7FAFC"/>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841248" y="3319272"/>
            <a:ext cx="1746504" cy="49377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Current vol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2697480" y="3278777"/>
            <a:ext cx="1033272" cy="548640"/>
          </a:xfrm>
          <a:prstGeom prst="rect">
            <a:avLst/>
          </a:prstGeom>
          <a:solidFill>
            <a:srgbClr val="F7FAFC"/>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2807208" y="3319272"/>
            <a:ext cx="877824" cy="49377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7D32"/>
                </a:solidFill>
                <a:effectLst/>
                <a:uLnTx/>
                <a:uFillTx/>
                <a:latin typeface="Calibri" pitchFamily="34" charset="0"/>
                <a:ea typeface="Calibri" pitchFamily="34" charset="-122"/>
                <a:cs typeface="Calibri" pitchFamily="34" charset="-120"/>
              </a:rPr>
              <a:t>+0.0377</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3794760" y="3246120"/>
            <a:ext cx="1783080" cy="581297"/>
          </a:xfrm>
          <a:prstGeom prst="rect">
            <a:avLst/>
          </a:prstGeom>
          <a:solidFill>
            <a:srgbClr val="F7FAFC"/>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3850996" y="3280083"/>
            <a:ext cx="1726844" cy="54733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Recency beyond the 20-day average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6255868" y="1536192"/>
            <a:ext cx="5432908" cy="2971800"/>
          </a:xfrm>
          <a:prstGeom prst="rect">
            <a:avLst/>
          </a:prstGeom>
          <a:solidFill>
            <a:srgbClr val="DFF4FB"/>
          </a:solidFill>
          <a:ln w="15875">
            <a:solidFill>
              <a:srgbClr val="00A3C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6484468" y="1719072"/>
            <a:ext cx="4975708"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A3C4"/>
                </a:solidFill>
                <a:effectLst/>
                <a:uLnTx/>
                <a:uFillTx/>
                <a:latin typeface="Calibri" pitchFamily="34" charset="0"/>
                <a:ea typeface="Calibri" pitchFamily="34" charset="-122"/>
                <a:cs typeface="Calibri" pitchFamily="34" charset="-120"/>
              </a:rPr>
              <a:t>V2 retained features (3/8)</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6484468" y="2148840"/>
            <a:ext cx="4892040" cy="224028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484468" y="2148840"/>
            <a:ext cx="1965960" cy="457200"/>
          </a:xfrm>
          <a:prstGeom prst="rect">
            <a:avLst/>
          </a:prstGeom>
          <a:solidFill>
            <a:srgbClr val="0B2A45"/>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6594196" y="2221992"/>
            <a:ext cx="1746504"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Feature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8450428" y="2148840"/>
            <a:ext cx="1097280" cy="457200"/>
          </a:xfrm>
          <a:prstGeom prst="rect">
            <a:avLst/>
          </a:prstGeom>
          <a:solidFill>
            <a:srgbClr val="0B2A45"/>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8560156" y="2221992"/>
            <a:ext cx="877824"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Coeff</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9547708" y="2148840"/>
            <a:ext cx="1828800" cy="457200"/>
          </a:xfrm>
          <a:prstGeom prst="rect">
            <a:avLst/>
          </a:prstGeom>
          <a:solidFill>
            <a:srgbClr val="0B2A45"/>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9657436" y="2221992"/>
            <a:ext cx="1609344"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Meaning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6484468" y="2606040"/>
            <a:ext cx="1965960" cy="594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6594196" y="2679192"/>
            <a:ext cx="1746504" cy="4480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20-day trailing vol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8450428" y="2606040"/>
            <a:ext cx="1097280" cy="594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8560156" y="2679192"/>
            <a:ext cx="877824" cy="4480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A3C4"/>
                </a:solidFill>
                <a:effectLst/>
                <a:uLnTx/>
                <a:uFillTx/>
                <a:latin typeface="Calibri" pitchFamily="34" charset="0"/>
                <a:ea typeface="Calibri" pitchFamily="34" charset="-122"/>
                <a:cs typeface="Calibri" pitchFamily="34" charset="-120"/>
              </a:rPr>
              <a:t>+0.0405</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9547708" y="2606040"/>
            <a:ext cx="1828800" cy="594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9657436" y="2679192"/>
            <a:ext cx="1609344" cy="4480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Still dominant; slightly smaller with VIX added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6484468" y="3200400"/>
            <a:ext cx="1965960" cy="594360"/>
          </a:xfrm>
          <a:prstGeom prst="rect">
            <a:avLst/>
          </a:prstGeom>
          <a:solidFill>
            <a:srgbClr val="F7FAFC"/>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3"/>
          <p:cNvSpPr/>
          <p:nvPr/>
        </p:nvSpPr>
        <p:spPr>
          <a:xfrm>
            <a:off x="6594196" y="3273552"/>
            <a:ext cx="1746504" cy="4480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Current vol</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8450428" y="3200400"/>
            <a:ext cx="1097280" cy="594360"/>
          </a:xfrm>
          <a:prstGeom prst="rect">
            <a:avLst/>
          </a:prstGeom>
          <a:solidFill>
            <a:srgbClr val="F7FAFC"/>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8560156" y="3273552"/>
            <a:ext cx="877824" cy="4480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A3C4"/>
                </a:solidFill>
                <a:effectLst/>
                <a:uLnTx/>
                <a:uFillTx/>
                <a:latin typeface="Calibri" pitchFamily="34" charset="0"/>
                <a:ea typeface="Calibri" pitchFamily="34" charset="-122"/>
                <a:cs typeface="Calibri" pitchFamily="34" charset="-120"/>
              </a:rPr>
              <a:t>+0.0323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9547708" y="3200400"/>
            <a:ext cx="1828800" cy="594360"/>
          </a:xfrm>
          <a:prstGeom prst="rect">
            <a:avLst/>
          </a:prstGeom>
          <a:solidFill>
            <a:srgbClr val="F7FAFC"/>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9657436" y="3273552"/>
            <a:ext cx="1609344" cy="4480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Recency remains informative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8"/>
          <p:cNvSpPr/>
          <p:nvPr/>
        </p:nvSpPr>
        <p:spPr>
          <a:xfrm>
            <a:off x="6484468" y="3794760"/>
            <a:ext cx="1965960" cy="594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p:cNvSpPr/>
          <p:nvPr/>
        </p:nvSpPr>
        <p:spPr>
          <a:xfrm>
            <a:off x="6594196" y="3867912"/>
            <a:ext cx="1746504" cy="4480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VIX</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Shape 50"/>
          <p:cNvSpPr/>
          <p:nvPr/>
        </p:nvSpPr>
        <p:spPr>
          <a:xfrm>
            <a:off x="8450428" y="3794760"/>
            <a:ext cx="1097280" cy="594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1"/>
          <p:cNvSpPr/>
          <p:nvPr/>
        </p:nvSpPr>
        <p:spPr>
          <a:xfrm>
            <a:off x="8560156" y="3867912"/>
            <a:ext cx="877824" cy="44805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A3C4"/>
                </a:solidFill>
                <a:effectLst/>
                <a:uLnTx/>
                <a:uFillTx/>
                <a:latin typeface="Calibri" pitchFamily="34" charset="0"/>
                <a:ea typeface="Calibri" pitchFamily="34" charset="-122"/>
                <a:cs typeface="Calibri" pitchFamily="34" charset="-120"/>
              </a:rPr>
              <a:t>+0.0293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2"/>
          <p:cNvSpPr/>
          <p:nvPr/>
        </p:nvSpPr>
        <p:spPr>
          <a:xfrm>
            <a:off x="9547708" y="3794760"/>
            <a:ext cx="1828800" cy="594360"/>
          </a:xfrm>
          <a:prstGeom prst="rect">
            <a:avLst/>
          </a:prstGeom>
          <a:solidFill>
            <a:srgbClr val="FFFFFF"/>
          </a:solidFill>
          <a:ln w="12700">
            <a:solidFill>
              <a:srgbClr val="D0D6D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3"/>
          <p:cNvSpPr/>
          <p:nvPr/>
        </p:nvSpPr>
        <p:spPr>
          <a:xfrm>
            <a:off x="9657436" y="3867912"/>
            <a:ext cx="1609344" cy="44805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000000"/>
                </a:solidFill>
                <a:effectLst/>
                <a:uLnTx/>
                <a:uFillTx/>
                <a:latin typeface="Calibri" pitchFamily="34" charset="0"/>
                <a:ea typeface="Calibri" pitchFamily="34" charset="-122"/>
                <a:cs typeface="Calibri" pitchFamily="34" charset="-120"/>
              </a:rPr>
              <a:t>Forward-looking implied volatility signal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7">
            <a:extLst>
              <a:ext uri="{FF2B5EF4-FFF2-40B4-BE49-F238E27FC236}">
                <a16:creationId xmlns:a16="http://schemas.microsoft.com/office/drawing/2014/main" id="{FD349E88-F102-AB6B-4A74-3AA11753C701}"/>
              </a:ext>
            </a:extLst>
          </p:cNvPr>
          <p:cNvSpPr/>
          <p:nvPr/>
        </p:nvSpPr>
        <p:spPr>
          <a:xfrm>
            <a:off x="6269791" y="4804524"/>
            <a:ext cx="5432908" cy="1255772"/>
          </a:xfrm>
          <a:prstGeom prst="rect">
            <a:avLst/>
          </a:prstGeom>
          <a:solidFill>
            <a:srgbClr val="D6F2FA"/>
          </a:solidFill>
          <a:ln w="12700">
            <a:solidFill>
              <a:srgbClr val="00A8C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61" name="Text 8">
            <a:extLst>
              <a:ext uri="{FF2B5EF4-FFF2-40B4-BE49-F238E27FC236}">
                <a16:creationId xmlns:a16="http://schemas.microsoft.com/office/drawing/2014/main" id="{6B13C97D-3A48-96FF-998F-CE8C71F1BDC5}"/>
              </a:ext>
            </a:extLst>
          </p:cNvPr>
          <p:cNvSpPr/>
          <p:nvPr/>
        </p:nvSpPr>
        <p:spPr>
          <a:xfrm>
            <a:off x="582152" y="4853724"/>
            <a:ext cx="5289987" cy="115736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0" marR="0" lvl="0" indent="0" algn="l" defTabSz="914400" rtl="0" eaLnBrk="1" fontAlgn="auto" latinLnBrk="0" hangingPunct="1">
              <a:lnSpc>
                <a:spcPct val="100000"/>
              </a:lnSpc>
              <a:spcBef>
                <a:spcPts val="0"/>
              </a:spcBef>
              <a:spcAft>
                <a:spcPts val="400"/>
              </a:spcAft>
              <a:buClr>
                <a:srgbClr val="1A1A2E"/>
              </a:buClr>
              <a:buSzTx/>
              <a:buFontTx/>
              <a:buNone/>
              <a:tabLst/>
              <a:defRPr/>
            </a:pPr>
            <a:r>
              <a:rPr kumimoji="0" lang="en-US" sz="1300" b="1" i="0" u="none" strike="noStrike" kern="1200" cap="none" spc="0" normalizeH="0" baseline="0" noProof="0" dirty="0">
                <a:ln>
                  <a:noFill/>
                </a:ln>
                <a:solidFill>
                  <a:srgbClr val="2E7D32"/>
                </a:solidFill>
                <a:effectLst/>
                <a:uLnTx/>
                <a:uFillTx/>
                <a:latin typeface="Calibri" panose="020F0502020204030204"/>
                <a:ea typeface="Calibri" pitchFamily="34" charset="-122"/>
                <a:cs typeface="Calibri" pitchFamily="34" charset="-120"/>
              </a:rPr>
              <a:t>V1 Economic Meaning: Volatility</a:t>
            </a:r>
            <a:endParaRPr kumimoji="0" lang="en-US" sz="1300" b="1" i="0" u="none" strike="noStrike" kern="1200" cap="none" spc="0" normalizeH="0" baseline="0" noProof="0" dirty="0">
              <a:ln>
                <a:noFill/>
              </a:ln>
              <a:solidFill>
                <a:srgbClr val="1A1A2E"/>
              </a:solidFill>
              <a:effectLst/>
              <a:uLnTx/>
              <a:uFillTx/>
              <a:latin typeface="Calibri" panose="020F0502020204030204"/>
              <a:ea typeface="Calibri"/>
              <a:cs typeface="+mn-cs"/>
            </a:endParaRPr>
          </a:p>
          <a:p>
            <a:pPr marL="171450" marR="0" lvl="0" indent="-171450" algn="l" defTabSz="914400" rtl="0" eaLnBrk="1" fontAlgn="auto" latinLnBrk="0" hangingPunct="1">
              <a:lnSpc>
                <a:spcPct val="100000"/>
              </a:lnSpc>
              <a:spcBef>
                <a:spcPts val="0"/>
              </a:spcBef>
              <a:spcAft>
                <a:spcPts val="600"/>
              </a:spcAft>
              <a:buClr>
                <a:srgbClr val="1A1A2E"/>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1A1A2E"/>
                </a:solidFill>
                <a:effectLst/>
                <a:uLnTx/>
                <a:uFillTx/>
                <a:latin typeface="Calibri" panose="020F0502020204030204"/>
                <a:ea typeface="Calibri"/>
                <a:cs typeface="+mn-cs"/>
              </a:rPr>
              <a:t>Both coefficients are positive</a:t>
            </a:r>
          </a:p>
          <a:p>
            <a:pPr marL="171450" marR="0" lvl="0" indent="-171450" algn="l" defTabSz="914400" rtl="0" eaLnBrk="1" fontAlgn="auto" latinLnBrk="0" hangingPunct="1">
              <a:lnSpc>
                <a:spcPct val="100000"/>
              </a:lnSpc>
              <a:spcBef>
                <a:spcPts val="0"/>
              </a:spcBef>
              <a:spcAft>
                <a:spcPts val="600"/>
              </a:spcAft>
              <a:buClr>
                <a:srgbClr val="1A1A2E"/>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1A1A2E"/>
                </a:solidFill>
                <a:effectLst/>
                <a:uLnTx/>
                <a:uFillTx/>
                <a:latin typeface="Calibri" panose="020F0502020204030204"/>
                <a:ea typeface="Calibri"/>
                <a:cs typeface="+mn-cs"/>
              </a:rPr>
              <a:t>20-day trailing volatility is the stronger signal</a:t>
            </a:r>
          </a:p>
          <a:p>
            <a:pPr marL="171450" marR="0" lvl="0" indent="-171450" algn="l" defTabSz="914400" rtl="0" eaLnBrk="1" fontAlgn="auto" latinLnBrk="0" hangingPunct="1">
              <a:lnSpc>
                <a:spcPct val="100000"/>
              </a:lnSpc>
              <a:spcBef>
                <a:spcPts val="0"/>
              </a:spcBef>
              <a:spcAft>
                <a:spcPts val="600"/>
              </a:spcAft>
              <a:buClr>
                <a:srgbClr val="1A1A2E"/>
              </a:buClr>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Calibri" panose="020F0502020204030204"/>
                <a:ea typeface="+mn-ea"/>
                <a:cs typeface="+mn-cs"/>
              </a:rPr>
              <a:t>Current volatility recency</a:t>
            </a:r>
          </a:p>
          <a:p>
            <a:pPr marL="171450" marR="0" lvl="0" indent="-171450" algn="l" defTabSz="914400" rtl="0" eaLnBrk="1" fontAlgn="auto" latinLnBrk="0" hangingPunct="1">
              <a:lnSpc>
                <a:spcPct val="100000"/>
              </a:lnSpc>
              <a:spcBef>
                <a:spcPts val="0"/>
              </a:spcBef>
              <a:spcAft>
                <a:spcPts val="601"/>
              </a:spcAft>
              <a:buClr>
                <a:srgbClr val="1A1A2E"/>
              </a:buClr>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0" name="Text 8">
            <a:extLst>
              <a:ext uri="{FF2B5EF4-FFF2-40B4-BE49-F238E27FC236}">
                <a16:creationId xmlns:a16="http://schemas.microsoft.com/office/drawing/2014/main" id="{CCF61E46-DCB3-164B-99B6-3C57DF654206}"/>
              </a:ext>
            </a:extLst>
          </p:cNvPr>
          <p:cNvSpPr/>
          <p:nvPr/>
        </p:nvSpPr>
        <p:spPr>
          <a:xfrm>
            <a:off x="6338571" y="4853725"/>
            <a:ext cx="5295347" cy="99843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400"/>
              </a:spcAft>
              <a:buClrTx/>
              <a:buSzTx/>
              <a:buFontTx/>
              <a:buNone/>
              <a:tabLst>
                <a:tab pos="0" algn="l"/>
              </a:tabLst>
              <a:defRPr/>
            </a:pPr>
            <a:r>
              <a:rPr kumimoji="0" lang="en-US" sz="1400" b="1" i="0" u="none" strike="noStrike" kern="1200" cap="none" spc="0" normalizeH="0" baseline="0" noProof="0" dirty="0">
                <a:ln>
                  <a:noFill/>
                </a:ln>
                <a:solidFill>
                  <a:srgbClr val="00A3C4"/>
                </a:solidFill>
                <a:effectLst/>
                <a:uLnTx/>
                <a:uFillTx/>
                <a:latin typeface="Calibri" pitchFamily="34" charset="0"/>
                <a:ea typeface="Calibri" pitchFamily="34" charset="-122"/>
                <a:cs typeface="Calibri" pitchFamily="34" charset="-120"/>
              </a:rPr>
              <a:t>V2: Why VIX Survives</a:t>
            </a:r>
            <a:endParaRPr kumimoji="0" lang="en-US" sz="1300" b="1" i="0" u="none" strike="noStrike" kern="1200" cap="none" spc="0" normalizeH="0" baseline="0" noProof="0" dirty="0">
              <a:ln>
                <a:noFill/>
              </a:ln>
              <a:solidFill>
                <a:srgbClr val="1A1A2E"/>
              </a:solidFill>
              <a:effectLst/>
              <a:uLnTx/>
              <a:uFillTx/>
              <a:latin typeface="Calibri" panose="020F0502020204030204"/>
              <a:ea typeface="Calibri"/>
              <a:cs typeface="+mn-cs"/>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0" algn="l"/>
              </a:tabLst>
              <a:defRPr/>
            </a:pPr>
            <a:r>
              <a:rPr kumimoji="0" lang="en-US" sz="1200" b="1" i="0" u="none" strike="noStrike" kern="1200" cap="none" spc="0" normalizeH="0" baseline="0" noProof="0" dirty="0">
                <a:ln>
                  <a:noFill/>
                </a:ln>
                <a:solidFill>
                  <a:srgbClr val="1A1A2E"/>
                </a:solidFill>
                <a:effectLst/>
                <a:uLnTx/>
                <a:uFillTx/>
                <a:latin typeface="Calibri" panose="020F0502020204030204"/>
                <a:ea typeface="Calibri"/>
                <a:cs typeface="+mn-cs"/>
              </a:rPr>
              <a:t>VIX forward-looking, while the other retained volatility measures are backward-looking.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0" algn="l"/>
              </a:tabLst>
              <a:defRPr/>
            </a:pPr>
            <a:r>
              <a:rPr kumimoji="0" lang="en-US" sz="1200" b="1" i="0" u="none" strike="noStrike" kern="1200" cap="none" spc="0" normalizeH="0" baseline="0" noProof="0" dirty="0">
                <a:ln>
                  <a:noFill/>
                </a:ln>
                <a:solidFill>
                  <a:srgbClr val="000000"/>
                </a:solidFill>
                <a:effectLst/>
                <a:uLnTx/>
                <a:uFillTx/>
                <a:latin typeface="Calibri" panose="020F0502020204030204"/>
                <a:ea typeface="+mn-ea"/>
                <a:cs typeface="+mn-cs"/>
              </a:rPr>
              <a:t>That gives VIX unique predictive value in V2.</a:t>
            </a:r>
          </a:p>
        </p:txBody>
      </p:sp>
      <p:sp>
        <p:nvSpPr>
          <p:cNvPr id="101" name="Text 5">
            <a:extLst>
              <a:ext uri="{FF2B5EF4-FFF2-40B4-BE49-F238E27FC236}">
                <a16:creationId xmlns:a16="http://schemas.microsoft.com/office/drawing/2014/main" id="{93BDD627-9A92-B266-94CA-7154B61271BB}"/>
              </a:ext>
            </a:extLst>
          </p:cNvPr>
          <p:cNvSpPr/>
          <p:nvPr/>
        </p:nvSpPr>
        <p:spPr>
          <a:xfrm>
            <a:off x="520882" y="896111"/>
            <a:ext cx="5432908" cy="53035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300" b="1" i="0" u="none" strike="noStrike" kern="1200" cap="none" spc="0" normalizeH="0" baseline="0" noProof="0" dirty="0">
                <a:ln>
                  <a:noFill/>
                </a:ln>
                <a:solidFill>
                  <a:prstClr val="black"/>
                </a:solidFill>
                <a:effectLst/>
                <a:uLnTx/>
                <a:uFillTx/>
                <a:latin typeface="Calibri" panose="020F0502020204030204"/>
                <a:ea typeface="+mn-ea"/>
                <a:cs typeface="+mn-cs"/>
              </a:rPr>
              <a:t>V1 retains two current-state volatility features.</a:t>
            </a: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300" b="1" i="0" u="none" strike="noStrike" kern="1200" cap="none" spc="0" normalizeH="0" baseline="0" noProof="0" dirty="0">
                <a:ln>
                  <a:noFill/>
                </a:ln>
                <a:solidFill>
                  <a:prstClr val="black"/>
                </a:solidFill>
                <a:effectLst/>
                <a:uLnTx/>
                <a:uFillTx/>
                <a:latin typeface="Calibri" panose="020F0502020204030204"/>
                <a:ea typeface="+mn-ea"/>
                <a:cs typeface="+mn-cs"/>
              </a:rPr>
              <a:t>20-day trailing volatility term is the stronger predictor.</a:t>
            </a:r>
            <a:endParaRPr kumimoji="0" lang="en-US" sz="1300" b="1" i="0" u="none" strike="noStrike" kern="1200" cap="none" spc="0" normalizeH="0" baseline="0" noProof="0" dirty="0">
              <a:ln>
                <a:noFill/>
              </a:ln>
              <a:solidFill>
                <a:prstClr val="black"/>
              </a:solidFill>
              <a:effectLst/>
              <a:uLnTx/>
              <a:uFillTx/>
              <a:latin typeface="Arial"/>
              <a:ea typeface="+mn-ea"/>
              <a:cs typeface="+mn-cs"/>
            </a:endParaRPr>
          </a:p>
        </p:txBody>
      </p:sp>
      <p:sp>
        <p:nvSpPr>
          <p:cNvPr id="102" name="Text 5">
            <a:extLst>
              <a:ext uri="{FF2B5EF4-FFF2-40B4-BE49-F238E27FC236}">
                <a16:creationId xmlns:a16="http://schemas.microsoft.com/office/drawing/2014/main" id="{F4A5F84F-65E6-8FA9-813D-75D3989A7BBE}"/>
              </a:ext>
            </a:extLst>
          </p:cNvPr>
          <p:cNvSpPr/>
          <p:nvPr/>
        </p:nvSpPr>
        <p:spPr>
          <a:xfrm>
            <a:off x="6255868" y="896110"/>
            <a:ext cx="5432907" cy="53035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300" b="1" i="0" u="none" strike="noStrike" kern="1200" cap="none" spc="0" normalizeH="0" baseline="0" noProof="0" dirty="0">
                <a:ln>
                  <a:noFill/>
                </a:ln>
                <a:solidFill>
                  <a:prstClr val="black"/>
                </a:solidFill>
                <a:effectLst/>
                <a:uLnTx/>
                <a:uFillTx/>
                <a:latin typeface="Calibri"/>
                <a:ea typeface="Calibri"/>
                <a:cs typeface="+mn-cs"/>
              </a:rPr>
              <a:t>V2 adds six macro and market features. </a:t>
            </a: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300" b="1" i="0" u="none" strike="noStrike" kern="1200" cap="none" spc="0" normalizeH="0" baseline="0" noProof="0" dirty="0">
                <a:ln>
                  <a:noFill/>
                </a:ln>
                <a:solidFill>
                  <a:prstClr val="black"/>
                </a:solidFill>
                <a:effectLst/>
                <a:uLnTx/>
                <a:uFillTx/>
                <a:latin typeface="Calibri"/>
                <a:ea typeface="Calibri"/>
                <a:cs typeface="+mn-cs"/>
              </a:rPr>
              <a:t>Only VIX is retained; the others are shrunk to zero. </a:t>
            </a:r>
            <a:endParaRPr kumimoji="0" lang="en-US" sz="1300" b="1" i="0" u="none" strike="noStrike" kern="1200" cap="none" spc="0" normalizeH="0" baseline="0" noProof="0" dirty="0">
              <a:ln>
                <a:noFill/>
              </a:ln>
              <a:solidFill>
                <a:prstClr val="black"/>
              </a:solidFill>
              <a:effectLst/>
              <a:uLnTx/>
              <a:uFillTx/>
              <a:latin typeface="Arial"/>
              <a:ea typeface="+mn-ea"/>
              <a:cs typeface="+mn-cs"/>
            </a:endParaRPr>
          </a:p>
        </p:txBody>
      </p:sp>
      <p:sp>
        <p:nvSpPr>
          <p:cNvPr id="56" name="Text 3">
            <a:extLst>
              <a:ext uri="{FF2B5EF4-FFF2-40B4-BE49-F238E27FC236}">
                <a16:creationId xmlns:a16="http://schemas.microsoft.com/office/drawing/2014/main" id="{881F9AEE-4A6C-8B73-1042-3CBAAB706B31}"/>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193" name="Shape 0"/>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94" name="Text 1"/>
          <p:cNvSpPr/>
          <p:nvPr/>
        </p:nvSpPr>
        <p:spPr>
          <a:xfrm>
            <a:off x="341280" y="48960"/>
            <a:ext cx="1158192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Conclusions</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195" name="Shape 2"/>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98" name="Shape 4"/>
          <p:cNvSpPr/>
          <p:nvPr/>
        </p:nvSpPr>
        <p:spPr>
          <a:xfrm>
            <a:off x="219600" y="1045032"/>
            <a:ext cx="11752800" cy="2339365"/>
          </a:xfrm>
          <a:prstGeom prst="rect">
            <a:avLst/>
          </a:prstGeom>
          <a:solidFill>
            <a:srgbClr val="D6F2FA"/>
          </a:solidFill>
          <a:ln w="19050">
            <a:solidFill>
              <a:srgbClr val="00A8CC"/>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199" name="Text 5"/>
          <p:cNvSpPr/>
          <p:nvPr/>
        </p:nvSpPr>
        <p:spPr>
          <a:xfrm>
            <a:off x="341520" y="1103040"/>
            <a:ext cx="353520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Key Conclusions</a:t>
            </a:r>
            <a:endParaRPr kumimoji="0" lang="en-US" sz="1733" b="0" i="0" u="none" strike="noStrike" kern="1200" cap="none" spc="0" normalizeH="0" baseline="0" noProof="0" dirty="0">
              <a:ln>
                <a:noFill/>
              </a:ln>
              <a:solidFill>
                <a:srgbClr val="000000"/>
              </a:solidFill>
              <a:effectLst/>
              <a:uLnTx/>
              <a:uFillTx/>
              <a:latin typeface="Arial"/>
              <a:ea typeface="+mn-ea"/>
              <a:cs typeface="+mn-cs"/>
            </a:endParaRPr>
          </a:p>
        </p:txBody>
      </p:sp>
      <p:sp>
        <p:nvSpPr>
          <p:cNvPr id="200" name="Text 6"/>
          <p:cNvSpPr/>
          <p:nvPr/>
        </p:nvSpPr>
        <p:spPr>
          <a:xfrm>
            <a:off x="341520" y="1468321"/>
            <a:ext cx="11423520" cy="1825508"/>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228594" marR="0" lvl="0" indent="-228594" algn="l" defTabSz="1219170" rtl="0" eaLnBrk="1" fontAlgn="auto" latinLnBrk="0" hangingPunct="1">
              <a:lnSpc>
                <a:spcPct val="100000"/>
              </a:lnSpc>
              <a:spcBef>
                <a:spcPts val="0"/>
              </a:spcBef>
              <a:spcAft>
                <a:spcPts val="665"/>
              </a:spcAft>
              <a:buClr>
                <a:srgbClr val="1A1A2E"/>
              </a:buClr>
              <a:buSzTx/>
              <a:buFont typeface="Arial" panose="020B0604020202020204" pitchFamily="34" charset="0"/>
              <a:buChar char="•"/>
              <a:tabLst/>
              <a:defRPr/>
            </a:pPr>
            <a:r>
              <a:rPr kumimoji="0" lang="en-US" sz="1600" b="1" i="0" u="none" strike="noStrike" kern="1200" cap="none" spc="0" normalizeH="0" baseline="0" noProof="0" dirty="0">
                <a:ln>
                  <a:noFill/>
                </a:ln>
                <a:solidFill>
                  <a:srgbClr val="1A1A2E"/>
                </a:solidFill>
                <a:effectLst/>
                <a:uLnTx/>
                <a:uFillTx/>
                <a:latin typeface="Calibri" panose="020F0502020204030204"/>
                <a:ea typeface="Calibri"/>
                <a:cs typeface="+mn-cs"/>
              </a:rPr>
              <a:t>V1 showed that current-state volatility features carry real predictive signal.</a:t>
            </a:r>
          </a:p>
          <a:p>
            <a:pPr marL="228594" marR="0" lvl="0" indent="-228594" algn="l" defTabSz="1219170" rtl="0" eaLnBrk="1" fontAlgn="auto" latinLnBrk="0" hangingPunct="1">
              <a:lnSpc>
                <a:spcPct val="100000"/>
              </a:lnSpc>
              <a:spcBef>
                <a:spcPts val="0"/>
              </a:spcBef>
              <a:spcAft>
                <a:spcPts val="665"/>
              </a:spcAft>
              <a:buClr>
                <a:srgbClr val="1A1A2E"/>
              </a:buClr>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V2 improved on V1 modestly, and most of that improvement came from VIX.</a:t>
            </a:r>
          </a:p>
          <a:p>
            <a:pPr marL="228594" marR="0" lvl="0" indent="-228594" algn="l" defTabSz="1219170" rtl="0" eaLnBrk="1" fontAlgn="auto" latinLnBrk="0" hangingPunct="1">
              <a:lnSpc>
                <a:spcPct val="100000"/>
              </a:lnSpc>
              <a:spcBef>
                <a:spcPts val="0"/>
              </a:spcBef>
              <a:spcAft>
                <a:spcPts val="665"/>
              </a:spcAft>
              <a:buClr>
                <a:srgbClr val="1A1A2E"/>
              </a:buClr>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V2 was the best Elastic Net model, but XGBoost remained the strongest benchmark on test MAE.</a:t>
            </a:r>
          </a:p>
          <a:p>
            <a:pPr marL="228594" marR="0" lvl="0" indent="-228594" algn="l" defTabSz="1219170" rtl="0" eaLnBrk="1" fontAlgn="auto" latinLnBrk="0" hangingPunct="1">
              <a:lnSpc>
                <a:spcPct val="100000"/>
              </a:lnSpc>
              <a:spcBef>
                <a:spcPts val="0"/>
              </a:spcBef>
              <a:spcAft>
                <a:spcPts val="665"/>
              </a:spcAft>
              <a:buClr>
                <a:srgbClr val="1A1A2E"/>
              </a:buClr>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All retained coefficients were positive, consistent with volatility clustering and persistence.</a:t>
            </a:r>
          </a:p>
          <a:p>
            <a:pPr marL="228594" marR="0" lvl="0" indent="-228594" algn="l" defTabSz="1219170" rtl="0" eaLnBrk="1" fontAlgn="auto" latinLnBrk="0" hangingPunct="1">
              <a:lnSpc>
                <a:spcPct val="100000"/>
              </a:lnSpc>
              <a:spcBef>
                <a:spcPts val="0"/>
              </a:spcBef>
              <a:spcAft>
                <a:spcPts val="665"/>
              </a:spcAft>
              <a:buClr>
                <a:srgbClr val="1A1A2E"/>
              </a:buClr>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Overall, Elastic Net provided a transparent and interpretable benchmark for the project.</a:t>
            </a:r>
          </a:p>
        </p:txBody>
      </p:sp>
      <p:sp>
        <p:nvSpPr>
          <p:cNvPr id="4" name="Text 3">
            <a:extLst>
              <a:ext uri="{FF2B5EF4-FFF2-40B4-BE49-F238E27FC236}">
                <a16:creationId xmlns:a16="http://schemas.microsoft.com/office/drawing/2014/main" id="{17A2A655-8549-7660-86C1-DDB5E5BE378B}"/>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2340"/>
        </a:solidFill>
        <a:effectLst/>
      </p:bgPr>
    </p:bg>
    <p:spTree>
      <p:nvGrpSpPr>
        <p:cNvPr id="1" name="">
          <a:extLst>
            <a:ext uri="{FF2B5EF4-FFF2-40B4-BE49-F238E27FC236}">
              <a16:creationId xmlns:a16="http://schemas.microsoft.com/office/drawing/2014/main" id="{B1404D75-18BC-D665-23F3-A867A7E049BA}"/>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DAA6D360-E1CA-306B-37C2-AC6AFA2269C8}"/>
              </a:ext>
            </a:extLst>
          </p:cNvPr>
          <p:cNvSpPr/>
          <p:nvPr/>
        </p:nvSpPr>
        <p:spPr>
          <a:xfrm>
            <a:off x="0" y="0"/>
            <a:ext cx="145920" cy="685776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9" name="Text 1">
            <a:extLst>
              <a:ext uri="{FF2B5EF4-FFF2-40B4-BE49-F238E27FC236}">
                <a16:creationId xmlns:a16="http://schemas.microsoft.com/office/drawing/2014/main" id="{F98C06AD-E53E-F165-88DB-3EAF6EFEC227}"/>
              </a:ext>
            </a:extLst>
          </p:cNvPr>
          <p:cNvSpPr/>
          <p:nvPr/>
        </p:nvSpPr>
        <p:spPr>
          <a:xfrm>
            <a:off x="426720" y="975360"/>
            <a:ext cx="11338080" cy="2100943"/>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6400" b="1" i="0" u="none" strike="noStrike" kern="1200" cap="none" spc="0" normalizeH="0" baseline="0" noProof="0" dirty="0">
                <a:ln>
                  <a:noFill/>
                </a:ln>
                <a:solidFill>
                  <a:srgbClr val="FFFFFF"/>
                </a:solidFill>
                <a:effectLst/>
                <a:uLnTx/>
                <a:uFillTx/>
                <a:latin typeface="Calibri"/>
                <a:ea typeface="Calibri"/>
                <a:cs typeface="+mn-cs"/>
              </a:rPr>
              <a:t>Long Short-Term Memory (LSTM)</a:t>
            </a:r>
            <a:endParaRPr kumimoji="0" lang="en-US" sz="64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Shape 2">
            <a:extLst>
              <a:ext uri="{FF2B5EF4-FFF2-40B4-BE49-F238E27FC236}">
                <a16:creationId xmlns:a16="http://schemas.microsoft.com/office/drawing/2014/main" id="{F311261F-24A4-01E6-D62D-0B0ABFFA3480}"/>
              </a:ext>
            </a:extLst>
          </p:cNvPr>
          <p:cNvSpPr/>
          <p:nvPr/>
        </p:nvSpPr>
        <p:spPr>
          <a:xfrm>
            <a:off x="426720" y="3596640"/>
            <a:ext cx="11460000" cy="4848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11040" rIns="120000" bIns="-1104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 4">
            <a:extLst>
              <a:ext uri="{FF2B5EF4-FFF2-40B4-BE49-F238E27FC236}">
                <a16:creationId xmlns:a16="http://schemas.microsoft.com/office/drawing/2014/main" id="{256D60BD-02FD-FD3C-5C21-8889B537CFBE}"/>
              </a:ext>
            </a:extLst>
          </p:cNvPr>
          <p:cNvSpPr/>
          <p:nvPr/>
        </p:nvSpPr>
        <p:spPr>
          <a:xfrm>
            <a:off x="426720" y="5608320"/>
            <a:ext cx="113380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1733" b="0" i="0" u="none" strike="noStrike" kern="1200" cap="none" spc="0" normalizeH="0" baseline="0" noProof="0" dirty="0">
                <a:ln>
                  <a:noFill/>
                </a:ln>
                <a:solidFill>
                  <a:srgbClr val="AAAACC"/>
                </a:solidFill>
                <a:effectLst/>
                <a:uLnTx/>
                <a:uFillTx/>
                <a:latin typeface="Calibri"/>
                <a:ea typeface="Calibri"/>
                <a:cs typeface="+mn-cs"/>
              </a:rPr>
              <a:t>DS 207 Final Project  ·  Team: Greed and Fear  ·  Author: Sid Sridhar ·  March 27, 2026</a:t>
            </a:r>
            <a:endParaRPr kumimoji="0" lang="en-US" sz="1733"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67249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0AA3E-DD9D-E481-47D0-88773419ABCC}"/>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26F6B927-685C-5FCC-F4E6-FC44E1A0E95C}"/>
              </a:ext>
            </a:extLst>
          </p:cNvPr>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33" name="Text 1">
            <a:extLst>
              <a:ext uri="{FF2B5EF4-FFF2-40B4-BE49-F238E27FC236}">
                <a16:creationId xmlns:a16="http://schemas.microsoft.com/office/drawing/2014/main" id="{25C58D38-4DE4-B6AB-FCC3-5306E40496C5}"/>
              </a:ext>
            </a:extLst>
          </p:cNvPr>
          <p:cNvSpPr/>
          <p:nvPr/>
        </p:nvSpPr>
        <p:spPr>
          <a:xfrm>
            <a:off x="341280" y="48960"/>
            <a:ext cx="1060656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What Is LSTM?</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35" name="Shape 3">
            <a:extLst>
              <a:ext uri="{FF2B5EF4-FFF2-40B4-BE49-F238E27FC236}">
                <a16:creationId xmlns:a16="http://schemas.microsoft.com/office/drawing/2014/main" id="{BDB16DC3-50EA-C67D-A0E3-0AE7F5EE7DB6}"/>
              </a:ext>
            </a:extLst>
          </p:cNvPr>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37" name="Text 5">
            <a:extLst>
              <a:ext uri="{FF2B5EF4-FFF2-40B4-BE49-F238E27FC236}">
                <a16:creationId xmlns:a16="http://schemas.microsoft.com/office/drawing/2014/main" id="{E2EBA8D9-B643-F8FF-A0EE-595CAB50451A}"/>
              </a:ext>
            </a:extLst>
          </p:cNvPr>
          <p:cNvSpPr/>
          <p:nvPr/>
        </p:nvSpPr>
        <p:spPr>
          <a:xfrm>
            <a:off x="219360" y="731520"/>
            <a:ext cx="58516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endParaRPr kumimoji="0" lang="en-US" sz="1733" b="0" i="0" u="none" strike="noStrike" kern="1200" cap="none" spc="0" normalizeH="0" baseline="0" noProof="0" dirty="0">
              <a:ln>
                <a:noFill/>
              </a:ln>
              <a:solidFill>
                <a:srgbClr val="000000"/>
              </a:solidFill>
              <a:effectLst/>
              <a:uLnTx/>
              <a:uFillTx/>
              <a:latin typeface="Arial"/>
              <a:ea typeface="+mn-ea"/>
              <a:cs typeface="+mn-cs"/>
            </a:endParaRPr>
          </a:p>
        </p:txBody>
      </p:sp>
      <p:sp>
        <p:nvSpPr>
          <p:cNvPr id="39" name="Shape 7">
            <a:extLst>
              <a:ext uri="{FF2B5EF4-FFF2-40B4-BE49-F238E27FC236}">
                <a16:creationId xmlns:a16="http://schemas.microsoft.com/office/drawing/2014/main" id="{06FA4B7B-F18B-148C-983C-E15E53CB0E40}"/>
              </a:ext>
            </a:extLst>
          </p:cNvPr>
          <p:cNvSpPr/>
          <p:nvPr/>
        </p:nvSpPr>
        <p:spPr>
          <a:xfrm>
            <a:off x="219360" y="3887896"/>
            <a:ext cx="5510400" cy="1950331"/>
          </a:xfrm>
          <a:prstGeom prst="rect">
            <a:avLst/>
          </a:prstGeom>
          <a:solidFill>
            <a:srgbClr val="D6F2FA"/>
          </a:solidFill>
          <a:ln w="19050">
            <a:solidFill>
              <a:srgbClr val="00A8CC"/>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342900" lvl="0" indent="-342900" defTabSz="1219170">
              <a:buFont typeface="Arial" panose="020B0604020202020204" pitchFamily="34" charset="0"/>
              <a:buChar char="•"/>
              <a:defRPr/>
            </a:pPr>
            <a:endParaRPr lang="en-US" sz="1400" dirty="0">
              <a:solidFill>
                <a:srgbClr val="000000"/>
              </a:solidFill>
            </a:endParaRPr>
          </a:p>
          <a:p>
            <a:pPr marL="342900" lvl="0" indent="-342900" defTabSz="1219170">
              <a:buFont typeface="Arial" panose="020B0604020202020204" pitchFamily="34" charset="0"/>
              <a:buChar char="•"/>
              <a:defRPr/>
            </a:pPr>
            <a:endParaRPr lang="en-US" sz="1400" dirty="0">
              <a:solidFill>
                <a:srgbClr val="000000"/>
              </a:solidFill>
            </a:endParaRPr>
          </a:p>
          <a:p>
            <a:pPr marL="342900" lvl="0" indent="-342900" defTabSz="1219170">
              <a:buFont typeface="Arial" panose="020B0604020202020204" pitchFamily="34" charset="0"/>
              <a:buChar char="•"/>
              <a:defRPr/>
            </a:pPr>
            <a:r>
              <a:rPr lang="en-US" sz="1400" dirty="0">
                <a:solidFill>
                  <a:srgbClr val="000000"/>
                </a:solidFill>
              </a:rPr>
              <a:t>LSTM sees short term dynamics in feature window</a:t>
            </a:r>
          </a:p>
          <a:p>
            <a:pPr marL="342900" lvl="0" indent="-342900" defTabSz="1219170">
              <a:buFont typeface="Arial" panose="020B0604020202020204" pitchFamily="34" charset="0"/>
              <a:buChar char="•"/>
              <a:defRPr/>
            </a:pPr>
            <a:r>
              <a:rPr lang="en-US" sz="1400" dirty="0">
                <a:solidFill>
                  <a:srgbClr val="000000"/>
                </a:solidFill>
              </a:rPr>
              <a:t>Adds memory without lag/moving average columns</a:t>
            </a:r>
          </a:p>
          <a:p>
            <a:pPr marL="800100" lvl="1" indent="-342900" defTabSz="1219170">
              <a:buFont typeface="Arial" panose="020B0604020202020204" pitchFamily="34" charset="0"/>
              <a:buChar char="•"/>
              <a:defRPr/>
            </a:pPr>
            <a:r>
              <a:rPr lang="en-US" sz="1400" dirty="0">
                <a:solidFill>
                  <a:srgbClr val="000000"/>
                </a:solidFill>
              </a:rPr>
              <a:t>Each is its own feature</a:t>
            </a:r>
          </a:p>
        </p:txBody>
      </p:sp>
      <p:sp>
        <p:nvSpPr>
          <p:cNvPr id="41" name="Text 9">
            <a:extLst>
              <a:ext uri="{FF2B5EF4-FFF2-40B4-BE49-F238E27FC236}">
                <a16:creationId xmlns:a16="http://schemas.microsoft.com/office/drawing/2014/main" id="{1E4DBCD9-93AB-7F43-2D98-E263ABF58122}"/>
              </a:ext>
            </a:extLst>
          </p:cNvPr>
          <p:cNvSpPr/>
          <p:nvPr/>
        </p:nvSpPr>
        <p:spPr>
          <a:xfrm>
            <a:off x="243840" y="3985826"/>
            <a:ext cx="5242080" cy="1237877"/>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Bottom Line</a:t>
            </a:r>
          </a:p>
        </p:txBody>
      </p:sp>
      <p:sp>
        <p:nvSpPr>
          <p:cNvPr id="43" name="Shape 11">
            <a:extLst>
              <a:ext uri="{FF2B5EF4-FFF2-40B4-BE49-F238E27FC236}">
                <a16:creationId xmlns:a16="http://schemas.microsoft.com/office/drawing/2014/main" id="{B6F3A3CA-0F57-496E-CB14-926539EAB3D1}"/>
              </a:ext>
            </a:extLst>
          </p:cNvPr>
          <p:cNvSpPr/>
          <p:nvPr/>
        </p:nvSpPr>
        <p:spPr>
          <a:xfrm>
            <a:off x="6096000" y="1121760"/>
            <a:ext cx="5876160" cy="2584608"/>
          </a:xfrm>
          <a:prstGeom prst="rect">
            <a:avLst/>
          </a:prstGeom>
          <a:solidFill>
            <a:srgbClr val="D5F5E3"/>
          </a:solidFill>
          <a:ln w="19050">
            <a:solidFill>
              <a:srgbClr val="1E8449"/>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a:p>
            <a:pPr marL="342900" lvl="0" indent="-342900" defTabSz="1219170">
              <a:buFont typeface="Arial" panose="020B0604020202020204" pitchFamily="34" charset="0"/>
              <a:buChar char="•"/>
              <a:defRPr/>
            </a:pPr>
            <a:r>
              <a:rPr lang="en-US" sz="1400" dirty="0">
                <a:solidFill>
                  <a:srgbClr val="000000"/>
                </a:solidFill>
              </a:rPr>
              <a:t>Works well with sequential data </a:t>
            </a:r>
          </a:p>
          <a:p>
            <a:pPr marL="800100" lvl="1" indent="-342900" defTabSz="1219170">
              <a:buFont typeface="Arial" panose="020B0604020202020204" pitchFamily="34" charset="0"/>
              <a:buChar char="•"/>
              <a:defRPr/>
            </a:pPr>
            <a:r>
              <a:rPr lang="en-US" sz="1400" dirty="0">
                <a:solidFill>
                  <a:srgbClr val="000000"/>
                </a:solidFill>
              </a:rPr>
              <a:t>time series forecasting</a:t>
            </a:r>
          </a:p>
          <a:p>
            <a:pPr marL="342900" indent="-342900" defTabSz="1219170">
              <a:buFont typeface="Arial" panose="020B0604020202020204" pitchFamily="34" charset="0"/>
              <a:buChar char="•"/>
              <a:defRPr/>
            </a:pPr>
            <a:r>
              <a:rPr lang="en-US" sz="1400" dirty="0">
                <a:solidFill>
                  <a:srgbClr val="000000"/>
                </a:solidFill>
              </a:rPr>
              <a:t>Memory cell tracks the volatility over the past few days</a:t>
            </a:r>
          </a:p>
          <a:p>
            <a:pPr marL="800100" lvl="1" indent="-342900" defTabSz="1219170">
              <a:buFont typeface="Arial" panose="020B0604020202020204" pitchFamily="34" charset="0"/>
              <a:buChar char="•"/>
              <a:defRPr/>
            </a:pPr>
            <a:r>
              <a:rPr lang="en-US" sz="1400" dirty="0">
                <a:solidFill>
                  <a:srgbClr val="000000"/>
                </a:solidFill>
              </a:rPr>
              <a:t>Like a moving average</a:t>
            </a:r>
          </a:p>
          <a:p>
            <a:pPr marL="342900" indent="-342900" defTabSz="1219170">
              <a:buFont typeface="Arial" panose="020B0604020202020204" pitchFamily="34" charset="0"/>
              <a:buChar char="•"/>
              <a:defRPr/>
            </a:pPr>
            <a:r>
              <a:rPr lang="en-US" sz="1400" dirty="0">
                <a:solidFill>
                  <a:srgbClr val="000000"/>
                </a:solidFill>
              </a:rPr>
              <a:t>Good for volatility tracking</a:t>
            </a:r>
          </a:p>
          <a:p>
            <a:pPr marL="800100" lvl="1" indent="-342900" defTabSz="1219170">
              <a:buFont typeface="Arial" panose="020B0604020202020204" pitchFamily="34" charset="0"/>
              <a:buChar char="•"/>
              <a:defRPr/>
            </a:pPr>
            <a:r>
              <a:rPr lang="en-US" sz="1400" dirty="0">
                <a:solidFill>
                  <a:srgbClr val="000000"/>
                </a:solidFill>
              </a:rPr>
              <a:t>Time dependent</a:t>
            </a:r>
          </a:p>
        </p:txBody>
      </p:sp>
      <p:sp>
        <p:nvSpPr>
          <p:cNvPr id="45" name="Text 13">
            <a:extLst>
              <a:ext uri="{FF2B5EF4-FFF2-40B4-BE49-F238E27FC236}">
                <a16:creationId xmlns:a16="http://schemas.microsoft.com/office/drawing/2014/main" id="{BDAE5B0A-FD4D-04C0-7AA0-FB575146A4BC}"/>
              </a:ext>
            </a:extLst>
          </p:cNvPr>
          <p:cNvSpPr/>
          <p:nvPr/>
        </p:nvSpPr>
        <p:spPr>
          <a:xfrm>
            <a:off x="6136745" y="1174542"/>
            <a:ext cx="5607840" cy="17517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Why We Use It Here</a:t>
            </a:r>
          </a:p>
        </p:txBody>
      </p:sp>
      <p:sp>
        <p:nvSpPr>
          <p:cNvPr id="46" name="Shape 14">
            <a:extLst>
              <a:ext uri="{FF2B5EF4-FFF2-40B4-BE49-F238E27FC236}">
                <a16:creationId xmlns:a16="http://schemas.microsoft.com/office/drawing/2014/main" id="{A2066E74-C2CC-806D-240A-496797402A1B}"/>
              </a:ext>
            </a:extLst>
          </p:cNvPr>
          <p:cNvSpPr/>
          <p:nvPr/>
        </p:nvSpPr>
        <p:spPr>
          <a:xfrm>
            <a:off x="6096000" y="3863416"/>
            <a:ext cx="5876160" cy="1974808"/>
          </a:xfrm>
          <a:prstGeom prst="rect">
            <a:avLst/>
          </a:prstGeom>
          <a:solidFill>
            <a:srgbClr val="FADBD8"/>
          </a:solidFill>
          <a:ln w="19050">
            <a:solidFill>
              <a:srgbClr val="C0392B"/>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342900" lvl="0" indent="-342900" defTabSz="1219170">
              <a:buFont typeface="Arial" panose="020B0604020202020204" pitchFamily="34" charset="0"/>
              <a:buChar char="•"/>
              <a:defRPr/>
            </a:pPr>
            <a:endParaRPr lang="en-US" sz="1400" dirty="0">
              <a:solidFill>
                <a:srgbClr val="000000"/>
              </a:solidFill>
            </a:endParaRPr>
          </a:p>
          <a:p>
            <a:pPr marL="342900" lvl="0" indent="-342900" defTabSz="1219170">
              <a:buFont typeface="Arial" panose="020B0604020202020204" pitchFamily="34" charset="0"/>
              <a:buChar char="•"/>
              <a:defRPr/>
            </a:pPr>
            <a:endParaRPr lang="en-US" sz="1400" dirty="0">
              <a:solidFill>
                <a:srgbClr val="000000"/>
              </a:solidFill>
            </a:endParaRPr>
          </a:p>
          <a:p>
            <a:pPr marL="342900" lvl="0" indent="-342900" defTabSz="1219170">
              <a:buFont typeface="Arial" panose="020B0604020202020204" pitchFamily="34" charset="0"/>
              <a:buChar char="•"/>
              <a:defRPr/>
            </a:pPr>
            <a:r>
              <a:rPr lang="en-US" sz="1400" dirty="0">
                <a:solidFill>
                  <a:srgbClr val="000000"/>
                </a:solidFill>
              </a:rPr>
              <a:t>Harder to interpret compared to other models</a:t>
            </a:r>
          </a:p>
          <a:p>
            <a:pPr marL="800100" lvl="1" indent="-342900" defTabSz="1219170">
              <a:buFont typeface="Arial" panose="020B0604020202020204" pitchFamily="34" charset="0"/>
              <a:buChar char="•"/>
              <a:defRPr/>
            </a:pPr>
            <a:r>
              <a:rPr lang="en-US" sz="1400" dirty="0">
                <a:solidFill>
                  <a:srgbClr val="000000"/>
                </a:solidFill>
              </a:rPr>
              <a:t>No set coefficient table</a:t>
            </a:r>
          </a:p>
          <a:p>
            <a:pPr marL="800100" lvl="1" indent="-342900" defTabSz="1219170">
              <a:buFont typeface="Arial" panose="020B0604020202020204" pitchFamily="34" charset="0"/>
              <a:buChar char="•"/>
              <a:defRPr/>
            </a:pPr>
            <a:r>
              <a:rPr lang="en-US" sz="1400" dirty="0">
                <a:solidFill>
                  <a:srgbClr val="000000"/>
                </a:solidFill>
              </a:rPr>
              <a:t>Can overfit easily when labels are noisy</a:t>
            </a:r>
          </a:p>
          <a:p>
            <a:pPr marL="800100" lvl="1" indent="-342900" defTabSz="1219170">
              <a:buFont typeface="Arial" panose="020B0604020202020204" pitchFamily="34" charset="0"/>
              <a:buChar char="•"/>
              <a:defRPr/>
            </a:pPr>
            <a:r>
              <a:rPr lang="en-US" sz="1400" dirty="0">
                <a:solidFill>
                  <a:srgbClr val="000000"/>
                </a:solidFill>
              </a:rPr>
              <a:t>Training is very fragile</a:t>
            </a:r>
          </a:p>
          <a:p>
            <a:pPr marL="342900" indent="-342900" defTabSz="1219170">
              <a:buFont typeface="Arial" panose="020B0604020202020204" pitchFamily="34" charset="0"/>
              <a:buChar char="•"/>
              <a:defRPr/>
            </a:pPr>
            <a:r>
              <a:rPr lang="en-US" sz="1400" dirty="0">
                <a:solidFill>
                  <a:srgbClr val="000000"/>
                </a:solidFill>
              </a:rPr>
              <a:t>Elastic Net is clearer and more regular for example</a:t>
            </a:r>
          </a:p>
        </p:txBody>
      </p:sp>
      <p:sp>
        <p:nvSpPr>
          <p:cNvPr id="48" name="Text 16">
            <a:extLst>
              <a:ext uri="{FF2B5EF4-FFF2-40B4-BE49-F238E27FC236}">
                <a16:creationId xmlns:a16="http://schemas.microsoft.com/office/drawing/2014/main" id="{FC1E08FC-882C-B191-CBAF-3B9CCEEAC9C1}"/>
              </a:ext>
            </a:extLst>
          </p:cNvPr>
          <p:cNvSpPr/>
          <p:nvPr/>
        </p:nvSpPr>
        <p:spPr>
          <a:xfrm>
            <a:off x="6071040" y="3985826"/>
            <a:ext cx="5607840" cy="1036621"/>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Main Tradeoff</a:t>
            </a:r>
            <a:endParaRPr kumimoji="0" lang="en-US" sz="1467" b="0" i="0" u="none" strike="noStrike" kern="1200" cap="none" spc="0" normalizeH="0" baseline="0" noProof="0" dirty="0">
              <a:ln>
                <a:noFill/>
              </a:ln>
              <a:solidFill>
                <a:srgbClr val="1A1A2E"/>
              </a:solidFill>
              <a:effectLst/>
              <a:uLnTx/>
              <a:uFillTx/>
              <a:latin typeface="Calibri"/>
              <a:ea typeface="Calibri"/>
              <a:cs typeface="+mn-cs"/>
            </a:endParaRPr>
          </a:p>
        </p:txBody>
      </p:sp>
      <p:sp>
        <p:nvSpPr>
          <p:cNvPr id="3" name="Shape 13">
            <a:extLst>
              <a:ext uri="{FF2B5EF4-FFF2-40B4-BE49-F238E27FC236}">
                <a16:creationId xmlns:a16="http://schemas.microsoft.com/office/drawing/2014/main" id="{E3E56339-375B-50CC-1A33-B5F83873E781}"/>
              </a:ext>
            </a:extLst>
          </p:cNvPr>
          <p:cNvSpPr/>
          <p:nvPr/>
        </p:nvSpPr>
        <p:spPr>
          <a:xfrm>
            <a:off x="243840" y="1109280"/>
            <a:ext cx="5485920" cy="2597088"/>
          </a:xfrm>
          <a:prstGeom prst="rect">
            <a:avLst/>
          </a:prstGeom>
          <a:solidFill>
            <a:srgbClr val="FCF3CF"/>
          </a:solidFill>
          <a:ln w="25400">
            <a:solidFill>
              <a:srgbClr val="E8972A"/>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Tx/>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How It Works</a:t>
            </a:r>
          </a:p>
          <a:p>
            <a:pPr marL="342900" marR="0" lvl="0" indent="-34290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000000"/>
                </a:solidFill>
              </a:rPr>
              <a:t>Type of recurrent neural network</a:t>
            </a:r>
          </a:p>
          <a:p>
            <a:pPr marL="800100" lvl="1" indent="-342900" defTabSz="121917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ea typeface="+mn-ea"/>
                <a:cs typeface="+mn-cs"/>
              </a:rPr>
              <a:t>Learn</a:t>
            </a:r>
            <a:r>
              <a:rPr lang="en-US" sz="1400" dirty="0">
                <a:solidFill>
                  <a:srgbClr val="000000"/>
                </a:solidFill>
              </a:rPr>
              <a:t>s long-term dependencies</a:t>
            </a:r>
          </a:p>
          <a:p>
            <a:pPr marL="800100" lvl="1" indent="-342900" defTabSz="1219170">
              <a:buFont typeface="Arial" panose="020B0604020202020204" pitchFamily="34" charset="0"/>
              <a:buChar char="•"/>
              <a:defRPr/>
            </a:pPr>
            <a:r>
              <a:rPr lang="en-US" sz="1400" dirty="0">
                <a:solidFill>
                  <a:srgbClr val="000000"/>
                </a:solidFill>
              </a:rPr>
              <a:t>Keeps memory</a:t>
            </a:r>
          </a:p>
          <a:p>
            <a:pPr marL="342900" indent="-342900" defTabSz="121917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ea typeface="+mn-ea"/>
                <a:cs typeface="+mn-cs"/>
              </a:rPr>
              <a:t>Uses forget, input, and output</a:t>
            </a:r>
            <a:endParaRPr lang="en-US" sz="1400" dirty="0">
              <a:solidFill>
                <a:srgbClr val="000000"/>
              </a:solidFill>
            </a:endParaRPr>
          </a:p>
          <a:p>
            <a:pPr marL="800100" lvl="1" indent="-342900" defTabSz="1219170">
              <a:buFont typeface="Arial" panose="020B0604020202020204" pitchFamily="34" charset="0"/>
              <a:buChar char="•"/>
              <a:defRPr/>
            </a:pPr>
            <a:r>
              <a:rPr lang="en-US" sz="1400" dirty="0">
                <a:solidFill>
                  <a:srgbClr val="000000"/>
                </a:solidFill>
              </a:rPr>
              <a:t>Keeps context relevant over time</a:t>
            </a:r>
          </a:p>
          <a:p>
            <a:pPr marL="342900" indent="-342900" defTabSz="1219170">
              <a:buFont typeface="Arial" panose="020B0604020202020204" pitchFamily="34" charset="0"/>
              <a:buChar char="•"/>
              <a:defRPr/>
            </a:pPr>
            <a:r>
              <a:rPr kumimoji="0" lang="en-US" sz="1400" b="0" i="0" u="none" strike="noStrike" kern="1200" cap="none" spc="0" normalizeH="0" baseline="0" noProof="0" dirty="0">
                <a:ln>
                  <a:noFill/>
                </a:ln>
                <a:solidFill>
                  <a:srgbClr val="000000"/>
                </a:solidFill>
                <a:effectLst/>
                <a:uLnTx/>
                <a:uFillTx/>
                <a:ea typeface="+mn-ea"/>
                <a:cs typeface="+mn-cs"/>
              </a:rPr>
              <a:t>Flexible learner</a:t>
            </a:r>
          </a:p>
        </p:txBody>
      </p:sp>
      <p:sp>
        <p:nvSpPr>
          <p:cNvPr id="4" name="Text 3">
            <a:extLst>
              <a:ext uri="{FF2B5EF4-FFF2-40B4-BE49-F238E27FC236}">
                <a16:creationId xmlns:a16="http://schemas.microsoft.com/office/drawing/2014/main" id="{BE32060B-4994-03C4-2239-98F1C5B678E1}"/>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extLst>
      <p:ext uri="{BB962C8B-B14F-4D97-AF65-F5344CB8AC3E}">
        <p14:creationId xmlns:p14="http://schemas.microsoft.com/office/powerpoint/2010/main" val="3777098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2340"/>
        </a:solidFill>
        <a:effectLst/>
      </p:bgPr>
    </p:bg>
    <p:spTree>
      <p:nvGrpSpPr>
        <p:cNvPr id="1" name="">
          <a:extLst>
            <a:ext uri="{FF2B5EF4-FFF2-40B4-BE49-F238E27FC236}">
              <a16:creationId xmlns:a16="http://schemas.microsoft.com/office/drawing/2014/main" id="{7F5F6A81-39C9-176D-3B90-2DA1F9EAD1E4}"/>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B925745C-D981-0EC8-4CA9-21EA9B848430}"/>
              </a:ext>
            </a:extLst>
          </p:cNvPr>
          <p:cNvSpPr/>
          <p:nvPr/>
        </p:nvSpPr>
        <p:spPr>
          <a:xfrm>
            <a:off x="0" y="0"/>
            <a:ext cx="145920" cy="685776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9" name="Text 1">
            <a:extLst>
              <a:ext uri="{FF2B5EF4-FFF2-40B4-BE49-F238E27FC236}">
                <a16:creationId xmlns:a16="http://schemas.microsoft.com/office/drawing/2014/main" id="{B931C609-86AB-9ED8-54C0-85A840AD3A70}"/>
              </a:ext>
            </a:extLst>
          </p:cNvPr>
          <p:cNvSpPr/>
          <p:nvPr/>
        </p:nvSpPr>
        <p:spPr>
          <a:xfrm>
            <a:off x="426720" y="975360"/>
            <a:ext cx="11338080" cy="2100943"/>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6400" b="1" i="0" u="none" strike="noStrike" kern="1200" cap="none" spc="0" normalizeH="0" baseline="0" noProof="0" dirty="0">
                <a:ln>
                  <a:noFill/>
                </a:ln>
                <a:solidFill>
                  <a:srgbClr val="FFFFFF"/>
                </a:solidFill>
                <a:effectLst/>
                <a:uLnTx/>
                <a:uFillTx/>
                <a:latin typeface="Calibri"/>
                <a:ea typeface="Calibri"/>
                <a:cs typeface="+mn-cs"/>
              </a:rPr>
              <a:t>Transformer</a:t>
            </a:r>
            <a:endParaRPr kumimoji="0" lang="en-US" sz="64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Shape 2">
            <a:extLst>
              <a:ext uri="{FF2B5EF4-FFF2-40B4-BE49-F238E27FC236}">
                <a16:creationId xmlns:a16="http://schemas.microsoft.com/office/drawing/2014/main" id="{CD79616A-4A6B-D738-46A5-1F2E04FBF9CE}"/>
              </a:ext>
            </a:extLst>
          </p:cNvPr>
          <p:cNvSpPr/>
          <p:nvPr/>
        </p:nvSpPr>
        <p:spPr>
          <a:xfrm>
            <a:off x="426720" y="3596640"/>
            <a:ext cx="11460000" cy="4848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11040" rIns="120000" bIns="-1104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 4">
            <a:extLst>
              <a:ext uri="{FF2B5EF4-FFF2-40B4-BE49-F238E27FC236}">
                <a16:creationId xmlns:a16="http://schemas.microsoft.com/office/drawing/2014/main" id="{D8235E81-F496-11A0-4781-D3F73B4473D5}"/>
              </a:ext>
            </a:extLst>
          </p:cNvPr>
          <p:cNvSpPr/>
          <p:nvPr/>
        </p:nvSpPr>
        <p:spPr>
          <a:xfrm>
            <a:off x="426720" y="5608320"/>
            <a:ext cx="113380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lvl="0" defTabSz="1219170">
              <a:tabLst>
                <a:tab pos="0" algn="l"/>
              </a:tabLst>
              <a:defRPr/>
            </a:pPr>
            <a:r>
              <a:rPr kumimoji="0" lang="en-US" sz="1733" b="0" i="0" u="none" strike="noStrike" kern="1200" cap="none" spc="0" normalizeH="0" baseline="0" noProof="0" dirty="0">
                <a:ln>
                  <a:noFill/>
                </a:ln>
                <a:solidFill>
                  <a:srgbClr val="AAAACC"/>
                </a:solidFill>
                <a:effectLst/>
                <a:uLnTx/>
                <a:uFillTx/>
                <a:latin typeface="Calibri"/>
                <a:ea typeface="Calibri"/>
                <a:cs typeface="+mn-cs"/>
              </a:rPr>
              <a:t>DS 207 Final Project  ·  Team: Greed and Fear  ·  Author: </a:t>
            </a:r>
            <a:r>
              <a:rPr lang="en-US" sz="1733" dirty="0">
                <a:solidFill>
                  <a:srgbClr val="AAAACC"/>
                </a:solidFill>
                <a:ea typeface="Calibri"/>
              </a:rPr>
              <a:t>Ronald Ho · </a:t>
            </a:r>
            <a:r>
              <a:rPr kumimoji="0" lang="en-US" sz="1733" b="0" i="0" u="none" strike="noStrike" kern="1200" cap="none" spc="0" normalizeH="0" baseline="0" noProof="0" dirty="0">
                <a:ln>
                  <a:noFill/>
                </a:ln>
                <a:solidFill>
                  <a:srgbClr val="AAAACC"/>
                </a:solidFill>
                <a:effectLst/>
                <a:uLnTx/>
                <a:uFillTx/>
                <a:latin typeface="Calibri"/>
                <a:ea typeface="Calibri"/>
                <a:cs typeface="+mn-cs"/>
              </a:rPr>
              <a:t>March 27, 2026</a:t>
            </a:r>
            <a:endParaRPr kumimoji="0" lang="en-US" sz="1733" b="0"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501433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0196-87DA-DC81-1751-8A5F739935AB}"/>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E4897F18-0A20-BEC2-8BD0-55949132E0B3}"/>
              </a:ext>
            </a:extLst>
          </p:cNvPr>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33" name="Text 1">
            <a:extLst>
              <a:ext uri="{FF2B5EF4-FFF2-40B4-BE49-F238E27FC236}">
                <a16:creationId xmlns:a16="http://schemas.microsoft.com/office/drawing/2014/main" id="{8D6253C5-092D-F9AC-0A10-353B3191F65D}"/>
              </a:ext>
            </a:extLst>
          </p:cNvPr>
          <p:cNvSpPr/>
          <p:nvPr/>
        </p:nvSpPr>
        <p:spPr>
          <a:xfrm>
            <a:off x="341280" y="48960"/>
            <a:ext cx="1060656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What Are Transformers?</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35" name="Shape 3">
            <a:extLst>
              <a:ext uri="{FF2B5EF4-FFF2-40B4-BE49-F238E27FC236}">
                <a16:creationId xmlns:a16="http://schemas.microsoft.com/office/drawing/2014/main" id="{190930D0-64DB-44F0-807E-5FFB602E3ACF}"/>
              </a:ext>
            </a:extLst>
          </p:cNvPr>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37" name="Text 5">
            <a:extLst>
              <a:ext uri="{FF2B5EF4-FFF2-40B4-BE49-F238E27FC236}">
                <a16:creationId xmlns:a16="http://schemas.microsoft.com/office/drawing/2014/main" id="{7181F2FF-4FDA-591D-AF03-9F188B726EE9}"/>
              </a:ext>
            </a:extLst>
          </p:cNvPr>
          <p:cNvSpPr/>
          <p:nvPr/>
        </p:nvSpPr>
        <p:spPr>
          <a:xfrm>
            <a:off x="219360" y="731520"/>
            <a:ext cx="5851680" cy="36528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endParaRPr kumimoji="0" lang="en-US" sz="1733" b="0" i="0" u="none" strike="noStrike" kern="1200" cap="none" spc="0" normalizeH="0" baseline="0" noProof="0" dirty="0">
              <a:ln>
                <a:noFill/>
              </a:ln>
              <a:solidFill>
                <a:srgbClr val="000000"/>
              </a:solidFill>
              <a:effectLst/>
              <a:uLnTx/>
              <a:uFillTx/>
              <a:latin typeface="Arial"/>
              <a:ea typeface="+mn-ea"/>
              <a:cs typeface="+mn-cs"/>
            </a:endParaRPr>
          </a:p>
        </p:txBody>
      </p:sp>
      <p:sp>
        <p:nvSpPr>
          <p:cNvPr id="39" name="Shape 7">
            <a:extLst>
              <a:ext uri="{FF2B5EF4-FFF2-40B4-BE49-F238E27FC236}">
                <a16:creationId xmlns:a16="http://schemas.microsoft.com/office/drawing/2014/main" id="{89DAB7FD-1310-8847-8892-428BDE8DB476}"/>
              </a:ext>
            </a:extLst>
          </p:cNvPr>
          <p:cNvSpPr/>
          <p:nvPr/>
        </p:nvSpPr>
        <p:spPr>
          <a:xfrm>
            <a:off x="219360" y="3887896"/>
            <a:ext cx="5510400" cy="2410216"/>
          </a:xfrm>
          <a:prstGeom prst="rect">
            <a:avLst/>
          </a:prstGeom>
          <a:solidFill>
            <a:srgbClr val="D6F2FA"/>
          </a:solidFill>
          <a:ln w="19050">
            <a:solidFill>
              <a:srgbClr val="00A8CC"/>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1" name="Text 9">
            <a:extLst>
              <a:ext uri="{FF2B5EF4-FFF2-40B4-BE49-F238E27FC236}">
                <a16:creationId xmlns:a16="http://schemas.microsoft.com/office/drawing/2014/main" id="{4EA7E3B5-2A6A-80D6-861C-F555BE4BBDFA}"/>
              </a:ext>
            </a:extLst>
          </p:cNvPr>
          <p:cNvSpPr/>
          <p:nvPr/>
        </p:nvSpPr>
        <p:spPr>
          <a:xfrm>
            <a:off x="243840" y="3985826"/>
            <a:ext cx="5485920" cy="1852398"/>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Bottom Line</a:t>
            </a:r>
          </a:p>
          <a:p>
            <a:pPr marL="285750" marR="0" lvl="0" indent="-285750"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lang="en-US" sz="1467" dirty="0">
                <a:solidFill>
                  <a:srgbClr val="1A1A2E"/>
                </a:solidFill>
                <a:latin typeface="Calibri" panose="020F0502020204030204"/>
                <a:ea typeface="Calibri"/>
              </a:rPr>
              <a:t>A burgeoning field of research that is interesting to keep an eye on, because theoretically it could work very well. </a:t>
            </a:r>
          </a:p>
          <a:p>
            <a:pPr marL="285750" indent="-285750" defTabSz="1219170">
              <a:spcAft>
                <a:spcPts val="533"/>
              </a:spcAft>
              <a:buClr>
                <a:srgbClr val="1A1A2E"/>
              </a:buClr>
              <a:buFont typeface="Arial" panose="020B0604020202020204" pitchFamily="34" charset="0"/>
              <a:buChar char="•"/>
              <a:defRPr/>
            </a:pPr>
            <a:r>
              <a:rPr lang="en-US" sz="1467" dirty="0">
                <a:solidFill>
                  <a:srgbClr val="1A1A2E"/>
                </a:solidFill>
                <a:ea typeface="Calibri"/>
              </a:rPr>
              <a:t>With a more complex dataset (more data, a lot more features), this model might shine. </a:t>
            </a:r>
            <a:endParaRPr lang="en-US" sz="1467" dirty="0">
              <a:solidFill>
                <a:srgbClr val="1A1A2E"/>
              </a:solidFill>
              <a:latin typeface="Calibri" panose="020F0502020204030204"/>
              <a:ea typeface="Calibri"/>
            </a:endParaRPr>
          </a:p>
          <a:p>
            <a:pPr marR="0" lvl="0" algn="l" defTabSz="1219170" rtl="0" eaLnBrk="1" fontAlgn="auto" latinLnBrk="0" hangingPunct="1">
              <a:lnSpc>
                <a:spcPct val="100000"/>
              </a:lnSpc>
              <a:spcBef>
                <a:spcPts val="0"/>
              </a:spcBef>
              <a:spcAft>
                <a:spcPts val="533"/>
              </a:spcAft>
              <a:buClr>
                <a:srgbClr val="1A1A2E"/>
              </a:buClr>
              <a:buSzTx/>
              <a:tabLst/>
              <a:defRPr/>
            </a:pPr>
            <a:r>
              <a:rPr lang="en-US" sz="1467" dirty="0">
                <a:solidFill>
                  <a:srgbClr val="1A1A2E"/>
                </a:solidFill>
                <a:latin typeface="Calibri" panose="020F0502020204030204"/>
                <a:ea typeface="Calibri"/>
              </a:rPr>
              <a:t> </a:t>
            </a:r>
          </a:p>
        </p:txBody>
      </p:sp>
      <p:sp>
        <p:nvSpPr>
          <p:cNvPr id="43" name="Shape 11">
            <a:extLst>
              <a:ext uri="{FF2B5EF4-FFF2-40B4-BE49-F238E27FC236}">
                <a16:creationId xmlns:a16="http://schemas.microsoft.com/office/drawing/2014/main" id="{1F1C9B43-09F8-3BA9-720E-BF02AC15F1AA}"/>
              </a:ext>
            </a:extLst>
          </p:cNvPr>
          <p:cNvSpPr/>
          <p:nvPr/>
        </p:nvSpPr>
        <p:spPr>
          <a:xfrm>
            <a:off x="6096000" y="1121760"/>
            <a:ext cx="5876160" cy="2584608"/>
          </a:xfrm>
          <a:prstGeom prst="rect">
            <a:avLst/>
          </a:prstGeom>
          <a:solidFill>
            <a:srgbClr val="D5F5E3"/>
          </a:solidFill>
          <a:ln w="19050">
            <a:solidFill>
              <a:srgbClr val="1E8449"/>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mn-cs"/>
            </a:endParaRPr>
          </a:p>
        </p:txBody>
      </p:sp>
      <p:sp>
        <p:nvSpPr>
          <p:cNvPr id="45" name="Text 13">
            <a:extLst>
              <a:ext uri="{FF2B5EF4-FFF2-40B4-BE49-F238E27FC236}">
                <a16:creationId xmlns:a16="http://schemas.microsoft.com/office/drawing/2014/main" id="{81CA6B6B-03EE-D9BB-BBF1-028FF22D4E38}"/>
              </a:ext>
            </a:extLst>
          </p:cNvPr>
          <p:cNvSpPr/>
          <p:nvPr/>
        </p:nvSpPr>
        <p:spPr>
          <a:xfrm>
            <a:off x="6136744" y="1174541"/>
            <a:ext cx="5811415" cy="2531827"/>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Why We Use It Here</a:t>
            </a:r>
          </a:p>
          <a:p>
            <a:pPr marL="285750" marR="0" lvl="0" indent="-285750"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lang="en-US" sz="1467" dirty="0">
                <a:solidFill>
                  <a:srgbClr val="1A1A2E"/>
                </a:solidFill>
                <a:latin typeface="Calibri" panose="020F0502020204030204"/>
                <a:ea typeface="Calibri"/>
              </a:rPr>
              <a:t>Temporal Fusion Transformers (TFT) have become increasingly popular as an area of research for modeling time series data.</a:t>
            </a:r>
          </a:p>
          <a:p>
            <a:pPr marL="285750" marR="0" lvl="0" indent="-285750"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r>
              <a:rPr lang="en-US" sz="1467" dirty="0">
                <a:solidFill>
                  <a:srgbClr val="1A1A2E"/>
                </a:solidFill>
                <a:latin typeface="Calibri" panose="020F0502020204030204"/>
                <a:ea typeface="Calibri"/>
              </a:rPr>
              <a:t>In theory, the attention layer of the transformer should be ideal to model highly complex data patterns over time steps. </a:t>
            </a:r>
          </a:p>
          <a:p>
            <a:pPr marL="285750" marR="0" lvl="0" indent="-285750" algn="l" defTabSz="1219170" rtl="0" eaLnBrk="1" fontAlgn="auto" latinLnBrk="0" hangingPunct="1">
              <a:lnSpc>
                <a:spcPct val="100000"/>
              </a:lnSpc>
              <a:spcBef>
                <a:spcPts val="0"/>
              </a:spcBef>
              <a:spcAft>
                <a:spcPts val="533"/>
              </a:spcAft>
              <a:buClr>
                <a:srgbClr val="1A1A2E"/>
              </a:buClr>
              <a:buSzTx/>
              <a:buFont typeface="Arial" panose="020B0604020202020204" pitchFamily="34" charset="0"/>
              <a:buChar char="•"/>
              <a:tabLst/>
              <a:defRPr/>
            </a:pPr>
            <a:endParaRPr lang="en-US" sz="1467" dirty="0">
              <a:solidFill>
                <a:srgbClr val="1A1A2E"/>
              </a:solidFill>
              <a:latin typeface="Calibri" panose="020F0502020204030204"/>
              <a:ea typeface="Calibri"/>
            </a:endParaRPr>
          </a:p>
        </p:txBody>
      </p:sp>
      <p:sp>
        <p:nvSpPr>
          <p:cNvPr id="46" name="Shape 14">
            <a:extLst>
              <a:ext uri="{FF2B5EF4-FFF2-40B4-BE49-F238E27FC236}">
                <a16:creationId xmlns:a16="http://schemas.microsoft.com/office/drawing/2014/main" id="{4E09F914-13AD-C25E-92EE-240F048A2D7E}"/>
              </a:ext>
            </a:extLst>
          </p:cNvPr>
          <p:cNvSpPr/>
          <p:nvPr/>
        </p:nvSpPr>
        <p:spPr>
          <a:xfrm>
            <a:off x="6096000" y="3863416"/>
            <a:ext cx="5876160" cy="2434696"/>
          </a:xfrm>
          <a:prstGeom prst="rect">
            <a:avLst/>
          </a:prstGeom>
          <a:solidFill>
            <a:srgbClr val="FADBD8"/>
          </a:solidFill>
          <a:ln w="19050">
            <a:solidFill>
              <a:srgbClr val="C0392B"/>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rial"/>
              <a:ea typeface="+mn-ea"/>
              <a:cs typeface="+mn-cs"/>
            </a:endParaRPr>
          </a:p>
        </p:txBody>
      </p:sp>
      <p:sp>
        <p:nvSpPr>
          <p:cNvPr id="48" name="Text 16">
            <a:extLst>
              <a:ext uri="{FF2B5EF4-FFF2-40B4-BE49-F238E27FC236}">
                <a16:creationId xmlns:a16="http://schemas.microsoft.com/office/drawing/2014/main" id="{0DD696DA-779C-7E45-C0DB-1AAA93B5745E}"/>
              </a:ext>
            </a:extLst>
          </p:cNvPr>
          <p:cNvSpPr/>
          <p:nvPr/>
        </p:nvSpPr>
        <p:spPr>
          <a:xfrm>
            <a:off x="6071040" y="3985826"/>
            <a:ext cx="5607840" cy="1036621"/>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Main Tradeoff</a:t>
            </a:r>
          </a:p>
          <a:p>
            <a:pPr marL="285750" indent="-285750" defTabSz="1219170">
              <a:spcAft>
                <a:spcPts val="533"/>
              </a:spcAft>
              <a:buClr>
                <a:srgbClr val="1A1A2E"/>
              </a:buClr>
              <a:buFont typeface="Arial" panose="020B0604020202020204" pitchFamily="34" charset="0"/>
              <a:buChar char="•"/>
              <a:defRPr/>
            </a:pPr>
            <a:r>
              <a:rPr lang="en-US" sz="1467" dirty="0">
                <a:solidFill>
                  <a:srgbClr val="1A1A2E"/>
                </a:solidFill>
                <a:ea typeface="Calibri"/>
              </a:rPr>
              <a:t>This model is too complex for our data as it exists today. </a:t>
            </a:r>
          </a:p>
          <a:p>
            <a:pPr marL="285750" indent="-285750" defTabSz="1219170">
              <a:spcAft>
                <a:spcPts val="533"/>
              </a:spcAft>
              <a:buClr>
                <a:srgbClr val="1A1A2E"/>
              </a:buClr>
              <a:buFont typeface="Arial" panose="020B0604020202020204" pitchFamily="34" charset="0"/>
              <a:buChar char="•"/>
              <a:defRPr/>
            </a:pPr>
            <a:r>
              <a:rPr lang="en-US" sz="1467" dirty="0">
                <a:solidFill>
                  <a:srgbClr val="1A1A2E"/>
                </a:solidFill>
                <a:ea typeface="Calibri"/>
              </a:rPr>
              <a:t>We can only use a small amount of attention heads and encoder blocks before there’s a high degradation in RMSE, with the model trying to memorize patterns that don’t exist. </a:t>
            </a:r>
          </a:p>
          <a:p>
            <a:pPr marL="285750" indent="-285750" defTabSz="1219170">
              <a:spcAft>
                <a:spcPts val="533"/>
              </a:spcAft>
              <a:buClr>
                <a:srgbClr val="1A1A2E"/>
              </a:buClr>
              <a:buFont typeface="Arial" panose="020B0604020202020204" pitchFamily="34" charset="0"/>
              <a:buChar char="•"/>
              <a:defRPr/>
            </a:pPr>
            <a:r>
              <a:rPr lang="en-US" sz="1467" dirty="0">
                <a:solidFill>
                  <a:srgbClr val="1A1A2E"/>
                </a:solidFill>
                <a:ea typeface="Calibri"/>
              </a:rPr>
              <a:t>It is also slow and requires a lot of epochs to perform well.</a:t>
            </a:r>
          </a:p>
          <a:p>
            <a:pPr marL="285750" indent="-285750" defTabSz="1219170">
              <a:spcAft>
                <a:spcPts val="533"/>
              </a:spcAft>
              <a:buClr>
                <a:srgbClr val="1A1A2E"/>
              </a:buClr>
              <a:buFont typeface="Arial" panose="020B0604020202020204" pitchFamily="34" charset="0"/>
              <a:buChar char="•"/>
              <a:defRPr/>
            </a:pPr>
            <a:endParaRPr lang="en-US" sz="1467" dirty="0">
              <a:solidFill>
                <a:srgbClr val="1A1A2E"/>
              </a:solidFill>
              <a:ea typeface="Calibri"/>
            </a:endParaRPr>
          </a:p>
          <a:p>
            <a:pPr marL="0" marR="0" lvl="0" indent="0" algn="l" defTabSz="1219170" rtl="0" eaLnBrk="1" fontAlgn="auto" latinLnBrk="0" hangingPunct="1">
              <a:lnSpc>
                <a:spcPct val="100000"/>
              </a:lnSpc>
              <a:spcBef>
                <a:spcPts val="0"/>
              </a:spcBef>
              <a:spcAft>
                <a:spcPts val="533"/>
              </a:spcAft>
              <a:buClr>
                <a:srgbClr val="1A1A2E"/>
              </a:buClr>
              <a:buSzTx/>
              <a:buFontTx/>
              <a:buNone/>
              <a:tabLst/>
              <a:defRPr/>
            </a:pPr>
            <a:endParaRPr kumimoji="0" lang="en-US" sz="1467" b="0" i="0" u="none" strike="noStrike" kern="1200" cap="none" spc="0" normalizeH="0" baseline="0" noProof="0" dirty="0">
              <a:ln>
                <a:noFill/>
              </a:ln>
              <a:solidFill>
                <a:srgbClr val="1A1A2E"/>
              </a:solidFill>
              <a:effectLst/>
              <a:uLnTx/>
              <a:uFillTx/>
              <a:latin typeface="Calibri"/>
              <a:ea typeface="Calibri"/>
              <a:cs typeface="+mn-cs"/>
            </a:endParaRPr>
          </a:p>
        </p:txBody>
      </p:sp>
      <p:sp>
        <p:nvSpPr>
          <p:cNvPr id="3" name="Shape 13">
            <a:extLst>
              <a:ext uri="{FF2B5EF4-FFF2-40B4-BE49-F238E27FC236}">
                <a16:creationId xmlns:a16="http://schemas.microsoft.com/office/drawing/2014/main" id="{805BAA97-CBCC-236E-5AB1-FAA24E51B6D8}"/>
              </a:ext>
            </a:extLst>
          </p:cNvPr>
          <p:cNvSpPr/>
          <p:nvPr/>
        </p:nvSpPr>
        <p:spPr>
          <a:xfrm>
            <a:off x="243840" y="1109280"/>
            <a:ext cx="5485920" cy="2597088"/>
          </a:xfrm>
          <a:prstGeom prst="rect">
            <a:avLst/>
          </a:prstGeom>
          <a:solidFill>
            <a:srgbClr val="FCF3CF"/>
          </a:solidFill>
          <a:ln w="25400">
            <a:solidFill>
              <a:srgbClr val="E8972A"/>
            </a:solidFill>
            <a:round/>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533"/>
              </a:spcAft>
              <a:buClrTx/>
              <a:buSzTx/>
              <a:buFontTx/>
              <a:buNone/>
              <a:tabLst/>
              <a:defRPr/>
            </a:pPr>
            <a:r>
              <a:rPr kumimoji="0" lang="en-US" sz="1733" b="1" i="0" u="none" strike="noStrike" kern="1200" cap="none" spc="0" normalizeH="0" baseline="0" noProof="0" dirty="0">
                <a:ln>
                  <a:noFill/>
                </a:ln>
                <a:solidFill>
                  <a:srgbClr val="00A8CC"/>
                </a:solidFill>
                <a:effectLst/>
                <a:uLnTx/>
                <a:uFillTx/>
                <a:latin typeface="Calibri"/>
                <a:ea typeface="Calibri"/>
                <a:cs typeface="+mn-cs"/>
              </a:rPr>
              <a:t>How It Works</a:t>
            </a:r>
          </a:p>
          <a:p>
            <a:pPr marL="342900" lvl="0" indent="-342900" defTabSz="1219170">
              <a:buFont typeface="Arial" panose="020B0604020202020204" pitchFamily="34" charset="0"/>
              <a:buChar char="•"/>
              <a:defRPr/>
            </a:pPr>
            <a:r>
              <a:rPr lang="en-US" sz="1467" b="1" dirty="0">
                <a:solidFill>
                  <a:srgbClr val="1A1A2E"/>
                </a:solidFill>
                <a:latin typeface="Calibri" panose="020F0502020204030204"/>
                <a:ea typeface="Calibri"/>
              </a:rPr>
              <a:t>Transformers </a:t>
            </a:r>
            <a:r>
              <a:rPr lang="en-US" sz="1467" dirty="0">
                <a:solidFill>
                  <a:srgbClr val="1A1A2E"/>
                </a:solidFill>
                <a:latin typeface="Calibri" panose="020F0502020204030204"/>
                <a:ea typeface="Calibri"/>
              </a:rPr>
              <a:t>are state-of-the-art deep learning models that utilize an “Attention Head” to analyze data sequentially (in time steps). </a:t>
            </a:r>
          </a:p>
          <a:p>
            <a:pPr marL="342900" lvl="0" indent="-342900" defTabSz="1219170">
              <a:buFont typeface="Arial" panose="020B0604020202020204" pitchFamily="34" charset="0"/>
              <a:buChar char="•"/>
              <a:defRPr/>
            </a:pPr>
            <a:r>
              <a:rPr lang="en-US" sz="1467" dirty="0">
                <a:solidFill>
                  <a:srgbClr val="1A1A2E"/>
                </a:solidFill>
                <a:latin typeface="Calibri" panose="020F0502020204030204"/>
                <a:ea typeface="Calibri"/>
              </a:rPr>
              <a:t>Each head can memorize patterns in the data in parallel, allowing us to map complex relationships. </a:t>
            </a:r>
          </a:p>
          <a:p>
            <a:pPr marL="342900" lvl="0" indent="-342900" defTabSz="1219170">
              <a:buFont typeface="Arial" panose="020B0604020202020204" pitchFamily="34" charset="0"/>
              <a:buChar char="•"/>
              <a:defRPr/>
            </a:pPr>
            <a:r>
              <a:rPr lang="en-US" sz="1467" dirty="0">
                <a:solidFill>
                  <a:srgbClr val="1A1A2E"/>
                </a:solidFill>
                <a:latin typeface="Calibri" panose="020F0502020204030204"/>
                <a:ea typeface="Calibri"/>
              </a:rPr>
              <a:t>The architecture is extremely complex, leading to many Hyper-Parameter considerations (# of heads, # of encoding blocks, dropout regularization) </a:t>
            </a:r>
          </a:p>
          <a:p>
            <a:pPr marL="342900" lvl="0" indent="-342900" defTabSz="1219170">
              <a:buFont typeface="Arial" panose="020B0604020202020204" pitchFamily="34" charset="0"/>
              <a:buChar char="•"/>
              <a:defRPr/>
            </a:pPr>
            <a:endParaRPr lang="en-US" sz="1467" dirty="0">
              <a:solidFill>
                <a:srgbClr val="1A1A2E"/>
              </a:solidFill>
              <a:latin typeface="Calibri" panose="020F0502020204030204"/>
              <a:ea typeface="Calibri"/>
            </a:endParaRPr>
          </a:p>
          <a:p>
            <a:pPr marL="342900" lvl="0" indent="-342900" defTabSz="1219170">
              <a:buFont typeface="Arial" panose="020B0604020202020204" pitchFamily="34" charset="0"/>
              <a:buChar char="•"/>
              <a:defRPr/>
            </a:pPr>
            <a:endParaRPr lang="en-US" sz="1467" b="1" dirty="0">
              <a:solidFill>
                <a:srgbClr val="1A1A2E"/>
              </a:solidFill>
              <a:latin typeface="Calibri" panose="020F0502020204030204"/>
              <a:ea typeface="Calibri"/>
            </a:endParaRPr>
          </a:p>
        </p:txBody>
      </p:sp>
      <p:sp>
        <p:nvSpPr>
          <p:cNvPr id="4" name="Text 3">
            <a:extLst>
              <a:ext uri="{FF2B5EF4-FFF2-40B4-BE49-F238E27FC236}">
                <a16:creationId xmlns:a16="http://schemas.microsoft.com/office/drawing/2014/main" id="{D38863B6-5B0F-859E-F62F-30FEFC2C9703}"/>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extLst>
      <p:ext uri="{BB962C8B-B14F-4D97-AF65-F5344CB8AC3E}">
        <p14:creationId xmlns:p14="http://schemas.microsoft.com/office/powerpoint/2010/main" val="1134670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a:extLst>
            <a:ext uri="{FF2B5EF4-FFF2-40B4-BE49-F238E27FC236}">
              <a16:creationId xmlns:a16="http://schemas.microsoft.com/office/drawing/2014/main" id="{6224B3A4-81DC-C437-9C3A-C6BE624B27F7}"/>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713B7816-D9D9-F558-8C77-50C0B70EC7B5}"/>
              </a:ext>
            </a:extLst>
          </p:cNvPr>
          <p:cNvSpPr/>
          <p:nvPr/>
        </p:nvSpPr>
        <p:spPr>
          <a:xfrm>
            <a:off x="5576637" y="733926"/>
            <a:ext cx="3001879" cy="55345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Shape 0">
            <a:extLst>
              <a:ext uri="{FF2B5EF4-FFF2-40B4-BE49-F238E27FC236}">
                <a16:creationId xmlns:a16="http://schemas.microsoft.com/office/drawing/2014/main" id="{69F5ECB5-D50B-1D08-53F8-3CF9A6121EB6}"/>
              </a:ext>
            </a:extLst>
          </p:cNvPr>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94" name="Text 1">
            <a:extLst>
              <a:ext uri="{FF2B5EF4-FFF2-40B4-BE49-F238E27FC236}">
                <a16:creationId xmlns:a16="http://schemas.microsoft.com/office/drawing/2014/main" id="{1939BC8B-D1CC-7A00-F1A3-D8C92FCA72E7}"/>
              </a:ext>
            </a:extLst>
          </p:cNvPr>
          <p:cNvSpPr/>
          <p:nvPr/>
        </p:nvSpPr>
        <p:spPr>
          <a:xfrm>
            <a:off x="304800" y="18083"/>
            <a:ext cx="1158192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Transformer Architecture</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195" name="Shape 2">
            <a:extLst>
              <a:ext uri="{FF2B5EF4-FFF2-40B4-BE49-F238E27FC236}">
                <a16:creationId xmlns:a16="http://schemas.microsoft.com/office/drawing/2014/main" id="{25EA78FC-2E3C-C65A-CE2F-A0FEDBAF034D}"/>
              </a:ext>
            </a:extLst>
          </p:cNvPr>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4" name="Text 3">
            <a:extLst>
              <a:ext uri="{FF2B5EF4-FFF2-40B4-BE49-F238E27FC236}">
                <a16:creationId xmlns:a16="http://schemas.microsoft.com/office/drawing/2014/main" id="{8A122B40-E040-F8D1-F9F8-DFB1B43039B4}"/>
              </a:ext>
            </a:extLst>
          </p:cNvPr>
          <p:cNvSpPr/>
          <p:nvPr/>
        </p:nvSpPr>
        <p:spPr>
          <a:xfrm>
            <a:off x="329184" y="6615684"/>
            <a:ext cx="6217920" cy="19006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AAACC"/>
                </a:solidFill>
                <a:effectLst/>
                <a:uLnTx/>
                <a:uFillTx/>
                <a:latin typeface="Calibri" panose="020F0502020204030204"/>
                <a:ea typeface="+mn-ea"/>
                <a:cs typeface="+mn-cs"/>
              </a:rPr>
              <a:t>DATASCI 207  ·  Final Project: Forecasting Volatility In Stock Market  ·  March 2026</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0870CFB9-4B26-2894-8661-BA6673A471DF}"/>
              </a:ext>
            </a:extLst>
          </p:cNvPr>
          <p:cNvSpPr txBox="1"/>
          <p:nvPr/>
        </p:nvSpPr>
        <p:spPr>
          <a:xfrm>
            <a:off x="749969" y="1455923"/>
            <a:ext cx="2041278" cy="369332"/>
          </a:xfrm>
          <a:prstGeom prst="rect">
            <a:avLst/>
          </a:prstGeom>
          <a:noFill/>
          <a:ln>
            <a:solidFill>
              <a:schemeClr val="accent2">
                <a:lumMod val="75000"/>
              </a:schemeClr>
            </a:solidFill>
          </a:ln>
        </p:spPr>
        <p:txBody>
          <a:bodyPr wrap="square" rtlCol="0">
            <a:spAutoFit/>
          </a:bodyPr>
          <a:lstStyle/>
          <a:p>
            <a:pPr algn="ctr"/>
            <a:r>
              <a:rPr lang="en-US" dirty="0"/>
              <a:t>Dropout</a:t>
            </a:r>
          </a:p>
        </p:txBody>
      </p:sp>
      <p:sp>
        <p:nvSpPr>
          <p:cNvPr id="3" name="TextBox 2">
            <a:extLst>
              <a:ext uri="{FF2B5EF4-FFF2-40B4-BE49-F238E27FC236}">
                <a16:creationId xmlns:a16="http://schemas.microsoft.com/office/drawing/2014/main" id="{DEB08ABF-949D-163A-587D-185E01E58033}"/>
              </a:ext>
            </a:extLst>
          </p:cNvPr>
          <p:cNvSpPr txBox="1"/>
          <p:nvPr/>
        </p:nvSpPr>
        <p:spPr>
          <a:xfrm>
            <a:off x="749969" y="3246812"/>
            <a:ext cx="2041278" cy="646331"/>
          </a:xfrm>
          <a:prstGeom prst="rect">
            <a:avLst/>
          </a:prstGeom>
          <a:noFill/>
          <a:ln>
            <a:solidFill>
              <a:schemeClr val="accent2">
                <a:lumMod val="75000"/>
              </a:schemeClr>
            </a:solidFill>
          </a:ln>
        </p:spPr>
        <p:txBody>
          <a:bodyPr wrap="square" rtlCol="0">
            <a:spAutoFit/>
          </a:bodyPr>
          <a:lstStyle/>
          <a:p>
            <a:pPr algn="ctr"/>
            <a:r>
              <a:rPr lang="en-US" dirty="0"/>
              <a:t>Transformer Encoding Block</a:t>
            </a:r>
          </a:p>
        </p:txBody>
      </p:sp>
      <p:sp>
        <p:nvSpPr>
          <p:cNvPr id="5" name="TextBox 4">
            <a:extLst>
              <a:ext uri="{FF2B5EF4-FFF2-40B4-BE49-F238E27FC236}">
                <a16:creationId xmlns:a16="http://schemas.microsoft.com/office/drawing/2014/main" id="{CA528BCE-327B-1CB6-F87D-C54FA2B735AB}"/>
              </a:ext>
            </a:extLst>
          </p:cNvPr>
          <p:cNvSpPr txBox="1"/>
          <p:nvPr/>
        </p:nvSpPr>
        <p:spPr>
          <a:xfrm>
            <a:off x="749969" y="4204510"/>
            <a:ext cx="2041278" cy="369332"/>
          </a:xfrm>
          <a:prstGeom prst="rect">
            <a:avLst/>
          </a:prstGeom>
          <a:noFill/>
          <a:ln>
            <a:solidFill>
              <a:schemeClr val="accent2">
                <a:lumMod val="75000"/>
              </a:schemeClr>
            </a:solidFill>
          </a:ln>
        </p:spPr>
        <p:txBody>
          <a:bodyPr wrap="square" rtlCol="0">
            <a:spAutoFit/>
          </a:bodyPr>
          <a:lstStyle/>
          <a:p>
            <a:pPr algn="ctr"/>
            <a:r>
              <a:rPr lang="en-US" dirty="0"/>
              <a:t>Flatten</a:t>
            </a:r>
          </a:p>
        </p:txBody>
      </p:sp>
      <p:sp>
        <p:nvSpPr>
          <p:cNvPr id="6" name="TextBox 5">
            <a:extLst>
              <a:ext uri="{FF2B5EF4-FFF2-40B4-BE49-F238E27FC236}">
                <a16:creationId xmlns:a16="http://schemas.microsoft.com/office/drawing/2014/main" id="{438BC5EE-3ADB-33D9-5AE5-6E23971A2A3E}"/>
              </a:ext>
            </a:extLst>
          </p:cNvPr>
          <p:cNvSpPr txBox="1"/>
          <p:nvPr/>
        </p:nvSpPr>
        <p:spPr>
          <a:xfrm>
            <a:off x="749969" y="4859660"/>
            <a:ext cx="2041278" cy="369332"/>
          </a:xfrm>
          <a:prstGeom prst="rect">
            <a:avLst/>
          </a:prstGeom>
          <a:noFill/>
          <a:ln>
            <a:solidFill>
              <a:schemeClr val="accent2">
                <a:lumMod val="75000"/>
              </a:schemeClr>
            </a:solidFill>
          </a:ln>
        </p:spPr>
        <p:txBody>
          <a:bodyPr wrap="square" rtlCol="0">
            <a:spAutoFit/>
          </a:bodyPr>
          <a:lstStyle/>
          <a:p>
            <a:pPr algn="ctr"/>
            <a:r>
              <a:rPr lang="en-US" dirty="0"/>
              <a:t>Dropout</a:t>
            </a:r>
          </a:p>
        </p:txBody>
      </p:sp>
      <p:sp>
        <p:nvSpPr>
          <p:cNvPr id="7" name="TextBox 6">
            <a:extLst>
              <a:ext uri="{FF2B5EF4-FFF2-40B4-BE49-F238E27FC236}">
                <a16:creationId xmlns:a16="http://schemas.microsoft.com/office/drawing/2014/main" id="{0D113A92-F124-84E5-EB81-D595C10FB129}"/>
              </a:ext>
            </a:extLst>
          </p:cNvPr>
          <p:cNvSpPr txBox="1"/>
          <p:nvPr/>
        </p:nvSpPr>
        <p:spPr>
          <a:xfrm>
            <a:off x="6003758" y="4166393"/>
            <a:ext cx="2041278" cy="369332"/>
          </a:xfrm>
          <a:prstGeom prst="rect">
            <a:avLst/>
          </a:prstGeom>
          <a:noFill/>
          <a:ln>
            <a:solidFill>
              <a:schemeClr val="accent2">
                <a:lumMod val="75000"/>
              </a:schemeClr>
            </a:solidFill>
          </a:ln>
        </p:spPr>
        <p:txBody>
          <a:bodyPr wrap="square" rtlCol="0">
            <a:spAutoFit/>
          </a:bodyPr>
          <a:lstStyle/>
          <a:p>
            <a:pPr algn="ctr"/>
            <a:r>
              <a:rPr lang="en-US" dirty="0"/>
              <a:t>Output (Dense)</a:t>
            </a:r>
          </a:p>
        </p:txBody>
      </p:sp>
      <p:sp>
        <p:nvSpPr>
          <p:cNvPr id="8" name="TextBox 7">
            <a:extLst>
              <a:ext uri="{FF2B5EF4-FFF2-40B4-BE49-F238E27FC236}">
                <a16:creationId xmlns:a16="http://schemas.microsoft.com/office/drawing/2014/main" id="{4564BE52-ED4C-6D14-7826-6418EB2361F0}"/>
              </a:ext>
            </a:extLst>
          </p:cNvPr>
          <p:cNvSpPr txBox="1"/>
          <p:nvPr/>
        </p:nvSpPr>
        <p:spPr>
          <a:xfrm>
            <a:off x="749969" y="950727"/>
            <a:ext cx="2041278" cy="369332"/>
          </a:xfrm>
          <a:prstGeom prst="rect">
            <a:avLst/>
          </a:prstGeom>
          <a:noFill/>
          <a:ln>
            <a:solidFill>
              <a:schemeClr val="accent2">
                <a:lumMod val="75000"/>
              </a:schemeClr>
            </a:solidFill>
          </a:ln>
        </p:spPr>
        <p:txBody>
          <a:bodyPr wrap="square" rtlCol="0">
            <a:spAutoFit/>
          </a:bodyPr>
          <a:lstStyle/>
          <a:p>
            <a:pPr algn="ctr"/>
            <a:r>
              <a:rPr lang="en-US" dirty="0"/>
              <a:t>Input</a:t>
            </a:r>
          </a:p>
        </p:txBody>
      </p:sp>
      <p:sp>
        <p:nvSpPr>
          <p:cNvPr id="19" name="TextBox 18">
            <a:extLst>
              <a:ext uri="{FF2B5EF4-FFF2-40B4-BE49-F238E27FC236}">
                <a16:creationId xmlns:a16="http://schemas.microsoft.com/office/drawing/2014/main" id="{D6D1258B-C130-0483-DD7A-B77E58D43034}"/>
              </a:ext>
            </a:extLst>
          </p:cNvPr>
          <p:cNvSpPr txBox="1"/>
          <p:nvPr/>
        </p:nvSpPr>
        <p:spPr>
          <a:xfrm>
            <a:off x="6003758" y="1527121"/>
            <a:ext cx="2041278" cy="646331"/>
          </a:xfrm>
          <a:prstGeom prst="rect">
            <a:avLst/>
          </a:prstGeom>
          <a:noFill/>
          <a:ln>
            <a:solidFill>
              <a:schemeClr val="accent2">
                <a:lumMod val="75000"/>
              </a:schemeClr>
            </a:solidFill>
          </a:ln>
        </p:spPr>
        <p:txBody>
          <a:bodyPr wrap="square" rtlCol="0">
            <a:spAutoFit/>
          </a:bodyPr>
          <a:lstStyle/>
          <a:p>
            <a:pPr algn="ctr"/>
            <a:r>
              <a:rPr lang="en-US" dirty="0"/>
              <a:t>Multi-Head Attention</a:t>
            </a:r>
          </a:p>
        </p:txBody>
      </p:sp>
      <p:sp>
        <p:nvSpPr>
          <p:cNvPr id="20" name="TextBox 19">
            <a:extLst>
              <a:ext uri="{FF2B5EF4-FFF2-40B4-BE49-F238E27FC236}">
                <a16:creationId xmlns:a16="http://schemas.microsoft.com/office/drawing/2014/main" id="{F7B8377E-B092-3257-7DCD-CDD3302D8554}"/>
              </a:ext>
            </a:extLst>
          </p:cNvPr>
          <p:cNvSpPr txBox="1"/>
          <p:nvPr/>
        </p:nvSpPr>
        <p:spPr>
          <a:xfrm>
            <a:off x="770022" y="2683074"/>
            <a:ext cx="2041278" cy="369332"/>
          </a:xfrm>
          <a:prstGeom prst="rect">
            <a:avLst/>
          </a:prstGeom>
          <a:noFill/>
          <a:ln>
            <a:solidFill>
              <a:schemeClr val="accent2">
                <a:lumMod val="75000"/>
              </a:schemeClr>
            </a:solidFill>
          </a:ln>
        </p:spPr>
        <p:txBody>
          <a:bodyPr wrap="square" rtlCol="0">
            <a:spAutoFit/>
          </a:bodyPr>
          <a:lstStyle/>
          <a:p>
            <a:pPr algn="ctr"/>
            <a:r>
              <a:rPr lang="en-US" dirty="0"/>
              <a:t>(…) * </a:t>
            </a:r>
            <a:r>
              <a:rPr lang="en-US" dirty="0" err="1"/>
              <a:t>num_blocks</a:t>
            </a:r>
            <a:endParaRPr lang="en-US" dirty="0"/>
          </a:p>
        </p:txBody>
      </p:sp>
      <p:sp>
        <p:nvSpPr>
          <p:cNvPr id="21" name="TextBox 20">
            <a:extLst>
              <a:ext uri="{FF2B5EF4-FFF2-40B4-BE49-F238E27FC236}">
                <a16:creationId xmlns:a16="http://schemas.microsoft.com/office/drawing/2014/main" id="{36E37091-D872-BFFB-075A-329D839F96C4}"/>
              </a:ext>
            </a:extLst>
          </p:cNvPr>
          <p:cNvSpPr txBox="1"/>
          <p:nvPr/>
        </p:nvSpPr>
        <p:spPr>
          <a:xfrm>
            <a:off x="6003758" y="983010"/>
            <a:ext cx="2041278" cy="369332"/>
          </a:xfrm>
          <a:prstGeom prst="rect">
            <a:avLst/>
          </a:prstGeom>
          <a:noFill/>
          <a:ln>
            <a:solidFill>
              <a:schemeClr val="accent2">
                <a:lumMod val="75000"/>
              </a:schemeClr>
            </a:solidFill>
          </a:ln>
        </p:spPr>
        <p:txBody>
          <a:bodyPr wrap="square" rtlCol="0">
            <a:spAutoFit/>
          </a:bodyPr>
          <a:lstStyle/>
          <a:p>
            <a:pPr algn="ctr"/>
            <a:r>
              <a:rPr lang="en-US" dirty="0"/>
              <a:t>Input</a:t>
            </a:r>
          </a:p>
        </p:txBody>
      </p:sp>
      <p:sp>
        <p:nvSpPr>
          <p:cNvPr id="22" name="TextBox 21">
            <a:extLst>
              <a:ext uri="{FF2B5EF4-FFF2-40B4-BE49-F238E27FC236}">
                <a16:creationId xmlns:a16="http://schemas.microsoft.com/office/drawing/2014/main" id="{63403F21-289D-73F9-AA1A-C6DF43B9B34A}"/>
              </a:ext>
            </a:extLst>
          </p:cNvPr>
          <p:cNvSpPr txBox="1"/>
          <p:nvPr/>
        </p:nvSpPr>
        <p:spPr>
          <a:xfrm>
            <a:off x="770022" y="1916604"/>
            <a:ext cx="2041278" cy="646331"/>
          </a:xfrm>
          <a:prstGeom prst="rect">
            <a:avLst/>
          </a:prstGeom>
          <a:noFill/>
          <a:ln>
            <a:solidFill>
              <a:schemeClr val="accent2">
                <a:lumMod val="75000"/>
              </a:schemeClr>
            </a:solidFill>
          </a:ln>
        </p:spPr>
        <p:txBody>
          <a:bodyPr wrap="square" rtlCol="0">
            <a:spAutoFit/>
          </a:bodyPr>
          <a:lstStyle/>
          <a:p>
            <a:pPr algn="ctr"/>
            <a:r>
              <a:rPr lang="en-US" dirty="0"/>
              <a:t>Transformer Encoding Block</a:t>
            </a:r>
          </a:p>
        </p:txBody>
      </p:sp>
      <p:sp>
        <p:nvSpPr>
          <p:cNvPr id="23" name="TextBox 22">
            <a:extLst>
              <a:ext uri="{FF2B5EF4-FFF2-40B4-BE49-F238E27FC236}">
                <a16:creationId xmlns:a16="http://schemas.microsoft.com/office/drawing/2014/main" id="{4B47D3AF-C9D3-FA35-1853-078438049BD2}"/>
              </a:ext>
            </a:extLst>
          </p:cNvPr>
          <p:cNvSpPr txBox="1"/>
          <p:nvPr/>
        </p:nvSpPr>
        <p:spPr>
          <a:xfrm>
            <a:off x="6003758" y="2344296"/>
            <a:ext cx="2041278" cy="369332"/>
          </a:xfrm>
          <a:prstGeom prst="rect">
            <a:avLst/>
          </a:prstGeom>
          <a:noFill/>
          <a:ln>
            <a:solidFill>
              <a:schemeClr val="accent2">
                <a:lumMod val="75000"/>
              </a:schemeClr>
            </a:solidFill>
          </a:ln>
        </p:spPr>
        <p:txBody>
          <a:bodyPr wrap="square" rtlCol="0">
            <a:spAutoFit/>
          </a:bodyPr>
          <a:lstStyle/>
          <a:p>
            <a:pPr algn="ctr"/>
            <a:r>
              <a:rPr lang="en-US" dirty="0"/>
              <a:t>Dropout</a:t>
            </a:r>
          </a:p>
        </p:txBody>
      </p:sp>
      <p:sp>
        <p:nvSpPr>
          <p:cNvPr id="24" name="TextBox 23">
            <a:extLst>
              <a:ext uri="{FF2B5EF4-FFF2-40B4-BE49-F238E27FC236}">
                <a16:creationId xmlns:a16="http://schemas.microsoft.com/office/drawing/2014/main" id="{D7591C0A-B87D-CCF0-3F46-63E4A9F6870B}"/>
              </a:ext>
            </a:extLst>
          </p:cNvPr>
          <p:cNvSpPr txBox="1"/>
          <p:nvPr/>
        </p:nvSpPr>
        <p:spPr>
          <a:xfrm>
            <a:off x="6003758" y="2857736"/>
            <a:ext cx="2041278" cy="369332"/>
          </a:xfrm>
          <a:prstGeom prst="rect">
            <a:avLst/>
          </a:prstGeom>
          <a:noFill/>
          <a:ln>
            <a:solidFill>
              <a:schemeClr val="accent2">
                <a:lumMod val="75000"/>
              </a:schemeClr>
            </a:solidFill>
          </a:ln>
        </p:spPr>
        <p:txBody>
          <a:bodyPr wrap="square" rtlCol="0">
            <a:spAutoFit/>
          </a:bodyPr>
          <a:lstStyle/>
          <a:p>
            <a:pPr algn="ctr"/>
            <a:r>
              <a:rPr lang="en-US" dirty="0"/>
              <a:t>Layer Normalization</a:t>
            </a:r>
          </a:p>
        </p:txBody>
      </p:sp>
      <p:sp>
        <p:nvSpPr>
          <p:cNvPr id="25" name="TextBox 24">
            <a:extLst>
              <a:ext uri="{FF2B5EF4-FFF2-40B4-BE49-F238E27FC236}">
                <a16:creationId xmlns:a16="http://schemas.microsoft.com/office/drawing/2014/main" id="{ED97A854-F98B-D02D-53EB-EB50400E59C2}"/>
              </a:ext>
            </a:extLst>
          </p:cNvPr>
          <p:cNvSpPr txBox="1"/>
          <p:nvPr/>
        </p:nvSpPr>
        <p:spPr>
          <a:xfrm>
            <a:off x="6003758" y="3372068"/>
            <a:ext cx="2041278" cy="646331"/>
          </a:xfrm>
          <a:prstGeom prst="rect">
            <a:avLst/>
          </a:prstGeom>
          <a:noFill/>
          <a:ln>
            <a:solidFill>
              <a:schemeClr val="accent2">
                <a:lumMod val="75000"/>
              </a:schemeClr>
            </a:solidFill>
          </a:ln>
        </p:spPr>
        <p:txBody>
          <a:bodyPr wrap="square" rtlCol="0">
            <a:spAutoFit/>
          </a:bodyPr>
          <a:lstStyle/>
          <a:p>
            <a:pPr algn="ctr"/>
            <a:r>
              <a:rPr lang="en-US" dirty="0"/>
              <a:t>Residual Connection</a:t>
            </a:r>
          </a:p>
        </p:txBody>
      </p:sp>
      <p:sp>
        <p:nvSpPr>
          <p:cNvPr id="26" name="TextBox 25">
            <a:extLst>
              <a:ext uri="{FF2B5EF4-FFF2-40B4-BE49-F238E27FC236}">
                <a16:creationId xmlns:a16="http://schemas.microsoft.com/office/drawing/2014/main" id="{7CC1D007-DD36-5A0B-A6C1-2B762F74AE73}"/>
              </a:ext>
            </a:extLst>
          </p:cNvPr>
          <p:cNvSpPr txBox="1"/>
          <p:nvPr/>
        </p:nvSpPr>
        <p:spPr>
          <a:xfrm>
            <a:off x="770022" y="5519589"/>
            <a:ext cx="2041278" cy="369332"/>
          </a:xfrm>
          <a:prstGeom prst="rect">
            <a:avLst/>
          </a:prstGeom>
          <a:noFill/>
          <a:ln>
            <a:solidFill>
              <a:schemeClr val="accent2">
                <a:lumMod val="75000"/>
              </a:schemeClr>
            </a:solidFill>
          </a:ln>
        </p:spPr>
        <p:txBody>
          <a:bodyPr wrap="square" rtlCol="0">
            <a:spAutoFit/>
          </a:bodyPr>
          <a:lstStyle/>
          <a:p>
            <a:pPr algn="ctr"/>
            <a:r>
              <a:rPr lang="en-US" dirty="0"/>
              <a:t>Output (Dense)</a:t>
            </a:r>
          </a:p>
        </p:txBody>
      </p:sp>
      <p:sp>
        <p:nvSpPr>
          <p:cNvPr id="27" name="TextBox 26">
            <a:extLst>
              <a:ext uri="{FF2B5EF4-FFF2-40B4-BE49-F238E27FC236}">
                <a16:creationId xmlns:a16="http://schemas.microsoft.com/office/drawing/2014/main" id="{FEF92617-62B3-ADB4-A145-24AAC788AECB}"/>
              </a:ext>
            </a:extLst>
          </p:cNvPr>
          <p:cNvSpPr txBox="1"/>
          <p:nvPr/>
        </p:nvSpPr>
        <p:spPr>
          <a:xfrm>
            <a:off x="6003758" y="4659598"/>
            <a:ext cx="2041278" cy="369332"/>
          </a:xfrm>
          <a:prstGeom prst="rect">
            <a:avLst/>
          </a:prstGeom>
          <a:noFill/>
          <a:ln>
            <a:solidFill>
              <a:schemeClr val="accent2">
                <a:lumMod val="75000"/>
              </a:schemeClr>
            </a:solidFill>
          </a:ln>
        </p:spPr>
        <p:txBody>
          <a:bodyPr wrap="square" rtlCol="0">
            <a:spAutoFit/>
          </a:bodyPr>
          <a:lstStyle/>
          <a:p>
            <a:pPr algn="ctr"/>
            <a:r>
              <a:rPr lang="en-US" dirty="0"/>
              <a:t>Dropout</a:t>
            </a:r>
          </a:p>
        </p:txBody>
      </p:sp>
      <p:sp>
        <p:nvSpPr>
          <p:cNvPr id="28" name="TextBox 27">
            <a:extLst>
              <a:ext uri="{FF2B5EF4-FFF2-40B4-BE49-F238E27FC236}">
                <a16:creationId xmlns:a16="http://schemas.microsoft.com/office/drawing/2014/main" id="{0203846B-C309-2CF7-8142-203665518D2F}"/>
              </a:ext>
            </a:extLst>
          </p:cNvPr>
          <p:cNvSpPr txBox="1"/>
          <p:nvPr/>
        </p:nvSpPr>
        <p:spPr>
          <a:xfrm>
            <a:off x="6003758" y="5833844"/>
            <a:ext cx="2041278" cy="369332"/>
          </a:xfrm>
          <a:prstGeom prst="rect">
            <a:avLst/>
          </a:prstGeom>
          <a:noFill/>
          <a:ln>
            <a:solidFill>
              <a:schemeClr val="accent2">
                <a:lumMod val="75000"/>
              </a:schemeClr>
            </a:solidFill>
          </a:ln>
        </p:spPr>
        <p:txBody>
          <a:bodyPr wrap="square" rtlCol="0">
            <a:spAutoFit/>
          </a:bodyPr>
          <a:lstStyle/>
          <a:p>
            <a:pPr algn="ctr"/>
            <a:r>
              <a:rPr lang="en-US" dirty="0"/>
              <a:t>Layer Normalization</a:t>
            </a:r>
          </a:p>
        </p:txBody>
      </p:sp>
      <p:cxnSp>
        <p:nvCxnSpPr>
          <p:cNvPr id="38" name="Straight Connector 37">
            <a:extLst>
              <a:ext uri="{FF2B5EF4-FFF2-40B4-BE49-F238E27FC236}">
                <a16:creationId xmlns:a16="http://schemas.microsoft.com/office/drawing/2014/main" id="{38991300-090C-E97E-B17D-BFE1A1138A39}"/>
              </a:ext>
            </a:extLst>
          </p:cNvPr>
          <p:cNvCxnSpPr>
            <a:stCxn id="22" idx="3"/>
          </p:cNvCxnSpPr>
          <p:nvPr/>
        </p:nvCxnSpPr>
        <p:spPr>
          <a:xfrm flipV="1">
            <a:off x="2811300" y="733926"/>
            <a:ext cx="2765337" cy="1505844"/>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2A927AD-5B85-23FD-4E11-34CED8E90B09}"/>
              </a:ext>
            </a:extLst>
          </p:cNvPr>
          <p:cNvCxnSpPr>
            <a:stCxn id="22" idx="3"/>
          </p:cNvCxnSpPr>
          <p:nvPr/>
        </p:nvCxnSpPr>
        <p:spPr>
          <a:xfrm>
            <a:off x="2811300" y="2239770"/>
            <a:ext cx="2765337" cy="402868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0C4A20F-3671-E4EB-DB4C-166F58967F90}"/>
              </a:ext>
            </a:extLst>
          </p:cNvPr>
          <p:cNvSpPr txBox="1"/>
          <p:nvPr/>
        </p:nvSpPr>
        <p:spPr>
          <a:xfrm>
            <a:off x="6003758" y="5117491"/>
            <a:ext cx="2041278" cy="646331"/>
          </a:xfrm>
          <a:prstGeom prst="rect">
            <a:avLst/>
          </a:prstGeom>
          <a:noFill/>
          <a:ln>
            <a:solidFill>
              <a:schemeClr val="accent2">
                <a:lumMod val="75000"/>
              </a:schemeClr>
            </a:solidFill>
          </a:ln>
        </p:spPr>
        <p:txBody>
          <a:bodyPr wrap="square" rtlCol="0">
            <a:spAutoFit/>
          </a:bodyPr>
          <a:lstStyle/>
          <a:p>
            <a:pPr algn="ctr"/>
            <a:r>
              <a:rPr lang="en-US" dirty="0"/>
              <a:t>Residual Connection</a:t>
            </a:r>
          </a:p>
        </p:txBody>
      </p:sp>
    </p:spTree>
    <p:extLst>
      <p:ext uri="{BB962C8B-B14F-4D97-AF65-F5344CB8AC3E}">
        <p14:creationId xmlns:p14="http://schemas.microsoft.com/office/powerpoint/2010/main" val="2411045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a:extLst>
            <a:ext uri="{FF2B5EF4-FFF2-40B4-BE49-F238E27FC236}">
              <a16:creationId xmlns:a16="http://schemas.microsoft.com/office/drawing/2014/main" id="{52BF2DA8-1AD0-9284-41EA-77D34AEDBE26}"/>
            </a:ext>
          </a:extLst>
        </p:cNvPr>
        <p:cNvGrpSpPr/>
        <p:nvPr/>
      </p:nvGrpSpPr>
      <p:grpSpPr>
        <a:xfrm>
          <a:off x="0" y="0"/>
          <a:ext cx="0" cy="0"/>
          <a:chOff x="0" y="0"/>
          <a:chExt cx="0" cy="0"/>
        </a:xfrm>
      </p:grpSpPr>
      <p:sp>
        <p:nvSpPr>
          <p:cNvPr id="94" name="Shape 0">
            <a:extLst>
              <a:ext uri="{FF2B5EF4-FFF2-40B4-BE49-F238E27FC236}">
                <a16:creationId xmlns:a16="http://schemas.microsoft.com/office/drawing/2014/main" id="{593FEA92-22B6-12B4-C9EF-BB27A6250068}"/>
              </a:ext>
            </a:extLst>
          </p:cNvPr>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95" name="Text 1">
            <a:extLst>
              <a:ext uri="{FF2B5EF4-FFF2-40B4-BE49-F238E27FC236}">
                <a16:creationId xmlns:a16="http://schemas.microsoft.com/office/drawing/2014/main" id="{534FD73E-2174-ED35-AAF3-8328C8082285}"/>
              </a:ext>
            </a:extLst>
          </p:cNvPr>
          <p:cNvSpPr/>
          <p:nvPr/>
        </p:nvSpPr>
        <p:spPr>
          <a:xfrm>
            <a:off x="341280" y="48960"/>
            <a:ext cx="1060656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Model Comparisons — 2025 Test Set (8,820 rows)</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97" name="Shape 3">
            <a:extLst>
              <a:ext uri="{FF2B5EF4-FFF2-40B4-BE49-F238E27FC236}">
                <a16:creationId xmlns:a16="http://schemas.microsoft.com/office/drawing/2014/main" id="{73340864-2159-E8C2-1228-C49C70516603}"/>
              </a:ext>
            </a:extLst>
          </p:cNvPr>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100" name="Table 0">
            <a:extLst>
              <a:ext uri="{FF2B5EF4-FFF2-40B4-BE49-F238E27FC236}">
                <a16:creationId xmlns:a16="http://schemas.microsoft.com/office/drawing/2014/main" id="{36CD25CE-68ED-7064-731D-323C5E7F2357}"/>
              </a:ext>
            </a:extLst>
          </p:cNvPr>
          <p:cNvGraphicFramePr/>
          <p:nvPr>
            <p:custDataLst>
              <p:tags r:id="rId1"/>
            </p:custDataLst>
            <p:extLst>
              <p:ext uri="{D42A27DB-BD31-4B8C-83A1-F6EECF244321}">
                <p14:modId xmlns:p14="http://schemas.microsoft.com/office/powerpoint/2010/main" val="2587413420"/>
              </p:ext>
            </p:extLst>
          </p:nvPr>
        </p:nvGraphicFramePr>
        <p:xfrm>
          <a:off x="1711234" y="1198189"/>
          <a:ext cx="8321040" cy="5298520"/>
        </p:xfrm>
        <a:graphic>
          <a:graphicData uri="http://schemas.openxmlformats.org/drawingml/2006/table">
            <a:tbl>
              <a:tblPr/>
              <a:tblGrid>
                <a:gridCol w="3449214">
                  <a:extLst>
                    <a:ext uri="{9D8B030D-6E8A-4147-A177-3AD203B41FA5}">
                      <a16:colId xmlns:a16="http://schemas.microsoft.com/office/drawing/2014/main" val="20000"/>
                    </a:ext>
                  </a:extLst>
                </a:gridCol>
                <a:gridCol w="1230179">
                  <a:extLst>
                    <a:ext uri="{9D8B030D-6E8A-4147-A177-3AD203B41FA5}">
                      <a16:colId xmlns:a16="http://schemas.microsoft.com/office/drawing/2014/main" val="20003"/>
                    </a:ext>
                  </a:extLst>
                </a:gridCol>
                <a:gridCol w="1222371">
                  <a:extLst>
                    <a:ext uri="{9D8B030D-6E8A-4147-A177-3AD203B41FA5}">
                      <a16:colId xmlns:a16="http://schemas.microsoft.com/office/drawing/2014/main" val="20004"/>
                    </a:ext>
                  </a:extLst>
                </a:gridCol>
                <a:gridCol w="1209638">
                  <a:extLst>
                    <a:ext uri="{9D8B030D-6E8A-4147-A177-3AD203B41FA5}">
                      <a16:colId xmlns:a16="http://schemas.microsoft.com/office/drawing/2014/main" val="20005"/>
                    </a:ext>
                  </a:extLst>
                </a:gridCol>
                <a:gridCol w="1209638">
                  <a:extLst>
                    <a:ext uri="{9D8B030D-6E8A-4147-A177-3AD203B41FA5}">
                      <a16:colId xmlns:a16="http://schemas.microsoft.com/office/drawing/2014/main" val="20006"/>
                    </a:ext>
                  </a:extLst>
                </a:gridCol>
              </a:tblGrid>
              <a:tr h="365760">
                <a:tc>
                  <a:txBody>
                    <a:bodyPr/>
                    <a:lstStyle/>
                    <a:p>
                      <a:pPr defTabSz="914400">
                        <a:lnSpc>
                          <a:spcPct val="100000"/>
                        </a:lnSpc>
                        <a:tabLst>
                          <a:tab pos="0" algn="l"/>
                        </a:tabLst>
                      </a:pPr>
                      <a:r>
                        <a:rPr lang="en-US" sz="1400" b="1" u="none" strike="noStrike" dirty="0">
                          <a:solidFill>
                            <a:srgbClr val="FFFFFF"/>
                          </a:solidFill>
                          <a:effectLst/>
                          <a:uFillTx/>
                          <a:latin typeface="Calibri"/>
                          <a:ea typeface="Calibri"/>
                        </a:rPr>
                        <a:t>Model / Baseline</a:t>
                      </a:r>
                      <a:endParaRPr lang="en-US" sz="14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tc>
                  <a:txBody>
                    <a:bodyPr/>
                    <a:lstStyle/>
                    <a:p>
                      <a:pPr algn="ctr" defTabSz="914400">
                        <a:lnSpc>
                          <a:spcPct val="100000"/>
                        </a:lnSpc>
                        <a:tabLst>
                          <a:tab pos="0" algn="l"/>
                        </a:tabLst>
                      </a:pPr>
                      <a:r>
                        <a:rPr lang="en-US" sz="1400" b="1" u="none" strike="noStrike" dirty="0">
                          <a:solidFill>
                            <a:srgbClr val="FFFFFF"/>
                          </a:solidFill>
                          <a:effectLst/>
                          <a:uFillTx/>
                          <a:latin typeface="Calibri"/>
                          <a:ea typeface="Calibri"/>
                        </a:rPr>
                        <a:t>Test MAE</a:t>
                      </a:r>
                      <a:endParaRPr lang="en-US" sz="1400" b="0" u="none" strike="noStrike" dirty="0">
                        <a:solidFill>
                          <a:srgbClr val="FFFFFF"/>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0D2340"/>
                    </a:solidFill>
                  </a:tcPr>
                </a:tc>
                <a:tc>
                  <a:txBody>
                    <a:bodyPr/>
                    <a:lstStyle/>
                    <a:p>
                      <a:pPr algn="ctr" defTabSz="914400">
                        <a:lnSpc>
                          <a:spcPct val="100000"/>
                        </a:lnSpc>
                        <a:tabLst>
                          <a:tab pos="0" algn="l"/>
                        </a:tabLst>
                      </a:pPr>
                      <a:r>
                        <a:rPr lang="en-US" sz="1400" b="1" u="none" strike="noStrike" dirty="0">
                          <a:solidFill>
                            <a:srgbClr val="FFFFFF"/>
                          </a:solidFill>
                          <a:effectLst/>
                          <a:uFillTx/>
                          <a:latin typeface="Calibri"/>
                          <a:ea typeface="Calibri"/>
                        </a:rPr>
                        <a:t>Test RMSE</a:t>
                      </a:r>
                      <a:endParaRPr lang="en-US" sz="14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tc>
                  <a:txBody>
                    <a:bodyPr/>
                    <a:lstStyle/>
                    <a:p>
                      <a:pPr algn="ctr" defTabSz="914400">
                        <a:lnSpc>
                          <a:spcPct val="100000"/>
                        </a:lnSpc>
                        <a:tabLst>
                          <a:tab pos="0" algn="l"/>
                        </a:tabLst>
                      </a:pPr>
                      <a:r>
                        <a:rPr lang="en-US" sz="1400" b="1" u="none" strike="noStrike" dirty="0">
                          <a:solidFill>
                            <a:srgbClr val="FFFFFF"/>
                          </a:solidFill>
                          <a:effectLst/>
                          <a:uFillTx/>
                          <a:latin typeface="Calibri"/>
                          <a:ea typeface="Calibri"/>
                        </a:rPr>
                        <a:t>Test R²</a:t>
                      </a:r>
                      <a:endParaRPr lang="en-US" sz="14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tc>
                  <a:txBody>
                    <a:bodyPr/>
                    <a:lstStyle/>
                    <a:p>
                      <a:pPr algn="ctr" defTabSz="914400">
                        <a:lnSpc>
                          <a:spcPct val="100000"/>
                        </a:lnSpc>
                        <a:tabLst>
                          <a:tab pos="0" algn="l"/>
                        </a:tabLst>
                      </a:pPr>
                      <a:r>
                        <a:rPr lang="en-US" sz="1400" b="1" u="none" strike="noStrike" dirty="0">
                          <a:solidFill>
                            <a:srgbClr val="FFFFFF"/>
                          </a:solidFill>
                          <a:effectLst/>
                          <a:uFillTx/>
                          <a:latin typeface="Calibri"/>
                          <a:ea typeface="Calibri"/>
                        </a:rPr>
                        <a:t>vs XGBoost</a:t>
                      </a:r>
                      <a:endParaRPr lang="en-US" sz="14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extLst>
                  <a:ext uri="{0D108BD9-81ED-4DB2-BD59-A6C34878D82A}">
                    <a16:rowId xmlns:a16="http://schemas.microsoft.com/office/drawing/2014/main" val="10000"/>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Calibri"/>
                          <a:ea typeface="Calibri"/>
                        </a:rPr>
                        <a:t>Elastic Net</a:t>
                      </a:r>
                      <a:r>
                        <a:rPr lang="en-US" sz="1400" b="1" u="none" strike="noStrike" dirty="0">
                          <a:solidFill>
                            <a:srgbClr val="000000"/>
                          </a:solidFill>
                          <a:effectLst/>
                          <a:uFillTx/>
                          <a:latin typeface="+mn-lt"/>
                          <a:ea typeface="Calibri"/>
                        </a:rPr>
                        <a:t> — V1</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0.0855</a:t>
                      </a:r>
                      <a:endParaRPr lang="en-US" sz="1400" b="1"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0.1357</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0.1794</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+0.0032</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extLst>
                  <a:ext uri="{0D108BD9-81ED-4DB2-BD59-A6C34878D82A}">
                    <a16:rowId xmlns:a16="http://schemas.microsoft.com/office/drawing/2014/main" val="10001"/>
                  </a:ext>
                </a:extLst>
              </a:tr>
              <a:tr h="352340">
                <a:tc>
                  <a:txBody>
                    <a:bodyPr/>
                    <a:lstStyle/>
                    <a:p>
                      <a:pPr defTabSz="914400">
                        <a:lnSpc>
                          <a:spcPct val="100000"/>
                        </a:lnSpc>
                        <a:tabLst>
                          <a:tab pos="0" algn="l"/>
                        </a:tabLst>
                      </a:pPr>
                      <a:r>
                        <a:rPr lang="en-US" sz="1400" b="1" u="none" strike="noStrike" dirty="0">
                          <a:solidFill>
                            <a:srgbClr val="00A8CC"/>
                          </a:solidFill>
                          <a:effectLst/>
                          <a:uFillTx/>
                          <a:latin typeface="Calibri"/>
                          <a:ea typeface="Calibri"/>
                        </a:rPr>
                        <a:t>Elastic Net</a:t>
                      </a:r>
                      <a:r>
                        <a:rPr lang="en-US" sz="1400" b="1" u="none" strike="noStrike" dirty="0">
                          <a:solidFill>
                            <a:srgbClr val="00A8CC"/>
                          </a:solidFill>
                          <a:effectLst/>
                          <a:uFillTx/>
                          <a:latin typeface="+mn-lt"/>
                          <a:ea typeface="Calibri"/>
                        </a:rPr>
                        <a:t> —</a:t>
                      </a:r>
                      <a:r>
                        <a:rPr lang="en-US" sz="1400" b="1" u="none" strike="noStrike" dirty="0">
                          <a:solidFill>
                            <a:srgbClr val="000000"/>
                          </a:solidFill>
                          <a:effectLst/>
                          <a:uFillTx/>
                          <a:latin typeface="+mn-lt"/>
                          <a:ea typeface="Calibri"/>
                        </a:rPr>
                        <a:t> </a:t>
                      </a:r>
                      <a:r>
                        <a:rPr lang="en-US" sz="1400" b="1" u="none" strike="noStrike" dirty="0">
                          <a:solidFill>
                            <a:srgbClr val="00A8CC"/>
                          </a:solidFill>
                          <a:effectLst/>
                          <a:uFillTx/>
                          <a:latin typeface="+mn-lt"/>
                          <a:ea typeface="Calibri"/>
                        </a:rPr>
                        <a:t>V2</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rgbClr val="00A8CC"/>
                          </a:solidFill>
                          <a:effectLst/>
                          <a:uFillTx/>
                          <a:latin typeface="Calibri"/>
                          <a:ea typeface="Calibri"/>
                        </a:rPr>
                        <a:t>0.0846</a:t>
                      </a:r>
                      <a:endParaRPr lang="en-US" sz="1400" b="0"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rgbClr val="00A8CC"/>
                          </a:solidFill>
                          <a:effectLst/>
                          <a:uFillTx/>
                          <a:latin typeface="Calibri"/>
                          <a:ea typeface="Calibri"/>
                        </a:rPr>
                        <a:t>0.1324</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rgbClr val="00A8CC"/>
                          </a:solidFill>
                          <a:effectLst/>
                          <a:uFillTx/>
                          <a:latin typeface="Calibri"/>
                          <a:ea typeface="Calibri"/>
                        </a:rPr>
                        <a:t>0.2188</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rgbClr val="00A8CC"/>
                          </a:solidFill>
                          <a:effectLst/>
                          <a:uFillTx/>
                          <a:latin typeface="Calibri"/>
                          <a:ea typeface="Calibri"/>
                        </a:rPr>
                        <a:t>+0.0024</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extLst>
                  <a:ext uri="{0D108BD9-81ED-4DB2-BD59-A6C34878D82A}">
                    <a16:rowId xmlns:a16="http://schemas.microsoft.com/office/drawing/2014/main" val="10002"/>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Calibri"/>
                          <a:ea typeface="Calibri"/>
                        </a:rPr>
                        <a:t>LSTM</a:t>
                      </a:r>
                      <a:r>
                        <a:rPr lang="en-US" sz="1400" b="1" u="none" strike="noStrike" dirty="0">
                          <a:solidFill>
                            <a:srgbClr val="000000"/>
                          </a:solidFill>
                          <a:effectLst/>
                          <a:uFillTx/>
                          <a:latin typeface="+mn-lt"/>
                          <a:ea typeface="Calibri"/>
                        </a:rPr>
                        <a:t>— V1</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Arial"/>
                        </a:rPr>
                        <a:t>0.0949</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Arial"/>
                        </a:rPr>
                        <a:t>0.0289</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Arial"/>
                        </a:rPr>
                        <a:t>-0.2690</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r>
                        <a:rPr lang="en-US" sz="1400" b="1" u="none" strike="noStrike" dirty="0">
                          <a:solidFill>
                            <a:srgbClr val="000000"/>
                          </a:solidFill>
                          <a:effectLst/>
                          <a:uFillTx/>
                          <a:latin typeface="Arial"/>
                        </a:rPr>
                        <a:t>+0.0126</a:t>
                      </a: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03431423"/>
                  </a:ext>
                </a:extLst>
              </a:tr>
              <a:tr h="352340">
                <a:tc>
                  <a:txBody>
                    <a:bodyPr/>
                    <a:lstStyle/>
                    <a:p>
                      <a:pPr defTabSz="914400">
                        <a:lnSpc>
                          <a:spcPct val="100000"/>
                        </a:lnSpc>
                        <a:tabLst>
                          <a:tab pos="0" algn="l"/>
                        </a:tabLst>
                      </a:pPr>
                      <a:r>
                        <a:rPr lang="en-US" sz="1400" b="1" u="none" strike="noStrike" dirty="0">
                          <a:solidFill>
                            <a:srgbClr val="00A8CC"/>
                          </a:solidFill>
                          <a:effectLst/>
                          <a:uFillTx/>
                          <a:latin typeface="Calibri"/>
                          <a:ea typeface="Calibri"/>
                        </a:rPr>
                        <a:t>LSTM</a:t>
                      </a:r>
                      <a:r>
                        <a:rPr lang="en-US" sz="1400" b="1" u="none" strike="noStrike" dirty="0">
                          <a:solidFill>
                            <a:srgbClr val="00A8CC"/>
                          </a:solidFill>
                          <a:effectLst/>
                          <a:uFillTx/>
                          <a:latin typeface="+mn-lt"/>
                          <a:ea typeface="Calibri"/>
                        </a:rPr>
                        <a:t>—</a:t>
                      </a:r>
                      <a:r>
                        <a:rPr lang="en-US" sz="1400" b="1" u="none" strike="noStrike" dirty="0">
                          <a:solidFill>
                            <a:srgbClr val="000000"/>
                          </a:solidFill>
                          <a:effectLst/>
                          <a:uFillTx/>
                          <a:latin typeface="+mn-lt"/>
                          <a:ea typeface="Calibri"/>
                        </a:rPr>
                        <a:t> </a:t>
                      </a:r>
                      <a:r>
                        <a:rPr lang="en-US" sz="1400" b="1" u="none" strike="noStrike" dirty="0">
                          <a:solidFill>
                            <a:srgbClr val="00A8CC"/>
                          </a:solidFill>
                          <a:effectLst/>
                          <a:uFillTx/>
                          <a:latin typeface="+mn-lt"/>
                          <a:ea typeface="Calibri"/>
                        </a:rPr>
                        <a:t>V2</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chemeClr val="accent5"/>
                          </a:solidFill>
                          <a:effectLst/>
                          <a:uFillTx/>
                          <a:latin typeface="Arial"/>
                        </a:rPr>
                        <a:t>0.0509</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chemeClr val="accent5"/>
                          </a:solidFill>
                          <a:effectLst/>
                          <a:uFillTx/>
                          <a:latin typeface="Arial"/>
                        </a:rPr>
                        <a:t>0.00579</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chemeClr val="accent5"/>
                          </a:solidFill>
                          <a:effectLst/>
                          <a:uFillTx/>
                          <a:latin typeface="Arial"/>
                        </a:rPr>
                        <a:t>0.7418</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dirty="0">
                          <a:solidFill>
                            <a:schemeClr val="accent6"/>
                          </a:solidFill>
                          <a:effectLst/>
                          <a:uFillTx/>
                          <a:latin typeface="Arial"/>
                        </a:rPr>
                        <a:t>-0.0314</a:t>
                      </a:r>
                      <a:r>
                        <a:rPr lang="en-US" sz="1400" b="1" u="none" strike="noStrike" dirty="0">
                          <a:solidFill>
                            <a:schemeClr val="accent6"/>
                          </a:solidFill>
                          <a:effectLst/>
                          <a:uFillTx/>
                          <a:latin typeface="+mn-lt"/>
                          <a:ea typeface="Calibri"/>
                        </a:rPr>
                        <a:t> ★</a:t>
                      </a:r>
                      <a:endParaRPr lang="en-US" sz="1400" b="1" u="none" strike="noStrike" dirty="0">
                        <a:solidFill>
                          <a:schemeClr val="accent6"/>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extLst>
                  <a:ext uri="{0D108BD9-81ED-4DB2-BD59-A6C34878D82A}">
                    <a16:rowId xmlns:a16="http://schemas.microsoft.com/office/drawing/2014/main" val="2976346831"/>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Calibri"/>
                          <a:ea typeface="Calibri"/>
                        </a:rPr>
                        <a:t>Transformer-Encoder Only</a:t>
                      </a:r>
                      <a:r>
                        <a:rPr lang="en-US" sz="1400" b="1" u="none" strike="noStrike" dirty="0">
                          <a:solidFill>
                            <a:srgbClr val="000000"/>
                          </a:solidFill>
                          <a:effectLst/>
                          <a:uFillTx/>
                          <a:latin typeface="+mn-lt"/>
                          <a:ea typeface="Calibri"/>
                        </a:rPr>
                        <a:t>— V1</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83397590"/>
                  </a:ext>
                </a:extLst>
              </a:tr>
              <a:tr h="352340">
                <a:tc>
                  <a:txBody>
                    <a:bodyPr/>
                    <a:lstStyle/>
                    <a:p>
                      <a:pPr defTabSz="914400">
                        <a:lnSpc>
                          <a:spcPct val="100000"/>
                        </a:lnSpc>
                        <a:tabLst>
                          <a:tab pos="0" algn="l"/>
                        </a:tabLst>
                      </a:pPr>
                      <a:r>
                        <a:rPr lang="en-US" sz="1400" b="1" u="none" strike="noStrike" dirty="0">
                          <a:solidFill>
                            <a:srgbClr val="00A8CC"/>
                          </a:solidFill>
                          <a:effectLst/>
                          <a:uFillTx/>
                          <a:latin typeface="+mn-lt"/>
                          <a:ea typeface="Calibri"/>
                        </a:rPr>
                        <a:t>Transformer-Encoder Only—</a:t>
                      </a:r>
                      <a:r>
                        <a:rPr lang="en-US" sz="1400" b="1" u="none" strike="noStrike" dirty="0">
                          <a:solidFill>
                            <a:srgbClr val="000000"/>
                          </a:solidFill>
                          <a:effectLst/>
                          <a:uFillTx/>
                          <a:latin typeface="+mn-lt"/>
                          <a:ea typeface="Calibri"/>
                        </a:rPr>
                        <a:t> </a:t>
                      </a:r>
                      <a:r>
                        <a:rPr lang="en-US" sz="1400" b="1" u="none" strike="noStrike" dirty="0">
                          <a:solidFill>
                            <a:srgbClr val="00A8CC"/>
                          </a:solidFill>
                          <a:effectLst/>
                          <a:uFillTx/>
                          <a:latin typeface="+mn-lt"/>
                          <a:ea typeface="Calibri"/>
                        </a:rPr>
                        <a:t>V2</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endParaRPr lang="en-US" sz="1400" b="0"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extLst>
                  <a:ext uri="{0D108BD9-81ED-4DB2-BD59-A6C34878D82A}">
                    <a16:rowId xmlns:a16="http://schemas.microsoft.com/office/drawing/2014/main" val="2346527065"/>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Calibri"/>
                          <a:ea typeface="Calibri"/>
                        </a:rPr>
                        <a:t>Transformer-Encoder (Diogo) – V1</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kern="1200" dirty="0">
                        <a:solidFill>
                          <a:srgbClr val="000000"/>
                        </a:solidFill>
                        <a:effectLst/>
                        <a:uFillTx/>
                        <a:latin typeface="Calibri"/>
                        <a:ea typeface="Calibri"/>
                        <a:cs typeface="+mn-cs"/>
                      </a:endParaRP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tc>
                  <a:txBody>
                    <a:bodyPr/>
                    <a:lstStyle/>
                    <a:p>
                      <a:pPr algn="ctr" defTabSz="914400">
                        <a:lnSpc>
                          <a:spcPct val="100000"/>
                        </a:lnSpc>
                        <a:tabLst>
                          <a:tab pos="0" algn="l"/>
                        </a:tabLst>
                      </a:pPr>
                      <a:endParaRPr lang="en-US" sz="1400" b="1"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86650060"/>
                  </a:ext>
                </a:extLst>
              </a:tr>
              <a:tr h="352340">
                <a:tc>
                  <a:txBody>
                    <a:bodyPr/>
                    <a:lstStyle/>
                    <a:p>
                      <a:pPr defTabSz="914400">
                        <a:lnSpc>
                          <a:spcPct val="100000"/>
                        </a:lnSpc>
                        <a:tabLst>
                          <a:tab pos="0" algn="l"/>
                        </a:tabLst>
                      </a:pPr>
                      <a:r>
                        <a:rPr lang="en-US" sz="1400" b="1" u="none" strike="noStrike" dirty="0">
                          <a:solidFill>
                            <a:srgbClr val="00A8CC"/>
                          </a:solidFill>
                          <a:effectLst/>
                          <a:uFillTx/>
                          <a:latin typeface="+mn-lt"/>
                          <a:ea typeface="Calibri"/>
                        </a:rPr>
                        <a:t>Transformer-Encoder (Diogo) – V2</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cap="flat" cmpd="sng" algn="ctr">
                      <a:solidFill>
                        <a:srgbClr val="CCCCCC"/>
                      </a:solidFill>
                      <a:prstDash val="solid"/>
                      <a:round/>
                      <a:headEnd type="none" w="med" len="med"/>
                      <a:tailEnd type="none" w="med" len="me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kern="1200" dirty="0">
                          <a:solidFill>
                            <a:srgbClr val="00A8CC"/>
                          </a:solidFill>
                          <a:effectLst/>
                          <a:uFillTx/>
                          <a:latin typeface="Calibri"/>
                          <a:ea typeface="Calibri"/>
                          <a:cs typeface="+mn-cs"/>
                        </a:rPr>
                        <a:t>0.1034</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kern="1200" dirty="0">
                          <a:solidFill>
                            <a:srgbClr val="00A8CC"/>
                          </a:solidFill>
                          <a:effectLst/>
                          <a:uFillTx/>
                          <a:latin typeface="Calibri"/>
                          <a:ea typeface="Calibri"/>
                          <a:cs typeface="+mn-cs"/>
                        </a:rPr>
                        <a:t>0.1503</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kern="1200" dirty="0">
                          <a:solidFill>
                            <a:srgbClr val="00A8CC"/>
                          </a:solidFill>
                          <a:effectLst/>
                          <a:uFillTx/>
                          <a:latin typeface="Calibri"/>
                          <a:ea typeface="Calibri"/>
                          <a:cs typeface="+mn-cs"/>
                        </a:rPr>
                        <a:t>0.0425</a:t>
                      </a:r>
                    </a:p>
                  </a:txBody>
                  <a:tcPr marL="121920" marR="121920" marT="60960" marB="60960" anchor="ctr">
                    <a:lnL w="6480" cap="flat" cmpd="sng" algn="ctr">
                      <a:solidFill>
                        <a:srgbClr val="CCCCCC"/>
                      </a:solidFill>
                      <a:prstDash val="solid"/>
                      <a:round/>
                      <a:headEnd type="none" w="med" len="med"/>
                      <a:tailEnd type="none" w="med" len="med"/>
                    </a:lnL>
                    <a:lnR w="6480" cap="flat" cmpd="sng" algn="ctr">
                      <a:solidFill>
                        <a:srgbClr val="CCCCCC"/>
                      </a:solidFill>
                      <a:prstDash val="solid"/>
                      <a:round/>
                      <a:headEnd type="none" w="med" len="med"/>
                      <a:tailEnd type="none" w="med" len="me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EBF5FB"/>
                    </a:solidFill>
                  </a:tcPr>
                </a:tc>
                <a:tc>
                  <a:txBody>
                    <a:bodyPr/>
                    <a:lstStyle/>
                    <a:p>
                      <a:pPr algn="ctr" defTabSz="914400">
                        <a:lnSpc>
                          <a:spcPct val="100000"/>
                        </a:lnSpc>
                        <a:tabLst>
                          <a:tab pos="0" algn="l"/>
                        </a:tabLst>
                      </a:pPr>
                      <a:r>
                        <a:rPr lang="en-US" sz="1400" b="1" u="none" strike="noStrike" kern="1200" dirty="0">
                          <a:solidFill>
                            <a:srgbClr val="00A8CC"/>
                          </a:solidFill>
                          <a:effectLst/>
                          <a:uFillTx/>
                          <a:latin typeface="Calibri"/>
                          <a:ea typeface="Calibri"/>
                          <a:cs typeface="+mn-cs"/>
                        </a:rPr>
                        <a:t>+0.0211</a:t>
                      </a: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a:solidFill>
                        <a:srgbClr val="CCCCCC"/>
                      </a:solidFill>
                      <a:prstDash val="solid"/>
                    </a:lnT>
                    <a:lnB w="6480" cap="flat" cmpd="sng" algn="ctr">
                      <a:solidFill>
                        <a:srgbClr val="CCCCCC"/>
                      </a:solidFill>
                      <a:prstDash val="solid"/>
                      <a:round/>
                      <a:headEnd type="none" w="med" len="med"/>
                      <a:tailEnd type="none" w="med" len="med"/>
                    </a:lnB>
                    <a:solidFill>
                      <a:srgbClr val="EBF5FB"/>
                    </a:solidFill>
                  </a:tcPr>
                </a:tc>
                <a:extLst>
                  <a:ext uri="{0D108BD9-81ED-4DB2-BD59-A6C34878D82A}">
                    <a16:rowId xmlns:a16="http://schemas.microsoft.com/office/drawing/2014/main" val="4243249360"/>
                  </a:ext>
                </a:extLst>
              </a:tr>
              <a:tr h="352340">
                <a:tc>
                  <a:txBody>
                    <a:bodyPr/>
                    <a:lstStyle/>
                    <a:p>
                      <a:pPr defTabSz="914400">
                        <a:lnSpc>
                          <a:spcPct val="100000"/>
                        </a:lnSpc>
                        <a:tabLst>
                          <a:tab pos="0" algn="l"/>
                        </a:tabLst>
                      </a:pPr>
                      <a:r>
                        <a:rPr lang="en-US" sz="1400" b="1" u="none" strike="noStrike" dirty="0">
                          <a:solidFill>
                            <a:srgbClr val="E8972A"/>
                          </a:solidFill>
                          <a:effectLst/>
                          <a:uFillTx/>
                          <a:latin typeface="Calibri"/>
                          <a:ea typeface="Calibri"/>
                        </a:rPr>
                        <a:t>Baseline: </a:t>
                      </a:r>
                      <a:r>
                        <a:rPr lang="en-US" sz="1400" b="1" u="none" strike="noStrike" dirty="0" err="1">
                          <a:solidFill>
                            <a:srgbClr val="E8972A"/>
                          </a:solidFill>
                          <a:effectLst/>
                          <a:uFillTx/>
                          <a:latin typeface="Calibri"/>
                          <a:ea typeface="Calibri"/>
                        </a:rPr>
                        <a:t>XGBoost</a:t>
                      </a:r>
                      <a:r>
                        <a:rPr lang="en-US" sz="1400" b="1" u="none" strike="noStrike" dirty="0">
                          <a:solidFill>
                            <a:srgbClr val="E8972A"/>
                          </a:solidFill>
                          <a:effectLst/>
                          <a:uFillTx/>
                          <a:latin typeface="Calibri"/>
                          <a:ea typeface="Calibri"/>
                        </a:rPr>
                        <a:t> walk-forward</a:t>
                      </a:r>
                      <a:endParaRPr lang="en-US" sz="14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cap="flat" cmpd="sng" algn="ctr">
                      <a:solidFill>
                        <a:srgbClr val="CCCCCC"/>
                      </a:solidFill>
                      <a:prstDash val="solid"/>
                      <a:round/>
                      <a:headEnd type="none" w="med" len="med"/>
                      <a:tailEnd type="none" w="med" len="me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E8972A"/>
                          </a:solidFill>
                          <a:effectLst/>
                          <a:uFillTx/>
                          <a:latin typeface="Calibri"/>
                          <a:ea typeface="Calibri"/>
                        </a:rPr>
                        <a:t>0.0823</a:t>
                      </a:r>
                      <a:endParaRPr lang="en-US" sz="1400" b="1"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0.1352</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cap="flat" cmpd="sng" algn="ctr">
                      <a:solidFill>
                        <a:srgbClr val="CCCCCC"/>
                      </a:solidFill>
                      <a:prstDash val="solid"/>
                      <a:round/>
                      <a:headEnd type="none" w="med" len="med"/>
                      <a:tailEnd type="none" w="med" len="me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0.1856</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cap="flat" cmpd="sng" algn="ctr">
                      <a:solidFill>
                        <a:srgbClr val="CCCCCC"/>
                      </a:solidFill>
                      <a:prstDash val="solid"/>
                      <a:round/>
                      <a:headEnd type="none" w="med" len="med"/>
                      <a:tailEnd type="none" w="med" len="me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E8972A"/>
                          </a:solidFill>
                          <a:effectLst/>
                          <a:uFillTx/>
                          <a:latin typeface="Calibri"/>
                          <a:ea typeface="Calibri"/>
                        </a:rPr>
                        <a:t>BEST ★</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cap="flat" cmpd="sng" algn="ctr">
                      <a:solidFill>
                        <a:srgbClr val="CCCCCC"/>
                      </a:solidFill>
                      <a:prstDash val="solid"/>
                      <a:round/>
                      <a:headEnd type="none" w="med" len="med"/>
                      <a:tailEnd type="none" w="med" len="med"/>
                    </a:lnT>
                    <a:lnB w="6480">
                      <a:solidFill>
                        <a:srgbClr val="CCCCCC"/>
                      </a:solidFill>
                      <a:prstDash val="solid"/>
                    </a:lnB>
                    <a:solidFill>
                      <a:srgbClr val="FCF3CF"/>
                    </a:solidFill>
                  </a:tcPr>
                </a:tc>
                <a:extLst>
                  <a:ext uri="{0D108BD9-81ED-4DB2-BD59-A6C34878D82A}">
                    <a16:rowId xmlns:a16="http://schemas.microsoft.com/office/drawing/2014/main" val="10003"/>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Calibri"/>
                          <a:ea typeface="Calibri"/>
                        </a:rPr>
                        <a:t>Baseline: Trailing 20 Day Average</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0.0922</a:t>
                      </a:r>
                      <a:endParaRPr lang="en-US" sz="1400" b="1" u="none" strike="noStrike">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0.1491</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0.0088</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+0.0099</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extLst>
                  <a:ext uri="{0D108BD9-81ED-4DB2-BD59-A6C34878D82A}">
                    <a16:rowId xmlns:a16="http://schemas.microsoft.com/office/drawing/2014/main" val="10004"/>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mn-lt"/>
                          <a:ea typeface="Calibri"/>
                        </a:rPr>
                        <a:t>Baseline: Trailing 5 Day Average</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0.1005</a:t>
                      </a:r>
                      <a:endParaRPr lang="en-US" sz="1400" b="1" u="none" strike="noStrike">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0.1625</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−0.1773</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+0.0182</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extLst>
                  <a:ext uri="{0D108BD9-81ED-4DB2-BD59-A6C34878D82A}">
                    <a16:rowId xmlns:a16="http://schemas.microsoft.com/office/drawing/2014/main" val="10005"/>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mn-lt"/>
                          <a:ea typeface="Calibri"/>
                        </a:rPr>
                        <a:t>Baseline: Current Volatility</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0.1020</a:t>
                      </a:r>
                      <a:endParaRPr lang="en-US" sz="1400" b="1"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0.1619</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−0.1680</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+0.0197</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extLst>
                  <a:ext uri="{0D108BD9-81ED-4DB2-BD59-A6C34878D82A}">
                    <a16:rowId xmlns:a16="http://schemas.microsoft.com/office/drawing/2014/main" val="10006"/>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mn-lt"/>
                          <a:ea typeface="Calibri"/>
                        </a:rPr>
                        <a:t>Baseline: Trailing 20 Day OLS</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0.1298</a:t>
                      </a:r>
                      <a:endParaRPr lang="en-US" sz="1400" b="1" u="none" strike="noStrike">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cap="flat" cmpd="sng" algn="ctr">
                      <a:solidFill>
                        <a:srgbClr val="CCCCCC"/>
                      </a:solidFill>
                      <a:prstDash val="solid"/>
                      <a:round/>
                      <a:headEnd type="none" w="med" len="med"/>
                      <a:tailEnd type="none" w="med" len="me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0.2091</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−0.9498</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+0.0475</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extLst>
                  <a:ext uri="{0D108BD9-81ED-4DB2-BD59-A6C34878D82A}">
                    <a16:rowId xmlns:a16="http://schemas.microsoft.com/office/drawing/2014/main" val="10007"/>
                  </a:ext>
                </a:extLst>
              </a:tr>
              <a:tr h="352340">
                <a:tc>
                  <a:txBody>
                    <a:bodyPr/>
                    <a:lstStyle/>
                    <a:p>
                      <a:pPr defTabSz="914400">
                        <a:lnSpc>
                          <a:spcPct val="100000"/>
                        </a:lnSpc>
                        <a:tabLst>
                          <a:tab pos="0" algn="l"/>
                        </a:tabLst>
                      </a:pPr>
                      <a:r>
                        <a:rPr lang="en-US" sz="1400" b="1" u="none" strike="noStrike" dirty="0">
                          <a:solidFill>
                            <a:srgbClr val="000000"/>
                          </a:solidFill>
                          <a:effectLst/>
                          <a:uFillTx/>
                          <a:latin typeface="+mn-lt"/>
                          <a:ea typeface="Calibri"/>
                        </a:rPr>
                        <a:t>Baseline: Trailing 5 Day OLS</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0.1644</a:t>
                      </a:r>
                      <a:endParaRPr lang="en-US" sz="1400" b="1" u="none" strike="noStrike" dirty="0">
                        <a:solidFill>
                          <a:srgbClr val="000000"/>
                        </a:solidFill>
                        <a:effectLst/>
                        <a:uFillTx/>
                        <a:latin typeface="Arial"/>
                      </a:endParaRPr>
                    </a:p>
                  </a:txBody>
                  <a:tcPr marL="121920" marR="121920" marT="60960" marB="60960" anchor="ctr">
                    <a:lnL w="6480" cap="flat" cmpd="sng" algn="ctr">
                      <a:solidFill>
                        <a:srgbClr val="CCCCCC"/>
                      </a:solidFill>
                      <a:prstDash val="solid"/>
                      <a:round/>
                      <a:headEnd type="none" w="med" len="med"/>
                      <a:tailEnd type="none" w="med" len="med"/>
                    </a:lnL>
                    <a:lnR w="6480">
                      <a:solidFill>
                        <a:srgbClr val="CCCCCC"/>
                      </a:solidFill>
                      <a:prstDash val="solid"/>
                    </a:lnR>
                    <a:lnT w="6480" cap="flat" cmpd="sng" algn="ctr">
                      <a:solidFill>
                        <a:srgbClr val="CCCCCC"/>
                      </a:solidFill>
                      <a:prstDash val="solid"/>
                      <a:round/>
                      <a:headEnd type="none" w="med" len="med"/>
                      <a:tailEnd type="none" w="med" len="me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0.2478</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a:solidFill>
                            <a:srgbClr val="000000"/>
                          </a:solidFill>
                          <a:effectLst/>
                          <a:uFillTx/>
                          <a:latin typeface="Calibri"/>
                          <a:ea typeface="Calibri"/>
                        </a:rPr>
                        <a:t>−1.7383</a:t>
                      </a:r>
                      <a:endParaRPr lang="en-US" sz="1400" b="1" u="none" strike="noStrike">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tc>
                  <a:txBody>
                    <a:bodyPr/>
                    <a:lstStyle/>
                    <a:p>
                      <a:pPr algn="ctr" defTabSz="914400">
                        <a:lnSpc>
                          <a:spcPct val="100000"/>
                        </a:lnSpc>
                        <a:tabLst>
                          <a:tab pos="0" algn="l"/>
                        </a:tabLst>
                      </a:pPr>
                      <a:r>
                        <a:rPr lang="en-US" sz="1400" b="1" u="none" strike="noStrike" dirty="0">
                          <a:solidFill>
                            <a:srgbClr val="000000"/>
                          </a:solidFill>
                          <a:effectLst/>
                          <a:uFillTx/>
                          <a:latin typeface="Calibri"/>
                          <a:ea typeface="Calibri"/>
                        </a:rPr>
                        <a:t>+0.0821</a:t>
                      </a:r>
                      <a:endParaRPr lang="en-US" sz="1400" b="1"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FCF3CF"/>
                    </a:solidFill>
                  </a:tcPr>
                </a:tc>
                <a:extLst>
                  <a:ext uri="{0D108BD9-81ED-4DB2-BD59-A6C34878D82A}">
                    <a16:rowId xmlns:a16="http://schemas.microsoft.com/office/drawing/2014/main" val="10008"/>
                  </a:ext>
                </a:extLst>
              </a:tr>
            </a:tbl>
          </a:graphicData>
        </a:graphic>
      </p:graphicFrame>
      <p:sp>
        <p:nvSpPr>
          <p:cNvPr id="4" name="Text 3">
            <a:extLst>
              <a:ext uri="{FF2B5EF4-FFF2-40B4-BE49-F238E27FC236}">
                <a16:creationId xmlns:a16="http://schemas.microsoft.com/office/drawing/2014/main" id="{39D6D745-8213-0B28-5A97-8CC6A63C972D}"/>
              </a:ext>
            </a:extLst>
          </p:cNvPr>
          <p:cNvSpPr/>
          <p:nvPr/>
        </p:nvSpPr>
        <p:spPr>
          <a:xfrm>
            <a:off x="329184" y="6615684"/>
            <a:ext cx="6217920" cy="19006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AAACC"/>
                </a:solidFill>
                <a:effectLst/>
                <a:uLnTx/>
                <a:uFillTx/>
                <a:latin typeface="Calibri" panose="020F0502020204030204"/>
                <a:ea typeface="+mn-ea"/>
                <a:cs typeface="+mn-cs"/>
              </a:rPr>
              <a:t>DATASCI 207  ·  Final Project: Forecasting Volatility In Stock Market  ·  March 2026</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5">
            <a:extLst>
              <a:ext uri="{FF2B5EF4-FFF2-40B4-BE49-F238E27FC236}">
                <a16:creationId xmlns:a16="http://schemas.microsoft.com/office/drawing/2014/main" id="{E2ED3607-8945-2BF1-B826-398C4C1CCFA4}"/>
              </a:ext>
            </a:extLst>
          </p:cNvPr>
          <p:cNvSpPr/>
          <p:nvPr/>
        </p:nvSpPr>
        <p:spPr>
          <a:xfrm>
            <a:off x="1711234" y="668022"/>
            <a:ext cx="8611228" cy="505687"/>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1600" b="1" i="0" u="none" strike="noStrike" kern="1200" cap="none" spc="0" normalizeH="0" baseline="0" noProof="0" dirty="0">
                <a:ln>
                  <a:noFill/>
                </a:ln>
                <a:solidFill>
                  <a:srgbClr val="000000"/>
                </a:solidFill>
                <a:effectLst/>
                <a:uLnTx/>
                <a:uFillTx/>
                <a:latin typeface="Calibri"/>
                <a:ea typeface="Calibri"/>
                <a:cs typeface="+mn-cs"/>
              </a:rPr>
              <a:t>All results use the same 8,820-row test set. Lower MAE and RMSE are better; higher R² is better.</a:t>
            </a:r>
            <a:endParaRPr kumimoji="0" lang="en-US" sz="1600" b="1" i="0"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969427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2340"/>
        </a:solidFill>
        <a:effectLst/>
      </p:bgPr>
    </p:bg>
    <p:spTree>
      <p:nvGrpSpPr>
        <p:cNvPr id="1" name="">
          <a:extLst>
            <a:ext uri="{FF2B5EF4-FFF2-40B4-BE49-F238E27FC236}">
              <a16:creationId xmlns:a16="http://schemas.microsoft.com/office/drawing/2014/main" id="{2154A49D-C027-369F-B7E6-79283D59151B}"/>
            </a:ext>
          </a:extLst>
        </p:cNvPr>
        <p:cNvGrpSpPr/>
        <p:nvPr/>
      </p:nvGrpSpPr>
      <p:grpSpPr>
        <a:xfrm>
          <a:off x="0" y="0"/>
          <a:ext cx="0" cy="0"/>
          <a:chOff x="0" y="0"/>
          <a:chExt cx="0" cy="0"/>
        </a:xfrm>
      </p:grpSpPr>
      <p:sp>
        <p:nvSpPr>
          <p:cNvPr id="8" name="Shape 0">
            <a:extLst>
              <a:ext uri="{FF2B5EF4-FFF2-40B4-BE49-F238E27FC236}">
                <a16:creationId xmlns:a16="http://schemas.microsoft.com/office/drawing/2014/main" id="{82EF9DDC-8D19-E009-5283-20BAC7A6A2DE}"/>
              </a:ext>
            </a:extLst>
          </p:cNvPr>
          <p:cNvSpPr/>
          <p:nvPr/>
        </p:nvSpPr>
        <p:spPr>
          <a:xfrm>
            <a:off x="0" y="0"/>
            <a:ext cx="145920" cy="685776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0" name="Shape 2">
            <a:extLst>
              <a:ext uri="{FF2B5EF4-FFF2-40B4-BE49-F238E27FC236}">
                <a16:creationId xmlns:a16="http://schemas.microsoft.com/office/drawing/2014/main" id="{31E2C028-6C8B-318B-1CEE-D4430066B74C}"/>
              </a:ext>
            </a:extLst>
          </p:cNvPr>
          <p:cNvSpPr/>
          <p:nvPr/>
        </p:nvSpPr>
        <p:spPr>
          <a:xfrm>
            <a:off x="426720" y="3596640"/>
            <a:ext cx="11460000" cy="48480"/>
          </a:xfrm>
          <a:prstGeom prst="rect">
            <a:avLst/>
          </a:prstGeom>
          <a:solidFill>
            <a:srgbClr val="00A8CC"/>
          </a:solidFill>
          <a:ln w="0">
            <a:noFill/>
          </a:ln>
        </p:spPr>
        <p:style>
          <a:lnRef idx="0">
            <a:scrgbClr r="0" g="0" b="0"/>
          </a:lnRef>
          <a:fillRef idx="0">
            <a:scrgbClr r="0" g="0" b="0"/>
          </a:fillRef>
          <a:effectRef idx="0">
            <a:scrgbClr r="0" g="0" b="0"/>
          </a:effectRef>
          <a:fontRef idx="minor"/>
        </p:style>
        <p:txBody>
          <a:bodyPr lIns="120000" tIns="-11040" rIns="120000" bIns="-1104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pic>
        <p:nvPicPr>
          <p:cNvPr id="7" name="Picture 6">
            <a:extLst>
              <a:ext uri="{FF2B5EF4-FFF2-40B4-BE49-F238E27FC236}">
                <a16:creationId xmlns:a16="http://schemas.microsoft.com/office/drawing/2014/main" id="{0C141618-C374-B494-41EE-B0A8BC9DF1F8}"/>
              </a:ext>
            </a:extLst>
          </p:cNvPr>
          <p:cNvPicPr>
            <a:picLocks noChangeAspect="1"/>
          </p:cNvPicPr>
          <p:nvPr/>
        </p:nvPicPr>
        <p:blipFill>
          <a:blip r:embed="rId3"/>
          <a:stretch>
            <a:fillRect/>
          </a:stretch>
        </p:blipFill>
        <p:spPr>
          <a:xfrm>
            <a:off x="2676797" y="330200"/>
            <a:ext cx="6676209" cy="4450806"/>
          </a:xfrm>
          <a:prstGeom prst="rect">
            <a:avLst/>
          </a:prstGeom>
        </p:spPr>
      </p:pic>
      <p:sp>
        <p:nvSpPr>
          <p:cNvPr id="11" name="Shape 3">
            <a:extLst>
              <a:ext uri="{FF2B5EF4-FFF2-40B4-BE49-F238E27FC236}">
                <a16:creationId xmlns:a16="http://schemas.microsoft.com/office/drawing/2014/main" id="{1137C331-FA45-9782-2EB5-4A0163AC98AA}"/>
              </a:ext>
            </a:extLst>
          </p:cNvPr>
          <p:cNvSpPr/>
          <p:nvPr/>
        </p:nvSpPr>
        <p:spPr>
          <a:xfrm>
            <a:off x="145920" y="6559200"/>
            <a:ext cx="1204560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13" name="Text 3">
            <a:extLst>
              <a:ext uri="{FF2B5EF4-FFF2-40B4-BE49-F238E27FC236}">
                <a16:creationId xmlns:a16="http://schemas.microsoft.com/office/drawing/2014/main" id="{8F7065A9-0E13-67ED-52C0-2006B84512B7}"/>
              </a:ext>
            </a:extLst>
          </p:cNvPr>
          <p:cNvSpPr/>
          <p:nvPr/>
        </p:nvSpPr>
        <p:spPr>
          <a:xfrm>
            <a:off x="403606" y="6615684"/>
            <a:ext cx="6143498" cy="19006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AAACC"/>
                </a:solidFill>
                <a:effectLst/>
                <a:uLnTx/>
                <a:uFillTx/>
                <a:latin typeface="Calibri" panose="020F0502020204030204"/>
                <a:ea typeface="+mn-ea"/>
                <a:cs typeface="+mn-cs"/>
              </a:rPr>
              <a:t>DATASCI 207  ·  Final Project: Forecasting Volatility In Stock Market  ·  March 2026</a:t>
            </a:r>
            <a:endParaRPr kumimoji="0" lang="en-US" sz="125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018F97F-A11E-9A26-554B-9629E55A9627}"/>
              </a:ext>
            </a:extLst>
          </p:cNvPr>
          <p:cNvSpPr txBox="1"/>
          <p:nvPr/>
        </p:nvSpPr>
        <p:spPr>
          <a:xfrm>
            <a:off x="2743200" y="3911936"/>
            <a:ext cx="6676209" cy="1569660"/>
          </a:xfrm>
          <a:prstGeom prst="rect">
            <a:avLst/>
          </a:prstGeom>
          <a:noFill/>
        </p:spPr>
        <p:txBody>
          <a:bodyPr wrap="square" rtlCol="0">
            <a:spAutoFit/>
          </a:bodyPr>
          <a:lstStyle/>
          <a:p>
            <a:pPr algn="ctr"/>
            <a:r>
              <a:rPr lang="en-US" sz="9600" dirty="0">
                <a:solidFill>
                  <a:schemeClr val="bg1"/>
                </a:solidFill>
              </a:rPr>
              <a:t>THANK YOU!</a:t>
            </a:r>
          </a:p>
        </p:txBody>
      </p:sp>
    </p:spTree>
    <p:extLst>
      <p:ext uri="{BB962C8B-B14F-4D97-AF65-F5344CB8AC3E}">
        <p14:creationId xmlns:p14="http://schemas.microsoft.com/office/powerpoint/2010/main" val="3068750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87" name="Shape 0"/>
          <p:cNvSpPr/>
          <p:nvPr/>
        </p:nvSpPr>
        <p:spPr>
          <a:xfrm>
            <a:off x="0" y="0"/>
            <a:ext cx="12191520" cy="63360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88" name="Text 1"/>
          <p:cNvSpPr/>
          <p:nvPr/>
        </p:nvSpPr>
        <p:spPr>
          <a:xfrm>
            <a:off x="341280" y="48960"/>
            <a:ext cx="10606560" cy="560160"/>
          </a:xfrm>
          <a:prstGeom prst="rect">
            <a:avLst/>
          </a:prstGeom>
          <a:noFill/>
          <a:ln w="0">
            <a:noFill/>
          </a:ln>
        </p:spPr>
        <p:style>
          <a:lnRef idx="0">
            <a:scrgbClr r="0" g="0" b="0"/>
          </a:lnRef>
          <a:fillRef idx="0">
            <a:scrgbClr r="0" g="0" b="0"/>
          </a:fillRef>
          <a:effectRef idx="0">
            <a:scrgbClr r="0" g="0" b="0"/>
          </a:effectRef>
          <a:fontRef idx="minor"/>
        </p:style>
        <p:txBody>
          <a:bodyPr lIns="120000" tIns="60000" rIns="120000" bIns="6000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tab pos="0" algn="l"/>
              </a:tabLst>
              <a:defRPr/>
            </a:pPr>
            <a:r>
              <a:rPr kumimoji="0" lang="en-US" sz="2933" b="1" i="0" u="none" strike="noStrike" kern="1200" cap="none" spc="0" normalizeH="0" baseline="0" noProof="0" dirty="0">
                <a:ln>
                  <a:noFill/>
                </a:ln>
                <a:solidFill>
                  <a:srgbClr val="FFFFFF"/>
                </a:solidFill>
                <a:effectLst/>
                <a:uLnTx/>
                <a:uFillTx/>
                <a:latin typeface="Calibri"/>
                <a:ea typeface="Calibri"/>
                <a:cs typeface="+mn-cs"/>
              </a:rPr>
              <a:t>Elastic Net Setup: V1 vs. V2 ( I think we should get rid of V1)</a:t>
            </a:r>
            <a:endParaRPr kumimoji="0" lang="en-US" sz="2933" b="0" i="0" u="none" strike="noStrike" kern="1200" cap="none" spc="0" normalizeH="0" baseline="0" noProof="0" dirty="0">
              <a:ln>
                <a:noFill/>
              </a:ln>
              <a:solidFill>
                <a:srgbClr val="000000"/>
              </a:solidFill>
              <a:effectLst/>
              <a:uLnTx/>
              <a:uFillTx/>
              <a:latin typeface="Arial"/>
              <a:ea typeface="+mn-ea"/>
              <a:cs typeface="+mn-cs"/>
            </a:endParaRPr>
          </a:p>
        </p:txBody>
      </p:sp>
      <p:sp>
        <p:nvSpPr>
          <p:cNvPr id="90" name="Shape 3"/>
          <p:cNvSpPr/>
          <p:nvPr/>
        </p:nvSpPr>
        <p:spPr>
          <a:xfrm>
            <a:off x="0" y="6559200"/>
            <a:ext cx="12191520" cy="298080"/>
          </a:xfrm>
          <a:prstGeom prst="rect">
            <a:avLst/>
          </a:prstGeom>
          <a:solidFill>
            <a:srgbClr val="0D2340"/>
          </a:solidFill>
          <a:ln w="0">
            <a:noFill/>
          </a:ln>
        </p:spPr>
        <p:style>
          <a:lnRef idx="0">
            <a:scrgbClr r="0" g="0" b="0"/>
          </a:lnRef>
          <a:fillRef idx="0">
            <a:scrgbClr r="0" g="0" b="0"/>
          </a:fillRef>
          <a:effectRef idx="0">
            <a:scrgbClr r="0" g="0" b="0"/>
          </a:effectRef>
          <a:fontRef idx="minor"/>
        </p:style>
        <p:txBody>
          <a:bodyPr lIns="120000" tIns="60000" rIns="120000" bIns="60000" anchor="t">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93" name="Table 0"/>
          <p:cNvGraphicFramePr/>
          <p:nvPr>
            <p:custDataLst>
              <p:tags r:id="rId1"/>
            </p:custDataLst>
          </p:nvPr>
        </p:nvGraphicFramePr>
        <p:xfrm>
          <a:off x="231600" y="1833441"/>
          <a:ext cx="11752800" cy="3312747"/>
        </p:xfrm>
        <a:graphic>
          <a:graphicData uri="http://schemas.openxmlformats.org/drawingml/2006/table">
            <a:tbl>
              <a:tblPr/>
              <a:tblGrid>
                <a:gridCol w="2535936">
                  <a:extLst>
                    <a:ext uri="{9D8B030D-6E8A-4147-A177-3AD203B41FA5}">
                      <a16:colId xmlns:a16="http://schemas.microsoft.com/office/drawing/2014/main" val="20000"/>
                    </a:ext>
                  </a:extLst>
                </a:gridCol>
                <a:gridCol w="4271893">
                  <a:extLst>
                    <a:ext uri="{9D8B030D-6E8A-4147-A177-3AD203B41FA5}">
                      <a16:colId xmlns:a16="http://schemas.microsoft.com/office/drawing/2014/main" val="20001"/>
                    </a:ext>
                  </a:extLst>
                </a:gridCol>
                <a:gridCol w="817880">
                  <a:extLst>
                    <a:ext uri="{9D8B030D-6E8A-4147-A177-3AD203B41FA5}">
                      <a16:colId xmlns:a16="http://schemas.microsoft.com/office/drawing/2014/main" val="20002"/>
                    </a:ext>
                  </a:extLst>
                </a:gridCol>
                <a:gridCol w="4127091">
                  <a:extLst>
                    <a:ext uri="{9D8B030D-6E8A-4147-A177-3AD203B41FA5}">
                      <a16:colId xmlns:a16="http://schemas.microsoft.com/office/drawing/2014/main" val="20003"/>
                    </a:ext>
                  </a:extLst>
                </a:gridCol>
              </a:tblGrid>
              <a:tr h="755520">
                <a:tc>
                  <a:txBody>
                    <a:bodyPr/>
                    <a:lstStyle/>
                    <a:p>
                      <a:pPr defTabSz="914400">
                        <a:lnSpc>
                          <a:spcPct val="100000"/>
                        </a:lnSpc>
                        <a:tabLst>
                          <a:tab pos="0" algn="l"/>
                        </a:tabLst>
                      </a:pPr>
                      <a:r>
                        <a:rPr lang="en-US" sz="1600" b="1" u="none" strike="noStrike">
                          <a:solidFill>
                            <a:srgbClr val="FFFFFF"/>
                          </a:solidFill>
                          <a:effectLst/>
                          <a:uFillTx/>
                          <a:latin typeface="Calibri"/>
                          <a:ea typeface="Calibri"/>
                        </a:rPr>
                        <a:t>Model Tier</a:t>
                      </a:r>
                      <a:endParaRPr lang="en-US" sz="1600" b="0" u="none" strike="noStrike">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tc>
                  <a:txBody>
                    <a:bodyPr/>
                    <a:lstStyle/>
                    <a:p>
                      <a:pPr defTabSz="914400">
                        <a:lnSpc>
                          <a:spcPct val="100000"/>
                        </a:lnSpc>
                        <a:tabLst>
                          <a:tab pos="0" algn="l"/>
                        </a:tabLst>
                      </a:pPr>
                      <a:r>
                        <a:rPr lang="en-US" sz="1600" b="1" u="none" strike="noStrike" dirty="0">
                          <a:solidFill>
                            <a:srgbClr val="FFFFFF"/>
                          </a:solidFill>
                          <a:effectLst/>
                          <a:uFillTx/>
                          <a:latin typeface="Calibri"/>
                          <a:ea typeface="Calibri"/>
                        </a:rPr>
                        <a:t>Features</a:t>
                      </a:r>
                      <a:endParaRPr lang="en-US" sz="16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tc>
                  <a:txBody>
                    <a:bodyPr/>
                    <a:lstStyle/>
                    <a:p>
                      <a:pPr algn="ctr" defTabSz="914400">
                        <a:lnSpc>
                          <a:spcPct val="100000"/>
                        </a:lnSpc>
                        <a:tabLst>
                          <a:tab pos="0" algn="l"/>
                        </a:tabLst>
                      </a:pPr>
                      <a:r>
                        <a:rPr lang="en-US" sz="1600" b="1" u="none" strike="noStrike" dirty="0">
                          <a:solidFill>
                            <a:srgbClr val="FFFFFF"/>
                          </a:solidFill>
                          <a:effectLst/>
                          <a:uFillTx/>
                          <a:latin typeface="Calibri"/>
                          <a:ea typeface="Calibri"/>
                        </a:rPr>
                        <a:t>Count</a:t>
                      </a:r>
                      <a:endParaRPr lang="en-US" sz="16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tc>
                  <a:txBody>
                    <a:bodyPr/>
                    <a:lstStyle/>
                    <a:p>
                      <a:pPr defTabSz="914400">
                        <a:lnSpc>
                          <a:spcPct val="100000"/>
                        </a:lnSpc>
                        <a:tabLst>
                          <a:tab pos="0" algn="l"/>
                        </a:tabLst>
                      </a:pPr>
                      <a:r>
                        <a:rPr lang="en-US" sz="1600" b="1" u="none" strike="noStrike" dirty="0">
                          <a:solidFill>
                            <a:srgbClr val="FFFFFF"/>
                          </a:solidFill>
                          <a:effectLst/>
                          <a:uFillTx/>
                          <a:latin typeface="Calibri"/>
                          <a:ea typeface="Calibri"/>
                        </a:rPr>
                        <a:t>Role / Notes</a:t>
                      </a:r>
                      <a:endParaRPr lang="en-US" sz="1600" b="0" u="none" strike="noStrike" dirty="0">
                        <a:solidFill>
                          <a:srgbClr val="FFFFFF"/>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0D2340"/>
                    </a:solidFill>
                  </a:tcPr>
                </a:tc>
                <a:extLst>
                  <a:ext uri="{0D108BD9-81ED-4DB2-BD59-A6C34878D82A}">
                    <a16:rowId xmlns:a16="http://schemas.microsoft.com/office/drawing/2014/main" val="10000"/>
                  </a:ext>
                </a:extLst>
              </a:tr>
              <a:tr h="755520">
                <a:tc>
                  <a:txBody>
                    <a:bodyPr/>
                    <a:lstStyle/>
                    <a:p>
                      <a:pPr defTabSz="914400">
                        <a:lnSpc>
                          <a:spcPct val="100000"/>
                        </a:lnSpc>
                        <a:tabLst>
                          <a:tab pos="0" algn="l"/>
                        </a:tabLst>
                      </a:pPr>
                      <a:r>
                        <a:rPr lang="en-US" sz="1500" b="1" u="none" strike="noStrike" dirty="0">
                          <a:solidFill>
                            <a:srgbClr val="000000"/>
                          </a:solidFill>
                          <a:effectLst/>
                          <a:uFillTx/>
                          <a:latin typeface="Calibri"/>
                          <a:ea typeface="Calibri"/>
                        </a:rPr>
                        <a:t>V1 — Current-State Volatility</a:t>
                      </a:r>
                      <a:endParaRPr lang="en-US" sz="15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tc>
                  <a:txBody>
                    <a:bodyPr/>
                    <a:lstStyle/>
                    <a:p>
                      <a:pPr defTabSz="914400">
                        <a:lnSpc>
                          <a:spcPct val="100000"/>
                        </a:lnSpc>
                        <a:spcAft>
                          <a:spcPts val="400"/>
                        </a:spcAft>
                        <a:tabLst>
                          <a:tab pos="0" algn="l"/>
                        </a:tabLst>
                      </a:pPr>
                      <a:r>
                        <a:rPr lang="en-US" sz="1500" b="0" u="none" strike="noStrike" dirty="0">
                          <a:solidFill>
                            <a:srgbClr val="000000"/>
                          </a:solidFill>
                          <a:effectLst/>
                          <a:uFillTx/>
                          <a:latin typeface="+mn-lt"/>
                          <a:ea typeface="Calibri"/>
                        </a:rPr>
                        <a:t>Current realized volatility (most recent observation)</a:t>
                      </a:r>
                    </a:p>
                    <a:p>
                      <a:pPr defTabSz="914400">
                        <a:lnSpc>
                          <a:spcPct val="100000"/>
                        </a:lnSpc>
                        <a:spcAft>
                          <a:spcPts val="400"/>
                        </a:spcAft>
                        <a:tabLst>
                          <a:tab pos="0" algn="l"/>
                        </a:tabLst>
                      </a:pPr>
                      <a:r>
                        <a:rPr lang="en-US" sz="1500" b="0" u="none" strike="noStrike" dirty="0">
                          <a:solidFill>
                            <a:srgbClr val="000000"/>
                          </a:solidFill>
                          <a:effectLst/>
                          <a:uFillTx/>
                          <a:latin typeface="+mn-lt"/>
                          <a:ea typeface="Calibri"/>
                        </a:rPr>
                        <a:t>20-day trailing realized volatility</a:t>
                      </a: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tc>
                  <a:txBody>
                    <a:bodyPr/>
                    <a:lstStyle/>
                    <a:p>
                      <a:pPr algn="ctr" defTabSz="914400">
                        <a:lnSpc>
                          <a:spcPct val="100000"/>
                        </a:lnSpc>
                        <a:tabLst>
                          <a:tab pos="0" algn="l"/>
                        </a:tabLst>
                      </a:pPr>
                      <a:r>
                        <a:rPr lang="en-US" sz="1900" b="1" u="none" strike="noStrike" dirty="0">
                          <a:solidFill>
                            <a:srgbClr val="1E8449"/>
                          </a:solidFill>
                          <a:effectLst/>
                          <a:uFillTx/>
                          <a:latin typeface="Calibri"/>
                          <a:ea typeface="Calibri"/>
                        </a:rPr>
                        <a:t>2</a:t>
                      </a:r>
                      <a:endParaRPr lang="en-US" sz="19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tc>
                  <a:txBody>
                    <a:bodyPr/>
                    <a:lstStyle/>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Pure vol-persistence model. </a:t>
                      </a: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Both features genuinely retained by Lasso.</a:t>
                      </a:r>
                      <a:endParaRPr lang="en-US" sz="15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noFill/>
                  </a:tcPr>
                </a:tc>
                <a:extLst>
                  <a:ext uri="{0D108BD9-81ED-4DB2-BD59-A6C34878D82A}">
                    <a16:rowId xmlns:a16="http://schemas.microsoft.com/office/drawing/2014/main" val="10001"/>
                  </a:ext>
                </a:extLst>
              </a:tr>
              <a:tr h="1801707">
                <a:tc>
                  <a:txBody>
                    <a:bodyPr/>
                    <a:lstStyle/>
                    <a:p>
                      <a:pPr defTabSz="914400">
                        <a:lnSpc>
                          <a:spcPct val="100000"/>
                        </a:lnSpc>
                        <a:tabLst>
                          <a:tab pos="0" algn="l"/>
                        </a:tabLst>
                      </a:pPr>
                      <a:r>
                        <a:rPr lang="en-US" sz="1500" b="1" u="none" strike="noStrike" dirty="0">
                          <a:solidFill>
                            <a:srgbClr val="000000"/>
                          </a:solidFill>
                          <a:effectLst/>
                          <a:uFillTx/>
                          <a:latin typeface="Calibri"/>
                          <a:ea typeface="Calibri"/>
                        </a:rPr>
                        <a:t>V2 — Added Macro/Market</a:t>
                      </a:r>
                      <a:endParaRPr lang="en-US" sz="15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EBF5FB"/>
                    </a:solidFill>
                  </a:tcPr>
                </a:tc>
                <a:tc>
                  <a:txBody>
                    <a:bodyPr/>
                    <a:lstStyle/>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 Volume</a:t>
                      </a:r>
                      <a:endParaRPr lang="en-US" sz="1500" b="0" u="none" strike="noStrike" dirty="0">
                        <a:solidFill>
                          <a:srgbClr val="000000"/>
                        </a:solidFill>
                        <a:effectLst/>
                        <a:uFillTx/>
                        <a:latin typeface="Arial"/>
                      </a:endParaRP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 NYGOLDS</a:t>
                      </a:r>
                      <a:endParaRPr lang="en-US" sz="1500" b="0" u="none" strike="noStrike" dirty="0">
                        <a:solidFill>
                          <a:srgbClr val="000000"/>
                        </a:solidFill>
                        <a:effectLst/>
                        <a:uFillTx/>
                        <a:latin typeface="Arial"/>
                      </a:endParaRP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 OIL_WTI_S</a:t>
                      </a:r>
                      <a:endParaRPr lang="en-US" sz="1500" b="0" u="none" strike="noStrike" dirty="0">
                        <a:solidFill>
                          <a:srgbClr val="000000"/>
                        </a:solidFill>
                        <a:effectLst/>
                        <a:uFillTx/>
                        <a:latin typeface="Arial"/>
                      </a:endParaRP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 US_10Y_BOND_YLD</a:t>
                      </a:r>
                      <a:endParaRPr lang="en-US" sz="1500" b="0" u="none" strike="noStrike" dirty="0">
                        <a:solidFill>
                          <a:srgbClr val="000000"/>
                        </a:solidFill>
                        <a:effectLst/>
                        <a:uFillTx/>
                        <a:latin typeface="Arial"/>
                      </a:endParaRP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 US_3M_TB_YLD</a:t>
                      </a:r>
                      <a:endParaRPr lang="en-US" sz="1500" b="0" u="none" strike="noStrike" dirty="0">
                        <a:solidFill>
                          <a:srgbClr val="000000"/>
                        </a:solidFill>
                        <a:effectLst/>
                        <a:uFillTx/>
                        <a:latin typeface="Arial"/>
                      </a:endParaRP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 VIX</a:t>
                      </a:r>
                      <a:endParaRPr lang="en-US" sz="15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EBF5FB"/>
                    </a:solidFill>
                  </a:tcPr>
                </a:tc>
                <a:tc>
                  <a:txBody>
                    <a:bodyPr/>
                    <a:lstStyle/>
                    <a:p>
                      <a:pPr algn="ctr" defTabSz="914400">
                        <a:lnSpc>
                          <a:spcPct val="100000"/>
                        </a:lnSpc>
                        <a:tabLst>
                          <a:tab pos="0" algn="l"/>
                        </a:tabLst>
                      </a:pPr>
                      <a:r>
                        <a:rPr lang="en-US" sz="1700" b="1" u="none" strike="noStrike" dirty="0">
                          <a:solidFill>
                            <a:srgbClr val="00A8CC"/>
                          </a:solidFill>
                          <a:effectLst/>
                          <a:uFillTx/>
                          <a:latin typeface="Calibri"/>
                          <a:ea typeface="Calibri"/>
                        </a:rPr>
                        <a:t>8</a:t>
                      </a:r>
                      <a:endParaRPr lang="en-US" sz="17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EBF5FB"/>
                    </a:solidFill>
                  </a:tcPr>
                </a:tc>
                <a:tc>
                  <a:txBody>
                    <a:bodyPr/>
                    <a:lstStyle/>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Current-state macro context. </a:t>
                      </a: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Only VIX survives Lasso regularization. </a:t>
                      </a:r>
                    </a:p>
                    <a:p>
                      <a:pPr defTabSz="914400">
                        <a:lnSpc>
                          <a:spcPct val="100000"/>
                        </a:lnSpc>
                        <a:spcAft>
                          <a:spcPts val="400"/>
                        </a:spcAft>
                        <a:tabLst>
                          <a:tab pos="0" algn="l"/>
                        </a:tabLst>
                      </a:pPr>
                      <a:r>
                        <a:rPr lang="en-US" sz="1500" b="0" u="none" strike="noStrike" dirty="0">
                          <a:solidFill>
                            <a:srgbClr val="000000"/>
                          </a:solidFill>
                          <a:effectLst/>
                          <a:uFillTx/>
                          <a:latin typeface="Calibri"/>
                          <a:ea typeface="Calibri"/>
                        </a:rPr>
                        <a:t>Other 5 macro features zeroed out.</a:t>
                      </a:r>
                      <a:endParaRPr lang="en-US" sz="1500" b="0" u="none" strike="noStrike" dirty="0">
                        <a:solidFill>
                          <a:srgbClr val="000000"/>
                        </a:solidFill>
                        <a:effectLst/>
                        <a:uFillTx/>
                        <a:latin typeface="Arial"/>
                      </a:endParaRPr>
                    </a:p>
                  </a:txBody>
                  <a:tcPr marL="121920" marR="121920" marT="60960" marB="60960" anchor="ctr">
                    <a:lnL w="6480">
                      <a:solidFill>
                        <a:srgbClr val="CCCCCC"/>
                      </a:solidFill>
                      <a:prstDash val="solid"/>
                    </a:lnL>
                    <a:lnR w="6480">
                      <a:solidFill>
                        <a:srgbClr val="CCCCCC"/>
                      </a:solidFill>
                      <a:prstDash val="solid"/>
                    </a:lnR>
                    <a:lnT w="6480">
                      <a:solidFill>
                        <a:srgbClr val="CCCCCC"/>
                      </a:solidFill>
                      <a:prstDash val="solid"/>
                    </a:lnT>
                    <a:lnB w="6480">
                      <a:solidFill>
                        <a:srgbClr val="CCCCCC"/>
                      </a:solidFill>
                      <a:prstDash val="solid"/>
                    </a:lnB>
                    <a:solidFill>
                      <a:srgbClr val="EBF5FB"/>
                    </a:solidFill>
                  </a:tcPr>
                </a:tc>
                <a:extLst>
                  <a:ext uri="{0D108BD9-81ED-4DB2-BD59-A6C34878D82A}">
                    <a16:rowId xmlns:a16="http://schemas.microsoft.com/office/drawing/2014/main" val="10002"/>
                  </a:ext>
                </a:extLst>
              </a:tr>
            </a:tbl>
          </a:graphicData>
        </a:graphic>
      </p:graphicFrame>
      <p:sp>
        <p:nvSpPr>
          <p:cNvPr id="4" name="TextBox 3">
            <a:extLst>
              <a:ext uri="{FF2B5EF4-FFF2-40B4-BE49-F238E27FC236}">
                <a16:creationId xmlns:a16="http://schemas.microsoft.com/office/drawing/2014/main" id="{559A7459-E959-0EFB-A0FB-33A4AD2C3694}"/>
              </a:ext>
            </a:extLst>
          </p:cNvPr>
          <p:cNvSpPr txBox="1"/>
          <p:nvPr/>
        </p:nvSpPr>
        <p:spPr>
          <a:xfrm>
            <a:off x="231600" y="1038595"/>
            <a:ext cx="11728320" cy="359009"/>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1200" cap="none" spc="0" normalizeH="0" baseline="0" noProof="0" dirty="0">
                <a:ln>
                  <a:noFill/>
                </a:ln>
                <a:solidFill>
                  <a:srgbClr val="000000"/>
                </a:solidFill>
                <a:effectLst/>
                <a:uLnTx/>
                <a:uFillTx/>
                <a:latin typeface="Calibri" panose="020F0502020204030204"/>
                <a:ea typeface="+mn-ea"/>
                <a:cs typeface="+mn-cs"/>
              </a:rPr>
              <a:t>V2 tests whether macro and market context improves on the simple volatility-only V1 model</a:t>
            </a:r>
            <a:endPar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 name="Text 3">
            <a:extLst>
              <a:ext uri="{FF2B5EF4-FFF2-40B4-BE49-F238E27FC236}">
                <a16:creationId xmlns:a16="http://schemas.microsoft.com/office/drawing/2014/main" id="{3A2D322F-BCCC-7D67-B5C2-0E37FB5F266A}"/>
              </a:ext>
            </a:extLst>
          </p:cNvPr>
          <p:cNvSpPr/>
          <p:nvPr/>
        </p:nvSpPr>
        <p:spPr>
          <a:xfrm>
            <a:off x="329184" y="6615684"/>
            <a:ext cx="6217920" cy="190065"/>
          </a:xfrm>
          <a:prstGeom prst="rect">
            <a:avLst/>
          </a:prstGeom>
          <a:noFill/>
          <a:ln/>
        </p:spPr>
        <p:txBody>
          <a:bodyPr wrap="square" lIns="0" tIns="0" rIns="0" bIns="0" rtlCol="0" anchor="ctr"/>
          <a:lstStyle/>
          <a:p>
            <a:r>
              <a:rPr lang="en-US" sz="1400" dirty="0">
                <a:solidFill>
                  <a:srgbClr val="AAAACC"/>
                </a:solidFill>
              </a:rPr>
              <a:t>DATASCI 207  ·  Final Project: Forecasting Volatility In Stock Market  ·  March 2026</a:t>
            </a:r>
            <a:endParaRPr lang="en-US" sz="125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2914</TotalTime>
  <Words>2387</Words>
  <Application>Microsoft Macintosh PowerPoint</Application>
  <PresentationFormat>Widescreen</PresentationFormat>
  <Paragraphs>337</Paragraphs>
  <Slides>17</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Arial</vt:lpstr>
      <vt:lpstr>Calibri</vt:lpstr>
      <vt:lpstr>Symbol</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Sid Sridhar (sidsridh)</cp:lastModifiedBy>
  <cp:revision>42</cp:revision>
  <dcterms:created xsi:type="dcterms:W3CDTF">2026-03-31T21:53:36Z</dcterms:created>
  <dcterms:modified xsi:type="dcterms:W3CDTF">2026-04-11T09:20:50Z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Theme:3\1_Office Theme:5</vt:lpwstr>
  </property>
  <property fmtid="{D5CDD505-2E9C-101B-9397-08002B2CF9AE}" pid="3" name="ClassificationContentMarkingFooterText">
    <vt:lpwstr>Cisco Confidential</vt:lpwstr>
  </property>
</Properties>
</file>