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ags/tag1.xml" ContentType="application/vnd.openxmlformats-officedocument.presentationml.tag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ags/tag2.xml" ContentType="application/vnd.openxmlformats-officedocument.presentationml.tags+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Lst>
  <p:notesMasterIdLst>
    <p:notesMasterId r:id="rId25"/>
  </p:notesMasterIdLst>
  <p:sldIdLst>
    <p:sldId id="272" r:id="rId3"/>
    <p:sldId id="256" r:id="rId4"/>
    <p:sldId id="257" r:id="rId5"/>
    <p:sldId id="258" r:id="rId6"/>
    <p:sldId id="260" r:id="rId7"/>
    <p:sldId id="261" r:id="rId8"/>
    <p:sldId id="262" r:id="rId9"/>
    <p:sldId id="263" r:id="rId10"/>
    <p:sldId id="267" r:id="rId11"/>
    <p:sldId id="268" r:id="rId12"/>
    <p:sldId id="269" r:id="rId13"/>
    <p:sldId id="270" r:id="rId14"/>
    <p:sldId id="265" r:id="rId15"/>
    <p:sldId id="271" r:id="rId16"/>
    <p:sldId id="273" r:id="rId17"/>
    <p:sldId id="277" r:id="rId18"/>
    <p:sldId id="274" r:id="rId19"/>
    <p:sldId id="283" r:id="rId20"/>
    <p:sldId id="282" r:id="rId21"/>
    <p:sldId id="284" r:id="rId22"/>
    <p:sldId id="280" r:id="rId23"/>
    <p:sldId id="276"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CF3CF"/>
    <a:srgbClr val="EBF5FB"/>
    <a:srgbClr val="F5F6F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8" autoAdjust="0"/>
    <p:restoredTop sz="94610"/>
  </p:normalViewPr>
  <p:slideViewPr>
    <p:cSldViewPr snapToGrid="0" snapToObjects="1">
      <p:cViewPr varScale="1">
        <p:scale>
          <a:sx n="104" d="100"/>
          <a:sy n="104" d="100"/>
        </p:scale>
        <p:origin x="10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2842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30E27-3341-8D58-EFE0-6D22A3F8B4A3}"/>
            </a:ext>
          </a:extLst>
        </p:cNvPr>
        <p:cNvGrpSpPr/>
        <p:nvPr/>
      </p:nvGrpSpPr>
      <p:grpSpPr>
        <a:xfrm>
          <a:off x="0" y="0"/>
          <a:ext cx="0" cy="0"/>
          <a:chOff x="0" y="0"/>
          <a:chExt cx="0" cy="0"/>
        </a:xfrm>
      </p:grpSpPr>
      <p:sp>
        <p:nvSpPr>
          <p:cNvPr id="204" name="PlaceHolder 1">
            <a:extLst>
              <a:ext uri="{FF2B5EF4-FFF2-40B4-BE49-F238E27FC236}">
                <a16:creationId xmlns:a16="http://schemas.microsoft.com/office/drawing/2014/main" id="{D83479BE-F067-05E5-3FF8-E66FBFADB4F9}"/>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a:extLst>
              <a:ext uri="{FF2B5EF4-FFF2-40B4-BE49-F238E27FC236}">
                <a16:creationId xmlns:a16="http://schemas.microsoft.com/office/drawing/2014/main" id="{AE9E29B2-8658-1A52-7E1D-9AC38CB66F3D}"/>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06" name="PlaceHolder 3">
            <a:extLst>
              <a:ext uri="{FF2B5EF4-FFF2-40B4-BE49-F238E27FC236}">
                <a16:creationId xmlns:a16="http://schemas.microsoft.com/office/drawing/2014/main" id="{039CF368-DD7A-E67E-A06B-7563E9AD49E6}"/>
              </a:ext>
            </a:extLst>
          </p:cNvPr>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22479186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Project description summarized from the team project proposal and milestone report.
[Sources]
- Project Proposal PDF (uploaded in this chat)
- Project Milestone Report PDF (uploaded in this chat)
[/Sources]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62D1D-100A-9BF4-C08D-8DE1D559B2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D3E7F2-6B5C-B694-D2CE-1FD0E11B3C5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DBA7ED3-720E-44B9-946C-EB13DEABD327}"/>
              </a:ext>
            </a:extLst>
          </p:cNvPr>
          <p:cNvSpPr>
            <a:spLocks noGrp="1"/>
          </p:cNvSpPr>
          <p:nvPr>
            <p:ph type="body" idx="1"/>
          </p:nvPr>
        </p:nvSpPr>
        <p:spPr/>
        <p:txBody>
          <a:bodyPr/>
          <a:lstStyle/>
          <a:p>
            <a:r>
              <a:rPr lang="en-US" dirty="0"/>
              <a:t>Project description summarized from the team project proposal and milestone report.
[Sources]
- Project Proposal PDF (uploaded in this chat)
- Project Milestone Report PDF (uploaded in this chat)
[/Sources]</a:t>
            </a:r>
          </a:p>
        </p:txBody>
      </p:sp>
      <p:sp>
        <p:nvSpPr>
          <p:cNvPr id="4" name="Slide Number Placeholder 3">
            <a:extLst>
              <a:ext uri="{FF2B5EF4-FFF2-40B4-BE49-F238E27FC236}">
                <a16:creationId xmlns:a16="http://schemas.microsoft.com/office/drawing/2014/main" id="{14C2FB2B-BDB5-C4C6-EB3D-C26667012402}"/>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90336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[Sources]
- Uploaded PDF: volatility_dataset_description_UPDATED_013026.pdf (dataset size, schema, key, target, macro storage, join strategy)
- Uploaded PPTX: project slide deck used as style reference
[/Sources]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[Sources]
- Uploaded PDF: DATASCI 207 — ETF Volatility Dataset: Time-Series EDA (EDA_ETF_Volatility_TimeSeries_vb_done_021126_VB_021026) — used for the checklist text and plot thumbnails.
- Uploaded PPTX: project slide deck (style reference for header/footer and typography).
[/Sources]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06"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12"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2AB39F7-BA42-41FD-BC49-F42D7046AA93}"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dirty="0">
              <a:solidFill>
                <a:srgbClr val="000000"/>
              </a:solidFill>
              <a:effectLst/>
              <a:uFillTx/>
              <a:latin typeface="Arial"/>
            </a:endParaRPr>
          </a:p>
        </p:txBody>
      </p:sp>
      <p:sp>
        <p:nvSpPr>
          <p:cNvPr id="218"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8801C66-0D28-445B-8BDC-B7CD68A3718D}"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2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21"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EF1260DA-6912-4A9B-8AD9-FC04EB69A99D}"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Coefficient interpretation for V1 and V2 (Elastic Net).
[Sources]
- elastic_net_vol_v1v2_vb_done_032726.ipynb (user-provided notebook)
- elastic_net_vol_slides_wip_032726.pptx (user-provided deck)</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3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33"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8718ACF-244A-47D4-894C-0AD4F4E01906}"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3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39"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8404CCE6-61FE-46B3-8996-5BF314FE3D04}"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DD616-2E0A-5CA5-FAD2-3E7652DDAC99}"/>
            </a:ext>
          </a:extLst>
        </p:cNvPr>
        <p:cNvGrpSpPr/>
        <p:nvPr/>
      </p:nvGrpSpPr>
      <p:grpSpPr>
        <a:xfrm>
          <a:off x="0" y="0"/>
          <a:ext cx="0" cy="0"/>
          <a:chOff x="0" y="0"/>
          <a:chExt cx="0" cy="0"/>
        </a:xfrm>
      </p:grpSpPr>
      <p:sp>
        <p:nvSpPr>
          <p:cNvPr id="204" name="PlaceHolder 1">
            <a:extLst>
              <a:ext uri="{FF2B5EF4-FFF2-40B4-BE49-F238E27FC236}">
                <a16:creationId xmlns:a16="http://schemas.microsoft.com/office/drawing/2014/main" id="{CD61C938-BD10-5839-4160-D3350AC5B8EF}"/>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a:extLst>
              <a:ext uri="{FF2B5EF4-FFF2-40B4-BE49-F238E27FC236}">
                <a16:creationId xmlns:a16="http://schemas.microsoft.com/office/drawing/2014/main" id="{0F16ED71-5446-4139-8B84-900E3C7BBB34}"/>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06" name="PlaceHolder 3">
            <a:extLst>
              <a:ext uri="{FF2B5EF4-FFF2-40B4-BE49-F238E27FC236}">
                <a16:creationId xmlns:a16="http://schemas.microsoft.com/office/drawing/2014/main" id="{2D7F721B-2ECE-2160-B713-1B41E9F317F8}"/>
              </a:ext>
            </a:extLst>
          </p:cNvPr>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6173146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8ADB9-F51F-B0A8-727E-4FF2BB505F4A}"/>
            </a:ext>
          </a:extLst>
        </p:cNvPr>
        <p:cNvGrpSpPr/>
        <p:nvPr/>
      </p:nvGrpSpPr>
      <p:grpSpPr>
        <a:xfrm>
          <a:off x="0" y="0"/>
          <a:ext cx="0" cy="0"/>
          <a:chOff x="0" y="0"/>
          <a:chExt cx="0" cy="0"/>
        </a:xfrm>
      </p:grpSpPr>
      <p:sp>
        <p:nvSpPr>
          <p:cNvPr id="237" name="PlaceHolder 1">
            <a:extLst>
              <a:ext uri="{FF2B5EF4-FFF2-40B4-BE49-F238E27FC236}">
                <a16:creationId xmlns:a16="http://schemas.microsoft.com/office/drawing/2014/main" id="{FD1FB4C6-C5B2-D7A9-AD09-8F108BDFFCFC}"/>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38" name="PlaceHolder 2">
            <a:extLst>
              <a:ext uri="{FF2B5EF4-FFF2-40B4-BE49-F238E27FC236}">
                <a16:creationId xmlns:a16="http://schemas.microsoft.com/office/drawing/2014/main" id="{5499D948-5A7E-4EF2-0158-23D3696D098E}"/>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39" name="PlaceHolder 3">
            <a:extLst>
              <a:ext uri="{FF2B5EF4-FFF2-40B4-BE49-F238E27FC236}">
                <a16:creationId xmlns:a16="http://schemas.microsoft.com/office/drawing/2014/main" id="{B40E8E55-9EFA-414B-171A-68C8A4B68183}"/>
              </a:ext>
            </a:extLst>
          </p:cNvPr>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8404CCE6-61FE-46B3-8996-5BF314FE3D04}"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13721681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E657A-B680-1396-322F-FC663BB7F616}"/>
            </a:ext>
          </a:extLst>
        </p:cNvPr>
        <p:cNvGrpSpPr/>
        <p:nvPr/>
      </p:nvGrpSpPr>
      <p:grpSpPr>
        <a:xfrm>
          <a:off x="0" y="0"/>
          <a:ext cx="0" cy="0"/>
          <a:chOff x="0" y="0"/>
          <a:chExt cx="0" cy="0"/>
        </a:xfrm>
      </p:grpSpPr>
      <p:sp>
        <p:nvSpPr>
          <p:cNvPr id="204" name="PlaceHolder 1">
            <a:extLst>
              <a:ext uri="{FF2B5EF4-FFF2-40B4-BE49-F238E27FC236}">
                <a16:creationId xmlns:a16="http://schemas.microsoft.com/office/drawing/2014/main" id="{9C4F7010-23FA-B7E2-5114-6D3F40BF4554}"/>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a:extLst>
              <a:ext uri="{FF2B5EF4-FFF2-40B4-BE49-F238E27FC236}">
                <a16:creationId xmlns:a16="http://schemas.microsoft.com/office/drawing/2014/main" id="{916653ED-2156-E169-CDB0-D49DCA6FA645}"/>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06" name="PlaceHolder 3">
            <a:extLst>
              <a:ext uri="{FF2B5EF4-FFF2-40B4-BE49-F238E27FC236}">
                <a16:creationId xmlns:a16="http://schemas.microsoft.com/office/drawing/2014/main" id="{22C9D295-0937-AB72-94AD-92DD6918EE3C}"/>
              </a:ext>
            </a:extLst>
          </p:cNvPr>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16463225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E7940-1922-2022-691F-C2482E770F8B}"/>
            </a:ext>
          </a:extLst>
        </p:cNvPr>
        <p:cNvGrpSpPr/>
        <p:nvPr/>
      </p:nvGrpSpPr>
      <p:grpSpPr>
        <a:xfrm>
          <a:off x="0" y="0"/>
          <a:ext cx="0" cy="0"/>
          <a:chOff x="0" y="0"/>
          <a:chExt cx="0" cy="0"/>
        </a:xfrm>
      </p:grpSpPr>
      <p:sp>
        <p:nvSpPr>
          <p:cNvPr id="237" name="PlaceHolder 1">
            <a:extLst>
              <a:ext uri="{FF2B5EF4-FFF2-40B4-BE49-F238E27FC236}">
                <a16:creationId xmlns:a16="http://schemas.microsoft.com/office/drawing/2014/main" id="{3C912DF0-6A47-97B8-532A-E80CDDC262BE}"/>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38" name="PlaceHolder 2">
            <a:extLst>
              <a:ext uri="{FF2B5EF4-FFF2-40B4-BE49-F238E27FC236}">
                <a16:creationId xmlns:a16="http://schemas.microsoft.com/office/drawing/2014/main" id="{637E75FC-61CD-E396-1446-2472E0321126}"/>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39" name="PlaceHolder 3">
            <a:extLst>
              <a:ext uri="{FF2B5EF4-FFF2-40B4-BE49-F238E27FC236}">
                <a16:creationId xmlns:a16="http://schemas.microsoft.com/office/drawing/2014/main" id="{1E3C99BE-1602-D94A-CB04-B6E218AB3FBB}"/>
              </a:ext>
            </a:extLst>
          </p:cNvPr>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8404CCE6-61FE-46B3-8996-5BF314FE3D04}"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424860381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4F8E7-4A5A-B293-E545-D97C3D1523D7}"/>
            </a:ext>
          </a:extLst>
        </p:cNvPr>
        <p:cNvGrpSpPr/>
        <p:nvPr/>
      </p:nvGrpSpPr>
      <p:grpSpPr>
        <a:xfrm>
          <a:off x="0" y="0"/>
          <a:ext cx="0" cy="0"/>
          <a:chOff x="0" y="0"/>
          <a:chExt cx="0" cy="0"/>
        </a:xfrm>
      </p:grpSpPr>
      <p:sp>
        <p:nvSpPr>
          <p:cNvPr id="237" name="PlaceHolder 1">
            <a:extLst>
              <a:ext uri="{FF2B5EF4-FFF2-40B4-BE49-F238E27FC236}">
                <a16:creationId xmlns:a16="http://schemas.microsoft.com/office/drawing/2014/main" id="{CC4C3637-C2C5-7BDE-9041-E2252E695EB4}"/>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38" name="PlaceHolder 2">
            <a:extLst>
              <a:ext uri="{FF2B5EF4-FFF2-40B4-BE49-F238E27FC236}">
                <a16:creationId xmlns:a16="http://schemas.microsoft.com/office/drawing/2014/main" id="{29E6DDEF-4BB3-258C-0600-79695349BB62}"/>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39" name="PlaceHolder 3">
            <a:extLst>
              <a:ext uri="{FF2B5EF4-FFF2-40B4-BE49-F238E27FC236}">
                <a16:creationId xmlns:a16="http://schemas.microsoft.com/office/drawing/2014/main" id="{8AD9C1E5-475D-9E13-1D3B-7EF48FFC6291}"/>
              </a:ext>
            </a:extLst>
          </p:cNvPr>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8404CCE6-61FE-46B3-8996-5BF314FE3D04}"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17964518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10005-D7CE-ED44-828C-F90E1659236E}"/>
            </a:ext>
          </a:extLst>
        </p:cNvPr>
        <p:cNvGrpSpPr/>
        <p:nvPr/>
      </p:nvGrpSpPr>
      <p:grpSpPr>
        <a:xfrm>
          <a:off x="0" y="0"/>
          <a:ext cx="0" cy="0"/>
          <a:chOff x="0" y="0"/>
          <a:chExt cx="0" cy="0"/>
        </a:xfrm>
      </p:grpSpPr>
      <p:sp>
        <p:nvSpPr>
          <p:cNvPr id="237" name="PlaceHolder 1">
            <a:extLst>
              <a:ext uri="{FF2B5EF4-FFF2-40B4-BE49-F238E27FC236}">
                <a16:creationId xmlns:a16="http://schemas.microsoft.com/office/drawing/2014/main" id="{AD8E4CAC-7254-6EF8-6629-73463AFCA146}"/>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38" name="PlaceHolder 2">
            <a:extLst>
              <a:ext uri="{FF2B5EF4-FFF2-40B4-BE49-F238E27FC236}">
                <a16:creationId xmlns:a16="http://schemas.microsoft.com/office/drawing/2014/main" id="{253D9250-CADC-285B-6DD5-BC21F330C7C6}"/>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r>
              <a:rPr lang="en-US" sz="1800" b="0" u="none" strike="noStrike" dirty="0">
                <a:solidFill>
                  <a:srgbClr val="000000"/>
                </a:solidFill>
                <a:effectLst/>
                <a:uFillTx/>
                <a:latin typeface="Arial"/>
              </a:rPr>
              <a:t>Building a transformer requires a lot of specific choices to optimize the hyperparameters in the architecture. </a:t>
            </a:r>
            <a:br>
              <a:rPr lang="en-US" sz="1800" b="0" u="none" strike="noStrike" dirty="0">
                <a:solidFill>
                  <a:srgbClr val="000000"/>
                </a:solidFill>
                <a:effectLst/>
                <a:uFillTx/>
                <a:latin typeface="Arial"/>
              </a:rPr>
            </a:br>
            <a:br>
              <a:rPr lang="en-US" sz="1800" b="0" u="none" strike="noStrike" dirty="0">
                <a:solidFill>
                  <a:srgbClr val="000000"/>
                </a:solidFill>
                <a:effectLst/>
                <a:uFillTx/>
                <a:latin typeface="Arial"/>
              </a:rPr>
            </a:br>
            <a:r>
              <a:rPr lang="en-US" sz="1800" b="0" u="none" strike="noStrike" dirty="0">
                <a:solidFill>
                  <a:srgbClr val="000000"/>
                </a:solidFill>
                <a:effectLst/>
                <a:uFillTx/>
                <a:latin typeface="Arial"/>
              </a:rPr>
              <a:t>Due to its high memorization ability, we should keep the number of encoder blocks simple, approximately 2 to 4. Any more than that and we see a large amount of overfitting. </a:t>
            </a:r>
            <a:br>
              <a:rPr lang="en-US" sz="1800" b="0" u="none" strike="noStrike" dirty="0">
                <a:solidFill>
                  <a:srgbClr val="000000"/>
                </a:solidFill>
                <a:effectLst/>
                <a:uFillTx/>
                <a:latin typeface="Arial"/>
              </a:rPr>
            </a:br>
            <a:br>
              <a:rPr lang="en-US" sz="1800" b="0" u="none" strike="noStrike" dirty="0">
                <a:solidFill>
                  <a:srgbClr val="000000"/>
                </a:solidFill>
                <a:effectLst/>
                <a:uFillTx/>
                <a:latin typeface="Arial"/>
              </a:rPr>
            </a:br>
            <a:r>
              <a:rPr lang="en-US" sz="1800" b="0" u="none" strike="noStrike" dirty="0">
                <a:solidFill>
                  <a:srgbClr val="000000"/>
                </a:solidFill>
                <a:effectLst/>
                <a:uFillTx/>
                <a:latin typeface="Arial"/>
              </a:rPr>
              <a:t>This is paired with the Dropout (or Mask Padding in Ronald’s model), making our model ignore random weights in order to force the model to generalize well, not just memorize all of the data it sees. </a:t>
            </a:r>
          </a:p>
          <a:p>
            <a:pPr indent="0">
              <a:buNone/>
            </a:pPr>
            <a:endParaRPr lang="en-US" sz="1800" b="0" u="none" strike="noStrike" dirty="0">
              <a:solidFill>
                <a:srgbClr val="000000"/>
              </a:solidFill>
              <a:effectLst/>
              <a:uFillTx/>
              <a:latin typeface="Arial"/>
            </a:endParaRPr>
          </a:p>
          <a:p>
            <a:pPr indent="0">
              <a:buNone/>
            </a:pPr>
            <a:r>
              <a:rPr lang="en-US" sz="1800" b="0" u="none" strike="noStrike" dirty="0">
                <a:solidFill>
                  <a:srgbClr val="000000"/>
                </a:solidFill>
                <a:effectLst/>
                <a:uFillTx/>
                <a:latin typeface="Arial"/>
              </a:rPr>
              <a:t>Within the Encoder, we must make decisions on the Sequence length, Head Size, and the Feed Forward dimension. The Sequence Length determines how many days of history we look at (since one of our V2 variables looks at the past 20 days, I set this length to 21).</a:t>
            </a:r>
            <a:br>
              <a:rPr lang="en-US" sz="1800" b="0" u="none" strike="noStrike" dirty="0">
                <a:solidFill>
                  <a:srgbClr val="000000"/>
                </a:solidFill>
                <a:effectLst/>
                <a:uFillTx/>
                <a:latin typeface="Arial"/>
              </a:rPr>
            </a:br>
            <a:br>
              <a:rPr lang="en-US" sz="1800" b="0" u="none" strike="noStrike" dirty="0">
                <a:solidFill>
                  <a:srgbClr val="000000"/>
                </a:solidFill>
                <a:effectLst/>
                <a:uFillTx/>
                <a:latin typeface="Arial"/>
              </a:rPr>
            </a:br>
            <a:r>
              <a:rPr lang="en-US" sz="1800" b="0" u="none" strike="noStrike" dirty="0">
                <a:solidFill>
                  <a:srgbClr val="000000"/>
                </a:solidFill>
                <a:effectLst/>
                <a:uFillTx/>
                <a:latin typeface="Arial"/>
              </a:rPr>
              <a:t>Choosing Epochs is tricky: Transformers learn slowly but are also extremely consuming per epoch to calculate. We have to set a high epoch limit and let them train over a lengthened period of time, and rely on Early Stopping to check when our performance plateaus. </a:t>
            </a:r>
          </a:p>
          <a:p>
            <a:pPr indent="0">
              <a:buNone/>
            </a:pPr>
            <a:endParaRPr lang="en-US" sz="1800" b="0" u="none" strike="noStrike" dirty="0">
              <a:solidFill>
                <a:srgbClr val="000000"/>
              </a:solidFill>
              <a:effectLst/>
              <a:uFillTx/>
              <a:latin typeface="Arial"/>
            </a:endParaRPr>
          </a:p>
        </p:txBody>
      </p:sp>
      <p:sp>
        <p:nvSpPr>
          <p:cNvPr id="239" name="PlaceHolder 3">
            <a:extLst>
              <a:ext uri="{FF2B5EF4-FFF2-40B4-BE49-F238E27FC236}">
                <a16:creationId xmlns:a16="http://schemas.microsoft.com/office/drawing/2014/main" id="{C5DE9853-38BC-9BB8-CDEC-C8EC91AFAC6C}"/>
              </a:ext>
            </a:extLst>
          </p:cNvPr>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8404CCE6-61FE-46B3-8996-5BF314FE3D04}"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4825957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50FA0-3662-CBE5-E69D-0F20CB7A8CC8}"/>
            </a:ext>
          </a:extLst>
        </p:cNvPr>
        <p:cNvGrpSpPr/>
        <p:nvPr/>
      </p:nvGrpSpPr>
      <p:grpSpPr>
        <a:xfrm>
          <a:off x="0" y="0"/>
          <a:ext cx="0" cy="0"/>
          <a:chOff x="0" y="0"/>
          <a:chExt cx="0" cy="0"/>
        </a:xfrm>
      </p:grpSpPr>
      <p:sp>
        <p:nvSpPr>
          <p:cNvPr id="219" name="PlaceHolder 1">
            <a:extLst>
              <a:ext uri="{FF2B5EF4-FFF2-40B4-BE49-F238E27FC236}">
                <a16:creationId xmlns:a16="http://schemas.microsoft.com/office/drawing/2014/main" id="{CBB2859C-963A-B26C-1362-9F2A50F1F5CE}"/>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20" name="PlaceHolder 2">
            <a:extLst>
              <a:ext uri="{FF2B5EF4-FFF2-40B4-BE49-F238E27FC236}">
                <a16:creationId xmlns:a16="http://schemas.microsoft.com/office/drawing/2014/main" id="{3E9184C3-936B-89D6-E609-5ADF5AE6128F}"/>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21" name="PlaceHolder 3">
            <a:extLst>
              <a:ext uri="{FF2B5EF4-FFF2-40B4-BE49-F238E27FC236}">
                <a16:creationId xmlns:a16="http://schemas.microsoft.com/office/drawing/2014/main" id="{3FEC6C48-3DBE-93DE-D14A-767F3DB1B934}"/>
              </a:ext>
            </a:extLst>
          </p:cNvPr>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EF1260DA-6912-4A9B-8AD9-FC04EB69A99D}"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4088786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2810B-6E70-C868-17A4-62348C2C3A56}"/>
            </a:ext>
          </a:extLst>
        </p:cNvPr>
        <p:cNvGrpSpPr/>
        <p:nvPr/>
      </p:nvGrpSpPr>
      <p:grpSpPr>
        <a:xfrm>
          <a:off x="0" y="0"/>
          <a:ext cx="0" cy="0"/>
          <a:chOff x="0" y="0"/>
          <a:chExt cx="0" cy="0"/>
        </a:xfrm>
      </p:grpSpPr>
      <p:sp>
        <p:nvSpPr>
          <p:cNvPr id="204" name="PlaceHolder 1">
            <a:extLst>
              <a:ext uri="{FF2B5EF4-FFF2-40B4-BE49-F238E27FC236}">
                <a16:creationId xmlns:a16="http://schemas.microsoft.com/office/drawing/2014/main" id="{EF047777-8674-B6A7-162D-B935BA422C8F}"/>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a:extLst>
              <a:ext uri="{FF2B5EF4-FFF2-40B4-BE49-F238E27FC236}">
                <a16:creationId xmlns:a16="http://schemas.microsoft.com/office/drawing/2014/main" id="{D8D668EC-FB43-A0F4-6543-EDBA074E35EF}"/>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06" name="PlaceHolder 3">
            <a:extLst>
              <a:ext uri="{FF2B5EF4-FFF2-40B4-BE49-F238E27FC236}">
                <a16:creationId xmlns:a16="http://schemas.microsoft.com/office/drawing/2014/main" id="{87487499-DD1B-46AD-D013-BB05AC06009E}"/>
              </a:ext>
            </a:extLst>
          </p:cNvPr>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3409967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481780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607643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600" y="273600"/>
            <a:ext cx="10972320" cy="1144800"/>
          </a:xfrm>
          <a:prstGeom prst="rect">
            <a:avLst/>
          </a:prstGeom>
          <a:noFill/>
          <a:ln w="0">
            <a:noFill/>
          </a:ln>
        </p:spPr>
        <p:txBody>
          <a:bodyPr lIns="0" tIns="0" rIns="0" bIns="0" anchor="ctr">
            <a:noAutofit/>
          </a:bodyPr>
          <a:lstStyle/>
          <a:p>
            <a:pPr indent="0">
              <a:buNone/>
            </a:pPr>
            <a:r>
              <a:rPr lang="en-US" sz="2400" b="0" u="none" strike="noStrike">
                <a:solidFill>
                  <a:schemeClr val="dk1"/>
                </a:solidFill>
                <a:effectLst/>
                <a:uFillTx/>
                <a:latin typeface="Calibri"/>
              </a:rPr>
              <a:t>Click to edit the title text format</a:t>
            </a:r>
          </a:p>
        </p:txBody>
      </p:sp>
      <p:sp>
        <p:nvSpPr>
          <p:cNvPr id="3" name="PlaceHolder 2"/>
          <p:cNvSpPr>
            <a:spLocks noGrp="1"/>
          </p:cNvSpPr>
          <p:nvPr>
            <p:ph type="body"/>
          </p:nvPr>
        </p:nvSpPr>
        <p:spPr>
          <a:xfrm>
            <a:off x="609600" y="1604640"/>
            <a:ext cx="1097232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4267" b="0" u="none" strike="noStrike">
                <a:solidFill>
                  <a:schemeClr val="dk1"/>
                </a:solidFill>
                <a:effectLst/>
                <a:uFillTx/>
                <a:latin typeface="Calibri"/>
              </a:rPr>
              <a:t>Click to edit the outline text format</a:t>
            </a:r>
          </a:p>
          <a:p>
            <a:pPr marL="1151971" lvl="1" indent="-431989">
              <a:spcBef>
                <a:spcPts val="1512"/>
              </a:spcBef>
              <a:buClr>
                <a:srgbClr val="000000"/>
              </a:buClr>
              <a:buSzPct val="75000"/>
              <a:buFont typeface="Symbol" charset="2"/>
              <a:buChar char=""/>
            </a:pPr>
            <a:r>
              <a:rPr lang="en-US" sz="3200" b="0" u="none" strike="noStrike">
                <a:solidFill>
                  <a:schemeClr val="dk1"/>
                </a:solidFill>
                <a:effectLst/>
                <a:uFillTx/>
                <a:latin typeface="Calibri"/>
              </a:rPr>
              <a:t>Second Outline Level</a:t>
            </a:r>
          </a:p>
          <a:p>
            <a:pPr marL="1727957" lvl="2" indent="-383990">
              <a:spcBef>
                <a:spcPts val="1133"/>
              </a:spcBef>
              <a:buClr>
                <a:srgbClr val="000000"/>
              </a:buClr>
              <a:buSzPct val="45000"/>
              <a:buFont typeface="Wingdings" charset="2"/>
              <a:buChar char=""/>
            </a:pPr>
            <a:r>
              <a:rPr lang="en-US" sz="2667" b="0" u="none" strike="noStrike">
                <a:solidFill>
                  <a:schemeClr val="dk1"/>
                </a:solidFill>
                <a:effectLst/>
                <a:uFillTx/>
                <a:latin typeface="Calibri"/>
              </a:rPr>
              <a:t>Third Outline Level</a:t>
            </a:r>
          </a:p>
          <a:p>
            <a:pPr marL="2303942" lvl="3" indent="-287993">
              <a:spcBef>
                <a:spcPts val="756"/>
              </a:spcBef>
              <a:buClr>
                <a:srgbClr val="000000"/>
              </a:buClr>
              <a:buSzPct val="75000"/>
              <a:buFont typeface="Symbol" charset="2"/>
              <a:buChar char=""/>
            </a:pPr>
            <a:r>
              <a:rPr lang="en-US" sz="2667" b="0" u="none" strike="noStrike">
                <a:solidFill>
                  <a:schemeClr val="dk1"/>
                </a:solidFill>
                <a:effectLst/>
                <a:uFillTx/>
                <a:latin typeface="Calibri"/>
              </a:rPr>
              <a:t>Fourth Outline Level</a:t>
            </a:r>
          </a:p>
          <a:p>
            <a:pPr marL="2879928" lvl="4" indent="-287993">
              <a:spcBef>
                <a:spcPts val="377"/>
              </a:spcBef>
              <a:buClr>
                <a:srgbClr val="000000"/>
              </a:buClr>
              <a:buSzPct val="45000"/>
              <a:buFont typeface="Wingdings" charset="2"/>
              <a:buChar char=""/>
            </a:pPr>
            <a:r>
              <a:rPr lang="en-US" sz="2667" b="0" u="none" strike="noStrike">
                <a:solidFill>
                  <a:schemeClr val="dk1"/>
                </a:solidFill>
                <a:effectLst/>
                <a:uFillTx/>
                <a:latin typeface="Calibri"/>
              </a:rPr>
              <a:t>Fifth Outline Level</a:t>
            </a:r>
          </a:p>
          <a:p>
            <a:pPr marL="3455914" lvl="5" indent="-287993">
              <a:spcBef>
                <a:spcPts val="377"/>
              </a:spcBef>
              <a:buClr>
                <a:srgbClr val="000000"/>
              </a:buClr>
              <a:buSzPct val="45000"/>
              <a:buFont typeface="Wingdings" charset="2"/>
              <a:buChar char=""/>
            </a:pPr>
            <a:r>
              <a:rPr lang="en-US" sz="2667" b="0" u="none" strike="noStrike">
                <a:solidFill>
                  <a:schemeClr val="dk1"/>
                </a:solidFill>
                <a:effectLst/>
                <a:uFillTx/>
                <a:latin typeface="Calibri"/>
              </a:rPr>
              <a:t>Sixth Outline Level</a:t>
            </a:r>
          </a:p>
          <a:p>
            <a:pPr marL="4031899" lvl="6" indent="-287993">
              <a:spcBef>
                <a:spcPts val="377"/>
              </a:spcBef>
              <a:buClr>
                <a:srgbClr val="000000"/>
              </a:buClr>
              <a:buSzPct val="45000"/>
              <a:buFont typeface="Wingdings" charset="2"/>
              <a:buChar char=""/>
            </a:pPr>
            <a:r>
              <a:rPr lang="en-US" sz="2667" b="0" u="none" strike="noStrike">
                <a:solidFill>
                  <a:schemeClr val="dk1"/>
                </a:solidFill>
                <a:effectLst/>
                <a:uFillTx/>
                <a:latin typeface="Calibri"/>
              </a:rPr>
              <a:t>Seventh Outline Level</a:t>
            </a:r>
          </a:p>
        </p:txBody>
      </p:sp>
    </p:spTree>
    <p:extLst>
      <p:ext uri="{BB962C8B-B14F-4D97-AF65-F5344CB8AC3E}">
        <p14:creationId xmlns:p14="http://schemas.microsoft.com/office/powerpoint/2010/main" val="3358475438"/>
      </p:ext>
    </p:extLst>
  </p:cSld>
  <p:clrMap bg1="lt1" tx1="dk1" bg2="lt2" tx2="dk2" accent1="accent1" accent2="accent2" accent3="accent3" accent4="accent4" accent5="accent5" accent6="accent6" hlink="hlink" folHlink="folHlink"/>
  <p:sldLayoutIdLst>
    <p:sldLayoutId id="2147483652" r:id="rId1"/>
  </p:sldLayoutIdLst>
  <p:txStyles>
    <p:titleStyle>
      <a:lvl1pPr indent="0" algn="l" defTabSz="1219170"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575986" indent="-431989" algn="l" defTabSz="1219170" rtl="0" eaLnBrk="1" latinLnBrk="0" hangingPunct="1">
        <a:lnSpc>
          <a:spcPct val="90000"/>
        </a:lnSpc>
        <a:spcBef>
          <a:spcPts val="1889"/>
        </a:spcBef>
        <a:buClr>
          <a:srgbClr val="000000"/>
        </a:buClr>
        <a:buSzPct val="45000"/>
        <a:buFont typeface="Wingdings" charset="2"/>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3.xml"/><Relationship Id="rId1" Type="http://schemas.openxmlformats.org/officeDocument/2006/relationships/tags" Target="../tags/tag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tags" Target="../tags/tag2.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a:extLst>
            <a:ext uri="{FF2B5EF4-FFF2-40B4-BE49-F238E27FC236}">
              <a16:creationId xmlns:a16="http://schemas.microsoft.com/office/drawing/2014/main" id="{77FBE54B-D2FB-7E9D-E8D9-9F7D24EDEA66}"/>
            </a:ext>
          </a:extLst>
        </p:cNvPr>
        <p:cNvGrpSpPr/>
        <p:nvPr/>
      </p:nvGrpSpPr>
      <p:grpSpPr>
        <a:xfrm>
          <a:off x="0" y="0"/>
          <a:ext cx="0" cy="0"/>
          <a:chOff x="0" y="0"/>
          <a:chExt cx="0" cy="0"/>
        </a:xfrm>
      </p:grpSpPr>
      <p:sp>
        <p:nvSpPr>
          <p:cNvPr id="8" name="Shape 0">
            <a:extLst>
              <a:ext uri="{FF2B5EF4-FFF2-40B4-BE49-F238E27FC236}">
                <a16:creationId xmlns:a16="http://schemas.microsoft.com/office/drawing/2014/main" id="{48DD7D0F-F9F5-5344-D1D7-41257D31C514}"/>
              </a:ext>
            </a:extLst>
          </p:cNvPr>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 name="Text 1">
            <a:extLst>
              <a:ext uri="{FF2B5EF4-FFF2-40B4-BE49-F238E27FC236}">
                <a16:creationId xmlns:a16="http://schemas.microsoft.com/office/drawing/2014/main" id="{B4BBEA62-81F5-2C55-7E9D-74F3B2A5E25A}"/>
              </a:ext>
            </a:extLst>
          </p:cNvPr>
          <p:cNvSpPr/>
          <p:nvPr/>
        </p:nvSpPr>
        <p:spPr>
          <a:xfrm>
            <a:off x="426720" y="975360"/>
            <a:ext cx="11338080" cy="243792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Forecasting Volatility</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In Stock Market</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p:txBody>
      </p:sp>
      <p:sp>
        <p:nvSpPr>
          <p:cNvPr id="10" name="Shape 2">
            <a:extLst>
              <a:ext uri="{FF2B5EF4-FFF2-40B4-BE49-F238E27FC236}">
                <a16:creationId xmlns:a16="http://schemas.microsoft.com/office/drawing/2014/main" id="{D0982A92-3E69-B2C5-C535-BF1C574922BD}"/>
              </a:ext>
            </a:extLst>
          </p:cNvPr>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2" name="Text 4">
            <a:extLst>
              <a:ext uri="{FF2B5EF4-FFF2-40B4-BE49-F238E27FC236}">
                <a16:creationId xmlns:a16="http://schemas.microsoft.com/office/drawing/2014/main" id="{4F090630-7208-BEDC-AE80-E37EC36F6053}"/>
              </a:ext>
            </a:extLst>
          </p:cNvPr>
          <p:cNvSpPr/>
          <p:nvPr/>
        </p:nvSpPr>
        <p:spPr>
          <a:xfrm>
            <a:off x="426720" y="3892303"/>
            <a:ext cx="11338080" cy="1294233"/>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pt-BR" sz="1733" b="0" i="0" u="none" strike="noStrike" kern="1200" cap="none" spc="0" normalizeH="0" baseline="0" noProof="0" dirty="0">
                <a:ln>
                  <a:noFill/>
                </a:ln>
                <a:solidFill>
                  <a:srgbClr val="AAAACC"/>
                </a:solidFill>
                <a:effectLst/>
                <a:uLnTx/>
                <a:uFillTx/>
                <a:latin typeface="Calibri"/>
                <a:ea typeface="Calibri"/>
                <a:cs typeface="+mn-cs"/>
              </a:rPr>
              <a:t>Sid Sridhar – siddharthen_sridhar@berkeley.edu </a:t>
            </a:r>
          </a:p>
          <a:p>
            <a:pPr lvl="0" defTabSz="1219170">
              <a:tabLst>
                <a:tab pos="0" algn="l"/>
              </a:tabLst>
              <a:defRPr/>
            </a:pPr>
            <a:r>
              <a:rPr kumimoji="0" lang="pt-BR" sz="1733" b="0" i="0" u="none" strike="noStrike" kern="1200" cap="none" spc="0" normalizeH="0" baseline="0" noProof="0" dirty="0">
                <a:ln>
                  <a:noFill/>
                </a:ln>
                <a:solidFill>
                  <a:srgbClr val="AAAACC"/>
                </a:solidFill>
                <a:effectLst/>
                <a:uLnTx/>
                <a:uFillTx/>
                <a:latin typeface="Calibri"/>
                <a:ea typeface="Calibri"/>
                <a:cs typeface="+mn-cs"/>
              </a:rPr>
              <a:t>Diogo Viveiros </a:t>
            </a:r>
            <a:r>
              <a:rPr lang="pt-BR" sz="1733" dirty="0">
                <a:solidFill>
                  <a:srgbClr val="AAAACC"/>
                </a:solidFill>
                <a:ea typeface="Calibri"/>
              </a:rPr>
              <a:t>–</a:t>
            </a:r>
            <a:r>
              <a:rPr kumimoji="0" lang="pt-BR" sz="1733" b="0" i="0" u="none" strike="noStrike" kern="1200" cap="none" spc="0" normalizeH="0" baseline="0" noProof="0" dirty="0">
                <a:ln>
                  <a:noFill/>
                </a:ln>
                <a:solidFill>
                  <a:srgbClr val="AAAACC"/>
                </a:solidFill>
                <a:effectLst/>
                <a:uLnTx/>
                <a:uFillTx/>
                <a:latin typeface="Calibri"/>
                <a:ea typeface="Calibri"/>
                <a:cs typeface="+mn-cs"/>
              </a:rPr>
              <a:t> diogoviveiros@berkeley.edu </a:t>
            </a:r>
          </a:p>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pt-BR" sz="1733" b="0" i="0" u="none" strike="noStrike" kern="1200" cap="none" spc="0" normalizeH="0" baseline="0" noProof="0" dirty="0">
                <a:ln>
                  <a:noFill/>
                </a:ln>
                <a:solidFill>
                  <a:srgbClr val="AAAACC"/>
                </a:solidFill>
                <a:effectLst/>
                <a:uLnTx/>
                <a:uFillTx/>
                <a:latin typeface="Calibri"/>
                <a:ea typeface="Calibri"/>
                <a:cs typeface="+mn-cs"/>
              </a:rPr>
              <a:t>Ronald Ho – ronald.ho@berkeley.edu </a:t>
            </a:r>
          </a:p>
          <a:p>
            <a:pPr lvl="0" defTabSz="1219170">
              <a:tabLst>
                <a:tab pos="0" algn="l"/>
              </a:tabLst>
              <a:defRPr/>
            </a:pPr>
            <a:r>
              <a:rPr kumimoji="0" lang="pt-BR" sz="1733" b="0" i="0" u="none" strike="noStrike" kern="1200" cap="none" spc="0" normalizeH="0" baseline="0" noProof="0" dirty="0">
                <a:ln>
                  <a:noFill/>
                </a:ln>
                <a:solidFill>
                  <a:srgbClr val="AAAACC"/>
                </a:solidFill>
                <a:effectLst/>
                <a:uLnTx/>
                <a:uFillTx/>
                <a:latin typeface="Calibri"/>
                <a:ea typeface="Calibri"/>
                <a:cs typeface="+mn-cs"/>
              </a:rPr>
              <a:t>Vinit S. Bhatt </a:t>
            </a:r>
            <a:r>
              <a:rPr lang="pt-BR" sz="1733" dirty="0">
                <a:solidFill>
                  <a:srgbClr val="AAAACC"/>
                </a:solidFill>
                <a:ea typeface="Calibri"/>
              </a:rPr>
              <a:t>–</a:t>
            </a:r>
            <a:r>
              <a:rPr kumimoji="0" lang="pt-BR" sz="1733" b="0" i="0" u="none" strike="noStrike" kern="1200" cap="none" spc="0" normalizeH="0" baseline="0" noProof="0" dirty="0">
                <a:ln>
                  <a:noFill/>
                </a:ln>
                <a:solidFill>
                  <a:srgbClr val="AAAACC"/>
                </a:solidFill>
                <a:effectLst/>
                <a:uLnTx/>
                <a:uFillTx/>
                <a:latin typeface="Calibri"/>
                <a:ea typeface="Calibri"/>
                <a:cs typeface="+mn-cs"/>
              </a:rPr>
              <a:t> vbhatt@berkeley.edu </a:t>
            </a:r>
          </a:p>
        </p:txBody>
      </p:sp>
      <p:sp>
        <p:nvSpPr>
          <p:cNvPr id="2" name="Text 4">
            <a:extLst>
              <a:ext uri="{FF2B5EF4-FFF2-40B4-BE49-F238E27FC236}">
                <a16:creationId xmlns:a16="http://schemas.microsoft.com/office/drawing/2014/main" id="{0860C2B8-2065-2F74-37FA-0EE61988D638}"/>
              </a:ext>
            </a:extLst>
          </p:cNvPr>
          <p:cNvSpPr/>
          <p:nvPr/>
        </p:nvSpPr>
        <p:spPr>
          <a:xfrm>
            <a:off x="487680" y="2983166"/>
            <a:ext cx="113380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defTabSz="1219170">
              <a:tabLst>
                <a:tab pos="0" algn="l"/>
              </a:tabLst>
            </a:pPr>
            <a:r>
              <a:rPr lang="en-US" sz="1733" dirty="0">
                <a:solidFill>
                  <a:srgbClr val="AAAACC"/>
                </a:solidFill>
                <a:ea typeface="Calibri"/>
              </a:rPr>
              <a:t>DATASCI 207 Final Project, </a:t>
            </a:r>
            <a:r>
              <a:rPr kumimoji="0" lang="en-US" sz="1733" b="0" i="0" u="none" strike="noStrike" kern="1200" cap="none" spc="0" normalizeH="0" baseline="0" noProof="0" dirty="0">
                <a:ln>
                  <a:noFill/>
                </a:ln>
                <a:solidFill>
                  <a:srgbClr val="AAAACC"/>
                </a:solidFill>
                <a:effectLst/>
                <a:uLnTx/>
                <a:uFillTx/>
                <a:latin typeface="Calibri"/>
                <a:ea typeface="Calibri"/>
                <a:cs typeface="+mn-cs"/>
              </a:rPr>
              <a:t>March 27, 2026</a:t>
            </a:r>
            <a:endParaRPr kumimoji="0" lang="en-US" sz="1733" b="0"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902177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33679"/>
          </a:xfrm>
          <a:prstGeom prst="rect">
            <a:avLst/>
          </a:prstGeom>
          <a:solidFill>
            <a:srgbClr val="0D2340"/>
          </a:solidFill>
          <a:ln w="12700">
            <a:solidFill>
              <a:srgbClr val="0D2340"/>
            </a:solidFill>
            <a:prstDash val="solid"/>
          </a:ln>
        </p:spPr>
        <p:txBody>
          <a:bodyPr/>
          <a:lstStyle/>
          <a:p>
            <a:endParaRPr lang="en-US"/>
          </a:p>
        </p:txBody>
      </p:sp>
      <p:sp>
        <p:nvSpPr>
          <p:cNvPr id="3" name="Text 1"/>
          <p:cNvSpPr/>
          <p:nvPr/>
        </p:nvSpPr>
        <p:spPr>
          <a:xfrm>
            <a:off x="341071" y="49378"/>
            <a:ext cx="11581790" cy="560527"/>
          </a:xfrm>
          <a:prstGeom prst="rect">
            <a:avLst/>
          </a:prstGeom>
          <a:noFill/>
          <a:ln/>
        </p:spPr>
        <p:txBody>
          <a:bodyPr wrap="square" rtlCol="0" anchor="ctr"/>
          <a:lstStyle/>
          <a:p>
            <a:pPr marL="0" indent="0">
              <a:buNone/>
            </a:pPr>
            <a:r>
              <a:rPr lang="en-US" sz="2900" b="1" dirty="0">
                <a:solidFill>
                  <a:srgbClr val="FFFFFF"/>
                </a:solidFill>
                <a:latin typeface="Calibri" pitchFamily="34" charset="0"/>
                <a:ea typeface="Calibri" pitchFamily="34" charset="-122"/>
                <a:cs typeface="Calibri" pitchFamily="34" charset="-120"/>
              </a:rPr>
              <a:t>Project: Forecasting Volatility In Stock Market</a:t>
            </a:r>
            <a:endParaRPr lang="en-US" sz="2900" dirty="0"/>
          </a:p>
        </p:txBody>
      </p:sp>
      <p:sp>
        <p:nvSpPr>
          <p:cNvPr id="4" name="Shape 2"/>
          <p:cNvSpPr/>
          <p:nvPr/>
        </p:nvSpPr>
        <p:spPr>
          <a:xfrm>
            <a:off x="0" y="6558991"/>
            <a:ext cx="12191695" cy="298094"/>
          </a:xfrm>
          <a:prstGeom prst="rect">
            <a:avLst/>
          </a:prstGeom>
          <a:solidFill>
            <a:srgbClr val="0D2340"/>
          </a:solidFill>
          <a:ln w="12700">
            <a:solidFill>
              <a:srgbClr val="0D2340"/>
            </a:solidFill>
            <a:prstDash val="solid"/>
          </a:ln>
        </p:spPr>
        <p:txBody>
          <a:bodyPr/>
          <a:lstStyle/>
          <a:p>
            <a:endParaRPr lang="en-US"/>
          </a:p>
        </p:txBody>
      </p:sp>
      <p:sp>
        <p:nvSpPr>
          <p:cNvPr id="8" name="Text 6"/>
          <p:cNvSpPr/>
          <p:nvPr/>
        </p:nvSpPr>
        <p:spPr>
          <a:xfrm>
            <a:off x="341071" y="1389888"/>
            <a:ext cx="11423599" cy="4892040"/>
          </a:xfrm>
          <a:prstGeom prst="rect">
            <a:avLst/>
          </a:prstGeom>
          <a:noFill/>
          <a:ln/>
        </p:spPr>
        <p:txBody>
          <a:bodyPr wrap="square" lIns="0" tIns="0" rIns="0" bIns="0" rtlCol="0" anchor="t"/>
          <a:lstStyle/>
          <a:p>
            <a:pPr marL="228600" indent="-228600">
              <a:lnSpc>
                <a:spcPct val="110000"/>
              </a:lnSpc>
              <a:buSzPct val="100000"/>
              <a:buChar char="•"/>
            </a:pPr>
            <a:endParaRPr lang="en-US" sz="1600" dirty="0"/>
          </a:p>
        </p:txBody>
      </p:sp>
      <p:sp>
        <p:nvSpPr>
          <p:cNvPr id="12" name="TextBox 11"/>
          <p:cNvSpPr txBox="1"/>
          <p:nvPr/>
        </p:nvSpPr>
        <p:spPr>
          <a:xfrm>
            <a:off x="3081351" y="6128039"/>
            <a:ext cx="5943037" cy="307777"/>
          </a:xfrm>
          <a:prstGeom prst="rect">
            <a:avLst/>
          </a:prstGeom>
          <a:noFill/>
        </p:spPr>
        <p:txBody>
          <a:bodyPr wrap="none">
            <a:spAutoFit/>
          </a:bodyPr>
          <a:lstStyle/>
          <a:p>
            <a:r>
              <a:rPr sz="1400" b="1" dirty="0">
                <a:solidFill>
                  <a:srgbClr val="1A1A2E"/>
                </a:solidFill>
                <a:latin typeface="Calibri"/>
              </a:rPr>
              <a:t>S&amp;P 500 chart highlighting major drawdowns and changing volatility regimes.</a:t>
            </a:r>
          </a:p>
        </p:txBody>
      </p:sp>
      <p:sp>
        <p:nvSpPr>
          <p:cNvPr id="13" name="TextBox 12"/>
          <p:cNvSpPr txBox="1"/>
          <p:nvPr/>
        </p:nvSpPr>
        <p:spPr>
          <a:xfrm>
            <a:off x="7776514" y="4151321"/>
            <a:ext cx="184731" cy="312393"/>
          </a:xfrm>
          <a:prstGeom prst="rect">
            <a:avLst/>
          </a:prstGeom>
          <a:noFill/>
        </p:spPr>
        <p:txBody>
          <a:bodyPr wrap="none">
            <a:spAutoFit/>
          </a:bodyPr>
          <a:lstStyle/>
          <a:p>
            <a:endParaRPr sz="1430" b="1" dirty="0">
              <a:solidFill>
                <a:srgbClr val="1A1A2E"/>
              </a:solidFill>
              <a:latin typeface="Calibri"/>
            </a:endParaRPr>
          </a:p>
        </p:txBody>
      </p:sp>
      <p:pic>
        <p:nvPicPr>
          <p:cNvPr id="14" name="Picture 13">
            <a:extLst>
              <a:ext uri="{FF2B5EF4-FFF2-40B4-BE49-F238E27FC236}">
                <a16:creationId xmlns:a16="http://schemas.microsoft.com/office/drawing/2014/main" id="{484DE742-A634-5F95-CAAE-9A7B4C8620CE}"/>
              </a:ext>
            </a:extLst>
          </p:cNvPr>
          <p:cNvPicPr>
            <a:picLocks noChangeAspect="1"/>
          </p:cNvPicPr>
          <p:nvPr/>
        </p:nvPicPr>
        <p:blipFill>
          <a:blip r:embed="rId3"/>
          <a:stretch>
            <a:fillRect/>
          </a:stretch>
        </p:blipFill>
        <p:spPr>
          <a:xfrm>
            <a:off x="157886" y="1189318"/>
            <a:ext cx="11606784" cy="4863934"/>
          </a:xfrm>
          <a:prstGeom prst="rect">
            <a:avLst/>
          </a:prstGeom>
        </p:spPr>
      </p:pic>
      <p:sp>
        <p:nvSpPr>
          <p:cNvPr id="15" name="TextBox 14">
            <a:extLst>
              <a:ext uri="{FF2B5EF4-FFF2-40B4-BE49-F238E27FC236}">
                <a16:creationId xmlns:a16="http://schemas.microsoft.com/office/drawing/2014/main" id="{EC1E1F7B-8F5F-4DAE-AF18-3F253AF2F340}"/>
              </a:ext>
            </a:extLst>
          </p:cNvPr>
          <p:cNvSpPr txBox="1"/>
          <p:nvPr/>
        </p:nvSpPr>
        <p:spPr>
          <a:xfrm>
            <a:off x="5037224" y="730065"/>
            <a:ext cx="2117246" cy="400110"/>
          </a:xfrm>
          <a:prstGeom prst="rect">
            <a:avLst/>
          </a:prstGeom>
          <a:noFill/>
        </p:spPr>
        <p:txBody>
          <a:bodyPr wrap="none" rtlCol="0">
            <a:spAutoFit/>
          </a:bodyPr>
          <a:lstStyle/>
          <a:p>
            <a:r>
              <a:rPr lang="en-US" sz="2000" b="1" dirty="0">
                <a:solidFill>
                  <a:srgbClr val="00A8CC"/>
                </a:solidFill>
              </a:rPr>
              <a:t>What is Volatility?</a:t>
            </a:r>
          </a:p>
        </p:txBody>
      </p:sp>
      <p:sp>
        <p:nvSpPr>
          <p:cNvPr id="6" name="Shape 5">
            <a:extLst>
              <a:ext uri="{FF2B5EF4-FFF2-40B4-BE49-F238E27FC236}">
                <a16:creationId xmlns:a16="http://schemas.microsoft.com/office/drawing/2014/main" id="{01C70E8E-E084-C0AE-22BC-15F747F203D5}"/>
              </a:ext>
            </a:extLst>
          </p:cNvPr>
          <p:cNvSpPr/>
          <p:nvPr/>
        </p:nvSpPr>
        <p:spPr>
          <a:xfrm flipV="1">
            <a:off x="5166360" y="1112825"/>
            <a:ext cx="1848394" cy="0"/>
          </a:xfrm>
          <a:prstGeom prst="line">
            <a:avLst/>
          </a:prstGeom>
          <a:noFill/>
          <a:ln w="15240">
            <a:solidFill>
              <a:srgbClr val="08A3C7"/>
            </a:solidFill>
            <a:prstDash val="solid"/>
          </a:ln>
        </p:spPr>
        <p:txBody>
          <a:bodyPr/>
          <a:lstStyle/>
          <a:p>
            <a:endParaRPr lang="en-US"/>
          </a:p>
        </p:txBody>
      </p:sp>
      <p:sp>
        <p:nvSpPr>
          <p:cNvPr id="7" name="Text 3">
            <a:extLst>
              <a:ext uri="{FF2B5EF4-FFF2-40B4-BE49-F238E27FC236}">
                <a16:creationId xmlns:a16="http://schemas.microsoft.com/office/drawing/2014/main" id="{E62870E0-E75F-1918-96DE-CDE61EEC5EC4}"/>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D38F3-9CCD-288E-2F25-B5BEF5256B0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1CC733E-286B-DB4C-4C3D-26B1BA7D38C0}"/>
              </a:ext>
            </a:extLst>
          </p:cNvPr>
          <p:cNvSpPr/>
          <p:nvPr/>
        </p:nvSpPr>
        <p:spPr>
          <a:xfrm>
            <a:off x="0" y="0"/>
            <a:ext cx="12191695" cy="633679"/>
          </a:xfrm>
          <a:prstGeom prst="rect">
            <a:avLst/>
          </a:prstGeom>
          <a:solidFill>
            <a:srgbClr val="0D2340"/>
          </a:solidFill>
          <a:ln w="12700">
            <a:solidFill>
              <a:srgbClr val="0D2340"/>
            </a:solidFill>
            <a:prstDash val="solid"/>
          </a:ln>
        </p:spPr>
        <p:txBody>
          <a:bodyPr/>
          <a:lstStyle/>
          <a:p>
            <a:endParaRPr lang="en-US"/>
          </a:p>
        </p:txBody>
      </p:sp>
      <p:sp>
        <p:nvSpPr>
          <p:cNvPr id="3" name="Text 1">
            <a:extLst>
              <a:ext uri="{FF2B5EF4-FFF2-40B4-BE49-F238E27FC236}">
                <a16:creationId xmlns:a16="http://schemas.microsoft.com/office/drawing/2014/main" id="{42142922-2786-A3D8-94C6-5218335D60BE}"/>
              </a:ext>
            </a:extLst>
          </p:cNvPr>
          <p:cNvSpPr/>
          <p:nvPr/>
        </p:nvSpPr>
        <p:spPr>
          <a:xfrm>
            <a:off x="341071" y="49378"/>
            <a:ext cx="11581790" cy="560527"/>
          </a:xfrm>
          <a:prstGeom prst="rect">
            <a:avLst/>
          </a:prstGeom>
          <a:noFill/>
          <a:ln/>
        </p:spPr>
        <p:txBody>
          <a:bodyPr wrap="square" rtlCol="0" anchor="ctr"/>
          <a:lstStyle/>
          <a:p>
            <a:pPr marL="0" indent="0">
              <a:buNone/>
            </a:pPr>
            <a:r>
              <a:rPr lang="en-US" sz="2900" b="1" dirty="0">
                <a:solidFill>
                  <a:srgbClr val="FFFFFF"/>
                </a:solidFill>
                <a:latin typeface="Calibri" pitchFamily="34" charset="0"/>
                <a:ea typeface="Calibri" pitchFamily="34" charset="-122"/>
                <a:cs typeface="Calibri" pitchFamily="34" charset="-120"/>
              </a:rPr>
              <a:t>Project: Forecasting Volatility In Stock Market</a:t>
            </a:r>
            <a:endParaRPr lang="en-US" sz="2900" dirty="0"/>
          </a:p>
        </p:txBody>
      </p:sp>
      <p:sp>
        <p:nvSpPr>
          <p:cNvPr id="4" name="Shape 2">
            <a:extLst>
              <a:ext uri="{FF2B5EF4-FFF2-40B4-BE49-F238E27FC236}">
                <a16:creationId xmlns:a16="http://schemas.microsoft.com/office/drawing/2014/main" id="{5BDBA904-3875-2D8B-B440-D4BB0858E2B5}"/>
              </a:ext>
            </a:extLst>
          </p:cNvPr>
          <p:cNvSpPr/>
          <p:nvPr/>
        </p:nvSpPr>
        <p:spPr>
          <a:xfrm>
            <a:off x="0" y="6558991"/>
            <a:ext cx="12191695" cy="298094"/>
          </a:xfrm>
          <a:prstGeom prst="rect">
            <a:avLst/>
          </a:prstGeom>
          <a:solidFill>
            <a:srgbClr val="0D2340"/>
          </a:solidFill>
          <a:ln w="12700">
            <a:solidFill>
              <a:srgbClr val="0D2340"/>
            </a:solidFill>
            <a:prstDash val="solid"/>
          </a:ln>
        </p:spPr>
        <p:txBody>
          <a:bodyPr/>
          <a:lstStyle/>
          <a:p>
            <a:endParaRPr lang="en-US"/>
          </a:p>
        </p:txBody>
      </p:sp>
      <p:sp>
        <p:nvSpPr>
          <p:cNvPr id="8" name="Text 6">
            <a:extLst>
              <a:ext uri="{FF2B5EF4-FFF2-40B4-BE49-F238E27FC236}">
                <a16:creationId xmlns:a16="http://schemas.microsoft.com/office/drawing/2014/main" id="{26382F0A-05BB-1ED2-EFB3-4EC93A08AFBF}"/>
              </a:ext>
            </a:extLst>
          </p:cNvPr>
          <p:cNvSpPr/>
          <p:nvPr/>
        </p:nvSpPr>
        <p:spPr>
          <a:xfrm>
            <a:off x="341071" y="1389888"/>
            <a:ext cx="11423599" cy="4892040"/>
          </a:xfrm>
          <a:prstGeom prst="rect">
            <a:avLst/>
          </a:prstGeom>
          <a:noFill/>
          <a:ln/>
        </p:spPr>
        <p:txBody>
          <a:bodyPr wrap="square" lIns="0" tIns="0" rIns="0" bIns="0" rtlCol="0" anchor="t"/>
          <a:lstStyle/>
          <a:p>
            <a:pPr marL="228600" indent="-228600">
              <a:lnSpc>
                <a:spcPct val="110000"/>
              </a:lnSpc>
              <a:buSzPct val="100000"/>
              <a:buChar char="•"/>
            </a:pPr>
            <a:endParaRPr lang="en-US" sz="1600" dirty="0"/>
          </a:p>
        </p:txBody>
      </p:sp>
      <p:sp>
        <p:nvSpPr>
          <p:cNvPr id="9" name="TextBox 8">
            <a:extLst>
              <a:ext uri="{FF2B5EF4-FFF2-40B4-BE49-F238E27FC236}">
                <a16:creationId xmlns:a16="http://schemas.microsoft.com/office/drawing/2014/main" id="{1D433F22-3FAE-CC59-CFA3-ACC37CEB1C86}"/>
              </a:ext>
            </a:extLst>
          </p:cNvPr>
          <p:cNvSpPr txBox="1"/>
          <p:nvPr/>
        </p:nvSpPr>
        <p:spPr>
          <a:xfrm>
            <a:off x="405536" y="1152144"/>
            <a:ext cx="11380622" cy="5187445"/>
          </a:xfrm>
          <a:prstGeom prst="rect">
            <a:avLst/>
          </a:prstGeom>
          <a:noFill/>
        </p:spPr>
        <p:txBody>
          <a:bodyPr wrap="square">
            <a:normAutofit fontScale="70000" lnSpcReduction="20000"/>
          </a:bodyPr>
          <a:lstStyle/>
          <a:p>
            <a:pPr>
              <a:spcAft>
                <a:spcPts val="200"/>
              </a:spcAft>
            </a:pPr>
            <a:r>
              <a:rPr sz="2200" b="1" dirty="0">
                <a:solidFill>
                  <a:srgbClr val="00A8CC"/>
                </a:solidFill>
                <a:latin typeface="Calibri"/>
              </a:rPr>
              <a:t>Forecasting Objective</a:t>
            </a:r>
          </a:p>
          <a:p>
            <a:pPr marL="285750" indent="-285750">
              <a:spcAft>
                <a:spcPts val="100"/>
              </a:spcAft>
              <a:buFont typeface="Arial" panose="020B0604020202020204" pitchFamily="34" charset="0"/>
              <a:buChar char="•"/>
            </a:pPr>
            <a:r>
              <a:rPr sz="2200" b="1" dirty="0">
                <a:solidFill>
                  <a:srgbClr val="1A1A2E"/>
                </a:solidFill>
                <a:latin typeface="Calibri"/>
              </a:rPr>
              <a:t>Predict next-week (next 5 trading days) realized volatility </a:t>
            </a:r>
            <a:r>
              <a:rPr sz="2200" b="0" dirty="0">
                <a:solidFill>
                  <a:srgbClr val="1A1A2E"/>
                </a:solidFill>
                <a:latin typeface="Calibri"/>
              </a:rPr>
              <a:t>for S&amp;P 500-linked ETFs using only information known at the prediction date.</a:t>
            </a:r>
          </a:p>
          <a:p>
            <a:pPr marL="285750" indent="-285750">
              <a:spcAft>
                <a:spcPts val="600"/>
              </a:spcAft>
              <a:buFont typeface="Arial" panose="020B0604020202020204" pitchFamily="34" charset="0"/>
              <a:buChar char="•"/>
            </a:pPr>
            <a:r>
              <a:rPr sz="2200" b="1" dirty="0">
                <a:solidFill>
                  <a:srgbClr val="1A1A2E"/>
                </a:solidFill>
                <a:latin typeface="Calibri"/>
              </a:rPr>
              <a:t>Why it matters: </a:t>
            </a:r>
            <a:r>
              <a:rPr sz="2200" b="0" dirty="0">
                <a:solidFill>
                  <a:srgbClr val="1A1A2E"/>
                </a:solidFill>
                <a:latin typeface="Calibri"/>
              </a:rPr>
              <a:t>volatility drives position sizing, risk budgeting, drawdown control, and derivatives/risk-management pricing.</a:t>
            </a:r>
            <a:endParaRPr lang="en-US" sz="2200" b="1" dirty="0">
              <a:solidFill>
                <a:srgbClr val="00A8CC"/>
              </a:solidFill>
              <a:latin typeface="Calibri"/>
            </a:endParaRPr>
          </a:p>
          <a:p>
            <a:pPr>
              <a:spcAft>
                <a:spcPts val="200"/>
              </a:spcAft>
            </a:pPr>
            <a:endParaRPr lang="en-US" sz="2200" b="1" dirty="0">
              <a:solidFill>
                <a:srgbClr val="00A8CC"/>
              </a:solidFill>
              <a:latin typeface="Calibri"/>
            </a:endParaRPr>
          </a:p>
          <a:p>
            <a:pPr>
              <a:spcAft>
                <a:spcPts val="200"/>
              </a:spcAft>
            </a:pPr>
            <a:r>
              <a:rPr sz="2200" b="1" dirty="0">
                <a:solidFill>
                  <a:srgbClr val="00A8CC"/>
                </a:solidFill>
                <a:latin typeface="Calibri"/>
              </a:rPr>
              <a:t>Data Universe</a:t>
            </a:r>
          </a:p>
          <a:p>
            <a:pPr marL="285750" indent="-285750">
              <a:spcAft>
                <a:spcPts val="100"/>
              </a:spcAft>
              <a:buFont typeface="Arial" panose="020B0604020202020204" pitchFamily="34" charset="0"/>
              <a:buChar char="•"/>
            </a:pPr>
            <a:r>
              <a:rPr sz="2200" b="1" dirty="0">
                <a:solidFill>
                  <a:srgbClr val="1A1A2E"/>
                </a:solidFill>
                <a:latin typeface="Calibri"/>
              </a:rPr>
              <a:t>36 ETF tickers</a:t>
            </a:r>
            <a:r>
              <a:rPr lang="en-US" sz="2200" b="1" dirty="0">
                <a:solidFill>
                  <a:srgbClr val="1A1A2E"/>
                </a:solidFill>
                <a:latin typeface="Calibri"/>
              </a:rPr>
              <a:t>:</a:t>
            </a:r>
            <a:r>
              <a:rPr sz="2200" b="1" dirty="0">
                <a:solidFill>
                  <a:srgbClr val="1A1A2E"/>
                </a:solidFill>
                <a:latin typeface="Calibri"/>
              </a:rPr>
              <a:t> </a:t>
            </a:r>
            <a:endParaRPr lang="en-US" sz="2200" b="1" dirty="0">
              <a:solidFill>
                <a:srgbClr val="1A1A2E"/>
              </a:solidFill>
              <a:latin typeface="Calibri"/>
            </a:endParaRPr>
          </a:p>
          <a:p>
            <a:pPr marL="742950" lvl="1" indent="-285750">
              <a:spcAft>
                <a:spcPts val="100"/>
              </a:spcAft>
              <a:buFont typeface="Wingdings" panose="05000000000000000000" pitchFamily="2" charset="2"/>
              <a:buChar char="Ø"/>
            </a:pPr>
            <a:r>
              <a:rPr sz="2200" b="0" dirty="0">
                <a:solidFill>
                  <a:srgbClr val="1A1A2E"/>
                </a:solidFill>
                <a:latin typeface="Calibri"/>
              </a:rPr>
              <a:t>S&amp;P 500 market proxy, </a:t>
            </a:r>
            <a:endParaRPr lang="en-US" sz="2200" dirty="0">
              <a:solidFill>
                <a:srgbClr val="1A1A2E"/>
              </a:solidFill>
              <a:latin typeface="Calibri"/>
            </a:endParaRPr>
          </a:p>
          <a:p>
            <a:pPr marL="742950" lvl="1" indent="-285750">
              <a:spcAft>
                <a:spcPts val="100"/>
              </a:spcAft>
              <a:buFont typeface="Wingdings" panose="05000000000000000000" pitchFamily="2" charset="2"/>
              <a:buChar char="Ø"/>
            </a:pPr>
            <a:r>
              <a:rPr sz="2200" b="0" dirty="0">
                <a:solidFill>
                  <a:srgbClr val="1A1A2E"/>
                </a:solidFill>
                <a:latin typeface="Calibri"/>
              </a:rPr>
              <a:t>sector ETFs, </a:t>
            </a:r>
            <a:endParaRPr lang="en-US" sz="2200" dirty="0">
              <a:solidFill>
                <a:srgbClr val="1A1A2E"/>
              </a:solidFill>
              <a:latin typeface="Calibri"/>
            </a:endParaRPr>
          </a:p>
          <a:p>
            <a:pPr marL="742950" lvl="1" indent="-285750">
              <a:spcAft>
                <a:spcPts val="100"/>
              </a:spcAft>
              <a:buFont typeface="Wingdings" panose="05000000000000000000" pitchFamily="2" charset="2"/>
              <a:buChar char="Ø"/>
            </a:pPr>
            <a:r>
              <a:rPr sz="2200" b="0" dirty="0">
                <a:solidFill>
                  <a:srgbClr val="1A1A2E"/>
                </a:solidFill>
                <a:latin typeface="Calibri"/>
              </a:rPr>
              <a:t>industry ETFs.</a:t>
            </a:r>
          </a:p>
          <a:p>
            <a:pPr marL="285750" indent="-285750">
              <a:spcAft>
                <a:spcPts val="200"/>
              </a:spcAft>
              <a:buFont typeface="Arial" panose="020B0604020202020204" pitchFamily="34" charset="0"/>
              <a:buChar char="•"/>
            </a:pPr>
            <a:r>
              <a:rPr sz="2200" b="1" dirty="0">
                <a:solidFill>
                  <a:srgbClr val="1A1A2E"/>
                </a:solidFill>
                <a:latin typeface="Calibri"/>
              </a:rPr>
              <a:t>6 macro/risk series for regime context: </a:t>
            </a:r>
            <a:endParaRPr lang="en-US" sz="2200" b="1" dirty="0">
              <a:solidFill>
                <a:srgbClr val="1A1A2E"/>
              </a:solidFill>
              <a:latin typeface="Calibri"/>
            </a:endParaRPr>
          </a:p>
          <a:p>
            <a:pPr marL="742950" lvl="1" indent="-285750">
              <a:spcAft>
                <a:spcPts val="200"/>
              </a:spcAft>
              <a:buFont typeface="Wingdings" panose="05000000000000000000" pitchFamily="2" charset="2"/>
              <a:buChar char="Ø"/>
            </a:pPr>
            <a:r>
              <a:rPr lang="en-US" sz="2200" b="0" dirty="0">
                <a:solidFill>
                  <a:srgbClr val="1A1A2E"/>
                </a:solidFill>
                <a:latin typeface="Calibri"/>
              </a:rPr>
              <a:t>3 month T-Bill yield</a:t>
            </a:r>
          </a:p>
          <a:p>
            <a:pPr marL="742950" lvl="1" indent="-285750">
              <a:spcAft>
                <a:spcPts val="200"/>
              </a:spcAft>
              <a:buFont typeface="Wingdings" panose="05000000000000000000" pitchFamily="2" charset="2"/>
              <a:buChar char="Ø"/>
            </a:pPr>
            <a:r>
              <a:rPr lang="en-US" sz="2200" b="0" dirty="0">
                <a:solidFill>
                  <a:srgbClr val="1A1A2E"/>
                </a:solidFill>
                <a:latin typeface="Calibri"/>
              </a:rPr>
              <a:t>10 year US bond yield</a:t>
            </a:r>
          </a:p>
          <a:p>
            <a:pPr marL="742950" lvl="1" indent="-285750">
              <a:spcAft>
                <a:spcPts val="200"/>
              </a:spcAft>
              <a:buFont typeface="Wingdings" panose="05000000000000000000" pitchFamily="2" charset="2"/>
              <a:buChar char="Ø"/>
            </a:pPr>
            <a:r>
              <a:rPr sz="2200" b="0" dirty="0">
                <a:solidFill>
                  <a:srgbClr val="1A1A2E"/>
                </a:solidFill>
                <a:latin typeface="Calibri"/>
              </a:rPr>
              <a:t>US</a:t>
            </a:r>
            <a:r>
              <a:rPr lang="en-US" sz="2200" b="0" dirty="0">
                <a:solidFill>
                  <a:srgbClr val="1A1A2E"/>
                </a:solidFill>
                <a:latin typeface="Calibri"/>
              </a:rPr>
              <a:t> 10 year </a:t>
            </a:r>
            <a:r>
              <a:rPr lang="en-US" sz="2200" dirty="0">
                <a:solidFill>
                  <a:srgbClr val="1A1A2E"/>
                </a:solidFill>
                <a:latin typeface="Calibri"/>
              </a:rPr>
              <a:t>-</a:t>
            </a:r>
            <a:r>
              <a:rPr lang="en-US" sz="2200" b="0" dirty="0">
                <a:solidFill>
                  <a:srgbClr val="1A1A2E"/>
                </a:solidFill>
                <a:latin typeface="Calibri"/>
              </a:rPr>
              <a:t> month yield spread</a:t>
            </a:r>
          </a:p>
          <a:p>
            <a:pPr marL="742950" lvl="1" indent="-285750">
              <a:spcAft>
                <a:spcPts val="200"/>
              </a:spcAft>
              <a:buFont typeface="Wingdings" panose="05000000000000000000" pitchFamily="2" charset="2"/>
              <a:buChar char="Ø"/>
            </a:pPr>
            <a:r>
              <a:rPr lang="en-US" sz="2200" b="0" dirty="0">
                <a:solidFill>
                  <a:srgbClr val="1A1A2E"/>
                </a:solidFill>
                <a:latin typeface="Calibri"/>
              </a:rPr>
              <a:t>Gold spot price</a:t>
            </a:r>
          </a:p>
          <a:p>
            <a:pPr marL="742950" lvl="1" indent="-285750">
              <a:spcAft>
                <a:spcPts val="200"/>
              </a:spcAft>
              <a:buFont typeface="Wingdings" panose="05000000000000000000" pitchFamily="2" charset="2"/>
              <a:buChar char="Ø"/>
            </a:pPr>
            <a:r>
              <a:rPr lang="en-US" sz="2200" b="0" dirty="0">
                <a:solidFill>
                  <a:srgbClr val="1A1A2E"/>
                </a:solidFill>
                <a:latin typeface="Calibri"/>
              </a:rPr>
              <a:t>Oil spot price</a:t>
            </a:r>
            <a:endParaRPr lang="en-US" sz="2200" dirty="0">
              <a:solidFill>
                <a:srgbClr val="1A1A2E"/>
              </a:solidFill>
              <a:latin typeface="Calibri"/>
            </a:endParaRPr>
          </a:p>
          <a:p>
            <a:pPr marL="742950" lvl="1" indent="-285750">
              <a:spcAft>
                <a:spcPts val="200"/>
              </a:spcAft>
              <a:buFont typeface="Wingdings" panose="05000000000000000000" pitchFamily="2" charset="2"/>
              <a:buChar char="Ø"/>
            </a:pPr>
            <a:r>
              <a:rPr sz="2200" b="0" dirty="0">
                <a:solidFill>
                  <a:srgbClr val="1A1A2E"/>
                </a:solidFill>
                <a:latin typeface="Calibri"/>
              </a:rPr>
              <a:t>VIX</a:t>
            </a:r>
          </a:p>
          <a:p>
            <a:pPr marL="285750" indent="-285750">
              <a:spcAft>
                <a:spcPts val="100"/>
              </a:spcAft>
              <a:buFont typeface="Arial" panose="020B0604020202020204" pitchFamily="34" charset="0"/>
              <a:buChar char="•"/>
            </a:pPr>
            <a:r>
              <a:rPr sz="2200" b="1" dirty="0">
                <a:solidFill>
                  <a:srgbClr val="1A1A2E"/>
                </a:solidFill>
                <a:latin typeface="Calibri"/>
              </a:rPr>
              <a:t>Market (1): </a:t>
            </a:r>
            <a:r>
              <a:rPr sz="2200" b="0" dirty="0">
                <a:solidFill>
                  <a:srgbClr val="1A1A2E"/>
                </a:solidFill>
                <a:latin typeface="Calibri"/>
              </a:rPr>
              <a:t>SPY</a:t>
            </a:r>
          </a:p>
          <a:p>
            <a:pPr marL="285750" indent="-285750">
              <a:spcAft>
                <a:spcPts val="100"/>
              </a:spcAft>
              <a:buFont typeface="Arial" panose="020B0604020202020204" pitchFamily="34" charset="0"/>
              <a:buChar char="•"/>
            </a:pPr>
            <a:r>
              <a:rPr sz="2200" b="1" dirty="0">
                <a:solidFill>
                  <a:srgbClr val="1A1A2E"/>
                </a:solidFill>
                <a:latin typeface="Calibri"/>
              </a:rPr>
              <a:t>Sector (13): </a:t>
            </a:r>
            <a:r>
              <a:rPr sz="2200" b="0" dirty="0">
                <a:solidFill>
                  <a:srgbClr val="1A1A2E"/>
                </a:solidFill>
                <a:latin typeface="Calibri"/>
              </a:rPr>
              <a:t>IYZ, VGT, XLB, XLC, XLE, XLF, XLI, XLK, XLP, XLRE, XLU, XLV, XLY</a:t>
            </a:r>
            <a:endParaRPr lang="en-US" sz="2200" b="0" dirty="0">
              <a:solidFill>
                <a:srgbClr val="1A1A2E"/>
              </a:solidFill>
              <a:latin typeface="Calibri"/>
            </a:endParaRPr>
          </a:p>
          <a:p>
            <a:pPr marL="285750" indent="-285750">
              <a:spcAft>
                <a:spcPts val="600"/>
              </a:spcAft>
              <a:buFont typeface="Arial" panose="020B0604020202020204" pitchFamily="34" charset="0"/>
              <a:buChar char="•"/>
            </a:pPr>
            <a:r>
              <a:rPr sz="2200" b="1" dirty="0">
                <a:solidFill>
                  <a:srgbClr val="1A1A2E"/>
                </a:solidFill>
                <a:latin typeface="Calibri"/>
              </a:rPr>
              <a:t>Industry (22): </a:t>
            </a:r>
            <a:r>
              <a:rPr sz="2200" b="0" dirty="0">
                <a:solidFill>
                  <a:srgbClr val="1A1A2E"/>
                </a:solidFill>
                <a:latin typeface="Calibri"/>
              </a:rPr>
              <a:t>BEDZ, FTXG, KBE, KCE, KIE, KRE, PEJ, PNQI, PXQ, XAR, XBI, XES, XHB, XHE, XHS, XME, XOP, XPH, XSD, XSW, XTL, XTN</a:t>
            </a:r>
            <a:endParaRPr lang="en-US" sz="2200" b="1" dirty="0">
              <a:solidFill>
                <a:srgbClr val="00A8CC"/>
              </a:solidFill>
            </a:endParaRPr>
          </a:p>
          <a:p>
            <a:endParaRPr lang="en-US" sz="2200" b="1" dirty="0">
              <a:solidFill>
                <a:srgbClr val="00A8CC"/>
              </a:solidFill>
            </a:endParaRPr>
          </a:p>
          <a:p>
            <a:r>
              <a:rPr lang="en-US" sz="2200" b="1" dirty="0">
                <a:solidFill>
                  <a:srgbClr val="00A8CC"/>
                </a:solidFill>
              </a:rPr>
              <a:t>Prediction Models</a:t>
            </a:r>
          </a:p>
          <a:p>
            <a:pPr marL="285750" indent="-285750">
              <a:buFont typeface="Arial" panose="020B0604020202020204" pitchFamily="34" charset="0"/>
              <a:buChar char="•"/>
            </a:pPr>
            <a:r>
              <a:rPr lang="en-US" sz="2200" b="1" dirty="0">
                <a:solidFill>
                  <a:srgbClr val="1A1A2E"/>
                </a:solidFill>
              </a:rPr>
              <a:t>Transformer 1: </a:t>
            </a:r>
            <a:r>
              <a:rPr lang="en-US" sz="2200" dirty="0">
                <a:solidFill>
                  <a:srgbClr val="1A1A2E"/>
                </a:solidFill>
              </a:rPr>
              <a:t>Diogo</a:t>
            </a:r>
          </a:p>
          <a:p>
            <a:pPr marL="285750" indent="-285750">
              <a:buFont typeface="Arial" panose="020B0604020202020204" pitchFamily="34" charset="0"/>
              <a:buChar char="•"/>
            </a:pPr>
            <a:r>
              <a:rPr lang="en-US" sz="2200" b="1" dirty="0">
                <a:solidFill>
                  <a:srgbClr val="1A1A2E"/>
                </a:solidFill>
              </a:rPr>
              <a:t>Transformer 2: </a:t>
            </a:r>
            <a:r>
              <a:rPr lang="en-US" sz="2200" dirty="0">
                <a:solidFill>
                  <a:srgbClr val="1A1A2E"/>
                </a:solidFill>
              </a:rPr>
              <a:t>Ronald</a:t>
            </a:r>
          </a:p>
          <a:p>
            <a:pPr marL="285750" indent="-285750">
              <a:buFont typeface="Arial" panose="020B0604020202020204" pitchFamily="34" charset="0"/>
              <a:buChar char="•"/>
            </a:pPr>
            <a:r>
              <a:rPr lang="en-US" sz="2200" b="1" dirty="0">
                <a:solidFill>
                  <a:srgbClr val="1A1A2E"/>
                </a:solidFill>
              </a:rPr>
              <a:t>LSTM: </a:t>
            </a:r>
            <a:r>
              <a:rPr lang="en-US" sz="2200" dirty="0">
                <a:solidFill>
                  <a:srgbClr val="1A1A2E"/>
                </a:solidFill>
              </a:rPr>
              <a:t>Sid</a:t>
            </a:r>
          </a:p>
          <a:p>
            <a:pPr marL="285750" indent="-285750">
              <a:buFont typeface="Arial" panose="020B0604020202020204" pitchFamily="34" charset="0"/>
              <a:buChar char="•"/>
            </a:pPr>
            <a:r>
              <a:rPr lang="en-US" sz="2200" b="1" dirty="0">
                <a:solidFill>
                  <a:srgbClr val="1A1A2E"/>
                </a:solidFill>
              </a:rPr>
              <a:t>Elastic Net Regression: </a:t>
            </a:r>
            <a:r>
              <a:rPr lang="en-US" sz="2200" dirty="0">
                <a:solidFill>
                  <a:srgbClr val="1A1A2E"/>
                </a:solidFill>
              </a:rPr>
              <a:t>Vinit</a:t>
            </a:r>
            <a:endParaRPr sz="2200" dirty="0">
              <a:solidFill>
                <a:srgbClr val="1A1A2E"/>
              </a:solidFill>
              <a:latin typeface="Calibri"/>
            </a:endParaRPr>
          </a:p>
        </p:txBody>
      </p:sp>
      <p:sp>
        <p:nvSpPr>
          <p:cNvPr id="13" name="TextBox 12">
            <a:extLst>
              <a:ext uri="{FF2B5EF4-FFF2-40B4-BE49-F238E27FC236}">
                <a16:creationId xmlns:a16="http://schemas.microsoft.com/office/drawing/2014/main" id="{E08A7C2B-6610-A068-F22A-20B8D98D043D}"/>
              </a:ext>
            </a:extLst>
          </p:cNvPr>
          <p:cNvSpPr txBox="1"/>
          <p:nvPr/>
        </p:nvSpPr>
        <p:spPr>
          <a:xfrm>
            <a:off x="7776514" y="4151321"/>
            <a:ext cx="184731" cy="312393"/>
          </a:xfrm>
          <a:prstGeom prst="rect">
            <a:avLst/>
          </a:prstGeom>
          <a:noFill/>
        </p:spPr>
        <p:txBody>
          <a:bodyPr wrap="none">
            <a:spAutoFit/>
          </a:bodyPr>
          <a:lstStyle/>
          <a:p>
            <a:endParaRPr sz="1430" b="1" dirty="0">
              <a:solidFill>
                <a:srgbClr val="1A1A2E"/>
              </a:solidFill>
              <a:latin typeface="Calibri"/>
            </a:endParaRPr>
          </a:p>
        </p:txBody>
      </p:sp>
      <p:sp>
        <p:nvSpPr>
          <p:cNvPr id="6" name="Text 4">
            <a:extLst>
              <a:ext uri="{FF2B5EF4-FFF2-40B4-BE49-F238E27FC236}">
                <a16:creationId xmlns:a16="http://schemas.microsoft.com/office/drawing/2014/main" id="{CB58AC01-D69F-0961-3DB3-71446248FD7B}"/>
              </a:ext>
            </a:extLst>
          </p:cNvPr>
          <p:cNvSpPr/>
          <p:nvPr/>
        </p:nvSpPr>
        <p:spPr>
          <a:xfrm>
            <a:off x="3404375" y="835838"/>
            <a:ext cx="5296989" cy="256032"/>
          </a:xfrm>
          <a:prstGeom prst="rect">
            <a:avLst/>
          </a:prstGeom>
          <a:noFill/>
          <a:ln/>
        </p:spPr>
        <p:txBody>
          <a:bodyPr wrap="square" lIns="0" tIns="0" rIns="0" bIns="0" rtlCol="0" anchor="ctr"/>
          <a:lstStyle/>
          <a:p>
            <a:pPr>
              <a:spcAft>
                <a:spcPts val="800"/>
              </a:spcAft>
            </a:pPr>
            <a:r>
              <a:rPr lang="en-US" sz="2000" b="1" dirty="0">
                <a:solidFill>
                  <a:srgbClr val="00A8CC"/>
                </a:solidFill>
              </a:rPr>
              <a:t>Project Scope, Universe &amp; Model Lineup</a:t>
            </a:r>
          </a:p>
        </p:txBody>
      </p:sp>
      <p:sp>
        <p:nvSpPr>
          <p:cNvPr id="7" name="Shape 5">
            <a:extLst>
              <a:ext uri="{FF2B5EF4-FFF2-40B4-BE49-F238E27FC236}">
                <a16:creationId xmlns:a16="http://schemas.microsoft.com/office/drawing/2014/main" id="{55344706-2FDA-4EF5-FED1-46EE2344AF75}"/>
              </a:ext>
            </a:extLst>
          </p:cNvPr>
          <p:cNvSpPr/>
          <p:nvPr/>
        </p:nvSpPr>
        <p:spPr>
          <a:xfrm>
            <a:off x="3404376" y="1152144"/>
            <a:ext cx="4217802" cy="0"/>
          </a:xfrm>
          <a:prstGeom prst="line">
            <a:avLst/>
          </a:prstGeom>
          <a:noFill/>
          <a:ln w="15240">
            <a:solidFill>
              <a:srgbClr val="08A3C7"/>
            </a:solidFill>
            <a:prstDash val="solid"/>
          </a:ln>
        </p:spPr>
        <p:txBody>
          <a:bodyPr/>
          <a:lstStyle/>
          <a:p>
            <a:endParaRPr lang="en-US"/>
          </a:p>
        </p:txBody>
      </p:sp>
      <p:sp>
        <p:nvSpPr>
          <p:cNvPr id="10" name="Text 3">
            <a:extLst>
              <a:ext uri="{FF2B5EF4-FFF2-40B4-BE49-F238E27FC236}">
                <a16:creationId xmlns:a16="http://schemas.microsoft.com/office/drawing/2014/main" id="{69AACFBE-0627-E569-226C-EBF28D4C041A}"/>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extLst>
      <p:ext uri="{BB962C8B-B14F-4D97-AF65-F5344CB8AC3E}">
        <p14:creationId xmlns:p14="http://schemas.microsoft.com/office/powerpoint/2010/main" val="5206216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Shape 18">
            <a:extLst>
              <a:ext uri="{FF2B5EF4-FFF2-40B4-BE49-F238E27FC236}">
                <a16:creationId xmlns:a16="http://schemas.microsoft.com/office/drawing/2014/main" id="{FC7D3787-6746-4327-3D79-5236943008D3}"/>
              </a:ext>
            </a:extLst>
          </p:cNvPr>
          <p:cNvSpPr/>
          <p:nvPr/>
        </p:nvSpPr>
        <p:spPr>
          <a:xfrm>
            <a:off x="502920" y="5432488"/>
            <a:ext cx="11173968" cy="1014032"/>
          </a:xfrm>
          <a:prstGeom prst="roundRect">
            <a:avLst>
              <a:gd name="adj" fmla="val 3636"/>
            </a:avLst>
          </a:prstGeom>
          <a:solidFill>
            <a:srgbClr val="FFFFFF"/>
          </a:solidFill>
          <a:ln w="15875">
            <a:solidFill>
              <a:srgbClr val="C8D5E6"/>
            </a:solidFill>
            <a:prstDash val="solid"/>
          </a:ln>
          <a:effectLst>
            <a:outerShdw blurRad="12700" dist="50800" dir="2700000" algn="bl" rotWithShape="0">
              <a:srgbClr val="D9E3F0">
                <a:alpha val="15000"/>
              </a:srgbClr>
            </a:outerShdw>
          </a:effectLst>
        </p:spPr>
        <p:txBody>
          <a:bodyPr/>
          <a:lstStyle/>
          <a:p>
            <a:endParaRPr lang="en-US"/>
          </a:p>
        </p:txBody>
      </p:sp>
      <p:sp>
        <p:nvSpPr>
          <p:cNvPr id="2" name="Shape 0"/>
          <p:cNvSpPr/>
          <p:nvPr/>
        </p:nvSpPr>
        <p:spPr>
          <a:xfrm>
            <a:off x="0" y="0"/>
            <a:ext cx="12191695" cy="640080"/>
          </a:xfrm>
          <a:prstGeom prst="rect">
            <a:avLst/>
          </a:prstGeom>
          <a:solidFill>
            <a:srgbClr val="0B2445"/>
          </a:solidFill>
          <a:ln w="12700">
            <a:solidFill>
              <a:srgbClr val="0B2445">
                <a:alpha val="0"/>
              </a:srgbClr>
            </a:solidFill>
            <a:prstDash val="solid"/>
          </a:ln>
        </p:spPr>
        <p:txBody>
          <a:bodyPr/>
          <a:lstStyle/>
          <a:p>
            <a:endParaRPr lang="en-US"/>
          </a:p>
        </p:txBody>
      </p:sp>
      <p:sp>
        <p:nvSpPr>
          <p:cNvPr id="3" name="Text 1"/>
          <p:cNvSpPr/>
          <p:nvPr/>
        </p:nvSpPr>
        <p:spPr>
          <a:xfrm>
            <a:off x="420624" y="155448"/>
            <a:ext cx="7132320" cy="292608"/>
          </a:xfrm>
          <a:prstGeom prst="rect">
            <a:avLst/>
          </a:prstGeom>
          <a:noFill/>
          <a:ln/>
        </p:spPr>
        <p:txBody>
          <a:bodyPr wrap="square" lIns="0" tIns="0" rIns="0" bIns="0" rtlCol="0" anchor="ctr"/>
          <a:lstStyle/>
          <a:p>
            <a:pPr marL="0" indent="0">
              <a:buNone/>
            </a:pPr>
            <a:r>
              <a:rPr lang="en-US" sz="2900" b="1" dirty="0">
                <a:solidFill>
                  <a:srgbClr val="FFFFFF"/>
                </a:solidFill>
                <a:ea typeface="Arial" pitchFamily="34" charset="-122"/>
                <a:cs typeface="Arial" pitchFamily="34" charset="-120"/>
              </a:rPr>
              <a:t>Dataset Description</a:t>
            </a:r>
            <a:endParaRPr lang="en-US" sz="2900" dirty="0"/>
          </a:p>
        </p:txBody>
      </p:sp>
      <p:sp>
        <p:nvSpPr>
          <p:cNvPr id="4" name="Shape 2"/>
          <p:cNvSpPr/>
          <p:nvPr/>
        </p:nvSpPr>
        <p:spPr>
          <a:xfrm>
            <a:off x="0" y="6537960"/>
            <a:ext cx="12191695" cy="320040"/>
          </a:xfrm>
          <a:prstGeom prst="rect">
            <a:avLst/>
          </a:prstGeom>
          <a:solidFill>
            <a:srgbClr val="0B2445"/>
          </a:solidFill>
          <a:ln w="12700">
            <a:solidFill>
              <a:srgbClr val="0B2445">
                <a:alpha val="0"/>
              </a:srgbClr>
            </a:solidFill>
            <a:prstDash val="solid"/>
          </a:ln>
        </p:spPr>
        <p:txBody>
          <a:bodyPr/>
          <a:lstStyle/>
          <a:p>
            <a:endParaRPr lang="en-US"/>
          </a:p>
        </p:txBody>
      </p:sp>
      <p:sp>
        <p:nvSpPr>
          <p:cNvPr id="5" name="Text 3"/>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
        <p:nvSpPr>
          <p:cNvPr id="6" name="Text 4"/>
          <p:cNvSpPr/>
          <p:nvPr/>
        </p:nvSpPr>
        <p:spPr>
          <a:xfrm>
            <a:off x="4093682" y="728907"/>
            <a:ext cx="4065596" cy="256032"/>
          </a:xfrm>
          <a:prstGeom prst="rect">
            <a:avLst/>
          </a:prstGeom>
          <a:noFill/>
          <a:ln/>
        </p:spPr>
        <p:txBody>
          <a:bodyPr wrap="square" lIns="0" tIns="0" rIns="0" bIns="0" rtlCol="0" anchor="ctr"/>
          <a:lstStyle/>
          <a:p>
            <a:pPr marL="0" indent="0">
              <a:buNone/>
            </a:pPr>
            <a:r>
              <a:rPr lang="en-US" sz="2000" b="1" dirty="0">
                <a:solidFill>
                  <a:srgbClr val="08A3C7"/>
                </a:solidFill>
                <a:ea typeface="Arial" pitchFamily="34" charset="-122"/>
                <a:cs typeface="Arial" pitchFamily="34" charset="-120"/>
              </a:rPr>
              <a:t>Data Source: Downloads from FactSet</a:t>
            </a:r>
            <a:endParaRPr lang="en-US" sz="2000" dirty="0"/>
          </a:p>
        </p:txBody>
      </p:sp>
      <p:sp>
        <p:nvSpPr>
          <p:cNvPr id="7" name="Shape 5"/>
          <p:cNvSpPr/>
          <p:nvPr/>
        </p:nvSpPr>
        <p:spPr>
          <a:xfrm flipV="1">
            <a:off x="4114799" y="1003881"/>
            <a:ext cx="3968495" cy="45720"/>
          </a:xfrm>
          <a:prstGeom prst="line">
            <a:avLst/>
          </a:prstGeom>
          <a:noFill/>
          <a:ln w="15240">
            <a:solidFill>
              <a:srgbClr val="08A3C7"/>
            </a:solidFill>
            <a:prstDash val="solid"/>
          </a:ln>
        </p:spPr>
        <p:txBody>
          <a:bodyPr/>
          <a:lstStyle/>
          <a:p>
            <a:endParaRPr lang="en-US"/>
          </a:p>
        </p:txBody>
      </p:sp>
      <p:sp>
        <p:nvSpPr>
          <p:cNvPr id="8" name="Shape 6"/>
          <p:cNvSpPr/>
          <p:nvPr/>
        </p:nvSpPr>
        <p:spPr>
          <a:xfrm>
            <a:off x="502920" y="1284732"/>
            <a:ext cx="3657600" cy="1965960"/>
          </a:xfrm>
          <a:prstGeom prst="roundRect">
            <a:avLst>
              <a:gd name="adj" fmla="val 3721"/>
            </a:avLst>
          </a:prstGeom>
          <a:solidFill>
            <a:srgbClr val="FFFFFF"/>
          </a:solidFill>
          <a:ln w="15875">
            <a:solidFill>
              <a:srgbClr val="C8D5E6"/>
            </a:solidFill>
            <a:prstDash val="solid"/>
          </a:ln>
          <a:effectLst>
            <a:outerShdw blurRad="12700" dist="50800" dir="2700000" algn="bl" rotWithShape="0">
              <a:srgbClr val="D9E3F0">
                <a:alpha val="15000"/>
              </a:srgbClr>
            </a:outerShdw>
          </a:effectLst>
        </p:spPr>
        <p:txBody>
          <a:bodyPr/>
          <a:lstStyle/>
          <a:p>
            <a:endParaRPr lang="en-US"/>
          </a:p>
        </p:txBody>
      </p:sp>
      <p:sp>
        <p:nvSpPr>
          <p:cNvPr id="9" name="Shape 7"/>
          <p:cNvSpPr/>
          <p:nvPr/>
        </p:nvSpPr>
        <p:spPr>
          <a:xfrm>
            <a:off x="649224" y="1374213"/>
            <a:ext cx="1920240" cy="347472"/>
          </a:xfrm>
          <a:prstGeom prst="roundRect">
            <a:avLst>
              <a:gd name="adj" fmla="val 13158"/>
            </a:avLst>
          </a:prstGeom>
          <a:solidFill>
            <a:srgbClr val="E9F8FC"/>
          </a:solidFill>
          <a:ln w="12700">
            <a:solidFill>
              <a:srgbClr val="E9F8FC"/>
            </a:solidFill>
            <a:prstDash val="solid"/>
          </a:ln>
        </p:spPr>
        <p:txBody>
          <a:bodyPr/>
          <a:lstStyle/>
          <a:p>
            <a:endParaRPr lang="en-US"/>
          </a:p>
        </p:txBody>
      </p:sp>
      <p:sp>
        <p:nvSpPr>
          <p:cNvPr id="10" name="Text 8"/>
          <p:cNvSpPr/>
          <p:nvPr/>
        </p:nvSpPr>
        <p:spPr>
          <a:xfrm>
            <a:off x="713232" y="1465802"/>
            <a:ext cx="1773936" cy="146304"/>
          </a:xfrm>
          <a:prstGeom prst="rect">
            <a:avLst/>
          </a:prstGeom>
          <a:noFill/>
          <a:ln/>
        </p:spPr>
        <p:txBody>
          <a:bodyPr wrap="square" lIns="0" tIns="0" rIns="0" bIns="0" rtlCol="0" anchor="ctr"/>
          <a:lstStyle/>
          <a:p>
            <a:pPr marL="0" indent="0">
              <a:buNone/>
            </a:pPr>
            <a:r>
              <a:rPr lang="en-US" sz="1400" b="1" dirty="0">
                <a:solidFill>
                  <a:srgbClr val="0B2445"/>
                </a:solidFill>
                <a:ea typeface="Arial" pitchFamily="34" charset="-122"/>
                <a:cs typeface="Arial" pitchFamily="34" charset="-120"/>
              </a:rPr>
              <a:t>Observation &amp; files</a:t>
            </a:r>
            <a:endParaRPr lang="en-US" sz="1400" dirty="0"/>
          </a:p>
        </p:txBody>
      </p:sp>
      <p:sp>
        <p:nvSpPr>
          <p:cNvPr id="11" name="Text 9"/>
          <p:cNvSpPr/>
          <p:nvPr/>
        </p:nvSpPr>
        <p:spPr>
          <a:xfrm>
            <a:off x="704088" y="1815084"/>
            <a:ext cx="3273552" cy="1307592"/>
          </a:xfrm>
          <a:prstGeom prst="rect">
            <a:avLst/>
          </a:prstGeom>
          <a:noFill/>
          <a:ln/>
        </p:spPr>
        <p:txBody>
          <a:bodyPr wrap="square" lIns="254" tIns="254" rIns="254" bIns="254" rtlCol="0" anchor="t"/>
          <a:lstStyle/>
          <a:p>
            <a:pPr marL="0" indent="0">
              <a:buNone/>
            </a:pPr>
            <a:r>
              <a:rPr lang="en-US" sz="1400" b="1" dirty="0">
                <a:solidFill>
                  <a:srgbClr val="0B2445"/>
                </a:solidFill>
                <a:ea typeface="Arial" pitchFamily="34" charset="-122"/>
                <a:cs typeface="Arial" pitchFamily="34" charset="-120"/>
              </a:rPr>
              <a:t>• </a:t>
            </a:r>
            <a:r>
              <a:rPr lang="en-US" sz="1400" dirty="0">
                <a:solidFill>
                  <a:srgbClr val="1F2A44"/>
                </a:solidFill>
                <a:ea typeface="Arial" pitchFamily="34" charset="-122"/>
                <a:cs typeface="Arial" pitchFamily="34" charset="-120"/>
              </a:rPr>
              <a:t>1 row = 1 instrument on 1 trading date</a:t>
            </a:r>
            <a:endParaRPr lang="en-US" sz="1400" dirty="0"/>
          </a:p>
          <a:p>
            <a:pPr marL="0" indent="0">
              <a:buNone/>
            </a:pPr>
            <a:r>
              <a:rPr lang="en-US" sz="1400" b="1" dirty="0">
                <a:solidFill>
                  <a:srgbClr val="0B2445"/>
                </a:solidFill>
                <a:ea typeface="Arial" pitchFamily="34" charset="-122"/>
                <a:cs typeface="Arial" pitchFamily="34" charset="-120"/>
              </a:rPr>
              <a:t>• </a:t>
            </a:r>
            <a:r>
              <a:rPr lang="en-US" sz="1400" dirty="0">
                <a:solidFill>
                  <a:srgbClr val="1F2A44"/>
                </a:solidFill>
                <a:ea typeface="Arial" pitchFamily="34" charset="-122"/>
                <a:cs typeface="Arial" pitchFamily="34" charset="-120"/>
              </a:rPr>
              <a:t>Natural primary key: (ticker, date)</a:t>
            </a:r>
            <a:endParaRPr lang="en-US" sz="1400" dirty="0"/>
          </a:p>
          <a:p>
            <a:pPr marL="0" indent="0">
              <a:buNone/>
            </a:pPr>
            <a:r>
              <a:rPr lang="en-US" sz="1400" b="1" dirty="0">
                <a:solidFill>
                  <a:srgbClr val="0B2445"/>
                </a:solidFill>
                <a:ea typeface="Arial" pitchFamily="34" charset="-122"/>
                <a:cs typeface="Arial" pitchFamily="34" charset="-120"/>
              </a:rPr>
              <a:t>• </a:t>
            </a:r>
            <a:r>
              <a:rPr lang="en-US" sz="1400" dirty="0">
                <a:solidFill>
                  <a:srgbClr val="1F2A44"/>
                </a:solidFill>
                <a:ea typeface="Arial" pitchFamily="34" charset="-122"/>
                <a:cs typeface="Arial" pitchFamily="34" charset="-120"/>
              </a:rPr>
              <a:t>Dates are trading dates, not calendar dates</a:t>
            </a:r>
            <a:endParaRPr lang="en-US" sz="1400" dirty="0"/>
          </a:p>
          <a:p>
            <a:r>
              <a:rPr lang="en-US" sz="1400" b="1" dirty="0">
                <a:solidFill>
                  <a:srgbClr val="0B2445"/>
                </a:solidFill>
                <a:ea typeface="Arial" pitchFamily="34" charset="-122"/>
                <a:cs typeface="Arial" pitchFamily="34" charset="-120"/>
              </a:rPr>
              <a:t>• </a:t>
            </a:r>
            <a:r>
              <a:rPr lang="en-US" sz="1400" dirty="0">
                <a:solidFill>
                  <a:srgbClr val="1F2A44"/>
                </a:solidFill>
                <a:ea typeface="Arial" pitchFamily="34" charset="-122"/>
                <a:cs typeface="Arial" pitchFamily="34" charset="-120"/>
              </a:rPr>
              <a:t>XLSX for review</a:t>
            </a:r>
          </a:p>
          <a:p>
            <a:r>
              <a:rPr lang="en-US" sz="1400" b="1" dirty="0">
                <a:solidFill>
                  <a:srgbClr val="0B2445"/>
                </a:solidFill>
                <a:ea typeface="Arial" pitchFamily="34" charset="-122"/>
                <a:cs typeface="Arial" pitchFamily="34" charset="-120"/>
              </a:rPr>
              <a:t>• </a:t>
            </a:r>
            <a:r>
              <a:rPr lang="en-US" sz="1400" dirty="0">
                <a:solidFill>
                  <a:srgbClr val="1F2A44"/>
                </a:solidFill>
                <a:ea typeface="Arial" pitchFamily="34" charset="-122"/>
                <a:cs typeface="Arial" pitchFamily="34" charset="-120"/>
              </a:rPr>
              <a:t>Convert XLSX to CSV</a:t>
            </a:r>
            <a:endParaRPr lang="en-US" sz="1400" dirty="0"/>
          </a:p>
        </p:txBody>
      </p:sp>
      <p:sp>
        <p:nvSpPr>
          <p:cNvPr id="12" name="Shape 10"/>
          <p:cNvSpPr/>
          <p:nvPr/>
        </p:nvSpPr>
        <p:spPr>
          <a:xfrm>
            <a:off x="4261103" y="1287345"/>
            <a:ext cx="3657600" cy="1965960"/>
          </a:xfrm>
          <a:prstGeom prst="roundRect">
            <a:avLst>
              <a:gd name="adj" fmla="val 3721"/>
            </a:avLst>
          </a:prstGeom>
          <a:solidFill>
            <a:srgbClr val="FFFFFF"/>
          </a:solidFill>
          <a:ln w="15875">
            <a:solidFill>
              <a:srgbClr val="C8D5E6"/>
            </a:solidFill>
            <a:prstDash val="solid"/>
          </a:ln>
          <a:effectLst>
            <a:outerShdw blurRad="12700" dist="50800" dir="2700000" algn="bl" rotWithShape="0">
              <a:srgbClr val="D9E3F0">
                <a:alpha val="15000"/>
              </a:srgbClr>
            </a:outerShdw>
          </a:effectLst>
        </p:spPr>
        <p:txBody>
          <a:bodyPr/>
          <a:lstStyle/>
          <a:p>
            <a:endParaRPr lang="en-US"/>
          </a:p>
        </p:txBody>
      </p:sp>
      <p:sp>
        <p:nvSpPr>
          <p:cNvPr id="13" name="Shape 11"/>
          <p:cNvSpPr/>
          <p:nvPr/>
        </p:nvSpPr>
        <p:spPr>
          <a:xfrm>
            <a:off x="4389119" y="1376172"/>
            <a:ext cx="1920240" cy="347472"/>
          </a:xfrm>
          <a:prstGeom prst="roundRect">
            <a:avLst>
              <a:gd name="adj" fmla="val 13158"/>
            </a:avLst>
          </a:prstGeom>
          <a:solidFill>
            <a:srgbClr val="E9F8FC"/>
          </a:solidFill>
          <a:ln w="12700">
            <a:solidFill>
              <a:srgbClr val="E9F8FC"/>
            </a:solidFill>
            <a:prstDash val="solid"/>
          </a:ln>
        </p:spPr>
        <p:txBody>
          <a:bodyPr/>
          <a:lstStyle/>
          <a:p>
            <a:endParaRPr lang="en-US"/>
          </a:p>
        </p:txBody>
      </p:sp>
      <p:sp>
        <p:nvSpPr>
          <p:cNvPr id="14" name="Text 12"/>
          <p:cNvSpPr/>
          <p:nvPr/>
        </p:nvSpPr>
        <p:spPr>
          <a:xfrm>
            <a:off x="4462271" y="1474797"/>
            <a:ext cx="1773936" cy="146304"/>
          </a:xfrm>
          <a:prstGeom prst="rect">
            <a:avLst/>
          </a:prstGeom>
          <a:noFill/>
          <a:ln/>
        </p:spPr>
        <p:txBody>
          <a:bodyPr wrap="square" lIns="0" tIns="0" rIns="0" bIns="0" rtlCol="0" anchor="ctr"/>
          <a:lstStyle/>
          <a:p>
            <a:pPr marL="0" indent="0">
              <a:buNone/>
            </a:pPr>
            <a:r>
              <a:rPr lang="en-US" sz="1400" b="1" dirty="0">
                <a:solidFill>
                  <a:srgbClr val="0B2445"/>
                </a:solidFill>
                <a:ea typeface="Arial" pitchFamily="34" charset="-122"/>
                <a:cs typeface="Arial" pitchFamily="34" charset="-120"/>
              </a:rPr>
              <a:t>Coverage &amp; universe</a:t>
            </a:r>
            <a:endParaRPr lang="en-US" sz="1400" dirty="0"/>
          </a:p>
        </p:txBody>
      </p:sp>
      <p:sp>
        <p:nvSpPr>
          <p:cNvPr id="15" name="Text 13"/>
          <p:cNvSpPr/>
          <p:nvPr/>
        </p:nvSpPr>
        <p:spPr>
          <a:xfrm>
            <a:off x="4462271" y="1817697"/>
            <a:ext cx="3273552" cy="1307592"/>
          </a:xfrm>
          <a:prstGeom prst="rect">
            <a:avLst/>
          </a:prstGeom>
          <a:noFill/>
          <a:ln/>
        </p:spPr>
        <p:txBody>
          <a:bodyPr wrap="square" lIns="254" tIns="254" rIns="254" bIns="254" rtlCol="0" anchor="t"/>
          <a:lstStyle/>
          <a:p>
            <a:pPr marL="0" indent="0">
              <a:buNone/>
            </a:pPr>
            <a:r>
              <a:rPr lang="en-US" sz="1400" b="1" dirty="0">
                <a:solidFill>
                  <a:srgbClr val="0B2445"/>
                </a:solidFill>
                <a:ea typeface="Arial" pitchFamily="34" charset="-122"/>
                <a:cs typeface="Arial" pitchFamily="34" charset="-120"/>
              </a:rPr>
              <a:t>• </a:t>
            </a:r>
            <a:r>
              <a:rPr lang="en-US" sz="1400" dirty="0">
                <a:solidFill>
                  <a:srgbClr val="1F2A44"/>
                </a:solidFill>
                <a:ea typeface="Arial" pitchFamily="34" charset="-122"/>
                <a:cs typeface="Arial" pitchFamily="34" charset="-120"/>
              </a:rPr>
              <a:t>116,525 rows × 18 columns</a:t>
            </a:r>
            <a:endParaRPr lang="en-US" sz="1400" dirty="0"/>
          </a:p>
          <a:p>
            <a:pPr marL="0" indent="0">
              <a:buNone/>
            </a:pPr>
            <a:r>
              <a:rPr lang="en-US" sz="1400" b="1" dirty="0">
                <a:solidFill>
                  <a:srgbClr val="0B2445"/>
                </a:solidFill>
                <a:ea typeface="Arial" pitchFamily="34" charset="-122"/>
                <a:cs typeface="Arial" pitchFamily="34" charset="-120"/>
              </a:rPr>
              <a:t>• </a:t>
            </a:r>
            <a:r>
              <a:rPr lang="en-US" sz="1400" dirty="0">
                <a:solidFill>
                  <a:srgbClr val="1F2A44"/>
                </a:solidFill>
                <a:ea typeface="Arial" pitchFamily="34" charset="-122"/>
                <a:cs typeface="Arial" pitchFamily="34" charset="-120"/>
              </a:rPr>
              <a:t>Date range: 2014-12-31 to 2025-12-31</a:t>
            </a:r>
            <a:endParaRPr lang="en-US" sz="1400" dirty="0"/>
          </a:p>
          <a:p>
            <a:pPr marL="0" indent="0">
              <a:buNone/>
            </a:pPr>
            <a:r>
              <a:rPr lang="en-US" sz="1400" b="1" dirty="0">
                <a:solidFill>
                  <a:srgbClr val="0B2445"/>
                </a:solidFill>
                <a:ea typeface="Arial" pitchFamily="34" charset="-122"/>
                <a:cs typeface="Arial" pitchFamily="34" charset="-120"/>
              </a:rPr>
              <a:t>• </a:t>
            </a:r>
            <a:r>
              <a:rPr lang="en-US" sz="1400" dirty="0">
                <a:solidFill>
                  <a:srgbClr val="1F2A44"/>
                </a:solidFill>
                <a:ea typeface="Arial" pitchFamily="34" charset="-122"/>
                <a:cs typeface="Arial" pitchFamily="34" charset="-120"/>
              </a:rPr>
              <a:t>42 total tickers = 36 ETFs + 6 macro/risk series</a:t>
            </a:r>
            <a:endParaRPr lang="en-US" sz="1400" dirty="0"/>
          </a:p>
          <a:p>
            <a:pPr marL="0" indent="0">
              <a:buNone/>
            </a:pPr>
            <a:r>
              <a:rPr lang="en-US" sz="1400" b="1" dirty="0">
                <a:solidFill>
                  <a:srgbClr val="0B2445"/>
                </a:solidFill>
                <a:ea typeface="Arial" pitchFamily="34" charset="-122"/>
                <a:cs typeface="Arial" pitchFamily="34" charset="-120"/>
              </a:rPr>
              <a:t>• </a:t>
            </a:r>
            <a:r>
              <a:rPr lang="en-US" sz="1400" dirty="0">
                <a:solidFill>
                  <a:srgbClr val="1F2A44"/>
                </a:solidFill>
                <a:ea typeface="Arial" pitchFamily="34" charset="-122"/>
                <a:cs typeface="Arial" pitchFamily="34" charset="-120"/>
              </a:rPr>
              <a:t>ETF labels support market / sector / industry subgroup analysis</a:t>
            </a:r>
            <a:endParaRPr lang="en-US" sz="1400" dirty="0"/>
          </a:p>
          <a:p>
            <a:pPr marL="0" indent="0">
              <a:buNone/>
            </a:pPr>
            <a:endParaRPr lang="en-US" sz="1160" dirty="0"/>
          </a:p>
        </p:txBody>
      </p:sp>
      <p:sp>
        <p:nvSpPr>
          <p:cNvPr id="16" name="Shape 14"/>
          <p:cNvSpPr/>
          <p:nvPr/>
        </p:nvSpPr>
        <p:spPr>
          <a:xfrm>
            <a:off x="8019286" y="1287345"/>
            <a:ext cx="3639312" cy="1965960"/>
          </a:xfrm>
          <a:prstGeom prst="roundRect">
            <a:avLst>
              <a:gd name="adj" fmla="val 3721"/>
            </a:avLst>
          </a:prstGeom>
          <a:solidFill>
            <a:srgbClr val="FFFFFF"/>
          </a:solidFill>
          <a:ln w="15875">
            <a:solidFill>
              <a:srgbClr val="C8D5E6"/>
            </a:solidFill>
            <a:prstDash val="solid"/>
          </a:ln>
          <a:effectLst>
            <a:outerShdw blurRad="12700" dist="50800" dir="2700000" algn="bl" rotWithShape="0">
              <a:srgbClr val="D9E3F0">
                <a:alpha val="15000"/>
              </a:srgbClr>
            </a:outerShdw>
          </a:effectLst>
        </p:spPr>
        <p:txBody>
          <a:bodyPr/>
          <a:lstStyle/>
          <a:p>
            <a:endParaRPr lang="en-US"/>
          </a:p>
        </p:txBody>
      </p:sp>
      <p:sp>
        <p:nvSpPr>
          <p:cNvPr id="17" name="Shape 15"/>
          <p:cNvSpPr/>
          <p:nvPr/>
        </p:nvSpPr>
        <p:spPr>
          <a:xfrm>
            <a:off x="8092438" y="1376172"/>
            <a:ext cx="2057400" cy="347472"/>
          </a:xfrm>
          <a:prstGeom prst="roundRect">
            <a:avLst>
              <a:gd name="adj" fmla="val 13158"/>
            </a:avLst>
          </a:prstGeom>
          <a:solidFill>
            <a:srgbClr val="E9F8FC"/>
          </a:solidFill>
          <a:ln w="12700">
            <a:solidFill>
              <a:srgbClr val="E9F8FC"/>
            </a:solidFill>
            <a:prstDash val="solid"/>
          </a:ln>
        </p:spPr>
        <p:txBody>
          <a:bodyPr/>
          <a:lstStyle/>
          <a:p>
            <a:endParaRPr lang="en-US"/>
          </a:p>
        </p:txBody>
      </p:sp>
      <p:sp>
        <p:nvSpPr>
          <p:cNvPr id="18" name="Text 16"/>
          <p:cNvSpPr/>
          <p:nvPr/>
        </p:nvSpPr>
        <p:spPr>
          <a:xfrm>
            <a:off x="8238742" y="1474797"/>
            <a:ext cx="1911096" cy="146304"/>
          </a:xfrm>
          <a:prstGeom prst="rect">
            <a:avLst/>
          </a:prstGeom>
          <a:noFill/>
          <a:ln/>
        </p:spPr>
        <p:txBody>
          <a:bodyPr wrap="square" lIns="0" tIns="0" rIns="0" bIns="0" rtlCol="0" anchor="ctr"/>
          <a:lstStyle/>
          <a:p>
            <a:pPr marL="0" indent="0">
              <a:buNone/>
            </a:pPr>
            <a:r>
              <a:rPr lang="en-US" sz="1400" b="1" dirty="0">
                <a:solidFill>
                  <a:srgbClr val="0B2445"/>
                </a:solidFill>
                <a:ea typeface="Arial" pitchFamily="34" charset="-122"/>
                <a:cs typeface="Arial" pitchFamily="34" charset="-120"/>
              </a:rPr>
              <a:t>Core modeling fields</a:t>
            </a:r>
            <a:endParaRPr lang="en-US" sz="1400" dirty="0"/>
          </a:p>
        </p:txBody>
      </p:sp>
      <p:sp>
        <p:nvSpPr>
          <p:cNvPr id="19" name="Text 17"/>
          <p:cNvSpPr/>
          <p:nvPr/>
        </p:nvSpPr>
        <p:spPr>
          <a:xfrm>
            <a:off x="8119869" y="1817697"/>
            <a:ext cx="3438145" cy="1362456"/>
          </a:xfrm>
          <a:prstGeom prst="rect">
            <a:avLst/>
          </a:prstGeom>
          <a:noFill/>
          <a:ln/>
        </p:spPr>
        <p:txBody>
          <a:bodyPr wrap="square" lIns="254" tIns="254" rIns="254" bIns="254" rtlCol="0" anchor="t"/>
          <a:lstStyle/>
          <a:p>
            <a:pPr marL="0" indent="0">
              <a:buNone/>
            </a:pPr>
            <a:r>
              <a:rPr lang="en-US" sz="1400" b="1" dirty="0">
                <a:solidFill>
                  <a:srgbClr val="0B2445"/>
                </a:solidFill>
                <a:ea typeface="Arial" pitchFamily="34" charset="-122"/>
                <a:cs typeface="Arial" pitchFamily="34" charset="-120"/>
              </a:rPr>
              <a:t>• </a:t>
            </a:r>
            <a:r>
              <a:rPr lang="en-US" sz="1400" dirty="0">
                <a:solidFill>
                  <a:srgbClr val="1F2A44"/>
                </a:solidFill>
                <a:ea typeface="Arial" pitchFamily="34" charset="-122"/>
                <a:cs typeface="Arial" pitchFamily="34" charset="-120"/>
              </a:rPr>
              <a:t>Price/volume: adjusted close, volume</a:t>
            </a:r>
            <a:endParaRPr lang="en-US" sz="1400" dirty="0"/>
          </a:p>
          <a:p>
            <a:pPr marL="0" indent="0">
              <a:buNone/>
            </a:pPr>
            <a:r>
              <a:rPr lang="en-US" sz="1400" b="1" dirty="0">
                <a:solidFill>
                  <a:srgbClr val="0B2445"/>
                </a:solidFill>
                <a:ea typeface="Arial" pitchFamily="34" charset="-122"/>
                <a:cs typeface="Arial" pitchFamily="34" charset="-120"/>
              </a:rPr>
              <a:t>• </a:t>
            </a:r>
            <a:r>
              <a:rPr lang="en-US" sz="1400" dirty="0">
                <a:solidFill>
                  <a:srgbClr val="1F2A44"/>
                </a:solidFill>
                <a:ea typeface="Arial" pitchFamily="34" charset="-122"/>
                <a:cs typeface="Arial" pitchFamily="34" charset="-120"/>
              </a:rPr>
              <a:t>Volatility: trailing 5 day and 20 day</a:t>
            </a:r>
            <a:endParaRPr lang="en-US" sz="1400" dirty="0"/>
          </a:p>
          <a:p>
            <a:pPr marL="0" indent="0">
              <a:buNone/>
            </a:pPr>
            <a:r>
              <a:rPr lang="en-US" sz="1400" b="1" dirty="0">
                <a:solidFill>
                  <a:srgbClr val="0B2445"/>
                </a:solidFill>
                <a:ea typeface="Arial" pitchFamily="34" charset="-122"/>
                <a:cs typeface="Arial" pitchFamily="34" charset="-120"/>
              </a:rPr>
              <a:t>• </a:t>
            </a:r>
            <a:r>
              <a:rPr lang="en-US" sz="1400" dirty="0">
                <a:solidFill>
                  <a:srgbClr val="1F2A44"/>
                </a:solidFill>
                <a:ea typeface="Arial" pitchFamily="34" charset="-122"/>
                <a:cs typeface="Arial" pitchFamily="34" charset="-120"/>
              </a:rPr>
              <a:t>Target: forward 5 day volatility </a:t>
            </a:r>
          </a:p>
          <a:p>
            <a:pPr marL="0" indent="0">
              <a:buNone/>
            </a:pPr>
            <a:r>
              <a:rPr lang="en-US" sz="1400" b="1" dirty="0">
                <a:solidFill>
                  <a:srgbClr val="0B2445"/>
                </a:solidFill>
                <a:ea typeface="Arial" pitchFamily="34" charset="-122"/>
                <a:cs typeface="Arial" pitchFamily="34" charset="-120"/>
              </a:rPr>
              <a:t>• </a:t>
            </a:r>
            <a:r>
              <a:rPr lang="en-US" sz="1400" dirty="0">
                <a:solidFill>
                  <a:srgbClr val="1F2A44"/>
                </a:solidFill>
                <a:ea typeface="Arial" pitchFamily="34" charset="-122"/>
                <a:cs typeface="Arial" pitchFamily="34" charset="-120"/>
              </a:rPr>
              <a:t>Groups:  market, sector, industry</a:t>
            </a:r>
            <a:endParaRPr lang="en-US" sz="1400" dirty="0"/>
          </a:p>
        </p:txBody>
      </p:sp>
      <p:sp>
        <p:nvSpPr>
          <p:cNvPr id="20" name="Shape 18"/>
          <p:cNvSpPr/>
          <p:nvPr/>
        </p:nvSpPr>
        <p:spPr>
          <a:xfrm>
            <a:off x="509016" y="3346704"/>
            <a:ext cx="11173968" cy="2011680"/>
          </a:xfrm>
          <a:prstGeom prst="roundRect">
            <a:avLst>
              <a:gd name="adj" fmla="val 3636"/>
            </a:avLst>
          </a:prstGeom>
          <a:solidFill>
            <a:srgbClr val="FFFFFF"/>
          </a:solidFill>
          <a:ln w="15875">
            <a:solidFill>
              <a:srgbClr val="C8D5E6"/>
            </a:solidFill>
            <a:prstDash val="solid"/>
          </a:ln>
          <a:effectLst>
            <a:outerShdw blurRad="12700" dist="50800" dir="2700000" algn="bl" rotWithShape="0">
              <a:srgbClr val="D9E3F0">
                <a:alpha val="15000"/>
              </a:srgbClr>
            </a:outerShdw>
          </a:effectLst>
        </p:spPr>
        <p:txBody>
          <a:bodyPr/>
          <a:lstStyle/>
          <a:p>
            <a:endParaRPr lang="en-US"/>
          </a:p>
        </p:txBody>
      </p:sp>
      <p:sp>
        <p:nvSpPr>
          <p:cNvPr id="21" name="Shape 19"/>
          <p:cNvSpPr/>
          <p:nvPr/>
        </p:nvSpPr>
        <p:spPr>
          <a:xfrm>
            <a:off x="655320" y="3465576"/>
            <a:ext cx="2359152" cy="347472"/>
          </a:xfrm>
          <a:prstGeom prst="roundRect">
            <a:avLst>
              <a:gd name="adj" fmla="val 13158"/>
            </a:avLst>
          </a:prstGeom>
          <a:solidFill>
            <a:srgbClr val="E9F8FC"/>
          </a:solidFill>
          <a:ln w="12700">
            <a:solidFill>
              <a:srgbClr val="E9F8FC"/>
            </a:solidFill>
            <a:prstDash val="solid"/>
          </a:ln>
        </p:spPr>
        <p:txBody>
          <a:bodyPr/>
          <a:lstStyle/>
          <a:p>
            <a:endParaRPr lang="en-US"/>
          </a:p>
        </p:txBody>
      </p:sp>
      <p:sp>
        <p:nvSpPr>
          <p:cNvPr id="22" name="Text 20"/>
          <p:cNvSpPr/>
          <p:nvPr/>
        </p:nvSpPr>
        <p:spPr>
          <a:xfrm>
            <a:off x="737616" y="3525012"/>
            <a:ext cx="2194560" cy="146304"/>
          </a:xfrm>
          <a:prstGeom prst="rect">
            <a:avLst/>
          </a:prstGeom>
          <a:noFill/>
          <a:ln/>
        </p:spPr>
        <p:txBody>
          <a:bodyPr wrap="square" lIns="0" tIns="0" rIns="0" bIns="0" rtlCol="0" anchor="ctr"/>
          <a:lstStyle/>
          <a:p>
            <a:pPr marL="0" indent="0">
              <a:buNone/>
            </a:pPr>
            <a:r>
              <a:rPr lang="en-US" sz="1400" b="1" dirty="0">
                <a:solidFill>
                  <a:srgbClr val="0B2445"/>
                </a:solidFill>
                <a:ea typeface="Arial" pitchFamily="34" charset="-122"/>
                <a:cs typeface="Arial" pitchFamily="34" charset="-120"/>
              </a:rPr>
              <a:t>How the data is stored</a:t>
            </a:r>
            <a:endParaRPr lang="en-US" sz="1400" dirty="0"/>
          </a:p>
        </p:txBody>
      </p:sp>
      <p:sp>
        <p:nvSpPr>
          <p:cNvPr id="23" name="Text 21"/>
          <p:cNvSpPr/>
          <p:nvPr/>
        </p:nvSpPr>
        <p:spPr>
          <a:xfrm>
            <a:off x="774192" y="3895344"/>
            <a:ext cx="10424160" cy="420624"/>
          </a:xfrm>
          <a:prstGeom prst="rect">
            <a:avLst/>
          </a:prstGeom>
          <a:noFill/>
          <a:ln/>
        </p:spPr>
        <p:txBody>
          <a:bodyPr wrap="square" lIns="0" tIns="0" rIns="0" bIns="0" rtlCol="0" anchor="ctr"/>
          <a:lstStyle/>
          <a:p>
            <a:pPr marL="0" indent="0">
              <a:buNone/>
            </a:pPr>
            <a:r>
              <a:rPr lang="en-US" sz="1400" b="1" dirty="0">
                <a:solidFill>
                  <a:srgbClr val="0B2445"/>
                </a:solidFill>
                <a:ea typeface="Arial" pitchFamily="34" charset="-122"/>
                <a:cs typeface="Arial" pitchFamily="34" charset="-120"/>
              </a:rPr>
              <a:t>Long-format source table: </a:t>
            </a:r>
            <a:r>
              <a:rPr lang="en-US" sz="1400" dirty="0">
                <a:solidFill>
                  <a:srgbClr val="1F2A44"/>
                </a:solidFill>
                <a:ea typeface="Arial" pitchFamily="34" charset="-122"/>
                <a:cs typeface="Arial" pitchFamily="34" charset="-120"/>
              </a:rPr>
              <a:t>all ETFs and the 6 macro/risk series are stacked in one table keyed by </a:t>
            </a:r>
            <a:r>
              <a:rPr lang="en-US" sz="1400" i="1" dirty="0">
                <a:solidFill>
                  <a:srgbClr val="1F2A44"/>
                </a:solidFill>
                <a:ea typeface="Arial" pitchFamily="34" charset="-122"/>
                <a:cs typeface="Arial" pitchFamily="34" charset="-120"/>
              </a:rPr>
              <a:t>(ticker, date).</a:t>
            </a:r>
            <a:r>
              <a:rPr lang="en-US" sz="1400" dirty="0">
                <a:solidFill>
                  <a:srgbClr val="1F2A44"/>
                </a:solidFill>
                <a:ea typeface="Arial" pitchFamily="34" charset="-122"/>
                <a:cs typeface="Arial" pitchFamily="34" charset="-120"/>
              </a:rPr>
              <a:t> </a:t>
            </a:r>
            <a:endParaRPr lang="en-US" sz="1400" dirty="0"/>
          </a:p>
        </p:txBody>
      </p:sp>
      <p:sp>
        <p:nvSpPr>
          <p:cNvPr id="24" name="Shape 22"/>
          <p:cNvSpPr/>
          <p:nvPr/>
        </p:nvSpPr>
        <p:spPr>
          <a:xfrm>
            <a:off x="1085088" y="4645152"/>
            <a:ext cx="2331720" cy="566928"/>
          </a:xfrm>
          <a:prstGeom prst="roundRect">
            <a:avLst>
              <a:gd name="adj" fmla="val 6452"/>
            </a:avLst>
          </a:prstGeom>
          <a:solidFill>
            <a:srgbClr val="F6F9FD"/>
          </a:solidFill>
          <a:ln w="14605">
            <a:solidFill>
              <a:srgbClr val="C8D5E6"/>
            </a:solidFill>
            <a:prstDash val="solid"/>
          </a:ln>
        </p:spPr>
        <p:txBody>
          <a:bodyPr/>
          <a:lstStyle/>
          <a:p>
            <a:endParaRPr lang="en-US"/>
          </a:p>
        </p:txBody>
      </p:sp>
      <p:sp>
        <p:nvSpPr>
          <p:cNvPr id="25" name="Text 23"/>
          <p:cNvSpPr/>
          <p:nvPr/>
        </p:nvSpPr>
        <p:spPr>
          <a:xfrm>
            <a:off x="1158240" y="4809744"/>
            <a:ext cx="2185416" cy="164592"/>
          </a:xfrm>
          <a:prstGeom prst="rect">
            <a:avLst/>
          </a:prstGeom>
          <a:noFill/>
          <a:ln/>
        </p:spPr>
        <p:txBody>
          <a:bodyPr wrap="square" lIns="0" tIns="0" rIns="0" bIns="0" rtlCol="0" anchor="ctr"/>
          <a:lstStyle/>
          <a:p>
            <a:pPr marL="0" indent="0" algn="ctr">
              <a:buNone/>
            </a:pPr>
            <a:r>
              <a:rPr lang="en-US" sz="1400" dirty="0">
                <a:solidFill>
                  <a:srgbClr val="1F2A44"/>
                </a:solidFill>
                <a:ea typeface="Arial" pitchFamily="34" charset="-122"/>
                <a:cs typeface="Arial" pitchFamily="34" charset="-120"/>
              </a:rPr>
              <a:t>1. Filter 6 macro tickers</a:t>
            </a:r>
            <a:endParaRPr lang="en-US" sz="1400" dirty="0"/>
          </a:p>
        </p:txBody>
      </p:sp>
      <p:sp>
        <p:nvSpPr>
          <p:cNvPr id="26" name="Shape 24"/>
          <p:cNvSpPr/>
          <p:nvPr/>
        </p:nvSpPr>
        <p:spPr>
          <a:xfrm>
            <a:off x="3480816" y="4901184"/>
            <a:ext cx="146304" cy="201168"/>
          </a:xfrm>
          <a:prstGeom prst="chevron">
            <a:avLst/>
          </a:prstGeom>
          <a:solidFill>
            <a:srgbClr val="08A3C7"/>
          </a:solidFill>
          <a:ln w="12700">
            <a:solidFill>
              <a:srgbClr val="08A3C7"/>
            </a:solidFill>
            <a:prstDash val="solid"/>
          </a:ln>
        </p:spPr>
        <p:txBody>
          <a:bodyPr/>
          <a:lstStyle/>
          <a:p>
            <a:endParaRPr lang="en-US"/>
          </a:p>
        </p:txBody>
      </p:sp>
      <p:sp>
        <p:nvSpPr>
          <p:cNvPr id="27" name="Shape 25"/>
          <p:cNvSpPr/>
          <p:nvPr/>
        </p:nvSpPr>
        <p:spPr>
          <a:xfrm>
            <a:off x="3736848" y="4645152"/>
            <a:ext cx="2331720" cy="566928"/>
          </a:xfrm>
          <a:prstGeom prst="roundRect">
            <a:avLst>
              <a:gd name="adj" fmla="val 6452"/>
            </a:avLst>
          </a:prstGeom>
          <a:solidFill>
            <a:srgbClr val="F6F9FD"/>
          </a:solidFill>
          <a:ln w="14605">
            <a:solidFill>
              <a:srgbClr val="C8D5E6"/>
            </a:solidFill>
            <a:prstDash val="solid"/>
          </a:ln>
        </p:spPr>
        <p:txBody>
          <a:bodyPr/>
          <a:lstStyle/>
          <a:p>
            <a:endParaRPr lang="en-US"/>
          </a:p>
        </p:txBody>
      </p:sp>
      <p:sp>
        <p:nvSpPr>
          <p:cNvPr id="28" name="Text 26"/>
          <p:cNvSpPr/>
          <p:nvPr/>
        </p:nvSpPr>
        <p:spPr>
          <a:xfrm>
            <a:off x="3810000" y="4809744"/>
            <a:ext cx="2185416" cy="164592"/>
          </a:xfrm>
          <a:prstGeom prst="rect">
            <a:avLst/>
          </a:prstGeom>
          <a:noFill/>
          <a:ln/>
        </p:spPr>
        <p:txBody>
          <a:bodyPr wrap="square" lIns="0" tIns="0" rIns="0" bIns="0" rtlCol="0" anchor="ctr"/>
          <a:lstStyle/>
          <a:p>
            <a:pPr marL="0" indent="0" algn="ctr">
              <a:buNone/>
            </a:pPr>
            <a:r>
              <a:rPr lang="en-US" sz="1400" dirty="0">
                <a:solidFill>
                  <a:srgbClr val="1F2A44"/>
                </a:solidFill>
                <a:ea typeface="Arial" pitchFamily="34" charset="-122"/>
                <a:cs typeface="Arial" pitchFamily="34" charset="-120"/>
              </a:rPr>
              <a:t>2. Pivot long → wide by date</a:t>
            </a:r>
            <a:endParaRPr lang="en-US" sz="1400" dirty="0"/>
          </a:p>
        </p:txBody>
      </p:sp>
      <p:sp>
        <p:nvSpPr>
          <p:cNvPr id="29" name="Shape 27"/>
          <p:cNvSpPr/>
          <p:nvPr/>
        </p:nvSpPr>
        <p:spPr>
          <a:xfrm>
            <a:off x="6126480" y="5047488"/>
            <a:ext cx="146304" cy="201168"/>
          </a:xfrm>
          <a:prstGeom prst="chevron">
            <a:avLst/>
          </a:prstGeom>
          <a:solidFill>
            <a:srgbClr val="08A3C7"/>
          </a:solidFill>
          <a:ln w="12700">
            <a:solidFill>
              <a:srgbClr val="08A3C7"/>
            </a:solidFill>
            <a:prstDash val="solid"/>
          </a:ln>
        </p:spPr>
        <p:txBody>
          <a:bodyPr/>
          <a:lstStyle/>
          <a:p>
            <a:endParaRPr lang="en-US"/>
          </a:p>
        </p:txBody>
      </p:sp>
      <p:sp>
        <p:nvSpPr>
          <p:cNvPr id="30" name="Shape 28"/>
          <p:cNvSpPr/>
          <p:nvPr/>
        </p:nvSpPr>
        <p:spPr>
          <a:xfrm>
            <a:off x="6388608" y="4645152"/>
            <a:ext cx="2331720" cy="566928"/>
          </a:xfrm>
          <a:prstGeom prst="roundRect">
            <a:avLst>
              <a:gd name="adj" fmla="val 6452"/>
            </a:avLst>
          </a:prstGeom>
          <a:solidFill>
            <a:srgbClr val="F6F9FD"/>
          </a:solidFill>
          <a:ln w="14605">
            <a:solidFill>
              <a:srgbClr val="C8D5E6"/>
            </a:solidFill>
            <a:prstDash val="solid"/>
          </a:ln>
        </p:spPr>
        <p:txBody>
          <a:bodyPr/>
          <a:lstStyle/>
          <a:p>
            <a:endParaRPr lang="en-US"/>
          </a:p>
        </p:txBody>
      </p:sp>
      <p:sp>
        <p:nvSpPr>
          <p:cNvPr id="31" name="Text 29"/>
          <p:cNvSpPr/>
          <p:nvPr/>
        </p:nvSpPr>
        <p:spPr>
          <a:xfrm>
            <a:off x="6461760" y="4809744"/>
            <a:ext cx="2185416" cy="164592"/>
          </a:xfrm>
          <a:prstGeom prst="rect">
            <a:avLst/>
          </a:prstGeom>
          <a:noFill/>
          <a:ln/>
        </p:spPr>
        <p:txBody>
          <a:bodyPr wrap="square" lIns="0" tIns="0" rIns="0" bIns="0" rtlCol="0" anchor="ctr"/>
          <a:lstStyle/>
          <a:p>
            <a:pPr marL="0" indent="0" algn="ctr">
              <a:buNone/>
            </a:pPr>
            <a:r>
              <a:rPr lang="en-US" sz="1400" dirty="0">
                <a:solidFill>
                  <a:srgbClr val="1F2A44"/>
                </a:solidFill>
                <a:ea typeface="Arial" pitchFamily="34" charset="-122"/>
                <a:cs typeface="Arial" pitchFamily="34" charset="-120"/>
              </a:rPr>
              <a:t>3. Left-join onto ETF panel</a:t>
            </a:r>
            <a:endParaRPr lang="en-US" sz="1400" dirty="0"/>
          </a:p>
        </p:txBody>
      </p:sp>
      <p:sp>
        <p:nvSpPr>
          <p:cNvPr id="32" name="Shape 30"/>
          <p:cNvSpPr/>
          <p:nvPr/>
        </p:nvSpPr>
        <p:spPr>
          <a:xfrm>
            <a:off x="8784336" y="4901184"/>
            <a:ext cx="146304" cy="201168"/>
          </a:xfrm>
          <a:prstGeom prst="chevron">
            <a:avLst/>
          </a:prstGeom>
          <a:solidFill>
            <a:srgbClr val="08A3C7"/>
          </a:solidFill>
          <a:ln w="12700">
            <a:solidFill>
              <a:srgbClr val="08A3C7"/>
            </a:solidFill>
            <a:prstDash val="solid"/>
          </a:ln>
        </p:spPr>
        <p:txBody>
          <a:bodyPr/>
          <a:lstStyle/>
          <a:p>
            <a:endParaRPr lang="en-US"/>
          </a:p>
        </p:txBody>
      </p:sp>
      <p:sp>
        <p:nvSpPr>
          <p:cNvPr id="33" name="Shape 31"/>
          <p:cNvSpPr/>
          <p:nvPr/>
        </p:nvSpPr>
        <p:spPr>
          <a:xfrm>
            <a:off x="9040368" y="4645152"/>
            <a:ext cx="2331720" cy="566928"/>
          </a:xfrm>
          <a:prstGeom prst="roundRect">
            <a:avLst>
              <a:gd name="adj" fmla="val 6452"/>
            </a:avLst>
          </a:prstGeom>
          <a:solidFill>
            <a:srgbClr val="DFF3FA"/>
          </a:solidFill>
          <a:ln w="14605">
            <a:solidFill>
              <a:srgbClr val="08A3C7"/>
            </a:solidFill>
            <a:prstDash val="solid"/>
          </a:ln>
        </p:spPr>
        <p:txBody>
          <a:bodyPr/>
          <a:lstStyle/>
          <a:p>
            <a:endParaRPr lang="en-US"/>
          </a:p>
        </p:txBody>
      </p:sp>
      <p:sp>
        <p:nvSpPr>
          <p:cNvPr id="34" name="Text 32"/>
          <p:cNvSpPr/>
          <p:nvPr/>
        </p:nvSpPr>
        <p:spPr>
          <a:xfrm>
            <a:off x="9113520" y="4809744"/>
            <a:ext cx="2185416" cy="164592"/>
          </a:xfrm>
          <a:prstGeom prst="rect">
            <a:avLst/>
          </a:prstGeom>
          <a:noFill/>
          <a:ln/>
        </p:spPr>
        <p:txBody>
          <a:bodyPr wrap="square" lIns="0" tIns="0" rIns="0" bIns="0" rtlCol="0" anchor="ctr"/>
          <a:lstStyle/>
          <a:p>
            <a:pPr marL="0" indent="0" algn="ctr">
              <a:buNone/>
            </a:pPr>
            <a:r>
              <a:rPr lang="en-US" sz="1400" b="1" dirty="0">
                <a:solidFill>
                  <a:srgbClr val="1F2A44"/>
                </a:solidFill>
                <a:ea typeface="Arial" pitchFamily="34" charset="-122"/>
                <a:cs typeface="Arial" pitchFamily="34" charset="-120"/>
              </a:rPr>
              <a:t>4. Modeling-ready panel</a:t>
            </a:r>
            <a:endParaRPr lang="en-US" sz="1400" dirty="0"/>
          </a:p>
        </p:txBody>
      </p:sp>
      <p:sp>
        <p:nvSpPr>
          <p:cNvPr id="35" name="Text 33"/>
          <p:cNvSpPr/>
          <p:nvPr/>
        </p:nvSpPr>
        <p:spPr>
          <a:xfrm>
            <a:off x="649224" y="5673335"/>
            <a:ext cx="10735056" cy="661906"/>
          </a:xfrm>
          <a:prstGeom prst="rect">
            <a:avLst/>
          </a:prstGeom>
          <a:noFill/>
          <a:ln/>
        </p:spPr>
        <p:txBody>
          <a:bodyPr wrap="square" lIns="0" tIns="0" rIns="0" bIns="0" rtlCol="0" anchor="ctr"/>
          <a:lstStyle/>
          <a:p>
            <a:pPr marL="285750" indent="-285750">
              <a:buFont typeface="Arial" panose="020B0604020202020204" pitchFamily="34" charset="0"/>
              <a:buChar char="•"/>
            </a:pPr>
            <a:endParaRPr lang="en-US" sz="1400" dirty="0">
              <a:ea typeface="Arial" pitchFamily="34" charset="-122"/>
              <a:cs typeface="Arial" pitchFamily="34" charset="-120"/>
            </a:endParaRPr>
          </a:p>
          <a:p>
            <a:pPr marL="285750" indent="-285750">
              <a:buFont typeface="Arial" panose="020B0604020202020204" pitchFamily="34" charset="0"/>
              <a:buChar char="•"/>
            </a:pPr>
            <a:r>
              <a:rPr lang="en-US" sz="1400" dirty="0">
                <a:ea typeface="Arial" pitchFamily="34" charset="-122"/>
                <a:cs typeface="Arial" pitchFamily="34" charset="-120"/>
              </a:rPr>
              <a:t>trailing features end at time t, while the prediction target is next-week realized volatility over t+1 to t+5. </a:t>
            </a:r>
          </a:p>
          <a:p>
            <a:pPr marL="285750" indent="-285750">
              <a:buFont typeface="Arial" panose="020B0604020202020204" pitchFamily="34" charset="0"/>
              <a:buChar char="•"/>
            </a:pPr>
            <a:r>
              <a:rPr lang="en-US" sz="1400" dirty="0">
                <a:ea typeface="Arial" pitchFamily="34" charset="-122"/>
                <a:cs typeface="Arial" pitchFamily="34" charset="-120"/>
              </a:rPr>
              <a:t>This preserves a strict no-look-ahead design.</a:t>
            </a:r>
            <a:endParaRPr lang="en-US" sz="1400" dirty="0"/>
          </a:p>
        </p:txBody>
      </p:sp>
      <p:sp>
        <p:nvSpPr>
          <p:cNvPr id="38" name="Shape 19">
            <a:extLst>
              <a:ext uri="{FF2B5EF4-FFF2-40B4-BE49-F238E27FC236}">
                <a16:creationId xmlns:a16="http://schemas.microsoft.com/office/drawing/2014/main" id="{CB86D98C-0980-79FA-92CF-BDD0E780C443}"/>
              </a:ext>
            </a:extLst>
          </p:cNvPr>
          <p:cNvSpPr/>
          <p:nvPr/>
        </p:nvSpPr>
        <p:spPr>
          <a:xfrm>
            <a:off x="649224" y="5517887"/>
            <a:ext cx="2359152" cy="347472"/>
          </a:xfrm>
          <a:prstGeom prst="roundRect">
            <a:avLst>
              <a:gd name="adj" fmla="val 13158"/>
            </a:avLst>
          </a:prstGeom>
          <a:solidFill>
            <a:srgbClr val="E9F8FC"/>
          </a:solidFill>
          <a:ln w="12700">
            <a:solidFill>
              <a:srgbClr val="E9F8FC"/>
            </a:solidFill>
            <a:prstDash val="solid"/>
          </a:ln>
        </p:spPr>
        <p:txBody>
          <a:bodyPr/>
          <a:lstStyle/>
          <a:p>
            <a:endParaRPr lang="en-US"/>
          </a:p>
        </p:txBody>
      </p:sp>
      <p:sp>
        <p:nvSpPr>
          <p:cNvPr id="39" name="Text 20">
            <a:extLst>
              <a:ext uri="{FF2B5EF4-FFF2-40B4-BE49-F238E27FC236}">
                <a16:creationId xmlns:a16="http://schemas.microsoft.com/office/drawing/2014/main" id="{981FE59C-ACDE-9CDE-6C03-632FB9B479DB}"/>
              </a:ext>
            </a:extLst>
          </p:cNvPr>
          <p:cNvSpPr/>
          <p:nvPr/>
        </p:nvSpPr>
        <p:spPr>
          <a:xfrm>
            <a:off x="704088" y="5599231"/>
            <a:ext cx="2194560" cy="146304"/>
          </a:xfrm>
          <a:prstGeom prst="rect">
            <a:avLst/>
          </a:prstGeom>
          <a:noFill/>
          <a:ln/>
        </p:spPr>
        <p:txBody>
          <a:bodyPr wrap="square" lIns="0" tIns="0" rIns="0" bIns="0" rtlCol="0" anchor="ctr"/>
          <a:lstStyle/>
          <a:p>
            <a:pPr marL="0" indent="0">
              <a:buNone/>
            </a:pPr>
            <a:r>
              <a:rPr lang="en-US" sz="1400" b="1" dirty="0">
                <a:solidFill>
                  <a:srgbClr val="0B2445"/>
                </a:solidFill>
                <a:ea typeface="Arial" pitchFamily="34" charset="-122"/>
                <a:cs typeface="Arial" pitchFamily="34" charset="-120"/>
              </a:rPr>
              <a:t>Key modeling convention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0B2445"/>
          </a:solidFill>
          <a:ln w="12700">
            <a:solidFill>
              <a:srgbClr val="0B2445">
                <a:alpha val="0"/>
              </a:srgbClr>
            </a:solidFill>
            <a:prstDash val="solid"/>
          </a:ln>
        </p:spPr>
        <p:txBody>
          <a:bodyPr/>
          <a:lstStyle/>
          <a:p>
            <a:endParaRPr lang="en-US"/>
          </a:p>
        </p:txBody>
      </p:sp>
      <p:sp>
        <p:nvSpPr>
          <p:cNvPr id="3" name="Text 1"/>
          <p:cNvSpPr/>
          <p:nvPr/>
        </p:nvSpPr>
        <p:spPr>
          <a:xfrm>
            <a:off x="420624" y="155448"/>
            <a:ext cx="11338560" cy="310896"/>
          </a:xfrm>
          <a:prstGeom prst="rect">
            <a:avLst/>
          </a:prstGeom>
          <a:noFill/>
          <a:ln/>
        </p:spPr>
        <p:txBody>
          <a:bodyPr wrap="square" lIns="0" tIns="0" rIns="0" bIns="0" rtlCol="0" anchor="ctr"/>
          <a:lstStyle/>
          <a:p>
            <a:pPr marL="0" indent="0">
              <a:buNone/>
            </a:pPr>
            <a:r>
              <a:rPr lang="en-US" sz="2900" b="1" dirty="0">
                <a:solidFill>
                  <a:srgbClr val="FFFFFF"/>
                </a:solidFill>
                <a:ea typeface="Arial" pitchFamily="34" charset="-122"/>
                <a:cs typeface="Arial" pitchFamily="34" charset="-120"/>
              </a:rPr>
              <a:t>EDA</a:t>
            </a:r>
            <a:endParaRPr lang="en-US" sz="2900" dirty="0"/>
          </a:p>
        </p:txBody>
      </p:sp>
      <p:sp>
        <p:nvSpPr>
          <p:cNvPr id="4" name="Shape 2"/>
          <p:cNvSpPr/>
          <p:nvPr/>
        </p:nvSpPr>
        <p:spPr>
          <a:xfrm>
            <a:off x="0" y="6537960"/>
            <a:ext cx="12191695" cy="320040"/>
          </a:xfrm>
          <a:prstGeom prst="rect">
            <a:avLst/>
          </a:prstGeom>
          <a:solidFill>
            <a:srgbClr val="0B2445"/>
          </a:solidFill>
          <a:ln w="12700">
            <a:solidFill>
              <a:srgbClr val="0B2445">
                <a:alpha val="0"/>
              </a:srgbClr>
            </a:solidFill>
            <a:prstDash val="solid"/>
          </a:ln>
        </p:spPr>
        <p:txBody>
          <a:bodyPr/>
          <a:lstStyle/>
          <a:p>
            <a:endParaRPr lang="en-US"/>
          </a:p>
        </p:txBody>
      </p:sp>
      <p:sp>
        <p:nvSpPr>
          <p:cNvPr id="6" name="Text 4"/>
          <p:cNvSpPr/>
          <p:nvPr/>
        </p:nvSpPr>
        <p:spPr>
          <a:xfrm>
            <a:off x="7559040" y="822960"/>
            <a:ext cx="2338251" cy="256032"/>
          </a:xfrm>
          <a:prstGeom prst="rect">
            <a:avLst/>
          </a:prstGeom>
          <a:noFill/>
          <a:ln/>
        </p:spPr>
        <p:txBody>
          <a:bodyPr wrap="square" lIns="0" tIns="0" rIns="0" bIns="0" rtlCol="0" anchor="ctr"/>
          <a:lstStyle/>
          <a:p>
            <a:pPr marL="0" indent="0" algn="ctr">
              <a:buNone/>
            </a:pPr>
            <a:r>
              <a:rPr lang="en-US" sz="2000" b="1" dirty="0">
                <a:solidFill>
                  <a:srgbClr val="08A3C7"/>
                </a:solidFill>
                <a:ea typeface="Arial" pitchFamily="34" charset="-122"/>
                <a:cs typeface="Arial" pitchFamily="34" charset="-120"/>
              </a:rPr>
              <a:t>Outputs &amp; Plots</a:t>
            </a:r>
            <a:endParaRPr lang="en-US" sz="2000" dirty="0"/>
          </a:p>
        </p:txBody>
      </p:sp>
      <p:sp>
        <p:nvSpPr>
          <p:cNvPr id="7" name="Shape 5"/>
          <p:cNvSpPr/>
          <p:nvPr/>
        </p:nvSpPr>
        <p:spPr>
          <a:xfrm>
            <a:off x="7905445" y="1152144"/>
            <a:ext cx="1643637" cy="0"/>
          </a:xfrm>
          <a:prstGeom prst="line">
            <a:avLst/>
          </a:prstGeom>
          <a:noFill/>
          <a:ln w="15240">
            <a:solidFill>
              <a:srgbClr val="08A3C7"/>
            </a:solidFill>
            <a:prstDash val="solid"/>
          </a:ln>
        </p:spPr>
        <p:txBody>
          <a:bodyPr/>
          <a:lstStyle/>
          <a:p>
            <a:endParaRPr lang="en-US"/>
          </a:p>
        </p:txBody>
      </p:sp>
      <p:sp>
        <p:nvSpPr>
          <p:cNvPr id="8" name="Shape 6"/>
          <p:cNvSpPr/>
          <p:nvPr/>
        </p:nvSpPr>
        <p:spPr>
          <a:xfrm>
            <a:off x="502920" y="1417320"/>
            <a:ext cx="4709160" cy="4983480"/>
          </a:xfrm>
          <a:prstGeom prst="roundRect">
            <a:avLst>
              <a:gd name="adj" fmla="val 1553"/>
            </a:avLst>
          </a:prstGeom>
          <a:solidFill>
            <a:srgbClr val="FFFFFF"/>
          </a:solidFill>
          <a:ln w="15875">
            <a:solidFill>
              <a:srgbClr val="C8D5E6"/>
            </a:solidFill>
            <a:prstDash val="solid"/>
          </a:ln>
        </p:spPr>
        <p:txBody>
          <a:bodyPr/>
          <a:lstStyle/>
          <a:p>
            <a:endParaRPr lang="en-US"/>
          </a:p>
        </p:txBody>
      </p:sp>
      <p:sp>
        <p:nvSpPr>
          <p:cNvPr id="9" name="Text 7"/>
          <p:cNvSpPr/>
          <p:nvPr/>
        </p:nvSpPr>
        <p:spPr>
          <a:xfrm>
            <a:off x="667512" y="1563624"/>
            <a:ext cx="4379976" cy="182880"/>
          </a:xfrm>
          <a:prstGeom prst="rect">
            <a:avLst/>
          </a:prstGeom>
          <a:noFill/>
          <a:ln/>
        </p:spPr>
        <p:txBody>
          <a:bodyPr wrap="square" lIns="0" tIns="0" rIns="0" bIns="0" rtlCol="0" anchor="ctr"/>
          <a:lstStyle/>
          <a:p>
            <a:pPr marL="0" indent="0">
              <a:buNone/>
            </a:pPr>
            <a:r>
              <a:rPr lang="en-US" sz="1400" b="1" dirty="0">
                <a:solidFill>
                  <a:srgbClr val="08A3C7"/>
                </a:solidFill>
                <a:ea typeface="Arial" pitchFamily="34" charset="-122"/>
                <a:cs typeface="Arial" pitchFamily="34" charset="-120"/>
              </a:rPr>
              <a:t>All EDA tests/checks performed</a:t>
            </a:r>
            <a:endParaRPr lang="en-US" sz="1400" dirty="0"/>
          </a:p>
        </p:txBody>
      </p:sp>
      <p:sp>
        <p:nvSpPr>
          <p:cNvPr id="10" name="Text 8"/>
          <p:cNvSpPr/>
          <p:nvPr/>
        </p:nvSpPr>
        <p:spPr>
          <a:xfrm>
            <a:off x="667512" y="1837944"/>
            <a:ext cx="2098548" cy="4526280"/>
          </a:xfrm>
          <a:prstGeom prst="rect">
            <a:avLst/>
          </a:prstGeom>
          <a:noFill/>
          <a:ln/>
        </p:spPr>
        <p:txBody>
          <a:bodyPr wrap="square" lIns="0" tIns="0" rIns="0" bIns="0" rtlCol="0" anchor="t"/>
          <a:lstStyle/>
          <a:p>
            <a:pPr>
              <a:buSzPct val="100000"/>
            </a:pPr>
            <a:r>
              <a:rPr lang="en-US" sz="1200" dirty="0">
                <a:solidFill>
                  <a:srgbClr val="1F2A44"/>
                </a:solidFill>
                <a:ea typeface="Arial" pitchFamily="34" charset="-122"/>
                <a:cs typeface="Arial" pitchFamily="34" charset="-120"/>
              </a:rPr>
              <a:t>1) </a:t>
            </a:r>
            <a:r>
              <a:rPr lang="en-US" sz="1200" b="1" dirty="0">
                <a:solidFill>
                  <a:srgbClr val="1F2A44"/>
                </a:solidFill>
                <a:ea typeface="Arial" pitchFamily="34" charset="-122"/>
                <a:cs typeface="Arial" pitchFamily="34" charset="-120"/>
              </a:rPr>
              <a:t>Load + robust date parse </a:t>
            </a:r>
            <a:r>
              <a:rPr lang="en-US" sz="1200" dirty="0">
                <a:solidFill>
                  <a:srgbClr val="1F2A44"/>
                </a:solidFill>
                <a:ea typeface="Arial" pitchFamily="34" charset="-122"/>
                <a:cs typeface="Arial" pitchFamily="34" charset="-120"/>
              </a:rPr>
              <a:t>+ canonical (ticker, date) sort</a:t>
            </a:r>
          </a:p>
          <a:p>
            <a:pPr>
              <a:buSzPct val="100000"/>
            </a:pPr>
            <a:endParaRPr lang="en-US" sz="1200" dirty="0"/>
          </a:p>
          <a:p>
            <a:pPr>
              <a:buSzPct val="100000"/>
            </a:pPr>
            <a:r>
              <a:rPr lang="en-US" sz="1200" dirty="0">
                <a:solidFill>
                  <a:srgbClr val="1F2A44"/>
                </a:solidFill>
                <a:ea typeface="Arial" pitchFamily="34" charset="-122"/>
                <a:cs typeface="Arial" pitchFamily="34" charset="-120"/>
              </a:rPr>
              <a:t>2) </a:t>
            </a:r>
            <a:r>
              <a:rPr lang="en-US" sz="1200" b="1" dirty="0">
                <a:solidFill>
                  <a:srgbClr val="1F2A44"/>
                </a:solidFill>
                <a:ea typeface="Arial" pitchFamily="34" charset="-122"/>
                <a:cs typeface="Arial" pitchFamily="34" charset="-120"/>
              </a:rPr>
              <a:t>Panel integrity</a:t>
            </a:r>
            <a:r>
              <a:rPr lang="en-US" sz="1200" dirty="0">
                <a:solidFill>
                  <a:srgbClr val="1F2A44"/>
                </a:solidFill>
                <a:ea typeface="Arial" pitchFamily="34" charset="-122"/>
                <a:cs typeface="Arial" pitchFamily="34" charset="-120"/>
              </a:rPr>
              <a:t>: duplicate key check; per-ticker monotone dates</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3) </a:t>
            </a:r>
            <a:r>
              <a:rPr lang="en-US" sz="1200" b="1" dirty="0">
                <a:solidFill>
                  <a:srgbClr val="1F2A44"/>
                </a:solidFill>
                <a:ea typeface="Arial" pitchFamily="34" charset="-122"/>
                <a:cs typeface="Arial" pitchFamily="34" charset="-120"/>
              </a:rPr>
              <a:t>Coverage</a:t>
            </a:r>
            <a:r>
              <a:rPr lang="en-US" sz="1200" b="1" dirty="0">
                <a:ea typeface="Arial" pitchFamily="34" charset="-122"/>
                <a:cs typeface="Arial" pitchFamily="34" charset="-120"/>
              </a:rPr>
              <a:t>: </a:t>
            </a:r>
            <a:r>
              <a:rPr lang="en-US" sz="1200" dirty="0">
                <a:ea typeface="Arial" pitchFamily="34" charset="-122"/>
                <a:cs typeface="Arial" pitchFamily="34" charset="-120"/>
              </a:rPr>
              <a:t>per-ticker </a:t>
            </a:r>
            <a:r>
              <a:rPr lang="en-US" sz="1200" dirty="0">
                <a:solidFill>
                  <a:srgbClr val="1F2A44"/>
                </a:solidFill>
                <a:ea typeface="Arial" pitchFamily="34" charset="-122"/>
                <a:cs typeface="Arial" pitchFamily="34" charset="-120"/>
              </a:rPr>
              <a:t>start/end and n_days table</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4) </a:t>
            </a:r>
            <a:r>
              <a:rPr lang="en-US" sz="1200" b="1" dirty="0">
                <a:solidFill>
                  <a:srgbClr val="1F2A44"/>
                </a:solidFill>
                <a:ea typeface="Arial" pitchFamily="34" charset="-122"/>
                <a:cs typeface="Arial" pitchFamily="34" charset="-120"/>
              </a:rPr>
              <a:t>Gaps: </a:t>
            </a:r>
            <a:r>
              <a:rPr lang="en-US" sz="1200" dirty="0">
                <a:solidFill>
                  <a:srgbClr val="1F2A44"/>
                </a:solidFill>
                <a:ea typeface="Arial" pitchFamily="34" charset="-122"/>
                <a:cs typeface="Arial" pitchFamily="34" charset="-120"/>
              </a:rPr>
              <a:t>flag calendar gaps &gt; 10 days within ticker</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5) </a:t>
            </a:r>
            <a:r>
              <a:rPr lang="en-US" sz="1200" b="1" dirty="0">
                <a:solidFill>
                  <a:srgbClr val="1F2A44"/>
                </a:solidFill>
                <a:ea typeface="Arial" pitchFamily="34" charset="-122"/>
                <a:cs typeface="Arial" pitchFamily="34" charset="-120"/>
              </a:rPr>
              <a:t>Missingness: </a:t>
            </a:r>
            <a:r>
              <a:rPr lang="en-US" sz="1200" dirty="0">
                <a:solidFill>
                  <a:srgbClr val="1F2A44"/>
                </a:solidFill>
                <a:ea typeface="Arial" pitchFamily="34" charset="-122"/>
                <a:cs typeface="Arial" pitchFamily="34" charset="-120"/>
              </a:rPr>
              <a:t>by-column rates + target missingness by ticker</a:t>
            </a:r>
          </a:p>
          <a:p>
            <a:pPr marL="228600" indent="-228600">
              <a:buSzPct val="100000"/>
              <a:buChar char="•"/>
            </a:pPr>
            <a:endParaRPr lang="en-US" sz="1200" dirty="0">
              <a:solidFill>
                <a:srgbClr val="1F2A44"/>
              </a:solidFill>
              <a:ea typeface="Arial" pitchFamily="34" charset="-122"/>
              <a:cs typeface="Arial" pitchFamily="34" charset="-120"/>
            </a:endParaRPr>
          </a:p>
          <a:p>
            <a:pPr>
              <a:buSzPct val="100000"/>
            </a:pPr>
            <a:r>
              <a:rPr lang="en-US" sz="1200" dirty="0">
                <a:solidFill>
                  <a:srgbClr val="1F2A44"/>
                </a:solidFill>
                <a:ea typeface="Arial" pitchFamily="34" charset="-122"/>
                <a:cs typeface="Arial" pitchFamily="34" charset="-120"/>
              </a:rPr>
              <a:t>6) </a:t>
            </a:r>
            <a:r>
              <a:rPr lang="en-US" sz="1200" b="1" dirty="0">
                <a:solidFill>
                  <a:srgbClr val="1F2A44"/>
                </a:solidFill>
                <a:ea typeface="Arial" pitchFamily="34" charset="-122"/>
                <a:cs typeface="Arial" pitchFamily="34" charset="-120"/>
              </a:rPr>
              <a:t>Macro sanity: </a:t>
            </a:r>
            <a:r>
              <a:rPr lang="en-US" sz="1200" dirty="0">
                <a:solidFill>
                  <a:srgbClr val="1F2A44"/>
                </a:solidFill>
                <a:ea typeface="Arial" pitchFamily="34" charset="-122"/>
                <a:cs typeface="Arial" pitchFamily="34" charset="-120"/>
              </a:rPr>
              <a:t>macro columns constant across tickers per date (</a:t>
            </a:r>
            <a:r>
              <a:rPr lang="en-US" sz="1200" dirty="0" err="1">
                <a:solidFill>
                  <a:srgbClr val="1F2A44"/>
                </a:solidFill>
                <a:ea typeface="Arial" pitchFamily="34" charset="-122"/>
                <a:cs typeface="Arial" pitchFamily="34" charset="-120"/>
              </a:rPr>
              <a:t>nunique</a:t>
            </a:r>
            <a:r>
              <a:rPr lang="en-US" sz="1200" dirty="0">
                <a:solidFill>
                  <a:srgbClr val="1F2A44"/>
                </a:solidFill>
                <a:ea typeface="Arial" pitchFamily="34" charset="-122"/>
                <a:cs typeface="Arial" pitchFamily="34" charset="-120"/>
              </a:rPr>
              <a:t>)</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7) </a:t>
            </a:r>
            <a:r>
              <a:rPr lang="en-US" sz="1200" b="1" dirty="0">
                <a:solidFill>
                  <a:srgbClr val="1F2A44"/>
                </a:solidFill>
                <a:ea typeface="Arial" pitchFamily="34" charset="-122"/>
                <a:cs typeface="Arial" pitchFamily="34" charset="-120"/>
              </a:rPr>
              <a:t>Distribution EDA: </a:t>
            </a:r>
            <a:r>
              <a:rPr lang="en-US" sz="1200" dirty="0">
                <a:solidFill>
                  <a:srgbClr val="1F2A44"/>
                </a:solidFill>
                <a:ea typeface="Arial" pitchFamily="34" charset="-122"/>
                <a:cs typeface="Arial" pitchFamily="34" charset="-120"/>
              </a:rPr>
              <a:t>returns, log(volume), trailing vol (calc + FactSet), target</a:t>
            </a:r>
            <a:endParaRPr lang="en-US" sz="1200" dirty="0"/>
          </a:p>
          <a:p>
            <a:pPr>
              <a:buSzPct val="100000"/>
            </a:pPr>
            <a:endParaRPr lang="en-US" sz="1200" dirty="0"/>
          </a:p>
        </p:txBody>
      </p:sp>
      <p:sp>
        <p:nvSpPr>
          <p:cNvPr id="11" name="Text 9"/>
          <p:cNvSpPr/>
          <p:nvPr/>
        </p:nvSpPr>
        <p:spPr>
          <a:xfrm>
            <a:off x="2948940" y="1837944"/>
            <a:ext cx="2098548" cy="4526280"/>
          </a:xfrm>
          <a:prstGeom prst="rect">
            <a:avLst/>
          </a:prstGeom>
          <a:noFill/>
          <a:ln/>
        </p:spPr>
        <p:txBody>
          <a:bodyPr wrap="square" lIns="0" tIns="0" rIns="0" bIns="0" rtlCol="0" anchor="t"/>
          <a:lstStyle/>
          <a:p>
            <a:pPr>
              <a:buSzPct val="100000"/>
            </a:pPr>
            <a:r>
              <a:rPr lang="en-US" sz="1200" dirty="0">
                <a:solidFill>
                  <a:srgbClr val="1F2A44"/>
                </a:solidFill>
                <a:ea typeface="Arial" pitchFamily="34" charset="-122"/>
                <a:cs typeface="Arial" pitchFamily="34" charset="-120"/>
              </a:rPr>
              <a:t>8) </a:t>
            </a:r>
            <a:r>
              <a:rPr lang="en-US" sz="1200" b="1" dirty="0">
                <a:solidFill>
                  <a:srgbClr val="1F2A44"/>
                </a:solidFill>
                <a:ea typeface="Arial" pitchFamily="34" charset="-122"/>
                <a:cs typeface="Arial" pitchFamily="34" charset="-120"/>
              </a:rPr>
              <a:t>Single-ticker series</a:t>
            </a:r>
            <a:r>
              <a:rPr lang="en-US" sz="1200" dirty="0">
                <a:solidFill>
                  <a:srgbClr val="1F2A44"/>
                </a:solidFill>
                <a:ea typeface="Arial" pitchFamily="34" charset="-122"/>
                <a:cs typeface="Arial" pitchFamily="34" charset="-120"/>
              </a:rPr>
              <a:t>: price, returns, trailing vol, target + macro overlays</a:t>
            </a:r>
            <a:endParaRPr lang="en-US" sz="1200" dirty="0"/>
          </a:p>
          <a:p>
            <a:pPr marL="228600" indent="-228600">
              <a:buSzPct val="100000"/>
              <a:buChar char="•"/>
            </a:pPr>
            <a:endParaRPr lang="en-US" sz="1200" dirty="0">
              <a:solidFill>
                <a:srgbClr val="1F2A44"/>
              </a:solidFill>
              <a:ea typeface="Arial" pitchFamily="34" charset="-122"/>
              <a:cs typeface="Arial" pitchFamily="34" charset="-120"/>
            </a:endParaRPr>
          </a:p>
          <a:p>
            <a:pPr>
              <a:buSzPct val="100000"/>
            </a:pPr>
            <a:r>
              <a:rPr lang="en-US" sz="1200" dirty="0">
                <a:solidFill>
                  <a:srgbClr val="1F2A44"/>
                </a:solidFill>
                <a:ea typeface="Arial" pitchFamily="34" charset="-122"/>
                <a:cs typeface="Arial" pitchFamily="34" charset="-120"/>
              </a:rPr>
              <a:t>9) </a:t>
            </a:r>
            <a:r>
              <a:rPr lang="en-US" sz="1200" b="1" dirty="0">
                <a:solidFill>
                  <a:srgbClr val="1F2A44"/>
                </a:solidFill>
                <a:ea typeface="Arial" pitchFamily="34" charset="-122"/>
                <a:cs typeface="Arial" pitchFamily="34" charset="-120"/>
              </a:rPr>
              <a:t>ACF diagnostics: </a:t>
            </a:r>
            <a:r>
              <a:rPr lang="en-US" sz="1200" dirty="0">
                <a:solidFill>
                  <a:srgbClr val="1F2A44"/>
                </a:solidFill>
                <a:ea typeface="Arial" pitchFamily="34" charset="-122"/>
                <a:cs typeface="Arial" pitchFamily="34" charset="-120"/>
              </a:rPr>
              <a:t>returns vs squared returns vs target forward vol</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10) </a:t>
            </a:r>
            <a:r>
              <a:rPr lang="en-US" sz="1200" b="1" dirty="0">
                <a:solidFill>
                  <a:srgbClr val="1F2A44"/>
                </a:solidFill>
                <a:ea typeface="Arial" pitchFamily="34" charset="-122"/>
                <a:cs typeface="Arial" pitchFamily="34" charset="-120"/>
              </a:rPr>
              <a:t>Feature–target checks: </a:t>
            </a:r>
            <a:r>
              <a:rPr lang="en-US" sz="1200" dirty="0">
                <a:solidFill>
                  <a:srgbClr val="1F2A44"/>
                </a:solidFill>
                <a:ea typeface="Arial" pitchFamily="34" charset="-122"/>
                <a:cs typeface="Arial" pitchFamily="34" charset="-120"/>
              </a:rPr>
              <a:t>train-only corr table + scatter plots</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11) </a:t>
            </a:r>
            <a:r>
              <a:rPr lang="en-US" sz="1200" b="1" dirty="0">
                <a:solidFill>
                  <a:srgbClr val="1F2A44"/>
                </a:solidFill>
                <a:ea typeface="Arial" pitchFamily="34" charset="-122"/>
                <a:cs typeface="Arial" pitchFamily="34" charset="-120"/>
              </a:rPr>
              <a:t>Leakage/alignment: </a:t>
            </a:r>
            <a:r>
              <a:rPr lang="en-US" sz="1200" dirty="0">
                <a:solidFill>
                  <a:srgbClr val="1F2A44"/>
                </a:solidFill>
                <a:ea typeface="Arial" pitchFamily="34" charset="-122"/>
                <a:cs typeface="Arial" pitchFamily="34" charset="-120"/>
              </a:rPr>
              <a:t>recompute returns, trailing vol, forward vol; compare</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12) </a:t>
            </a:r>
            <a:r>
              <a:rPr lang="en-US" sz="1200" b="1" dirty="0">
                <a:solidFill>
                  <a:srgbClr val="1F2A44"/>
                </a:solidFill>
                <a:ea typeface="Arial" pitchFamily="34" charset="-122"/>
                <a:cs typeface="Arial" pitchFamily="34" charset="-120"/>
              </a:rPr>
              <a:t>Baselines: </a:t>
            </a:r>
            <a:r>
              <a:rPr lang="en-US" sz="1200" dirty="0">
                <a:solidFill>
                  <a:srgbClr val="1F2A44"/>
                </a:solidFill>
                <a:ea typeface="Arial" pitchFamily="34" charset="-122"/>
                <a:cs typeface="Arial" pitchFamily="34" charset="-120"/>
              </a:rPr>
              <a:t>persistence using trailing 5d/20d vol (RMSE/MAE on train/val/test)</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13) </a:t>
            </a:r>
            <a:r>
              <a:rPr lang="en-US" sz="1200" b="1" dirty="0">
                <a:solidFill>
                  <a:srgbClr val="1F2A44"/>
                </a:solidFill>
                <a:ea typeface="Arial" pitchFamily="34" charset="-122"/>
                <a:cs typeface="Arial" pitchFamily="34" charset="-120"/>
              </a:rPr>
              <a:t>Save artifacts: </a:t>
            </a:r>
            <a:r>
              <a:rPr lang="en-US" sz="1200" dirty="0">
                <a:solidFill>
                  <a:srgbClr val="1F2A44"/>
                </a:solidFill>
                <a:ea typeface="Arial" pitchFamily="34" charset="-122"/>
                <a:cs typeface="Arial" pitchFamily="34" charset="-120"/>
              </a:rPr>
              <a:t>coverage/missingness/macro-check tables to disk</a:t>
            </a:r>
            <a:endParaRPr lang="en-US" sz="1200" dirty="0"/>
          </a:p>
        </p:txBody>
      </p:sp>
      <p:sp>
        <p:nvSpPr>
          <p:cNvPr id="12" name="Shape 10"/>
          <p:cNvSpPr/>
          <p:nvPr/>
        </p:nvSpPr>
        <p:spPr>
          <a:xfrm>
            <a:off x="5349240" y="1417320"/>
            <a:ext cx="6793992" cy="4983480"/>
          </a:xfrm>
          <a:prstGeom prst="roundRect">
            <a:avLst>
              <a:gd name="adj" fmla="val 1468"/>
            </a:avLst>
          </a:prstGeom>
          <a:solidFill>
            <a:srgbClr val="FFFFFF"/>
          </a:solidFill>
          <a:ln w="15875">
            <a:solidFill>
              <a:srgbClr val="C8D5E6"/>
            </a:solidFill>
            <a:prstDash val="solid"/>
          </a:ln>
        </p:spPr>
        <p:txBody>
          <a:bodyPr/>
          <a:lstStyle/>
          <a:p>
            <a:endParaRPr lang="en-US"/>
          </a:p>
        </p:txBody>
      </p:sp>
      <p:sp>
        <p:nvSpPr>
          <p:cNvPr id="13" name="Text 11"/>
          <p:cNvSpPr/>
          <p:nvPr/>
        </p:nvSpPr>
        <p:spPr>
          <a:xfrm>
            <a:off x="5513832" y="1563624"/>
            <a:ext cx="6464808" cy="182880"/>
          </a:xfrm>
          <a:prstGeom prst="rect">
            <a:avLst/>
          </a:prstGeom>
          <a:noFill/>
          <a:ln/>
        </p:spPr>
        <p:txBody>
          <a:bodyPr wrap="square" lIns="0" tIns="0" rIns="0" bIns="0" rtlCol="0" anchor="ctr"/>
          <a:lstStyle/>
          <a:p>
            <a:pPr marL="0" indent="0">
              <a:buNone/>
            </a:pPr>
            <a:r>
              <a:rPr lang="en-US" sz="1400" b="1" dirty="0">
                <a:solidFill>
                  <a:srgbClr val="08A3C7"/>
                </a:solidFill>
                <a:ea typeface="Arial" pitchFamily="34" charset="-122"/>
                <a:cs typeface="Arial" pitchFamily="34" charset="-120"/>
              </a:rPr>
              <a:t>Representative plots produced by the notebook</a:t>
            </a:r>
            <a:endParaRPr lang="en-US" sz="1400" dirty="0"/>
          </a:p>
        </p:txBody>
      </p:sp>
      <p:sp>
        <p:nvSpPr>
          <p:cNvPr id="14" name="Text 12"/>
          <p:cNvSpPr/>
          <p:nvPr/>
        </p:nvSpPr>
        <p:spPr>
          <a:xfrm>
            <a:off x="5513832" y="1764792"/>
            <a:ext cx="6464808" cy="146304"/>
          </a:xfrm>
          <a:prstGeom prst="rect">
            <a:avLst/>
          </a:prstGeom>
          <a:noFill/>
          <a:ln/>
        </p:spPr>
        <p:txBody>
          <a:bodyPr wrap="square" lIns="0" tIns="0" rIns="0" bIns="0" rtlCol="0" anchor="ctr"/>
          <a:lstStyle/>
          <a:p>
            <a:pPr marL="0" indent="0">
              <a:buNone/>
            </a:pPr>
            <a:r>
              <a:rPr lang="en-US" sz="1200" b="1" dirty="0">
                <a:ea typeface="Arial" pitchFamily="34" charset="-122"/>
                <a:cs typeface="Arial" pitchFamily="34" charset="-120"/>
              </a:rPr>
              <a:t>Data quality</a:t>
            </a:r>
            <a:endParaRPr lang="en-US" sz="1200" dirty="0"/>
          </a:p>
        </p:txBody>
      </p:sp>
      <p:sp>
        <p:nvSpPr>
          <p:cNvPr id="15" name="Text 13"/>
          <p:cNvSpPr/>
          <p:nvPr/>
        </p:nvSpPr>
        <p:spPr>
          <a:xfrm>
            <a:off x="5513832" y="3328416"/>
            <a:ext cx="6464808" cy="146304"/>
          </a:xfrm>
          <a:prstGeom prst="rect">
            <a:avLst/>
          </a:prstGeom>
          <a:noFill/>
          <a:ln/>
        </p:spPr>
        <p:txBody>
          <a:bodyPr wrap="square" lIns="0" tIns="0" rIns="0" bIns="0" rtlCol="0" anchor="ctr"/>
          <a:lstStyle/>
          <a:p>
            <a:pPr marL="0" indent="0">
              <a:buNone/>
            </a:pPr>
            <a:r>
              <a:rPr lang="en-US" sz="1200" b="1" dirty="0">
                <a:ea typeface="Arial" pitchFamily="34" charset="-122"/>
                <a:cs typeface="Arial" pitchFamily="34" charset="-120"/>
              </a:rPr>
              <a:t>Time-series structure</a:t>
            </a:r>
            <a:endParaRPr lang="en-US" sz="1200" dirty="0"/>
          </a:p>
        </p:txBody>
      </p:sp>
      <p:sp>
        <p:nvSpPr>
          <p:cNvPr id="16" name="Text 14"/>
          <p:cNvSpPr/>
          <p:nvPr/>
        </p:nvSpPr>
        <p:spPr>
          <a:xfrm>
            <a:off x="5513832" y="4892040"/>
            <a:ext cx="6464808" cy="146304"/>
          </a:xfrm>
          <a:prstGeom prst="rect">
            <a:avLst/>
          </a:prstGeom>
          <a:noFill/>
          <a:ln/>
        </p:spPr>
        <p:txBody>
          <a:bodyPr wrap="square" lIns="0" tIns="0" rIns="0" bIns="0" rtlCol="0" anchor="ctr"/>
          <a:lstStyle/>
          <a:p>
            <a:pPr marL="0" indent="0">
              <a:buNone/>
            </a:pPr>
            <a:r>
              <a:rPr lang="en-US" sz="1200" b="1" dirty="0">
                <a:ea typeface="Arial" pitchFamily="34" charset="-122"/>
                <a:cs typeface="Arial" pitchFamily="34" charset="-120"/>
              </a:rPr>
              <a:t>Signal, leakage checks, baselines</a:t>
            </a:r>
            <a:endParaRPr lang="en-US" sz="1200" b="1" dirty="0"/>
          </a:p>
        </p:txBody>
      </p:sp>
      <p:sp>
        <p:nvSpPr>
          <p:cNvPr id="17" name="Shape 15"/>
          <p:cNvSpPr/>
          <p:nvPr/>
        </p:nvSpPr>
        <p:spPr>
          <a:xfrm>
            <a:off x="5513832" y="1975104"/>
            <a:ext cx="2045208" cy="1188720"/>
          </a:xfrm>
          <a:prstGeom prst="rect">
            <a:avLst/>
          </a:prstGeom>
          <a:solidFill>
            <a:srgbClr val="FFFFFF"/>
          </a:solidFill>
          <a:ln w="11430">
            <a:solidFill>
              <a:srgbClr val="C8D5E6"/>
            </a:solidFill>
            <a:prstDash val="solid"/>
          </a:ln>
        </p:spPr>
        <p:txBody>
          <a:bodyPr/>
          <a:lstStyle/>
          <a:p>
            <a:endParaRPr lang="en-US"/>
          </a:p>
        </p:txBody>
      </p:sp>
      <p:pic>
        <p:nvPicPr>
          <p:cNvPr id="18" name="Image 0" descr="/mnt/data/eda_thumbs/coverage_crop.png"/>
          <p:cNvPicPr>
            <a:picLocks noChangeAspect="1"/>
          </p:cNvPicPr>
          <p:nvPr/>
        </p:nvPicPr>
        <p:blipFill>
          <a:blip r:embed="rId3"/>
          <a:stretch>
            <a:fillRect/>
          </a:stretch>
        </p:blipFill>
        <p:spPr>
          <a:xfrm>
            <a:off x="6211884" y="1988820"/>
            <a:ext cx="1136107" cy="1097280"/>
          </a:xfrm>
          <a:prstGeom prst="rect">
            <a:avLst/>
          </a:prstGeom>
        </p:spPr>
      </p:pic>
      <p:sp>
        <p:nvSpPr>
          <p:cNvPr id="19" name="Shape 16"/>
          <p:cNvSpPr/>
          <p:nvPr/>
        </p:nvSpPr>
        <p:spPr>
          <a:xfrm>
            <a:off x="7723632" y="1975104"/>
            <a:ext cx="2045208" cy="1188720"/>
          </a:xfrm>
          <a:prstGeom prst="rect">
            <a:avLst/>
          </a:prstGeom>
          <a:solidFill>
            <a:srgbClr val="FFFFFF"/>
          </a:solidFill>
          <a:ln w="11430">
            <a:solidFill>
              <a:srgbClr val="C8D5E6"/>
            </a:solidFill>
            <a:prstDash val="solid"/>
          </a:ln>
        </p:spPr>
        <p:txBody>
          <a:bodyPr/>
          <a:lstStyle/>
          <a:p>
            <a:endParaRPr lang="en-US"/>
          </a:p>
        </p:txBody>
      </p:sp>
      <p:pic>
        <p:nvPicPr>
          <p:cNvPr id="20" name="Image 1" descr="/mnt/data/eda_thumbs/missingness_crop.png"/>
          <p:cNvPicPr>
            <a:picLocks noChangeAspect="1"/>
          </p:cNvPicPr>
          <p:nvPr/>
        </p:nvPicPr>
        <p:blipFill>
          <a:blip r:embed="rId4"/>
          <a:stretch>
            <a:fillRect/>
          </a:stretch>
        </p:blipFill>
        <p:spPr>
          <a:xfrm>
            <a:off x="8042605" y="2020824"/>
            <a:ext cx="1681582" cy="1097280"/>
          </a:xfrm>
          <a:prstGeom prst="rect">
            <a:avLst/>
          </a:prstGeom>
        </p:spPr>
      </p:pic>
      <p:sp>
        <p:nvSpPr>
          <p:cNvPr id="21" name="Shape 17"/>
          <p:cNvSpPr/>
          <p:nvPr/>
        </p:nvSpPr>
        <p:spPr>
          <a:xfrm>
            <a:off x="9933432" y="1975104"/>
            <a:ext cx="2045208" cy="1188720"/>
          </a:xfrm>
          <a:prstGeom prst="rect">
            <a:avLst/>
          </a:prstGeom>
          <a:solidFill>
            <a:srgbClr val="FFFFFF"/>
          </a:solidFill>
          <a:ln w="11430">
            <a:solidFill>
              <a:srgbClr val="C8D5E6"/>
            </a:solidFill>
            <a:prstDash val="solid"/>
          </a:ln>
        </p:spPr>
        <p:txBody>
          <a:bodyPr/>
          <a:lstStyle/>
          <a:p>
            <a:endParaRPr lang="en-US"/>
          </a:p>
        </p:txBody>
      </p:sp>
      <p:pic>
        <p:nvPicPr>
          <p:cNvPr id="22" name="Image 2" descr="/mnt/data/eda_thumbs/macro_crop.png"/>
          <p:cNvPicPr>
            <a:picLocks noChangeAspect="1"/>
          </p:cNvPicPr>
          <p:nvPr/>
        </p:nvPicPr>
        <p:blipFill>
          <a:blip r:embed="rId5"/>
          <a:stretch>
            <a:fillRect/>
          </a:stretch>
        </p:blipFill>
        <p:spPr>
          <a:xfrm>
            <a:off x="9951719" y="2079783"/>
            <a:ext cx="1900646" cy="745713"/>
          </a:xfrm>
          <a:prstGeom prst="rect">
            <a:avLst/>
          </a:prstGeom>
        </p:spPr>
      </p:pic>
      <p:sp>
        <p:nvSpPr>
          <p:cNvPr id="23" name="Shape 18"/>
          <p:cNvSpPr/>
          <p:nvPr/>
        </p:nvSpPr>
        <p:spPr>
          <a:xfrm>
            <a:off x="5513832" y="3538728"/>
            <a:ext cx="2045208" cy="1188720"/>
          </a:xfrm>
          <a:prstGeom prst="rect">
            <a:avLst/>
          </a:prstGeom>
          <a:solidFill>
            <a:srgbClr val="FFFFFF"/>
          </a:solidFill>
          <a:ln w="11430">
            <a:solidFill>
              <a:srgbClr val="C8D5E6"/>
            </a:solidFill>
            <a:prstDash val="solid"/>
          </a:ln>
        </p:spPr>
        <p:txBody>
          <a:bodyPr/>
          <a:lstStyle/>
          <a:p>
            <a:endParaRPr lang="en-US"/>
          </a:p>
        </p:txBody>
      </p:sp>
      <p:pic>
        <p:nvPicPr>
          <p:cNvPr id="24" name="Image 3" descr="/mnt/data/eda_thumbs/dist.png"/>
          <p:cNvPicPr>
            <a:picLocks noChangeAspect="1"/>
          </p:cNvPicPr>
          <p:nvPr/>
        </p:nvPicPr>
        <p:blipFill>
          <a:blip r:embed="rId6"/>
          <a:stretch>
            <a:fillRect/>
          </a:stretch>
        </p:blipFill>
        <p:spPr>
          <a:xfrm>
            <a:off x="6130015" y="3584448"/>
            <a:ext cx="812841" cy="1097280"/>
          </a:xfrm>
          <a:prstGeom prst="rect">
            <a:avLst/>
          </a:prstGeom>
        </p:spPr>
      </p:pic>
      <p:sp>
        <p:nvSpPr>
          <p:cNvPr id="25" name="Shape 19"/>
          <p:cNvSpPr/>
          <p:nvPr/>
        </p:nvSpPr>
        <p:spPr>
          <a:xfrm>
            <a:off x="7723632" y="3538728"/>
            <a:ext cx="2045208" cy="1188720"/>
          </a:xfrm>
          <a:prstGeom prst="rect">
            <a:avLst/>
          </a:prstGeom>
          <a:solidFill>
            <a:srgbClr val="FFFFFF"/>
          </a:solidFill>
          <a:ln w="11430">
            <a:solidFill>
              <a:srgbClr val="C8D5E6"/>
            </a:solidFill>
            <a:prstDash val="solid"/>
          </a:ln>
        </p:spPr>
        <p:txBody>
          <a:bodyPr/>
          <a:lstStyle/>
          <a:p>
            <a:endParaRPr lang="en-US"/>
          </a:p>
        </p:txBody>
      </p:sp>
      <p:pic>
        <p:nvPicPr>
          <p:cNvPr id="26" name="Image 4" descr="/mnt/data/eda_thumbs/ts.png"/>
          <p:cNvPicPr>
            <a:picLocks noChangeAspect="1"/>
          </p:cNvPicPr>
          <p:nvPr/>
        </p:nvPicPr>
        <p:blipFill>
          <a:blip r:embed="rId7"/>
          <a:stretch>
            <a:fillRect/>
          </a:stretch>
        </p:blipFill>
        <p:spPr>
          <a:xfrm>
            <a:off x="8352573" y="3563548"/>
            <a:ext cx="812841" cy="1097280"/>
          </a:xfrm>
          <a:prstGeom prst="rect">
            <a:avLst/>
          </a:prstGeom>
        </p:spPr>
      </p:pic>
      <p:sp>
        <p:nvSpPr>
          <p:cNvPr id="27" name="Shape 20"/>
          <p:cNvSpPr/>
          <p:nvPr/>
        </p:nvSpPr>
        <p:spPr>
          <a:xfrm>
            <a:off x="9933432" y="3538728"/>
            <a:ext cx="2045208" cy="1188720"/>
          </a:xfrm>
          <a:prstGeom prst="rect">
            <a:avLst/>
          </a:prstGeom>
          <a:solidFill>
            <a:srgbClr val="FFFFFF"/>
          </a:solidFill>
          <a:ln w="11430">
            <a:solidFill>
              <a:srgbClr val="C8D5E6"/>
            </a:solidFill>
            <a:prstDash val="solid"/>
          </a:ln>
        </p:spPr>
        <p:txBody>
          <a:bodyPr/>
          <a:lstStyle/>
          <a:p>
            <a:endParaRPr lang="en-US"/>
          </a:p>
        </p:txBody>
      </p:sp>
      <p:pic>
        <p:nvPicPr>
          <p:cNvPr id="28" name="Image 5" descr="/mnt/data/eda_thumbs/acf_combo_final.png"/>
          <p:cNvPicPr>
            <a:picLocks noChangeAspect="1"/>
          </p:cNvPicPr>
          <p:nvPr/>
        </p:nvPicPr>
        <p:blipFill>
          <a:blip r:embed="rId8"/>
          <a:stretch>
            <a:fillRect/>
          </a:stretch>
        </p:blipFill>
        <p:spPr>
          <a:xfrm>
            <a:off x="10565453" y="3584448"/>
            <a:ext cx="781166" cy="1097280"/>
          </a:xfrm>
          <a:prstGeom prst="rect">
            <a:avLst/>
          </a:prstGeom>
        </p:spPr>
      </p:pic>
      <p:sp>
        <p:nvSpPr>
          <p:cNvPr id="29" name="Shape 21"/>
          <p:cNvSpPr/>
          <p:nvPr/>
        </p:nvSpPr>
        <p:spPr>
          <a:xfrm>
            <a:off x="5513832" y="5102352"/>
            <a:ext cx="2045208" cy="1188720"/>
          </a:xfrm>
          <a:prstGeom prst="rect">
            <a:avLst/>
          </a:prstGeom>
          <a:solidFill>
            <a:srgbClr val="FFFFFF"/>
          </a:solidFill>
          <a:ln w="11430">
            <a:solidFill>
              <a:srgbClr val="C8D5E6"/>
            </a:solidFill>
            <a:prstDash val="solid"/>
          </a:ln>
        </p:spPr>
        <p:txBody>
          <a:bodyPr/>
          <a:lstStyle/>
          <a:p>
            <a:endParaRPr lang="en-US"/>
          </a:p>
        </p:txBody>
      </p:sp>
      <p:pic>
        <p:nvPicPr>
          <p:cNvPr id="30" name="Image 6" descr="/mnt/data/eda_thumbs/scatter.png"/>
          <p:cNvPicPr>
            <a:picLocks noChangeAspect="1"/>
          </p:cNvPicPr>
          <p:nvPr/>
        </p:nvPicPr>
        <p:blipFill>
          <a:blip r:embed="rId9"/>
          <a:stretch>
            <a:fillRect/>
          </a:stretch>
        </p:blipFill>
        <p:spPr>
          <a:xfrm>
            <a:off x="6130015" y="5148072"/>
            <a:ext cx="812841" cy="1097280"/>
          </a:xfrm>
          <a:prstGeom prst="rect">
            <a:avLst/>
          </a:prstGeom>
        </p:spPr>
      </p:pic>
      <p:sp>
        <p:nvSpPr>
          <p:cNvPr id="31" name="Shape 22"/>
          <p:cNvSpPr/>
          <p:nvPr/>
        </p:nvSpPr>
        <p:spPr>
          <a:xfrm>
            <a:off x="7723632" y="5102352"/>
            <a:ext cx="2045208" cy="1188720"/>
          </a:xfrm>
          <a:prstGeom prst="rect">
            <a:avLst/>
          </a:prstGeom>
          <a:solidFill>
            <a:srgbClr val="FFFFFF"/>
          </a:solidFill>
          <a:ln w="11430">
            <a:solidFill>
              <a:srgbClr val="C8D5E6"/>
            </a:solidFill>
            <a:prstDash val="solid"/>
          </a:ln>
        </p:spPr>
        <p:txBody>
          <a:bodyPr/>
          <a:lstStyle/>
          <a:p>
            <a:endParaRPr lang="en-US"/>
          </a:p>
        </p:txBody>
      </p:sp>
      <p:pic>
        <p:nvPicPr>
          <p:cNvPr id="32" name="Image 7" descr="/mnt/data/eda_thumbs/leak.png"/>
          <p:cNvPicPr>
            <a:picLocks noChangeAspect="1"/>
          </p:cNvPicPr>
          <p:nvPr/>
        </p:nvPicPr>
        <p:blipFill>
          <a:blip r:embed="rId10"/>
          <a:stretch>
            <a:fillRect/>
          </a:stretch>
        </p:blipFill>
        <p:spPr>
          <a:xfrm>
            <a:off x="8339815" y="5148072"/>
            <a:ext cx="812841" cy="1097280"/>
          </a:xfrm>
          <a:prstGeom prst="rect">
            <a:avLst/>
          </a:prstGeom>
        </p:spPr>
      </p:pic>
      <p:sp>
        <p:nvSpPr>
          <p:cNvPr id="33" name="Shape 23"/>
          <p:cNvSpPr/>
          <p:nvPr/>
        </p:nvSpPr>
        <p:spPr>
          <a:xfrm>
            <a:off x="9933432" y="5102352"/>
            <a:ext cx="2045208" cy="1188720"/>
          </a:xfrm>
          <a:prstGeom prst="rect">
            <a:avLst/>
          </a:prstGeom>
          <a:solidFill>
            <a:srgbClr val="FFFFFF"/>
          </a:solidFill>
          <a:ln w="11430">
            <a:solidFill>
              <a:srgbClr val="C8D5E6"/>
            </a:solidFill>
            <a:prstDash val="solid"/>
          </a:ln>
        </p:spPr>
        <p:txBody>
          <a:bodyPr/>
          <a:lstStyle/>
          <a:p>
            <a:endParaRPr lang="en-US"/>
          </a:p>
        </p:txBody>
      </p:sp>
      <p:pic>
        <p:nvPicPr>
          <p:cNvPr id="34" name="Image 8" descr="/mnt/data/eda_thumbs/baseline_crop.png"/>
          <p:cNvPicPr>
            <a:picLocks noChangeAspect="1"/>
          </p:cNvPicPr>
          <p:nvPr/>
        </p:nvPicPr>
        <p:blipFill>
          <a:blip r:embed="rId11"/>
          <a:stretch>
            <a:fillRect/>
          </a:stretch>
        </p:blipFill>
        <p:spPr>
          <a:xfrm>
            <a:off x="9992435" y="5257133"/>
            <a:ext cx="1953768" cy="458839"/>
          </a:xfrm>
          <a:prstGeom prst="rect">
            <a:avLst/>
          </a:prstGeom>
        </p:spPr>
      </p:pic>
      <p:sp>
        <p:nvSpPr>
          <p:cNvPr id="36" name="Rectangle 35">
            <a:extLst>
              <a:ext uri="{FF2B5EF4-FFF2-40B4-BE49-F238E27FC236}">
                <a16:creationId xmlns:a16="http://schemas.microsoft.com/office/drawing/2014/main" id="{FD897550-A202-3B81-3CAF-EF872806DCBC}"/>
              </a:ext>
            </a:extLst>
          </p:cNvPr>
          <p:cNvSpPr/>
          <p:nvPr/>
        </p:nvSpPr>
        <p:spPr>
          <a:xfrm>
            <a:off x="5968383" y="2916936"/>
            <a:ext cx="1136107" cy="201168"/>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Coverage by ticker</a:t>
            </a:r>
          </a:p>
        </p:txBody>
      </p:sp>
      <p:sp>
        <p:nvSpPr>
          <p:cNvPr id="37" name="Rectangle 36">
            <a:extLst>
              <a:ext uri="{FF2B5EF4-FFF2-40B4-BE49-F238E27FC236}">
                <a16:creationId xmlns:a16="http://schemas.microsoft.com/office/drawing/2014/main" id="{679420DD-5BF9-3E50-8418-BD3B4D5F7B51}"/>
              </a:ext>
            </a:extLst>
          </p:cNvPr>
          <p:cNvSpPr/>
          <p:nvPr/>
        </p:nvSpPr>
        <p:spPr>
          <a:xfrm>
            <a:off x="7905445" y="2916936"/>
            <a:ext cx="1681582" cy="201168"/>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Gaps &amp; missingness</a:t>
            </a:r>
          </a:p>
        </p:txBody>
      </p:sp>
      <p:sp>
        <p:nvSpPr>
          <p:cNvPr id="38" name="Rectangle 37">
            <a:extLst>
              <a:ext uri="{FF2B5EF4-FFF2-40B4-BE49-F238E27FC236}">
                <a16:creationId xmlns:a16="http://schemas.microsoft.com/office/drawing/2014/main" id="{6A8FC696-DFE6-43CA-5B3B-C47D0567F302}"/>
              </a:ext>
            </a:extLst>
          </p:cNvPr>
          <p:cNvSpPr/>
          <p:nvPr/>
        </p:nvSpPr>
        <p:spPr>
          <a:xfrm>
            <a:off x="9979152" y="2935224"/>
            <a:ext cx="1953768" cy="201168"/>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Macro constancy check</a:t>
            </a:r>
          </a:p>
        </p:txBody>
      </p:sp>
      <p:sp>
        <p:nvSpPr>
          <p:cNvPr id="39" name="Rectangle 38">
            <a:extLst>
              <a:ext uri="{FF2B5EF4-FFF2-40B4-BE49-F238E27FC236}">
                <a16:creationId xmlns:a16="http://schemas.microsoft.com/office/drawing/2014/main" id="{5026C52B-3CBD-39DE-84EC-42C809BDBDFF}"/>
              </a:ext>
            </a:extLst>
          </p:cNvPr>
          <p:cNvSpPr/>
          <p:nvPr/>
        </p:nvSpPr>
        <p:spPr>
          <a:xfrm>
            <a:off x="6043968" y="4432881"/>
            <a:ext cx="1101714" cy="265176"/>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Pooled distributions
(returns/volume/vol)</a:t>
            </a:r>
          </a:p>
        </p:txBody>
      </p:sp>
      <p:sp>
        <p:nvSpPr>
          <p:cNvPr id="40" name="Rectangle 39">
            <a:extLst>
              <a:ext uri="{FF2B5EF4-FFF2-40B4-BE49-F238E27FC236}">
                <a16:creationId xmlns:a16="http://schemas.microsoft.com/office/drawing/2014/main" id="{729D3D25-8A0D-71C9-FA33-26C761269473}"/>
              </a:ext>
            </a:extLst>
          </p:cNvPr>
          <p:cNvSpPr/>
          <p:nvPr/>
        </p:nvSpPr>
        <p:spPr>
          <a:xfrm>
            <a:off x="8339815" y="4493623"/>
            <a:ext cx="903245" cy="201168"/>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Single-ticker</a:t>
            </a:r>
          </a:p>
        </p:txBody>
      </p:sp>
      <p:sp>
        <p:nvSpPr>
          <p:cNvPr id="41" name="Rectangle 40">
            <a:extLst>
              <a:ext uri="{FF2B5EF4-FFF2-40B4-BE49-F238E27FC236}">
                <a16:creationId xmlns:a16="http://schemas.microsoft.com/office/drawing/2014/main" id="{D89BF1CC-4B4F-BB49-CC51-836CC243F754}"/>
              </a:ext>
            </a:extLst>
          </p:cNvPr>
          <p:cNvSpPr/>
          <p:nvPr/>
        </p:nvSpPr>
        <p:spPr>
          <a:xfrm>
            <a:off x="10497990" y="4455741"/>
            <a:ext cx="1123627" cy="233172"/>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ACF diagnostics 
returns, sq. returns, </a:t>
            </a:r>
          </a:p>
        </p:txBody>
      </p:sp>
      <p:sp>
        <p:nvSpPr>
          <p:cNvPr id="42" name="Rectangle 41">
            <a:extLst>
              <a:ext uri="{FF2B5EF4-FFF2-40B4-BE49-F238E27FC236}">
                <a16:creationId xmlns:a16="http://schemas.microsoft.com/office/drawing/2014/main" id="{6209993F-2B4F-0510-66E4-5F62070DEE45}"/>
              </a:ext>
            </a:extLst>
          </p:cNvPr>
          <p:cNvSpPr/>
          <p:nvPr/>
        </p:nvSpPr>
        <p:spPr>
          <a:xfrm>
            <a:off x="5828263" y="6038957"/>
            <a:ext cx="1519728" cy="219457"/>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Feature–target relationships
(</a:t>
            </a:r>
            <a:r>
              <a:rPr sz="850" b="1" dirty="0" err="1">
                <a:solidFill>
                  <a:schemeClr val="tx1"/>
                </a:solidFill>
                <a:latin typeface="Arial"/>
              </a:rPr>
              <a:t>corr</a:t>
            </a:r>
            <a:r>
              <a:rPr sz="850" b="1" dirty="0">
                <a:solidFill>
                  <a:schemeClr val="tx1"/>
                </a:solidFill>
                <a:latin typeface="Arial"/>
              </a:rPr>
              <a:t> + scatter)</a:t>
            </a:r>
          </a:p>
        </p:txBody>
      </p:sp>
      <p:sp>
        <p:nvSpPr>
          <p:cNvPr id="43" name="Rectangle 42">
            <a:extLst>
              <a:ext uri="{FF2B5EF4-FFF2-40B4-BE49-F238E27FC236}">
                <a16:creationId xmlns:a16="http://schemas.microsoft.com/office/drawing/2014/main" id="{E88D3FBE-ED9B-049D-694C-6C0BD1AC17E0}"/>
              </a:ext>
            </a:extLst>
          </p:cNvPr>
          <p:cNvSpPr/>
          <p:nvPr/>
        </p:nvSpPr>
        <p:spPr>
          <a:xfrm>
            <a:off x="8033791" y="6050716"/>
            <a:ext cx="1515291" cy="210311"/>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Leakage/alignment checks</a:t>
            </a:r>
          </a:p>
        </p:txBody>
      </p:sp>
      <p:sp>
        <p:nvSpPr>
          <p:cNvPr id="44" name="Rectangle 43">
            <a:extLst>
              <a:ext uri="{FF2B5EF4-FFF2-40B4-BE49-F238E27FC236}">
                <a16:creationId xmlns:a16="http://schemas.microsoft.com/office/drawing/2014/main" id="{D56C1AB5-ED87-50D6-3046-593844A64EFB}"/>
              </a:ext>
            </a:extLst>
          </p:cNvPr>
          <p:cNvSpPr/>
          <p:nvPr/>
        </p:nvSpPr>
        <p:spPr>
          <a:xfrm>
            <a:off x="10142437" y="6059207"/>
            <a:ext cx="1709928" cy="171121"/>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Baselines to beat</a:t>
            </a:r>
          </a:p>
        </p:txBody>
      </p:sp>
      <p:sp>
        <p:nvSpPr>
          <p:cNvPr id="45" name="Text 4">
            <a:extLst>
              <a:ext uri="{FF2B5EF4-FFF2-40B4-BE49-F238E27FC236}">
                <a16:creationId xmlns:a16="http://schemas.microsoft.com/office/drawing/2014/main" id="{E5345DA6-C830-2CF4-453D-19E2ABE68BC6}"/>
              </a:ext>
            </a:extLst>
          </p:cNvPr>
          <p:cNvSpPr/>
          <p:nvPr/>
        </p:nvSpPr>
        <p:spPr>
          <a:xfrm>
            <a:off x="1896291" y="847344"/>
            <a:ext cx="2338251" cy="256032"/>
          </a:xfrm>
          <a:prstGeom prst="rect">
            <a:avLst/>
          </a:prstGeom>
          <a:noFill/>
          <a:ln/>
        </p:spPr>
        <p:txBody>
          <a:bodyPr wrap="square" lIns="0" tIns="0" rIns="0" bIns="0" rtlCol="0" anchor="ctr"/>
          <a:lstStyle/>
          <a:p>
            <a:pPr marL="0" indent="0" algn="ctr">
              <a:buNone/>
            </a:pPr>
            <a:r>
              <a:rPr lang="en-US" sz="2000" b="1" dirty="0">
                <a:solidFill>
                  <a:srgbClr val="08A3C7"/>
                </a:solidFill>
                <a:ea typeface="Arial" pitchFamily="34" charset="-122"/>
                <a:cs typeface="Arial" pitchFamily="34" charset="-120"/>
              </a:rPr>
              <a:t>EDA Tests</a:t>
            </a:r>
            <a:endParaRPr lang="en-US" sz="2000" dirty="0"/>
          </a:p>
        </p:txBody>
      </p:sp>
      <p:sp>
        <p:nvSpPr>
          <p:cNvPr id="46" name="Shape 5">
            <a:extLst>
              <a:ext uri="{FF2B5EF4-FFF2-40B4-BE49-F238E27FC236}">
                <a16:creationId xmlns:a16="http://schemas.microsoft.com/office/drawing/2014/main" id="{093B9FA4-F5C8-06E5-E026-A7E3FFF94532}"/>
              </a:ext>
            </a:extLst>
          </p:cNvPr>
          <p:cNvSpPr/>
          <p:nvPr/>
        </p:nvSpPr>
        <p:spPr>
          <a:xfrm flipV="1">
            <a:off x="2599508" y="1152144"/>
            <a:ext cx="979715" cy="0"/>
          </a:xfrm>
          <a:prstGeom prst="line">
            <a:avLst/>
          </a:prstGeom>
          <a:noFill/>
          <a:ln w="15240">
            <a:solidFill>
              <a:srgbClr val="08A3C7"/>
            </a:solidFill>
            <a:prstDash val="solid"/>
          </a:ln>
        </p:spPr>
        <p:txBody>
          <a:bodyPr/>
          <a:lstStyle/>
          <a:p>
            <a:endParaRPr lang="en-US"/>
          </a:p>
        </p:txBody>
      </p:sp>
      <p:sp>
        <p:nvSpPr>
          <p:cNvPr id="35" name="Text 3">
            <a:extLst>
              <a:ext uri="{FF2B5EF4-FFF2-40B4-BE49-F238E27FC236}">
                <a16:creationId xmlns:a16="http://schemas.microsoft.com/office/drawing/2014/main" id="{5FCC1BC8-5AEE-0C4A-72D1-04569D7295A9}"/>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2000" cy="640080"/>
          </a:xfrm>
          <a:prstGeom prst="rect">
            <a:avLst/>
          </a:prstGeom>
          <a:solidFill>
            <a:srgbClr val="0B2445"/>
          </a:solidFill>
          <a:ln>
            <a:solidFill>
              <a:srgbClr val="0B24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537960"/>
            <a:ext cx="12192000" cy="320040"/>
          </a:xfrm>
          <a:prstGeom prst="rect">
            <a:avLst/>
          </a:prstGeom>
          <a:solidFill>
            <a:srgbClr val="0B2445"/>
          </a:solidFill>
          <a:ln>
            <a:solidFill>
              <a:srgbClr val="0B24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0000" y="60736"/>
            <a:ext cx="2541800" cy="538609"/>
          </a:xfrm>
          <a:prstGeom prst="rect">
            <a:avLst/>
          </a:prstGeom>
          <a:noFill/>
        </p:spPr>
        <p:txBody>
          <a:bodyPr wrap="square" lIns="0" rIns="0">
            <a:spAutoFit/>
          </a:bodyPr>
          <a:lstStyle/>
          <a:p>
            <a:pPr algn="l"/>
            <a:r>
              <a:rPr lang="en-US" sz="2900" b="1" dirty="0">
                <a:solidFill>
                  <a:srgbClr val="FFFFFF"/>
                </a:solidFill>
              </a:rPr>
              <a:t>D</a:t>
            </a:r>
            <a:r>
              <a:rPr lang="en-US" sz="2900" b="1" i="0" dirty="0">
                <a:solidFill>
                  <a:srgbClr val="FFFFFF"/>
                </a:solidFill>
              </a:rPr>
              <a:t>ata Splitting</a:t>
            </a:r>
            <a:endParaRPr sz="2900" b="1" i="0" dirty="0">
              <a:solidFill>
                <a:srgbClr val="FFFFFF"/>
              </a:solidFill>
            </a:endParaRPr>
          </a:p>
        </p:txBody>
      </p:sp>
      <p:sp>
        <p:nvSpPr>
          <p:cNvPr id="6" name="TextBox 5"/>
          <p:cNvSpPr txBox="1"/>
          <p:nvPr/>
        </p:nvSpPr>
        <p:spPr>
          <a:xfrm>
            <a:off x="304148" y="789355"/>
            <a:ext cx="11491703" cy="400110"/>
          </a:xfrm>
          <a:prstGeom prst="rect">
            <a:avLst/>
          </a:prstGeom>
          <a:noFill/>
        </p:spPr>
        <p:txBody>
          <a:bodyPr wrap="square" lIns="0" rIns="0">
            <a:spAutoFit/>
          </a:bodyPr>
          <a:lstStyle/>
          <a:p>
            <a:pPr algn="ctr"/>
            <a:r>
              <a:rPr lang="en-US" sz="2000" b="1" dirty="0">
                <a:solidFill>
                  <a:srgbClr val="169EC5"/>
                </a:solidFill>
              </a:rPr>
              <a:t>S</a:t>
            </a:r>
            <a:r>
              <a:rPr lang="en-US" sz="2000" b="1" i="0" dirty="0">
                <a:solidFill>
                  <a:srgbClr val="169EC5"/>
                </a:solidFill>
              </a:rPr>
              <a:t>plit is Chronological, Leakage-Aware, and Standardized </a:t>
            </a:r>
            <a:r>
              <a:rPr lang="en-US" sz="2000" b="1" dirty="0">
                <a:solidFill>
                  <a:srgbClr val="169EC5"/>
                </a:solidFill>
              </a:rPr>
              <a:t>A</a:t>
            </a:r>
            <a:r>
              <a:rPr lang="en-US" sz="2000" b="1" i="0" dirty="0">
                <a:solidFill>
                  <a:srgbClr val="169EC5"/>
                </a:solidFill>
              </a:rPr>
              <a:t>cross </a:t>
            </a:r>
            <a:r>
              <a:rPr lang="en-US" sz="2000" b="1" dirty="0">
                <a:solidFill>
                  <a:srgbClr val="169EC5"/>
                </a:solidFill>
              </a:rPr>
              <a:t>A</a:t>
            </a:r>
            <a:r>
              <a:rPr lang="en-US" sz="2000" b="1" i="0" dirty="0">
                <a:solidFill>
                  <a:srgbClr val="169EC5"/>
                </a:solidFill>
              </a:rPr>
              <a:t>ll </a:t>
            </a:r>
            <a:r>
              <a:rPr lang="en-US" sz="2000" b="1" dirty="0">
                <a:solidFill>
                  <a:srgbClr val="169EC5"/>
                </a:solidFill>
              </a:rPr>
              <a:t>T</a:t>
            </a:r>
            <a:r>
              <a:rPr lang="en-US" sz="2000" b="1" i="0" dirty="0">
                <a:solidFill>
                  <a:srgbClr val="169EC5"/>
                </a:solidFill>
              </a:rPr>
              <a:t>eam </a:t>
            </a:r>
            <a:r>
              <a:rPr lang="en-US" sz="2000" b="1" dirty="0">
                <a:solidFill>
                  <a:srgbClr val="169EC5"/>
                </a:solidFill>
              </a:rPr>
              <a:t>M</a:t>
            </a:r>
            <a:r>
              <a:rPr lang="en-US" sz="2000" b="1" i="0" dirty="0">
                <a:solidFill>
                  <a:srgbClr val="169EC5"/>
                </a:solidFill>
              </a:rPr>
              <a:t>odels</a:t>
            </a:r>
            <a:endParaRPr sz="2000" b="1" i="0" dirty="0">
              <a:solidFill>
                <a:srgbClr val="169EC5"/>
              </a:solidFill>
            </a:endParaRPr>
          </a:p>
        </p:txBody>
      </p:sp>
      <p:sp>
        <p:nvSpPr>
          <p:cNvPr id="9" name="Rounded Rectangle 8"/>
          <p:cNvSpPr/>
          <p:nvPr/>
        </p:nvSpPr>
        <p:spPr>
          <a:xfrm>
            <a:off x="500000" y="1400000"/>
            <a:ext cx="2720000" cy="1420000"/>
          </a:xfrm>
          <a:prstGeom prst="roundRect">
            <a:avLst>
              <a:gd name="adj" fmla="val 8000"/>
            </a:avLst>
          </a:prstGeom>
          <a:solidFill>
            <a:srgbClr val="FFFFFF"/>
          </a:solidFill>
          <a:ln>
            <a:solidFill>
              <a:srgbClr val="B8C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40000" y="1510000"/>
            <a:ext cx="1750000" cy="360000"/>
          </a:xfrm>
          <a:prstGeom prst="roundRect">
            <a:avLst>
              <a:gd name="adj" fmla="val 8000"/>
            </a:avLst>
          </a:prstGeom>
          <a:solidFill>
            <a:srgbClr val="E9F8FC"/>
          </a:solidFill>
          <a:ln>
            <a:solidFill>
              <a:srgbClr val="E9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0000" y="1565000"/>
            <a:ext cx="1550000" cy="307777"/>
          </a:xfrm>
          <a:prstGeom prst="rect">
            <a:avLst/>
          </a:prstGeom>
          <a:noFill/>
        </p:spPr>
        <p:txBody>
          <a:bodyPr wrap="square" lIns="0" rIns="0">
            <a:spAutoFit/>
          </a:bodyPr>
          <a:lstStyle/>
          <a:p>
            <a:pPr algn="l"/>
            <a:r>
              <a:rPr sz="1400" b="1" i="0" dirty="0">
                <a:solidFill>
                  <a:srgbClr val="0B2445"/>
                </a:solidFill>
              </a:rPr>
              <a:t>Training</a:t>
            </a:r>
          </a:p>
        </p:txBody>
      </p:sp>
      <p:sp>
        <p:nvSpPr>
          <p:cNvPr id="12" name="TextBox 11"/>
          <p:cNvSpPr txBox="1"/>
          <p:nvPr/>
        </p:nvSpPr>
        <p:spPr>
          <a:xfrm>
            <a:off x="700000" y="2000000"/>
            <a:ext cx="2320000" cy="824841"/>
          </a:xfrm>
          <a:prstGeom prst="rect">
            <a:avLst/>
          </a:prstGeom>
          <a:noFill/>
        </p:spPr>
        <p:txBody>
          <a:bodyPr wrap="square" lIns="0" rIns="0">
            <a:spAutoFit/>
          </a:bodyPr>
          <a:lstStyle/>
          <a:p>
            <a:pPr algn="l"/>
            <a:r>
              <a:rPr sz="1200" b="0" i="0" dirty="0">
                <a:solidFill>
                  <a:srgbClr val="2C3A50"/>
                </a:solidFill>
                <a:latin typeface="Calibri "/>
              </a:rPr>
              <a:t>2015-01-02 → 2022-12-30
69,453 rows  |  71.95%
Long historical window for model fitting</a:t>
            </a:r>
          </a:p>
        </p:txBody>
      </p:sp>
      <p:sp>
        <p:nvSpPr>
          <p:cNvPr id="13" name="Rounded Rectangle 12"/>
          <p:cNvSpPr/>
          <p:nvPr/>
        </p:nvSpPr>
        <p:spPr>
          <a:xfrm>
            <a:off x="3440000" y="1400000"/>
            <a:ext cx="2720000" cy="1420000"/>
          </a:xfrm>
          <a:prstGeom prst="roundRect">
            <a:avLst>
              <a:gd name="adj" fmla="val 8000"/>
            </a:avLst>
          </a:prstGeom>
          <a:solidFill>
            <a:srgbClr val="FFFFFF"/>
          </a:solidFill>
          <a:ln>
            <a:solidFill>
              <a:srgbClr val="B8C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580000" y="1510000"/>
            <a:ext cx="1750000" cy="360000"/>
          </a:xfrm>
          <a:prstGeom prst="roundRect">
            <a:avLst>
              <a:gd name="adj" fmla="val 8000"/>
            </a:avLst>
          </a:prstGeom>
          <a:solidFill>
            <a:srgbClr val="E9F8FC"/>
          </a:solidFill>
          <a:ln>
            <a:solidFill>
              <a:srgbClr val="E9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50000" y="1565000"/>
            <a:ext cx="1550000" cy="307777"/>
          </a:xfrm>
          <a:prstGeom prst="rect">
            <a:avLst/>
          </a:prstGeom>
          <a:noFill/>
        </p:spPr>
        <p:txBody>
          <a:bodyPr wrap="square" lIns="0" rIns="0">
            <a:spAutoFit/>
          </a:bodyPr>
          <a:lstStyle/>
          <a:p>
            <a:pPr algn="l"/>
            <a:r>
              <a:rPr sz="1400" b="1" i="0">
                <a:solidFill>
                  <a:srgbClr val="0B2445"/>
                </a:solidFill>
              </a:rPr>
              <a:t>Validation</a:t>
            </a:r>
          </a:p>
        </p:txBody>
      </p:sp>
      <p:sp>
        <p:nvSpPr>
          <p:cNvPr id="16" name="TextBox 15"/>
          <p:cNvSpPr txBox="1"/>
          <p:nvPr/>
        </p:nvSpPr>
        <p:spPr>
          <a:xfrm>
            <a:off x="3640000" y="2000000"/>
            <a:ext cx="2320000" cy="824841"/>
          </a:xfrm>
          <a:prstGeom prst="rect">
            <a:avLst/>
          </a:prstGeom>
          <a:noFill/>
        </p:spPr>
        <p:txBody>
          <a:bodyPr wrap="square" lIns="0" rIns="0">
            <a:spAutoFit/>
          </a:bodyPr>
          <a:lstStyle/>
          <a:p>
            <a:pPr algn="l"/>
            <a:r>
              <a:rPr sz="1200" b="0" i="0" dirty="0">
                <a:solidFill>
                  <a:srgbClr val="2C3A50"/>
                </a:solidFill>
                <a:latin typeface="Calibri "/>
              </a:rPr>
              <a:t>2023-01-03 → 2024-12-31
18,072 rows  |  18.72%
Recent window for tuning and model selection</a:t>
            </a:r>
          </a:p>
        </p:txBody>
      </p:sp>
      <p:sp>
        <p:nvSpPr>
          <p:cNvPr id="17" name="Rounded Rectangle 16"/>
          <p:cNvSpPr/>
          <p:nvPr/>
        </p:nvSpPr>
        <p:spPr>
          <a:xfrm>
            <a:off x="6380000" y="1400000"/>
            <a:ext cx="2720000" cy="1420000"/>
          </a:xfrm>
          <a:prstGeom prst="roundRect">
            <a:avLst>
              <a:gd name="adj" fmla="val 8000"/>
            </a:avLst>
          </a:prstGeom>
          <a:solidFill>
            <a:srgbClr val="FFFFFF"/>
          </a:solidFill>
          <a:ln>
            <a:solidFill>
              <a:srgbClr val="B8C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520000" y="1510000"/>
            <a:ext cx="1750000" cy="360000"/>
          </a:xfrm>
          <a:prstGeom prst="roundRect">
            <a:avLst>
              <a:gd name="adj" fmla="val 8000"/>
            </a:avLst>
          </a:prstGeom>
          <a:solidFill>
            <a:srgbClr val="E9F8FC"/>
          </a:solidFill>
          <a:ln>
            <a:solidFill>
              <a:srgbClr val="E9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90000" y="1565000"/>
            <a:ext cx="1550000" cy="307777"/>
          </a:xfrm>
          <a:prstGeom prst="rect">
            <a:avLst/>
          </a:prstGeom>
          <a:noFill/>
        </p:spPr>
        <p:txBody>
          <a:bodyPr wrap="square" lIns="0" rIns="0">
            <a:spAutoFit/>
          </a:bodyPr>
          <a:lstStyle/>
          <a:p>
            <a:pPr algn="l"/>
            <a:r>
              <a:rPr sz="1400" b="1" i="0">
                <a:solidFill>
                  <a:srgbClr val="0B2445"/>
                </a:solidFill>
              </a:rPr>
              <a:t>Test</a:t>
            </a:r>
          </a:p>
        </p:txBody>
      </p:sp>
      <p:sp>
        <p:nvSpPr>
          <p:cNvPr id="20" name="TextBox 19"/>
          <p:cNvSpPr txBox="1"/>
          <p:nvPr/>
        </p:nvSpPr>
        <p:spPr>
          <a:xfrm>
            <a:off x="6580000" y="2000000"/>
            <a:ext cx="2320000" cy="824841"/>
          </a:xfrm>
          <a:prstGeom prst="rect">
            <a:avLst/>
          </a:prstGeom>
          <a:noFill/>
        </p:spPr>
        <p:txBody>
          <a:bodyPr wrap="square" lIns="0" rIns="0">
            <a:spAutoFit/>
          </a:bodyPr>
          <a:lstStyle/>
          <a:p>
            <a:pPr algn="l"/>
            <a:r>
              <a:rPr sz="1200" b="0" i="0" dirty="0">
                <a:solidFill>
                  <a:srgbClr val="2C3A50"/>
                </a:solidFill>
                <a:latin typeface="Calibri "/>
              </a:rPr>
              <a:t>2025-01-02 → 2025-12-31
9,000 rows  |  9.32%
Fully held-out year for final evaluation</a:t>
            </a:r>
          </a:p>
        </p:txBody>
      </p:sp>
      <p:sp>
        <p:nvSpPr>
          <p:cNvPr id="21" name="Rounded Rectangle 20"/>
          <p:cNvSpPr/>
          <p:nvPr/>
        </p:nvSpPr>
        <p:spPr>
          <a:xfrm>
            <a:off x="9320000" y="1400000"/>
            <a:ext cx="2720000" cy="1420000"/>
          </a:xfrm>
          <a:prstGeom prst="roundRect">
            <a:avLst>
              <a:gd name="adj" fmla="val 8000"/>
            </a:avLst>
          </a:prstGeom>
          <a:solidFill>
            <a:srgbClr val="FFFFFF"/>
          </a:solidFill>
          <a:ln>
            <a:solidFill>
              <a:srgbClr val="B8C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9460000" y="1510000"/>
            <a:ext cx="1900000" cy="360000"/>
          </a:xfrm>
          <a:prstGeom prst="roundRect">
            <a:avLst>
              <a:gd name="adj" fmla="val 8000"/>
            </a:avLst>
          </a:prstGeom>
          <a:solidFill>
            <a:srgbClr val="E9F8FC"/>
          </a:solidFill>
          <a:ln>
            <a:solidFill>
              <a:srgbClr val="E9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630000" y="1565000"/>
            <a:ext cx="1700000" cy="307777"/>
          </a:xfrm>
          <a:prstGeom prst="rect">
            <a:avLst/>
          </a:prstGeom>
          <a:noFill/>
        </p:spPr>
        <p:txBody>
          <a:bodyPr wrap="square" lIns="0" rIns="0">
            <a:spAutoFit/>
          </a:bodyPr>
          <a:lstStyle/>
          <a:p>
            <a:pPr algn="l"/>
            <a:r>
              <a:rPr sz="1400" b="1" i="0" dirty="0">
                <a:solidFill>
                  <a:srgbClr val="0B2445"/>
                </a:solidFill>
              </a:rPr>
              <a:t>Leakage</a:t>
            </a:r>
            <a:r>
              <a:rPr lang="en-US" sz="1400" b="1" i="0" dirty="0">
                <a:solidFill>
                  <a:srgbClr val="0B2445"/>
                </a:solidFill>
              </a:rPr>
              <a:t> </a:t>
            </a:r>
            <a:r>
              <a:rPr sz="1400" b="1" i="0" dirty="0">
                <a:solidFill>
                  <a:srgbClr val="0B2445"/>
                </a:solidFill>
              </a:rPr>
              <a:t>control</a:t>
            </a:r>
          </a:p>
        </p:txBody>
      </p:sp>
      <p:sp>
        <p:nvSpPr>
          <p:cNvPr id="24" name="TextBox 23"/>
          <p:cNvSpPr txBox="1"/>
          <p:nvPr/>
        </p:nvSpPr>
        <p:spPr>
          <a:xfrm>
            <a:off x="9520000" y="2000000"/>
            <a:ext cx="2320000" cy="824841"/>
          </a:xfrm>
          <a:prstGeom prst="rect">
            <a:avLst/>
          </a:prstGeom>
          <a:noFill/>
        </p:spPr>
        <p:txBody>
          <a:bodyPr wrap="square" lIns="0" rIns="0">
            <a:spAutoFit/>
          </a:bodyPr>
          <a:lstStyle/>
          <a:p>
            <a:pPr algn="l"/>
            <a:r>
              <a:rPr sz="1200" b="0" i="0" dirty="0">
                <a:solidFill>
                  <a:srgbClr val="2C3A50"/>
                </a:solidFill>
                <a:latin typeface="Calibri "/>
              </a:rPr>
              <a:t>5-trading-day purge gap at each boundary
Remove rows whose target window crosses partitions</a:t>
            </a:r>
          </a:p>
        </p:txBody>
      </p:sp>
      <p:sp>
        <p:nvSpPr>
          <p:cNvPr id="25" name="Rounded Rectangle 24"/>
          <p:cNvSpPr/>
          <p:nvPr/>
        </p:nvSpPr>
        <p:spPr>
          <a:xfrm>
            <a:off x="500000" y="3000000"/>
            <a:ext cx="4200000" cy="2300000"/>
          </a:xfrm>
          <a:prstGeom prst="roundRect">
            <a:avLst>
              <a:gd name="adj" fmla="val 8000"/>
            </a:avLst>
          </a:prstGeom>
          <a:solidFill>
            <a:srgbClr val="FFFFFF"/>
          </a:solidFill>
          <a:ln>
            <a:solidFill>
              <a:srgbClr val="B8C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6" name="Rounded Rectangle 25"/>
          <p:cNvSpPr/>
          <p:nvPr/>
        </p:nvSpPr>
        <p:spPr>
          <a:xfrm>
            <a:off x="639999" y="3110000"/>
            <a:ext cx="2181577" cy="360000"/>
          </a:xfrm>
          <a:prstGeom prst="roundRect">
            <a:avLst>
              <a:gd name="adj" fmla="val 8000"/>
            </a:avLst>
          </a:prstGeom>
          <a:solidFill>
            <a:srgbClr val="E9F8FC"/>
          </a:solidFill>
          <a:ln>
            <a:solidFill>
              <a:srgbClr val="E9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40000" y="3160000"/>
            <a:ext cx="2000000" cy="307777"/>
          </a:xfrm>
          <a:prstGeom prst="rect">
            <a:avLst/>
          </a:prstGeom>
          <a:noFill/>
        </p:spPr>
        <p:txBody>
          <a:bodyPr wrap="square" lIns="0" rIns="0">
            <a:spAutoFit/>
          </a:bodyPr>
          <a:lstStyle/>
          <a:p>
            <a:pPr algn="l"/>
            <a:r>
              <a:rPr sz="1400" b="1" i="0" dirty="0">
                <a:solidFill>
                  <a:srgbClr val="0B2445"/>
                </a:solidFill>
              </a:rPr>
              <a:t>Methodology &amp;</a:t>
            </a:r>
            <a:r>
              <a:rPr lang="en-US" sz="1400" b="1" i="0" dirty="0">
                <a:solidFill>
                  <a:srgbClr val="0B2445"/>
                </a:solidFill>
              </a:rPr>
              <a:t> </a:t>
            </a:r>
            <a:r>
              <a:rPr sz="1400" b="1" i="0" dirty="0">
                <a:solidFill>
                  <a:srgbClr val="0B2445"/>
                </a:solidFill>
              </a:rPr>
              <a:t>guardrails</a:t>
            </a:r>
          </a:p>
        </p:txBody>
      </p:sp>
      <p:sp>
        <p:nvSpPr>
          <p:cNvPr id="28" name="TextBox 27"/>
          <p:cNvSpPr txBox="1"/>
          <p:nvPr/>
        </p:nvSpPr>
        <p:spPr>
          <a:xfrm>
            <a:off x="680000" y="3560000"/>
            <a:ext cx="3840000" cy="1608133"/>
          </a:xfrm>
          <a:prstGeom prst="rect">
            <a:avLst/>
          </a:prstGeom>
          <a:noFill/>
        </p:spPr>
        <p:txBody>
          <a:bodyPr wrap="square" lIns="0" rIns="0">
            <a:spAutoFit/>
          </a:bodyPr>
          <a:lstStyle/>
          <a:p>
            <a:pPr>
              <a:spcAft>
                <a:spcPts val="100"/>
              </a:spcAft>
              <a:defRPr sz="1160">
                <a:solidFill>
                  <a:srgbClr val="2C3A50"/>
                </a:solidFill>
                <a:latin typeface="Aptos"/>
              </a:defRPr>
            </a:pPr>
            <a:r>
              <a:rPr sz="1200" dirty="0">
                <a:latin typeface="Calibri "/>
              </a:rPr>
              <a:t>• Split by date across all ETFs simultaneously; no random shuffling.</a:t>
            </a:r>
          </a:p>
          <a:p>
            <a:pPr>
              <a:spcAft>
                <a:spcPts val="100"/>
              </a:spcAft>
              <a:defRPr sz="1160">
                <a:solidFill>
                  <a:srgbClr val="2C3A50"/>
                </a:solidFill>
                <a:latin typeface="Aptos"/>
              </a:defRPr>
            </a:pPr>
            <a:r>
              <a:rPr sz="1200" dirty="0">
                <a:latin typeface="Calibri "/>
              </a:rPr>
              <a:t>• Forward 5-day target uses future returns, so chronology must be preserved.</a:t>
            </a:r>
          </a:p>
          <a:p>
            <a:pPr>
              <a:spcAft>
                <a:spcPts val="100"/>
              </a:spcAft>
              <a:defRPr sz="1160">
                <a:solidFill>
                  <a:srgbClr val="2C3A50"/>
                </a:solidFill>
                <a:latin typeface="Aptos"/>
              </a:defRPr>
            </a:pPr>
            <a:r>
              <a:rPr sz="1200" dirty="0">
                <a:latin typeface="Calibri "/>
              </a:rPr>
              <a:t>• Same train / validation / test rows used for every team model.</a:t>
            </a:r>
          </a:p>
          <a:p>
            <a:pPr>
              <a:spcAft>
                <a:spcPts val="100"/>
              </a:spcAft>
              <a:defRPr sz="1160">
                <a:solidFill>
                  <a:srgbClr val="2C3A50"/>
                </a:solidFill>
                <a:latin typeface="Aptos"/>
              </a:defRPr>
            </a:pPr>
            <a:r>
              <a:rPr sz="1200" dirty="0">
                <a:latin typeface="Calibri "/>
              </a:rPr>
              <a:t>• Natural year boundaries create realistic validation and unseen test periods.</a:t>
            </a:r>
          </a:p>
        </p:txBody>
      </p:sp>
      <p:sp>
        <p:nvSpPr>
          <p:cNvPr id="29" name="Rounded Rectangle 28"/>
          <p:cNvSpPr/>
          <p:nvPr/>
        </p:nvSpPr>
        <p:spPr>
          <a:xfrm>
            <a:off x="670000" y="4759999"/>
            <a:ext cx="3860000" cy="485857"/>
          </a:xfrm>
          <a:prstGeom prst="roundRect">
            <a:avLst>
              <a:gd name="adj" fmla="val 8000"/>
            </a:avLst>
          </a:prstGeom>
          <a:solidFill>
            <a:srgbClr val="F6F9FD"/>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0810" y="4759999"/>
            <a:ext cx="3700000" cy="461665"/>
          </a:xfrm>
          <a:prstGeom prst="rect">
            <a:avLst/>
          </a:prstGeom>
          <a:noFill/>
        </p:spPr>
        <p:txBody>
          <a:bodyPr wrap="square" lIns="0" rIns="0">
            <a:spAutoFit/>
          </a:bodyPr>
          <a:lstStyle/>
          <a:p>
            <a:pPr algn="l"/>
            <a:r>
              <a:rPr sz="1200" b="0" i="0" dirty="0">
                <a:solidFill>
                  <a:srgbClr val="2C3A50"/>
                </a:solidFill>
                <a:latin typeface="Calibri "/>
              </a:rPr>
              <a:t>Checks passed: train max &lt; validation min, validation max &lt; test min, no overlap, all rows accounted for.</a:t>
            </a:r>
          </a:p>
        </p:txBody>
      </p:sp>
      <p:sp>
        <p:nvSpPr>
          <p:cNvPr id="31" name="Rounded Rectangle 30"/>
          <p:cNvSpPr/>
          <p:nvPr/>
        </p:nvSpPr>
        <p:spPr>
          <a:xfrm>
            <a:off x="4880000" y="2999999"/>
            <a:ext cx="7160000" cy="3394269"/>
          </a:xfrm>
          <a:prstGeom prst="roundRect">
            <a:avLst>
              <a:gd name="adj" fmla="val 8000"/>
            </a:avLst>
          </a:prstGeom>
          <a:solidFill>
            <a:srgbClr val="FFFFFF"/>
          </a:solidFill>
          <a:ln>
            <a:solidFill>
              <a:srgbClr val="B8C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5030000" y="3110000"/>
            <a:ext cx="2600000" cy="360000"/>
          </a:xfrm>
          <a:prstGeom prst="roundRect">
            <a:avLst>
              <a:gd name="adj" fmla="val 8000"/>
            </a:avLst>
          </a:prstGeom>
          <a:solidFill>
            <a:srgbClr val="E9F8FC"/>
          </a:solidFill>
          <a:ln>
            <a:solidFill>
              <a:srgbClr val="E9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150000" y="3165000"/>
            <a:ext cx="2400000" cy="307777"/>
          </a:xfrm>
          <a:prstGeom prst="rect">
            <a:avLst/>
          </a:prstGeom>
          <a:noFill/>
        </p:spPr>
        <p:txBody>
          <a:bodyPr wrap="square" lIns="0" rIns="0">
            <a:spAutoFit/>
          </a:bodyPr>
          <a:lstStyle/>
          <a:p>
            <a:pPr algn="l"/>
            <a:r>
              <a:rPr sz="1400" b="1" i="0" dirty="0">
                <a:solidFill>
                  <a:srgbClr val="0B2445"/>
                </a:solidFill>
              </a:rPr>
              <a:t>Chronological split</a:t>
            </a:r>
            <a:r>
              <a:rPr lang="en-US" sz="1400" b="1" i="0" dirty="0">
                <a:solidFill>
                  <a:srgbClr val="0B2445"/>
                </a:solidFill>
              </a:rPr>
              <a:t> </a:t>
            </a:r>
            <a:r>
              <a:rPr sz="1400" b="1" i="0" dirty="0">
                <a:solidFill>
                  <a:srgbClr val="0B2445"/>
                </a:solidFill>
              </a:rPr>
              <a:t>visualization</a:t>
            </a:r>
          </a:p>
        </p:txBody>
      </p:sp>
      <p:pic>
        <p:nvPicPr>
          <p:cNvPr id="34" name="Picture 33" descr="split_chart_crop2.png"/>
          <p:cNvPicPr>
            <a:picLocks noChangeAspect="1"/>
          </p:cNvPicPr>
          <p:nvPr/>
        </p:nvPicPr>
        <p:blipFill>
          <a:blip r:embed="rId2"/>
          <a:stretch>
            <a:fillRect/>
          </a:stretch>
        </p:blipFill>
        <p:spPr>
          <a:xfrm>
            <a:off x="5030000" y="3520337"/>
            <a:ext cx="6870942" cy="2764494"/>
          </a:xfrm>
          <a:prstGeom prst="rect">
            <a:avLst/>
          </a:prstGeom>
        </p:spPr>
      </p:pic>
      <p:sp>
        <p:nvSpPr>
          <p:cNvPr id="38" name="Shape 5">
            <a:extLst>
              <a:ext uri="{FF2B5EF4-FFF2-40B4-BE49-F238E27FC236}">
                <a16:creationId xmlns:a16="http://schemas.microsoft.com/office/drawing/2014/main" id="{A9B774C7-6D28-DAD6-8C9F-74E4DA89048B}"/>
              </a:ext>
            </a:extLst>
          </p:cNvPr>
          <p:cNvSpPr/>
          <p:nvPr/>
        </p:nvSpPr>
        <p:spPr>
          <a:xfrm>
            <a:off x="1848394" y="1170000"/>
            <a:ext cx="8392886" cy="0"/>
          </a:xfrm>
          <a:prstGeom prst="line">
            <a:avLst/>
          </a:prstGeom>
          <a:noFill/>
          <a:ln w="15240">
            <a:solidFill>
              <a:srgbClr val="08A3C7"/>
            </a:solidFill>
            <a:prstDash val="solid"/>
          </a:ln>
        </p:spPr>
        <p:txBody>
          <a:bodyPr/>
          <a:lstStyle/>
          <a:p>
            <a:endParaRPr lang="en-US" dirty="0"/>
          </a:p>
        </p:txBody>
      </p:sp>
      <p:sp>
        <p:nvSpPr>
          <p:cNvPr id="2" name="Text 3">
            <a:extLst>
              <a:ext uri="{FF2B5EF4-FFF2-40B4-BE49-F238E27FC236}">
                <a16:creationId xmlns:a16="http://schemas.microsoft.com/office/drawing/2014/main" id="{2B7A3644-7E18-3125-0F2A-7C12F5CA1B8E}"/>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ounded Rectangle 8">
            <a:extLst>
              <a:ext uri="{FF2B5EF4-FFF2-40B4-BE49-F238E27FC236}">
                <a16:creationId xmlns:a16="http://schemas.microsoft.com/office/drawing/2014/main" id="{60761F46-314F-BA2E-A447-C25A2E591134}"/>
              </a:ext>
            </a:extLst>
          </p:cNvPr>
          <p:cNvSpPr/>
          <p:nvPr/>
        </p:nvSpPr>
        <p:spPr>
          <a:xfrm>
            <a:off x="220000" y="1311665"/>
            <a:ext cx="5560313" cy="5030352"/>
          </a:xfrm>
          <a:prstGeom prst="roundRect">
            <a:avLst>
              <a:gd name="adj" fmla="val 8000"/>
            </a:avLst>
          </a:prstGeom>
          <a:solidFill>
            <a:srgbClr val="FFFFFF"/>
          </a:solidFill>
          <a:ln>
            <a:solidFill>
              <a:srgbClr val="B8C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2000" cy="640080"/>
          </a:xfrm>
          <a:prstGeom prst="rect">
            <a:avLst/>
          </a:prstGeom>
          <a:solidFill>
            <a:srgbClr val="0B2445"/>
          </a:solidFill>
          <a:ln>
            <a:solidFill>
              <a:srgbClr val="0B24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537960"/>
            <a:ext cx="12192000" cy="320040"/>
          </a:xfrm>
          <a:prstGeom prst="rect">
            <a:avLst/>
          </a:prstGeom>
          <a:solidFill>
            <a:srgbClr val="0B2445"/>
          </a:solidFill>
          <a:ln>
            <a:solidFill>
              <a:srgbClr val="0B24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0000" y="73245"/>
            <a:ext cx="9000000" cy="538609"/>
          </a:xfrm>
          <a:prstGeom prst="rect">
            <a:avLst/>
          </a:prstGeom>
          <a:noFill/>
        </p:spPr>
        <p:txBody>
          <a:bodyPr wrap="square" lIns="0" rIns="0">
            <a:spAutoFit/>
          </a:bodyPr>
          <a:lstStyle/>
          <a:p>
            <a:pPr algn="l"/>
            <a:r>
              <a:rPr lang="en-US" sz="2900" b="1" i="0" dirty="0">
                <a:solidFill>
                  <a:srgbClr val="FFFFFF"/>
                </a:solidFill>
              </a:rPr>
              <a:t>Baselines</a:t>
            </a:r>
            <a:endParaRPr sz="2900" b="1" i="0" dirty="0">
              <a:solidFill>
                <a:srgbClr val="FFFFFF"/>
              </a:solidFill>
            </a:endParaRPr>
          </a:p>
        </p:txBody>
      </p:sp>
      <p:sp>
        <p:nvSpPr>
          <p:cNvPr id="6" name="TextBox 5"/>
          <p:cNvSpPr txBox="1"/>
          <p:nvPr/>
        </p:nvSpPr>
        <p:spPr>
          <a:xfrm>
            <a:off x="4138743" y="769825"/>
            <a:ext cx="3400000" cy="400110"/>
          </a:xfrm>
          <a:prstGeom prst="rect">
            <a:avLst/>
          </a:prstGeom>
          <a:noFill/>
        </p:spPr>
        <p:txBody>
          <a:bodyPr wrap="square" lIns="0" rIns="0">
            <a:spAutoFit/>
          </a:bodyPr>
          <a:lstStyle/>
          <a:p>
            <a:pPr algn="ctr"/>
            <a:r>
              <a:rPr lang="en-US" sz="2000" b="1" dirty="0">
                <a:solidFill>
                  <a:srgbClr val="169EC5"/>
                </a:solidFill>
              </a:rPr>
              <a:t>6 </a:t>
            </a:r>
            <a:r>
              <a:rPr sz="2000" b="1" i="0" dirty="0">
                <a:solidFill>
                  <a:srgbClr val="169EC5"/>
                </a:solidFill>
              </a:rPr>
              <a:t>Baseline</a:t>
            </a:r>
            <a:r>
              <a:rPr lang="en-US" sz="2000" b="1" i="0" dirty="0">
                <a:solidFill>
                  <a:srgbClr val="169EC5"/>
                </a:solidFill>
              </a:rPr>
              <a:t> Leakage-Safe</a:t>
            </a:r>
            <a:endParaRPr sz="2000" b="1" i="0" dirty="0">
              <a:solidFill>
                <a:srgbClr val="169EC5"/>
              </a:solidFill>
            </a:endParaRPr>
          </a:p>
        </p:txBody>
      </p:sp>
      <p:sp>
        <p:nvSpPr>
          <p:cNvPr id="13" name="Rounded Rectangle 12"/>
          <p:cNvSpPr/>
          <p:nvPr/>
        </p:nvSpPr>
        <p:spPr>
          <a:xfrm>
            <a:off x="389184" y="1422864"/>
            <a:ext cx="2000000" cy="330000"/>
          </a:xfrm>
          <a:prstGeom prst="roundRect">
            <a:avLst>
              <a:gd name="adj" fmla="val 8000"/>
            </a:avLst>
          </a:prstGeom>
          <a:solidFill>
            <a:srgbClr val="E9F8FC"/>
          </a:solidFill>
          <a:ln>
            <a:solidFill>
              <a:srgbClr val="E9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9184" y="1463507"/>
            <a:ext cx="1900000" cy="310854"/>
          </a:xfrm>
          <a:prstGeom prst="rect">
            <a:avLst/>
          </a:prstGeom>
          <a:noFill/>
        </p:spPr>
        <p:txBody>
          <a:bodyPr wrap="square" lIns="0" rIns="0">
            <a:spAutoFit/>
          </a:bodyPr>
          <a:lstStyle/>
          <a:p>
            <a:pPr algn="l"/>
            <a:r>
              <a:rPr sz="1400" b="1" i="0" dirty="0">
                <a:solidFill>
                  <a:srgbClr val="0B2445"/>
                </a:solidFill>
              </a:rPr>
              <a:t>Six baseline models</a:t>
            </a:r>
          </a:p>
        </p:txBody>
      </p:sp>
      <p:pic>
        <p:nvPicPr>
          <p:cNvPr id="22" name="Picture 21" descr="baseline_summary_table.png"/>
          <p:cNvPicPr>
            <a:picLocks noChangeAspect="1"/>
          </p:cNvPicPr>
          <p:nvPr/>
        </p:nvPicPr>
        <p:blipFill>
          <a:blip r:embed="rId2"/>
          <a:stretch>
            <a:fillRect/>
          </a:stretch>
        </p:blipFill>
        <p:spPr>
          <a:xfrm>
            <a:off x="329184" y="1970303"/>
            <a:ext cx="5327184" cy="3692446"/>
          </a:xfrm>
          <a:prstGeom prst="rect">
            <a:avLst/>
          </a:prstGeom>
        </p:spPr>
      </p:pic>
      <p:sp>
        <p:nvSpPr>
          <p:cNvPr id="23" name="Rounded Rectangle 22"/>
          <p:cNvSpPr/>
          <p:nvPr/>
        </p:nvSpPr>
        <p:spPr>
          <a:xfrm>
            <a:off x="5900000" y="1311665"/>
            <a:ext cx="6072000" cy="5030352"/>
          </a:xfrm>
          <a:prstGeom prst="roundRect">
            <a:avLst>
              <a:gd name="adj" fmla="val 8000"/>
            </a:avLst>
          </a:prstGeom>
          <a:solidFill>
            <a:srgbClr val="FFFFFF"/>
          </a:solidFill>
          <a:ln>
            <a:solidFill>
              <a:srgbClr val="B8C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050000" y="1422935"/>
            <a:ext cx="3185440" cy="360000"/>
          </a:xfrm>
          <a:prstGeom prst="roundRect">
            <a:avLst>
              <a:gd name="adj" fmla="val 8000"/>
            </a:avLst>
          </a:prstGeom>
          <a:solidFill>
            <a:srgbClr val="E9F8FC"/>
          </a:solidFill>
          <a:ln>
            <a:solidFill>
              <a:srgbClr val="E9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169999" y="1463507"/>
            <a:ext cx="3692457" cy="307777"/>
          </a:xfrm>
          <a:prstGeom prst="rect">
            <a:avLst/>
          </a:prstGeom>
          <a:noFill/>
        </p:spPr>
        <p:txBody>
          <a:bodyPr wrap="square" lIns="0" rIns="0">
            <a:spAutoFit/>
          </a:bodyPr>
          <a:lstStyle/>
          <a:p>
            <a:pPr algn="l"/>
            <a:r>
              <a:rPr sz="1400" b="1" i="0" dirty="0">
                <a:solidFill>
                  <a:srgbClr val="0B2445"/>
                </a:solidFill>
              </a:rPr>
              <a:t>Example: SPY baselines vs target (2025)</a:t>
            </a:r>
          </a:p>
        </p:txBody>
      </p:sp>
      <p:sp>
        <p:nvSpPr>
          <p:cNvPr id="27" name="TextBox 26"/>
          <p:cNvSpPr txBox="1"/>
          <p:nvPr/>
        </p:nvSpPr>
        <p:spPr>
          <a:xfrm>
            <a:off x="6052300" y="4306917"/>
            <a:ext cx="5440000" cy="264688"/>
          </a:xfrm>
          <a:prstGeom prst="rect">
            <a:avLst/>
          </a:prstGeom>
          <a:noFill/>
        </p:spPr>
        <p:txBody>
          <a:bodyPr wrap="square" lIns="0" rIns="0">
            <a:spAutoFit/>
          </a:bodyPr>
          <a:lstStyle/>
          <a:p>
            <a:pPr algn="ctr"/>
            <a:r>
              <a:rPr sz="1120" b="1" dirty="0"/>
              <a:t>Note: plot overlays 6 baseline predictions with the target forward 5-day volatility.</a:t>
            </a:r>
          </a:p>
        </p:txBody>
      </p:sp>
      <p:pic>
        <p:nvPicPr>
          <p:cNvPr id="32" name="Picture 31">
            <a:extLst>
              <a:ext uri="{FF2B5EF4-FFF2-40B4-BE49-F238E27FC236}">
                <a16:creationId xmlns:a16="http://schemas.microsoft.com/office/drawing/2014/main" id="{5B272BEA-BFD3-D734-EB98-FFA9D889F483}"/>
              </a:ext>
            </a:extLst>
          </p:cNvPr>
          <p:cNvPicPr>
            <a:picLocks noChangeAspect="1"/>
          </p:cNvPicPr>
          <p:nvPr/>
        </p:nvPicPr>
        <p:blipFill>
          <a:blip r:embed="rId3"/>
          <a:stretch>
            <a:fillRect/>
          </a:stretch>
        </p:blipFill>
        <p:spPr>
          <a:xfrm>
            <a:off x="6052299" y="1978878"/>
            <a:ext cx="5756524" cy="2208899"/>
          </a:xfrm>
          <a:prstGeom prst="rect">
            <a:avLst/>
          </a:prstGeom>
        </p:spPr>
      </p:pic>
      <p:sp>
        <p:nvSpPr>
          <p:cNvPr id="33" name="Shape 5">
            <a:extLst>
              <a:ext uri="{FF2B5EF4-FFF2-40B4-BE49-F238E27FC236}">
                <a16:creationId xmlns:a16="http://schemas.microsoft.com/office/drawing/2014/main" id="{323F93E3-8AB8-FFF0-BE7E-9FDE4A533785}"/>
              </a:ext>
            </a:extLst>
          </p:cNvPr>
          <p:cNvSpPr/>
          <p:nvPr/>
        </p:nvSpPr>
        <p:spPr>
          <a:xfrm>
            <a:off x="4598125" y="1115722"/>
            <a:ext cx="2495005" cy="0"/>
          </a:xfrm>
          <a:prstGeom prst="line">
            <a:avLst/>
          </a:prstGeom>
          <a:noFill/>
          <a:ln w="15240">
            <a:solidFill>
              <a:srgbClr val="08A3C7"/>
            </a:solidFill>
            <a:prstDash val="solid"/>
          </a:ln>
        </p:spPr>
        <p:txBody>
          <a:bodyPr/>
          <a:lstStyle/>
          <a:p>
            <a:endParaRPr lang="en-US" b="1" dirty="0"/>
          </a:p>
        </p:txBody>
      </p:sp>
      <p:sp>
        <p:nvSpPr>
          <p:cNvPr id="7" name="Text 3">
            <a:extLst>
              <a:ext uri="{FF2B5EF4-FFF2-40B4-BE49-F238E27FC236}">
                <a16:creationId xmlns:a16="http://schemas.microsoft.com/office/drawing/2014/main" id="{E94C59CC-4C05-0B14-CC11-0C7D4CB6E89B}"/>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p:cNvGrpSpPr/>
        <p:nvPr/>
      </p:nvGrpSpPr>
      <p:grpSpPr>
        <a:xfrm>
          <a:off x="0" y="0"/>
          <a:ext cx="0" cy="0"/>
          <a:chOff x="0" y="0"/>
          <a:chExt cx="0" cy="0"/>
        </a:xfrm>
      </p:grpSpPr>
      <p:sp>
        <p:nvSpPr>
          <p:cNvPr id="8" name="Shape 0"/>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 name="Text 1"/>
          <p:cNvSpPr/>
          <p:nvPr/>
        </p:nvSpPr>
        <p:spPr>
          <a:xfrm>
            <a:off x="426720" y="975360"/>
            <a:ext cx="11338080" cy="1086086"/>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Elastic Net Regression</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p:txBody>
      </p:sp>
      <p:sp>
        <p:nvSpPr>
          <p:cNvPr id="10" name="Shape 2"/>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2" name="Text 4"/>
          <p:cNvSpPr/>
          <p:nvPr/>
        </p:nvSpPr>
        <p:spPr>
          <a:xfrm>
            <a:off x="426720" y="5608320"/>
            <a:ext cx="113380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733" b="0" i="0" u="none" strike="noStrike" kern="1200" cap="none" spc="0" normalizeH="0" baseline="0" noProof="0" dirty="0">
                <a:ln>
                  <a:noFill/>
                </a:ln>
                <a:solidFill>
                  <a:srgbClr val="AAAACC"/>
                </a:solidFill>
                <a:effectLst/>
                <a:uLnTx/>
                <a:uFillTx/>
                <a:latin typeface="Calibri"/>
                <a:ea typeface="Calibri"/>
                <a:cs typeface="+mn-cs"/>
              </a:rPr>
              <a:t>DS 207 Final Project  ·  Team: Greed and Fear  ·  Author: Vinit Bhatt  ·  March 27, 2026</a:t>
            </a:r>
            <a:endParaRPr kumimoji="0" lang="en-US" sz="1733" b="0" i="0" u="none" strike="noStrike" kern="1200" cap="none" spc="0" normalizeH="0" baseline="0" noProof="0" dirty="0">
              <a:ln>
                <a:noFill/>
              </a:ln>
              <a:solidFill>
                <a:srgbClr val="FFFFFF"/>
              </a:solidFill>
              <a:effectLst/>
              <a:uLnTx/>
              <a:uFillTx/>
              <a:latin typeface="Arial"/>
              <a:ea typeface="+mn-ea"/>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32" name="Shape 0"/>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3" name="Text 1"/>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What Is Elastic Net?</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35" name="Shape 3"/>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7" name="Text 5"/>
          <p:cNvSpPr/>
          <p:nvPr/>
        </p:nvSpPr>
        <p:spPr>
          <a:xfrm>
            <a:off x="219360" y="731520"/>
            <a:ext cx="58516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endParaRPr kumimoji="0" lang="en-US" sz="1733" b="0" i="0" u="none" strike="noStrike" kern="1200" cap="none" spc="0" normalizeH="0" baseline="0" noProof="0" dirty="0">
              <a:ln>
                <a:noFill/>
              </a:ln>
              <a:solidFill>
                <a:srgbClr val="000000"/>
              </a:solidFill>
              <a:effectLst/>
              <a:uLnTx/>
              <a:uFillTx/>
              <a:latin typeface="Arial"/>
              <a:ea typeface="+mn-ea"/>
              <a:cs typeface="+mn-cs"/>
            </a:endParaRPr>
          </a:p>
        </p:txBody>
      </p:sp>
      <p:sp>
        <p:nvSpPr>
          <p:cNvPr id="39" name="Shape 7"/>
          <p:cNvSpPr/>
          <p:nvPr/>
        </p:nvSpPr>
        <p:spPr>
          <a:xfrm>
            <a:off x="219360" y="3887896"/>
            <a:ext cx="5510400" cy="1950331"/>
          </a:xfrm>
          <a:prstGeom prst="rect">
            <a:avLst/>
          </a:prstGeom>
          <a:solidFill>
            <a:srgbClr val="D6F2FA"/>
          </a:solidFill>
          <a:ln w="19050">
            <a:solidFill>
              <a:srgbClr val="00A8CC"/>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1" name="Text 9"/>
          <p:cNvSpPr/>
          <p:nvPr/>
        </p:nvSpPr>
        <p:spPr>
          <a:xfrm>
            <a:off x="243840" y="3985826"/>
            <a:ext cx="5242080" cy="1237877"/>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Bottom Line</a:t>
            </a:r>
          </a:p>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Elastic Net is a strong, interpretable benchmark that helps us identify which features matter and which do not</a:t>
            </a:r>
            <a:r>
              <a:rPr kumimoji="0" lang="en-US" sz="1533" b="0" i="0" u="none" strike="noStrike" kern="1200" cap="none" spc="0" normalizeH="0" baseline="0" noProof="0" dirty="0">
                <a:ln>
                  <a:noFill/>
                </a:ln>
                <a:solidFill>
                  <a:srgbClr val="000000"/>
                </a:solidFill>
                <a:effectLst/>
                <a:uLnTx/>
                <a:uFillTx/>
                <a:latin typeface="Arial"/>
                <a:ea typeface="+mn-ea"/>
                <a:cs typeface="+mn-cs"/>
              </a:rPr>
              <a:t>.</a:t>
            </a:r>
          </a:p>
        </p:txBody>
      </p:sp>
      <p:sp>
        <p:nvSpPr>
          <p:cNvPr id="43" name="Shape 11"/>
          <p:cNvSpPr/>
          <p:nvPr/>
        </p:nvSpPr>
        <p:spPr>
          <a:xfrm>
            <a:off x="6096000" y="1121760"/>
            <a:ext cx="5876160" cy="2584608"/>
          </a:xfrm>
          <a:prstGeom prst="rect">
            <a:avLst/>
          </a:prstGeom>
          <a:solidFill>
            <a:srgbClr val="D5F5E3"/>
          </a:solidFill>
          <a:ln w="19050">
            <a:solidFill>
              <a:srgbClr val="1E8449"/>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5" name="Text 13"/>
          <p:cNvSpPr/>
          <p:nvPr/>
        </p:nvSpPr>
        <p:spPr>
          <a:xfrm>
            <a:off x="6136745" y="1174542"/>
            <a:ext cx="5607840" cy="17517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Why We Use It Here</a:t>
            </a: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Our volatility features overlap</a:t>
            </a: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Some macro variables may add little value</a:t>
            </a: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We want a model that is still easy to interpret</a:t>
            </a:r>
          </a:p>
        </p:txBody>
      </p:sp>
      <p:sp>
        <p:nvSpPr>
          <p:cNvPr id="46" name="Shape 14"/>
          <p:cNvSpPr/>
          <p:nvPr/>
        </p:nvSpPr>
        <p:spPr>
          <a:xfrm>
            <a:off x="6096000" y="3863416"/>
            <a:ext cx="5876160" cy="1974808"/>
          </a:xfrm>
          <a:prstGeom prst="rect">
            <a:avLst/>
          </a:prstGeom>
          <a:solidFill>
            <a:srgbClr val="FADBD8"/>
          </a:solidFill>
          <a:ln w="19050">
            <a:solidFill>
              <a:srgbClr val="C0392B"/>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8" name="Text 16"/>
          <p:cNvSpPr/>
          <p:nvPr/>
        </p:nvSpPr>
        <p:spPr>
          <a:xfrm>
            <a:off x="6071040" y="3985826"/>
            <a:ext cx="5607840" cy="1036621"/>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Main Tradeoff</a:t>
            </a:r>
            <a:endParaRPr kumimoji="0" lang="en-US" sz="1467" b="0" i="0" u="none" strike="noStrike" kern="1200" cap="none" spc="0" normalizeH="0" baseline="0" noProof="0" dirty="0">
              <a:ln>
                <a:noFill/>
              </a:ln>
              <a:solidFill>
                <a:srgbClr val="1A1A2E"/>
              </a:solidFill>
              <a:effectLst/>
              <a:uLnTx/>
              <a:uFillTx/>
              <a:latin typeface="Calibri"/>
              <a:ea typeface="Calibri"/>
              <a:cs typeface="+mn-cs"/>
            </a:endParaRP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1A1A2E"/>
                </a:solidFill>
                <a:effectLst/>
                <a:uLnTx/>
                <a:uFillTx/>
                <a:latin typeface="Calibri"/>
                <a:ea typeface="Calibri"/>
                <a:cs typeface="+mn-cs"/>
              </a:rPr>
              <a:t>Elastic Net is transparent and disciplined</a:t>
            </a: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1A1A2E"/>
                </a:solidFill>
                <a:effectLst/>
                <a:uLnTx/>
                <a:uFillTx/>
                <a:latin typeface="Calibri"/>
                <a:ea typeface="Calibri"/>
                <a:cs typeface="+mn-cs"/>
              </a:rPr>
              <a:t>But it is still linear, so it may miss nonlinear volatility patterns</a:t>
            </a:r>
            <a:endPar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3" name="Shape 13">
            <a:extLst>
              <a:ext uri="{FF2B5EF4-FFF2-40B4-BE49-F238E27FC236}">
                <a16:creationId xmlns:a16="http://schemas.microsoft.com/office/drawing/2014/main" id="{C8B8F06B-FD16-7B16-3190-45285D1E9BE4}"/>
              </a:ext>
            </a:extLst>
          </p:cNvPr>
          <p:cNvSpPr/>
          <p:nvPr/>
        </p:nvSpPr>
        <p:spPr>
          <a:xfrm>
            <a:off x="243840" y="1109280"/>
            <a:ext cx="5485920" cy="2597088"/>
          </a:xfrm>
          <a:prstGeom prst="rect">
            <a:avLst/>
          </a:prstGeom>
          <a:solidFill>
            <a:srgbClr val="FCF3CF"/>
          </a:solidFill>
          <a:ln w="25400">
            <a:solidFill>
              <a:srgbClr val="E8972A"/>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Tx/>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How It Works</a:t>
            </a:r>
          </a:p>
          <a:p>
            <a:pPr marL="0" marR="0" lvl="0" indent="0" algn="l" defTabSz="1219170" rtl="0" eaLnBrk="1" fontAlgn="auto" latinLnBrk="0" hangingPunct="1">
              <a:lnSpc>
                <a:spcPct val="100000"/>
              </a:lnSpc>
              <a:spcBef>
                <a:spcPts val="0"/>
              </a:spcBef>
              <a:spcAft>
                <a:spcPts val="533"/>
              </a:spcAft>
              <a:buClrTx/>
              <a:buSzTx/>
              <a:buFontTx/>
              <a:buNone/>
              <a:tabLst>
                <a:tab pos="0" algn="l"/>
              </a:tabLst>
              <a:defRPr/>
            </a:pPr>
            <a:r>
              <a:rPr kumimoji="0" lang="en-US" sz="1467" b="1" i="0" u="none" strike="noStrike" kern="1200" cap="none" spc="0" normalizeH="0" baseline="0" noProof="0" dirty="0">
                <a:ln>
                  <a:noFill/>
                </a:ln>
                <a:solidFill>
                  <a:srgbClr val="1A1A2E"/>
                </a:solidFill>
                <a:effectLst/>
                <a:uLnTx/>
                <a:uFillTx/>
                <a:latin typeface="Calibri" panose="020F0502020204030204"/>
                <a:ea typeface="Calibri"/>
                <a:cs typeface="+mn-cs"/>
              </a:rPr>
              <a:t>Elastic Net is a linear regression model with built-in regularization.  </a:t>
            </a:r>
            <a:r>
              <a:rPr kumimoji="0" lang="en-US" sz="1467" b="0" i="0" u="none" strike="noStrike" kern="1200" cap="none" spc="0" normalizeH="0" baseline="0" noProof="0" dirty="0">
                <a:ln>
                  <a:noFill/>
                </a:ln>
                <a:solidFill>
                  <a:srgbClr val="1A1A2E"/>
                </a:solidFill>
                <a:effectLst/>
                <a:uLnTx/>
                <a:uFillTx/>
                <a:latin typeface="Calibri" panose="020F0502020204030204"/>
                <a:ea typeface="Calibri"/>
                <a:cs typeface="+mn-cs"/>
              </a:rPr>
              <a:t>It helps the model fit the data while avoiding noisy or unstable coefficients.</a:t>
            </a:r>
          </a:p>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Think of it as a combination of two ideas:</a:t>
            </a:r>
          </a:p>
          <a:p>
            <a:pPr marL="228594" marR="0" lvl="0" indent="-228594" algn="l" defTabSz="1219170" rtl="0" eaLnBrk="1" fontAlgn="auto" latinLnBrk="0" hangingPunct="1">
              <a:lnSpc>
                <a:spcPct val="100000"/>
              </a:lnSpc>
              <a:spcBef>
                <a:spcPts val="0"/>
              </a:spcBef>
              <a:spcAft>
                <a:spcPts val="533"/>
              </a:spcAft>
              <a:buClrTx/>
              <a:buSzTx/>
              <a:buFont typeface="Arial" panose="020B0604020202020204" pitchFamily="34" charset="0"/>
              <a:buChar char="•"/>
              <a:tabLst>
                <a:tab pos="0" algn="l"/>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Lasso (L1): </a:t>
            </a: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removes weak or redundant features</a:t>
            </a:r>
          </a:p>
          <a:p>
            <a:pPr marL="228594" marR="0" lvl="0" indent="-228594" algn="l" defTabSz="1219170" rtl="0" eaLnBrk="1" fontAlgn="auto" latinLnBrk="0" hangingPunct="1">
              <a:lnSpc>
                <a:spcPct val="100000"/>
              </a:lnSpc>
              <a:spcBef>
                <a:spcPts val="0"/>
              </a:spcBef>
              <a:spcAft>
                <a:spcPts val="533"/>
              </a:spcAft>
              <a:buClrTx/>
              <a:buSzTx/>
              <a:buFont typeface="Arial" panose="020B0604020202020204" pitchFamily="34" charset="0"/>
              <a:buChar char="•"/>
              <a:tabLst>
                <a:tab pos="0" algn="l"/>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Ridge (L2): </a:t>
            </a: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shrinks and stabilizes correlated features</a:t>
            </a:r>
          </a:p>
          <a:p>
            <a:pPr marL="228594" marR="0" lvl="0" indent="-228594" algn="l" defTabSz="1219170" rtl="0" eaLnBrk="1" fontAlgn="auto" latinLnBrk="0" hangingPunct="1">
              <a:lnSpc>
                <a:spcPct val="100000"/>
              </a:lnSpc>
              <a:spcBef>
                <a:spcPts val="0"/>
              </a:spcBef>
              <a:spcAft>
                <a:spcPts val="533"/>
              </a:spcAft>
              <a:buClrTx/>
              <a:buSzTx/>
              <a:buFont typeface="Arial" panose="020B0604020202020204" pitchFamily="34" charset="0"/>
              <a:buChar char="•"/>
              <a:tabLst>
                <a:tab pos="0" algn="l"/>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Elastic Net: </a:t>
            </a: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does both at the same time</a:t>
            </a:r>
            <a:endParaRPr kumimoji="0" lang="en-US" sz="1533" b="0" i="0" u="none" strike="noStrike" kern="1200" cap="none" spc="0" normalizeH="0" baseline="0" noProof="0" dirty="0">
              <a:ln>
                <a:noFill/>
              </a:ln>
              <a:solidFill>
                <a:srgbClr val="000000"/>
              </a:solidFill>
              <a:effectLst/>
              <a:uLnTx/>
              <a:uFillTx/>
              <a:latin typeface="Calibri" panose="020F050202020403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a:ea typeface="+mn-ea"/>
              <a:cs typeface="+mn-cs"/>
            </a:endParaRPr>
          </a:p>
        </p:txBody>
      </p:sp>
      <p:sp>
        <p:nvSpPr>
          <p:cNvPr id="4" name="Text 3">
            <a:extLst>
              <a:ext uri="{FF2B5EF4-FFF2-40B4-BE49-F238E27FC236}">
                <a16:creationId xmlns:a16="http://schemas.microsoft.com/office/drawing/2014/main" id="{36DD4909-E9CD-657C-677A-54C3E4B100FA}"/>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87" name="Shape 0"/>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88" name="Text 1"/>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Elastic Net Setup: V1 vs. V2</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90" name="Shape 3"/>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graphicFrame>
        <p:nvGraphicFramePr>
          <p:cNvPr id="93" name="Table 0"/>
          <p:cNvGraphicFramePr/>
          <p:nvPr>
            <p:custDataLst>
              <p:tags r:id="rId1"/>
            </p:custDataLst>
          </p:nvPr>
        </p:nvGraphicFramePr>
        <p:xfrm>
          <a:off x="231600" y="1833441"/>
          <a:ext cx="11752800" cy="3312747"/>
        </p:xfrm>
        <a:graphic>
          <a:graphicData uri="http://schemas.openxmlformats.org/drawingml/2006/table">
            <a:tbl>
              <a:tblPr/>
              <a:tblGrid>
                <a:gridCol w="2535936">
                  <a:extLst>
                    <a:ext uri="{9D8B030D-6E8A-4147-A177-3AD203B41FA5}">
                      <a16:colId xmlns:a16="http://schemas.microsoft.com/office/drawing/2014/main" val="20000"/>
                    </a:ext>
                  </a:extLst>
                </a:gridCol>
                <a:gridCol w="4271893">
                  <a:extLst>
                    <a:ext uri="{9D8B030D-6E8A-4147-A177-3AD203B41FA5}">
                      <a16:colId xmlns:a16="http://schemas.microsoft.com/office/drawing/2014/main" val="20001"/>
                    </a:ext>
                  </a:extLst>
                </a:gridCol>
                <a:gridCol w="817880">
                  <a:extLst>
                    <a:ext uri="{9D8B030D-6E8A-4147-A177-3AD203B41FA5}">
                      <a16:colId xmlns:a16="http://schemas.microsoft.com/office/drawing/2014/main" val="20002"/>
                    </a:ext>
                  </a:extLst>
                </a:gridCol>
                <a:gridCol w="4127091">
                  <a:extLst>
                    <a:ext uri="{9D8B030D-6E8A-4147-A177-3AD203B41FA5}">
                      <a16:colId xmlns:a16="http://schemas.microsoft.com/office/drawing/2014/main" val="20003"/>
                    </a:ext>
                  </a:extLst>
                </a:gridCol>
              </a:tblGrid>
              <a:tr h="755520">
                <a:tc>
                  <a:txBody>
                    <a:bodyPr/>
                    <a:lstStyle/>
                    <a:p>
                      <a:pPr defTabSz="914400">
                        <a:lnSpc>
                          <a:spcPct val="100000"/>
                        </a:lnSpc>
                        <a:tabLst>
                          <a:tab pos="0" algn="l"/>
                        </a:tabLst>
                      </a:pPr>
                      <a:r>
                        <a:rPr lang="en-US" sz="1600" b="1" u="none" strike="noStrike">
                          <a:solidFill>
                            <a:srgbClr val="FFFFFF"/>
                          </a:solidFill>
                          <a:effectLst/>
                          <a:uFillTx/>
                          <a:latin typeface="Calibri"/>
                          <a:ea typeface="Calibri"/>
                        </a:rPr>
                        <a:t>Model Tier</a:t>
                      </a:r>
                      <a:endParaRPr lang="en-US" sz="1600" b="0" u="none" strike="noStrike">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defTabSz="914400">
                        <a:lnSpc>
                          <a:spcPct val="100000"/>
                        </a:lnSpc>
                        <a:tabLst>
                          <a:tab pos="0" algn="l"/>
                        </a:tabLst>
                      </a:pPr>
                      <a:r>
                        <a:rPr lang="en-US" sz="1600" b="1" u="none" strike="noStrike" dirty="0">
                          <a:solidFill>
                            <a:srgbClr val="FFFFFF"/>
                          </a:solidFill>
                          <a:effectLst/>
                          <a:uFillTx/>
                          <a:latin typeface="Calibri"/>
                          <a:ea typeface="Calibri"/>
                        </a:rPr>
                        <a:t>Features</a:t>
                      </a:r>
                      <a:endParaRPr lang="en-US" sz="16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600" b="1" u="none" strike="noStrike" dirty="0">
                          <a:solidFill>
                            <a:srgbClr val="FFFFFF"/>
                          </a:solidFill>
                          <a:effectLst/>
                          <a:uFillTx/>
                          <a:latin typeface="Calibri"/>
                          <a:ea typeface="Calibri"/>
                        </a:rPr>
                        <a:t>Count</a:t>
                      </a:r>
                      <a:endParaRPr lang="en-US" sz="16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defTabSz="914400">
                        <a:lnSpc>
                          <a:spcPct val="100000"/>
                        </a:lnSpc>
                        <a:tabLst>
                          <a:tab pos="0" algn="l"/>
                        </a:tabLst>
                      </a:pPr>
                      <a:r>
                        <a:rPr lang="en-US" sz="1600" b="1" u="none" strike="noStrike" dirty="0">
                          <a:solidFill>
                            <a:srgbClr val="FFFFFF"/>
                          </a:solidFill>
                          <a:effectLst/>
                          <a:uFillTx/>
                          <a:latin typeface="Calibri"/>
                          <a:ea typeface="Calibri"/>
                        </a:rPr>
                        <a:t>Role / Notes</a:t>
                      </a:r>
                      <a:endParaRPr lang="en-US" sz="16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extLst>
                  <a:ext uri="{0D108BD9-81ED-4DB2-BD59-A6C34878D82A}">
                    <a16:rowId xmlns:a16="http://schemas.microsoft.com/office/drawing/2014/main" val="10000"/>
                  </a:ext>
                </a:extLst>
              </a:tr>
              <a:tr h="755520">
                <a:tc>
                  <a:txBody>
                    <a:bodyPr/>
                    <a:lstStyle/>
                    <a:p>
                      <a:pPr defTabSz="914400">
                        <a:lnSpc>
                          <a:spcPct val="100000"/>
                        </a:lnSpc>
                        <a:tabLst>
                          <a:tab pos="0" algn="l"/>
                        </a:tabLst>
                      </a:pPr>
                      <a:r>
                        <a:rPr lang="en-US" sz="1500" b="1" u="none" strike="noStrike" dirty="0">
                          <a:solidFill>
                            <a:srgbClr val="000000"/>
                          </a:solidFill>
                          <a:effectLst/>
                          <a:uFillTx/>
                          <a:latin typeface="Calibri"/>
                          <a:ea typeface="Calibri"/>
                        </a:rPr>
                        <a:t>V1 — Current-State Volatility</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defTabSz="914400">
                        <a:lnSpc>
                          <a:spcPct val="100000"/>
                        </a:lnSpc>
                        <a:spcAft>
                          <a:spcPts val="400"/>
                        </a:spcAft>
                        <a:tabLst>
                          <a:tab pos="0" algn="l"/>
                        </a:tabLst>
                      </a:pPr>
                      <a:r>
                        <a:rPr lang="en-US" sz="1500" b="0" u="none" strike="noStrike" dirty="0">
                          <a:solidFill>
                            <a:srgbClr val="000000"/>
                          </a:solidFill>
                          <a:effectLst/>
                          <a:uFillTx/>
                          <a:latin typeface="+mn-lt"/>
                          <a:ea typeface="Calibri"/>
                        </a:rPr>
                        <a:t>Current realized volatility (most recent observation)</a:t>
                      </a:r>
                    </a:p>
                    <a:p>
                      <a:pPr defTabSz="914400">
                        <a:lnSpc>
                          <a:spcPct val="100000"/>
                        </a:lnSpc>
                        <a:spcAft>
                          <a:spcPts val="400"/>
                        </a:spcAft>
                        <a:tabLst>
                          <a:tab pos="0" algn="l"/>
                        </a:tabLst>
                      </a:pPr>
                      <a:r>
                        <a:rPr lang="en-US" sz="1500" b="0" u="none" strike="noStrike" dirty="0">
                          <a:solidFill>
                            <a:srgbClr val="000000"/>
                          </a:solidFill>
                          <a:effectLst/>
                          <a:uFillTx/>
                          <a:latin typeface="+mn-lt"/>
                          <a:ea typeface="Calibri"/>
                        </a:rPr>
                        <a:t>20-day trailing realized volatility</a:t>
                      </a: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900" b="1" u="none" strike="noStrike" dirty="0">
                          <a:solidFill>
                            <a:srgbClr val="1E8449"/>
                          </a:solidFill>
                          <a:effectLst/>
                          <a:uFillTx/>
                          <a:latin typeface="Calibri"/>
                          <a:ea typeface="Calibri"/>
                        </a:rPr>
                        <a:t>2</a:t>
                      </a:r>
                      <a:endParaRPr lang="en-US" sz="19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Pure vol-persistence model. </a:t>
                      </a: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Both features genuinely retained by Lasso.</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extLst>
                  <a:ext uri="{0D108BD9-81ED-4DB2-BD59-A6C34878D82A}">
                    <a16:rowId xmlns:a16="http://schemas.microsoft.com/office/drawing/2014/main" val="10001"/>
                  </a:ext>
                </a:extLst>
              </a:tr>
              <a:tr h="1801707">
                <a:tc>
                  <a:txBody>
                    <a:bodyPr/>
                    <a:lstStyle/>
                    <a:p>
                      <a:pPr defTabSz="914400">
                        <a:lnSpc>
                          <a:spcPct val="100000"/>
                        </a:lnSpc>
                        <a:tabLst>
                          <a:tab pos="0" algn="l"/>
                        </a:tabLst>
                      </a:pPr>
                      <a:r>
                        <a:rPr lang="en-US" sz="1500" b="1" u="none" strike="noStrike" dirty="0">
                          <a:solidFill>
                            <a:srgbClr val="000000"/>
                          </a:solidFill>
                          <a:effectLst/>
                          <a:uFillTx/>
                          <a:latin typeface="Calibri"/>
                          <a:ea typeface="Calibri"/>
                        </a:rPr>
                        <a:t>V2 — Added Macro/Market</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Volume</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NYGOLDS</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OIL_WTI_S</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US_10Y_BOND_YLD</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US_3M_TB_YLD</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VIX</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700" b="1" u="none" strike="noStrike" dirty="0">
                          <a:solidFill>
                            <a:srgbClr val="00A8CC"/>
                          </a:solidFill>
                          <a:effectLst/>
                          <a:uFillTx/>
                          <a:latin typeface="Calibri"/>
                          <a:ea typeface="Calibri"/>
                        </a:rPr>
                        <a:t>8</a:t>
                      </a:r>
                      <a:endParaRPr lang="en-US" sz="17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Current-state macro context. </a:t>
                      </a: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Only VIX survives Lasso regularization. </a:t>
                      </a: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Other 5 macro features zeroed out.</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extLst>
                  <a:ext uri="{0D108BD9-81ED-4DB2-BD59-A6C34878D82A}">
                    <a16:rowId xmlns:a16="http://schemas.microsoft.com/office/drawing/2014/main" val="10002"/>
                  </a:ext>
                </a:extLst>
              </a:tr>
            </a:tbl>
          </a:graphicData>
        </a:graphic>
      </p:graphicFrame>
      <p:sp>
        <p:nvSpPr>
          <p:cNvPr id="4" name="TextBox 3">
            <a:extLst>
              <a:ext uri="{FF2B5EF4-FFF2-40B4-BE49-F238E27FC236}">
                <a16:creationId xmlns:a16="http://schemas.microsoft.com/office/drawing/2014/main" id="{559A7459-E959-0EFB-A0FB-33A4AD2C3694}"/>
              </a:ext>
            </a:extLst>
          </p:cNvPr>
          <p:cNvSpPr txBox="1"/>
          <p:nvPr/>
        </p:nvSpPr>
        <p:spPr>
          <a:xfrm>
            <a:off x="231600" y="1038595"/>
            <a:ext cx="11728320" cy="359009"/>
          </a:xfrm>
          <a:prstGeom prst="rect">
            <a:avLst/>
          </a:prstGeom>
          <a:noFill/>
        </p:spPr>
        <p:txBody>
          <a:bodyPr wrap="square" rtlCol="0">
            <a:sp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733" b="1" i="0" u="none" strike="noStrike" kern="1200" cap="none" spc="0" normalizeH="0" baseline="0" noProof="0" dirty="0">
                <a:ln>
                  <a:noFill/>
                </a:ln>
                <a:solidFill>
                  <a:srgbClr val="000000"/>
                </a:solidFill>
                <a:effectLst/>
                <a:uLnTx/>
                <a:uFillTx/>
                <a:latin typeface="Calibri" panose="020F0502020204030204"/>
                <a:ea typeface="+mn-ea"/>
                <a:cs typeface="+mn-cs"/>
              </a:rPr>
              <a:t>V2 tests whether macro and market context improves on the simple volatility-only V1 model</a:t>
            </a:r>
            <a:endParaRPr kumimoji="0" lang="en-US" sz="24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3" name="Text 3">
            <a:extLst>
              <a:ext uri="{FF2B5EF4-FFF2-40B4-BE49-F238E27FC236}">
                <a16:creationId xmlns:a16="http://schemas.microsoft.com/office/drawing/2014/main" id="{3A2D322F-BCCC-7D67-B5C2-0E37FB5F266A}"/>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94" name="Shape 0"/>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5" name="Text 1"/>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a:ln>
                  <a:noFill/>
                </a:ln>
                <a:solidFill>
                  <a:srgbClr val="FFFFFF"/>
                </a:solidFill>
                <a:effectLst/>
                <a:uLnTx/>
                <a:uFillTx/>
                <a:latin typeface="Calibri"/>
                <a:ea typeface="Calibri"/>
                <a:cs typeface="+mn-cs"/>
              </a:rPr>
              <a:t>Model Performance Results — 2025 Test Set (8,820 rows)</a:t>
            </a:r>
            <a:endParaRPr kumimoji="0" lang="en-US" sz="2933" b="0" i="0" u="none" strike="noStrike" kern="1200" cap="none" spc="0" normalizeH="0" baseline="0" noProof="0">
              <a:ln>
                <a:noFill/>
              </a:ln>
              <a:solidFill>
                <a:srgbClr val="000000"/>
              </a:solidFill>
              <a:effectLst/>
              <a:uLnTx/>
              <a:uFillTx/>
              <a:latin typeface="Arial"/>
              <a:ea typeface="+mn-ea"/>
              <a:cs typeface="+mn-cs"/>
            </a:endParaRPr>
          </a:p>
        </p:txBody>
      </p:sp>
      <p:sp>
        <p:nvSpPr>
          <p:cNvPr id="97" name="Shape 3"/>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9" name="Text 5"/>
          <p:cNvSpPr/>
          <p:nvPr/>
        </p:nvSpPr>
        <p:spPr>
          <a:xfrm>
            <a:off x="1372473" y="824585"/>
            <a:ext cx="8611228" cy="505687"/>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600" b="1" i="0" u="none" strike="noStrike" kern="1200" cap="none" spc="0" normalizeH="0" baseline="0" noProof="0" dirty="0">
                <a:ln>
                  <a:noFill/>
                </a:ln>
                <a:solidFill>
                  <a:srgbClr val="000000"/>
                </a:solidFill>
                <a:effectLst/>
                <a:uLnTx/>
                <a:uFillTx/>
                <a:latin typeface="Calibri"/>
                <a:ea typeface="Calibri"/>
                <a:cs typeface="+mn-cs"/>
              </a:rPr>
              <a:t>All results use the same 8,820-row test set. Lower MAE and RMSE are better; higher R² is better.</a:t>
            </a:r>
            <a:endParaRPr kumimoji="0" lang="en-US" sz="1600" b="1" i="0" u="none" strike="noStrike" kern="1200" cap="none" spc="0" normalizeH="0" baseline="0" noProof="0" dirty="0">
              <a:ln>
                <a:noFill/>
              </a:ln>
              <a:solidFill>
                <a:srgbClr val="000000"/>
              </a:solidFill>
              <a:effectLst/>
              <a:uLnTx/>
              <a:uFillTx/>
              <a:latin typeface="Arial"/>
              <a:ea typeface="+mn-ea"/>
              <a:cs typeface="+mn-cs"/>
            </a:endParaRPr>
          </a:p>
        </p:txBody>
      </p:sp>
      <p:graphicFrame>
        <p:nvGraphicFramePr>
          <p:cNvPr id="100" name="Table 0"/>
          <p:cNvGraphicFramePr/>
          <p:nvPr>
            <p:extLst>
              <p:ext uri="{D42A27DB-BD31-4B8C-83A1-F6EECF244321}">
                <p14:modId xmlns:p14="http://schemas.microsoft.com/office/powerpoint/2010/main" val="1313192674"/>
              </p:ext>
            </p:extLst>
          </p:nvPr>
        </p:nvGraphicFramePr>
        <p:xfrm>
          <a:off x="1450560" y="2061292"/>
          <a:ext cx="9290400" cy="3515360"/>
        </p:xfrm>
        <a:graphic>
          <a:graphicData uri="http://schemas.openxmlformats.org/drawingml/2006/table">
            <a:tbl>
              <a:tblPr/>
              <a:tblGrid>
                <a:gridCol w="2892840">
                  <a:extLst>
                    <a:ext uri="{9D8B030D-6E8A-4147-A177-3AD203B41FA5}">
                      <a16:colId xmlns:a16="http://schemas.microsoft.com/office/drawing/2014/main" val="20000"/>
                    </a:ext>
                  </a:extLst>
                </a:gridCol>
                <a:gridCol w="1012180">
                  <a:extLst>
                    <a:ext uri="{9D8B030D-6E8A-4147-A177-3AD203B41FA5}">
                      <a16:colId xmlns:a16="http://schemas.microsoft.com/office/drawing/2014/main" val="20001"/>
                    </a:ext>
                  </a:extLst>
                </a:gridCol>
                <a:gridCol w="1045028">
                  <a:extLst>
                    <a:ext uri="{9D8B030D-6E8A-4147-A177-3AD203B41FA5}">
                      <a16:colId xmlns:a16="http://schemas.microsoft.com/office/drawing/2014/main" val="20002"/>
                    </a:ext>
                  </a:extLst>
                </a:gridCol>
                <a:gridCol w="1003228">
                  <a:extLst>
                    <a:ext uri="{9D8B030D-6E8A-4147-A177-3AD203B41FA5}">
                      <a16:colId xmlns:a16="http://schemas.microsoft.com/office/drawing/2014/main" val="20003"/>
                    </a:ext>
                  </a:extLst>
                </a:gridCol>
                <a:gridCol w="872324">
                  <a:extLst>
                    <a:ext uri="{9D8B030D-6E8A-4147-A177-3AD203B41FA5}">
                      <a16:colId xmlns:a16="http://schemas.microsoft.com/office/drawing/2014/main" val="20004"/>
                    </a:ext>
                  </a:extLst>
                </a:gridCol>
                <a:gridCol w="1023840">
                  <a:extLst>
                    <a:ext uri="{9D8B030D-6E8A-4147-A177-3AD203B41FA5}">
                      <a16:colId xmlns:a16="http://schemas.microsoft.com/office/drawing/2014/main" val="20005"/>
                    </a:ext>
                  </a:extLst>
                </a:gridCol>
                <a:gridCol w="1440960">
                  <a:extLst>
                    <a:ext uri="{9D8B030D-6E8A-4147-A177-3AD203B41FA5}">
                      <a16:colId xmlns:a16="http://schemas.microsoft.com/office/drawing/2014/main" val="20006"/>
                    </a:ext>
                  </a:extLst>
                </a:gridCol>
              </a:tblGrid>
              <a:tr h="589280">
                <a:tc>
                  <a:txBody>
                    <a:bodyPr/>
                    <a:lstStyle/>
                    <a:p>
                      <a:pPr defTabSz="914400">
                        <a:lnSpc>
                          <a:spcPct val="100000"/>
                        </a:lnSpc>
                        <a:tabLst>
                          <a:tab pos="0" algn="l"/>
                        </a:tabLst>
                      </a:pPr>
                      <a:r>
                        <a:rPr lang="en-US" sz="1400" b="1" u="none" strike="noStrike">
                          <a:solidFill>
                            <a:srgbClr val="FFFFFF"/>
                          </a:solidFill>
                          <a:effectLst/>
                          <a:uFillTx/>
                          <a:latin typeface="Calibri"/>
                          <a:ea typeface="Calibri"/>
                        </a:rPr>
                        <a:t>Model / Baseline</a:t>
                      </a:r>
                      <a:endParaRPr lang="en-US" sz="1400" b="0" u="none" strike="noStrike">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Candidate Features</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Retained</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Test MAE</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Test RMSE</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a:solidFill>
                            <a:srgbClr val="FFFFFF"/>
                          </a:solidFill>
                          <a:effectLst/>
                          <a:uFillTx/>
                          <a:latin typeface="Calibri"/>
                          <a:ea typeface="Calibri"/>
                        </a:rPr>
                        <a:t>Test R²</a:t>
                      </a:r>
                      <a:endParaRPr lang="en-US" sz="1400" b="0" u="none" strike="noStrike">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vs XGBoost</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extLst>
                  <a:ext uri="{0D108BD9-81ED-4DB2-BD59-A6C34878D82A}">
                    <a16:rowId xmlns:a16="http://schemas.microsoft.com/office/drawing/2014/main" val="10000"/>
                  </a:ext>
                </a:extLst>
              </a:tr>
              <a:tr h="36576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V1 — Elastic Net</a:t>
                      </a:r>
                      <a:endParaRPr lang="en-US" sz="1400" b="0"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0" u="none" strike="noStrike">
                          <a:solidFill>
                            <a:srgbClr val="000000"/>
                          </a:solidFill>
                          <a:effectLst/>
                          <a:uFillTx/>
                          <a:latin typeface="+mn-lt"/>
                          <a:ea typeface="Calibri"/>
                        </a:rPr>
                        <a:t>2</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0" u="none" strike="noStrike">
                          <a:solidFill>
                            <a:srgbClr val="000000"/>
                          </a:solidFill>
                          <a:effectLst/>
                          <a:uFillTx/>
                          <a:latin typeface="+mn-lt"/>
                          <a:ea typeface="Calibri"/>
                        </a:rPr>
                        <a:t>2</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0" u="none" strike="noStrike" dirty="0">
                          <a:solidFill>
                            <a:srgbClr val="000000"/>
                          </a:solidFill>
                          <a:effectLst/>
                          <a:uFillTx/>
                          <a:latin typeface="+mn-lt"/>
                          <a:ea typeface="Calibri"/>
                        </a:rPr>
                        <a:t>0.0855</a:t>
                      </a:r>
                      <a:endParaRPr lang="en-US" sz="1400" b="0"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0" u="none" strike="noStrike" dirty="0">
                          <a:solidFill>
                            <a:srgbClr val="000000"/>
                          </a:solidFill>
                          <a:effectLst/>
                          <a:uFillTx/>
                          <a:latin typeface="+mn-lt"/>
                          <a:ea typeface="Calibri"/>
                        </a:rPr>
                        <a:t>0.1357</a:t>
                      </a:r>
                      <a:endParaRPr lang="en-US" sz="1400" b="0"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0" u="none" strike="noStrike">
                          <a:solidFill>
                            <a:srgbClr val="000000"/>
                          </a:solidFill>
                          <a:effectLst/>
                          <a:uFillTx/>
                          <a:latin typeface="+mn-lt"/>
                          <a:ea typeface="Calibri"/>
                        </a:rPr>
                        <a:t>0.1794</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0" u="none" strike="noStrike">
                          <a:solidFill>
                            <a:srgbClr val="000000"/>
                          </a:solidFill>
                          <a:effectLst/>
                          <a:uFillTx/>
                          <a:latin typeface="+mn-lt"/>
                          <a:ea typeface="Calibri"/>
                        </a:rPr>
                        <a:t>+0.0032</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extLst>
                  <a:ext uri="{0D108BD9-81ED-4DB2-BD59-A6C34878D82A}">
                    <a16:rowId xmlns:a16="http://schemas.microsoft.com/office/drawing/2014/main" val="10001"/>
                  </a:ext>
                </a:extLst>
              </a:tr>
              <a:tr h="365760">
                <a:tc>
                  <a:txBody>
                    <a:bodyPr/>
                    <a:lstStyle/>
                    <a:p>
                      <a:pPr defTabSz="914400">
                        <a:lnSpc>
                          <a:spcPct val="100000"/>
                        </a:lnSpc>
                        <a:tabLst>
                          <a:tab pos="0" algn="l"/>
                        </a:tabLst>
                      </a:pPr>
                      <a:r>
                        <a:rPr lang="en-US" sz="1400" b="1" u="none" strike="noStrike">
                          <a:solidFill>
                            <a:srgbClr val="00A8CC"/>
                          </a:solidFill>
                          <a:effectLst/>
                          <a:uFillTx/>
                          <a:latin typeface="+mn-lt"/>
                          <a:ea typeface="Calibri"/>
                        </a:rPr>
                        <a:t>V2 — Elastic Net</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a:solidFill>
                            <a:srgbClr val="00A8CC"/>
                          </a:solidFill>
                          <a:effectLst/>
                          <a:uFillTx/>
                          <a:latin typeface="+mn-lt"/>
                          <a:ea typeface="Calibri"/>
                        </a:rPr>
                        <a:t>8</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400" b="1" u="none" strike="noStrike">
                          <a:solidFill>
                            <a:srgbClr val="00A8CC"/>
                          </a:solidFill>
                          <a:effectLst/>
                          <a:uFillTx/>
                          <a:latin typeface="+mn-lt"/>
                          <a:ea typeface="Calibri"/>
                        </a:rPr>
                        <a:t>3</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400" b="1" u="none" strike="noStrike">
                          <a:solidFill>
                            <a:srgbClr val="00A8CC"/>
                          </a:solidFill>
                          <a:effectLst/>
                          <a:uFillTx/>
                          <a:latin typeface="+mn-lt"/>
                          <a:ea typeface="Calibri"/>
                        </a:rPr>
                        <a:t>0.0846</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400" b="1" u="none" strike="noStrike">
                          <a:solidFill>
                            <a:srgbClr val="00A8CC"/>
                          </a:solidFill>
                          <a:effectLst/>
                          <a:uFillTx/>
                          <a:latin typeface="+mn-lt"/>
                          <a:ea typeface="Calibri"/>
                        </a:rPr>
                        <a:t>0.1324</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400" b="1" u="none" strike="noStrike">
                          <a:solidFill>
                            <a:srgbClr val="00A8CC"/>
                          </a:solidFill>
                          <a:effectLst/>
                          <a:uFillTx/>
                          <a:latin typeface="+mn-lt"/>
                          <a:ea typeface="Calibri"/>
                        </a:rPr>
                        <a:t>0.2188</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400" b="1" u="none" strike="noStrike">
                          <a:solidFill>
                            <a:srgbClr val="00A8CC"/>
                          </a:solidFill>
                          <a:effectLst/>
                          <a:uFillTx/>
                          <a:latin typeface="+mn-lt"/>
                          <a:ea typeface="Calibri"/>
                        </a:rPr>
                        <a:t>+0.0024</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extLst>
                  <a:ext uri="{0D108BD9-81ED-4DB2-BD59-A6C34878D82A}">
                    <a16:rowId xmlns:a16="http://schemas.microsoft.com/office/drawing/2014/main" val="10002"/>
                  </a:ext>
                </a:extLst>
              </a:tr>
              <a:tr h="365760">
                <a:tc>
                  <a:txBody>
                    <a:bodyPr/>
                    <a:lstStyle/>
                    <a:p>
                      <a:pPr defTabSz="914400">
                        <a:lnSpc>
                          <a:spcPct val="100000"/>
                        </a:lnSpc>
                        <a:tabLst>
                          <a:tab pos="0" algn="l"/>
                        </a:tabLst>
                      </a:pPr>
                      <a:r>
                        <a:rPr lang="en-US" sz="1400" b="1" u="none" strike="noStrike" dirty="0">
                          <a:solidFill>
                            <a:srgbClr val="E8972A"/>
                          </a:solidFill>
                          <a:effectLst/>
                          <a:uFillTx/>
                          <a:latin typeface="+mn-lt"/>
                          <a:ea typeface="Calibri"/>
                        </a:rPr>
                        <a:t>Baseline: </a:t>
                      </a:r>
                      <a:r>
                        <a:rPr lang="en-US" sz="1400" b="1" u="none" strike="noStrike" dirty="0" err="1">
                          <a:solidFill>
                            <a:srgbClr val="E8972A"/>
                          </a:solidFill>
                          <a:effectLst/>
                          <a:uFillTx/>
                          <a:latin typeface="+mn-lt"/>
                          <a:ea typeface="Calibri"/>
                        </a:rPr>
                        <a:t>XGBoost</a:t>
                      </a:r>
                      <a:r>
                        <a:rPr lang="en-US" sz="1400" b="1" u="none" strike="noStrike" dirty="0">
                          <a:solidFill>
                            <a:srgbClr val="E8972A"/>
                          </a:solidFill>
                          <a:effectLst/>
                          <a:uFillTx/>
                          <a:latin typeface="+mn-lt"/>
                          <a:ea typeface="Calibri"/>
                        </a:rPr>
                        <a:t> walk-forward</a:t>
                      </a:r>
                      <a:endParaRPr lang="en-US" sz="1400" b="0"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0" u="none" strike="noStrike" dirty="0">
                          <a:solidFill>
                            <a:srgbClr val="000000"/>
                          </a:solidFill>
                          <a:effectLst/>
                          <a:uFillTx/>
                          <a:latin typeface="+mn-lt"/>
                          <a:ea typeface="Calibri"/>
                        </a:rPr>
                        <a:t>—</a:t>
                      </a:r>
                      <a:endParaRPr lang="en-US" sz="1400" b="0" u="none" strike="noStrike" dirty="0">
                        <a:solidFill>
                          <a:srgbClr val="000000"/>
                        </a:solidFill>
                        <a:effectLst/>
                        <a:uFillTx/>
                        <a:latin typeface="+mn-lt"/>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0" u="none" strike="noStrike">
                          <a:solidFill>
                            <a:srgbClr val="000000"/>
                          </a:solidFill>
                          <a:effectLst/>
                          <a:uFillTx/>
                          <a:latin typeface="+mn-lt"/>
                          <a:ea typeface="Calibri"/>
                        </a:rPr>
                        <a:t>—</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E8972A"/>
                          </a:solidFill>
                          <a:effectLst/>
                          <a:uFillTx/>
                          <a:latin typeface="+mn-lt"/>
                          <a:ea typeface="Calibri"/>
                        </a:rPr>
                        <a:t>0.0823</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0" u="none" strike="noStrike">
                          <a:solidFill>
                            <a:srgbClr val="000000"/>
                          </a:solidFill>
                          <a:effectLst/>
                          <a:uFillTx/>
                          <a:latin typeface="+mn-lt"/>
                          <a:ea typeface="Calibri"/>
                        </a:rPr>
                        <a:t>0.1352</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0" u="none" strike="noStrike">
                          <a:solidFill>
                            <a:srgbClr val="000000"/>
                          </a:solidFill>
                          <a:effectLst/>
                          <a:uFillTx/>
                          <a:latin typeface="+mn-lt"/>
                          <a:ea typeface="Calibri"/>
                        </a:rPr>
                        <a:t>0.1856</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E8972A"/>
                          </a:solidFill>
                          <a:effectLst/>
                          <a:uFillTx/>
                          <a:latin typeface="+mn-lt"/>
                          <a:ea typeface="Calibri"/>
                        </a:rPr>
                        <a:t>BEST ★</a:t>
                      </a:r>
                      <a:endParaRPr lang="en-US" sz="1400" b="0"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3"/>
                  </a:ext>
                </a:extLst>
              </a:tr>
              <a:tr h="36576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Trailing 20 Day Average</a:t>
                      </a:r>
                      <a:endParaRPr lang="en-US" sz="1400" b="1"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mn-lt"/>
                          <a:ea typeface="Calibri"/>
                        </a:rPr>
                        <a:t>—</a:t>
                      </a:r>
                      <a:endParaRPr lang="en-US" sz="1400" b="1" u="none" strike="noStrike" dirty="0">
                        <a:solidFill>
                          <a:srgbClr val="000000"/>
                        </a:solidFill>
                        <a:effectLst/>
                        <a:uFillTx/>
                        <a:latin typeface="+mn-lt"/>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0.0922</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0.1491</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0.0088</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mn-lt"/>
                          <a:ea typeface="Calibri"/>
                        </a:rPr>
                        <a:t>+0.0099</a:t>
                      </a:r>
                      <a:endParaRPr lang="en-US" sz="1400" b="1"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4"/>
                  </a:ext>
                </a:extLst>
              </a:tr>
              <a:tr h="36576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Trailing 5 Day Average</a:t>
                      </a:r>
                      <a:endParaRPr lang="en-US" sz="1400" b="1"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mn-lt"/>
                          <a:ea typeface="Calibri"/>
                        </a:rPr>
                        <a:t>—</a:t>
                      </a:r>
                      <a:endParaRPr lang="en-US" sz="1400" b="1" u="none" strike="noStrike" dirty="0">
                        <a:solidFill>
                          <a:srgbClr val="000000"/>
                        </a:solidFill>
                        <a:effectLst/>
                        <a:uFillTx/>
                        <a:latin typeface="+mn-lt"/>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0.1005</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0.1625</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−0.1773</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+0.0182</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5"/>
                  </a:ext>
                </a:extLst>
              </a:tr>
              <a:tr h="36576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Current Volatility</a:t>
                      </a:r>
                      <a:endParaRPr lang="en-US" sz="1400" b="1"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mn-lt"/>
                          <a:ea typeface="Calibri"/>
                        </a:rPr>
                        <a:t>—</a:t>
                      </a:r>
                      <a:endParaRPr lang="en-US" sz="1400" b="1" u="none" strike="noStrike" dirty="0">
                        <a:solidFill>
                          <a:srgbClr val="000000"/>
                        </a:solidFill>
                        <a:effectLst/>
                        <a:uFillTx/>
                        <a:latin typeface="+mn-lt"/>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mn-lt"/>
                          <a:ea typeface="Calibri"/>
                        </a:rPr>
                        <a:t>—</a:t>
                      </a:r>
                      <a:endParaRPr lang="en-US" sz="1400" b="1"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0.1020</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0.1619</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−0.1680</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+0.0197</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6"/>
                  </a:ext>
                </a:extLst>
              </a:tr>
              <a:tr h="36576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Trailing 20 Day OLS</a:t>
                      </a:r>
                      <a:endParaRPr lang="en-US" sz="1400" b="1"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mn-lt"/>
                          <a:ea typeface="Calibri"/>
                        </a:rPr>
                        <a:t>—</a:t>
                      </a:r>
                      <a:endParaRPr lang="en-US" sz="1400" b="1" u="none" strike="noStrike" dirty="0">
                        <a:solidFill>
                          <a:srgbClr val="000000"/>
                        </a:solidFill>
                        <a:effectLst/>
                        <a:uFillTx/>
                        <a:latin typeface="+mn-lt"/>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mn-lt"/>
                          <a:ea typeface="Calibri"/>
                        </a:rPr>
                        <a:t>—</a:t>
                      </a:r>
                      <a:endParaRPr lang="en-US" sz="1400" b="1"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0.1298</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0.2091</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−0.9498</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+0.0475</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7"/>
                  </a:ext>
                </a:extLst>
              </a:tr>
              <a:tr h="36576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Trailing 5 Day OLS</a:t>
                      </a:r>
                      <a:endParaRPr lang="en-US" sz="1400" b="1"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a:t>
                      </a:r>
                      <a:endParaRPr lang="en-US" sz="1400" b="1" u="none" strike="noStrike">
                        <a:solidFill>
                          <a:srgbClr val="000000"/>
                        </a:solidFill>
                        <a:effectLst/>
                        <a:uFillTx/>
                        <a:latin typeface="+mn-lt"/>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mn-lt"/>
                          <a:ea typeface="Calibri"/>
                        </a:rPr>
                        <a:t>—</a:t>
                      </a:r>
                      <a:endParaRPr lang="en-US" sz="1400" b="1"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0.1644</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0.2478</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mn-lt"/>
                          <a:ea typeface="Calibri"/>
                        </a:rPr>
                        <a:t>−1.7383</a:t>
                      </a:r>
                      <a:endParaRPr lang="en-US" sz="1400" b="1" u="none" strike="noStrike">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mn-lt"/>
                          <a:ea typeface="Calibri"/>
                        </a:rPr>
                        <a:t>+0.0821</a:t>
                      </a:r>
                      <a:endParaRPr lang="en-US" sz="1400" b="1" u="none" strike="noStrike" dirty="0">
                        <a:solidFill>
                          <a:srgbClr val="000000"/>
                        </a:solidFill>
                        <a:effectLst/>
                        <a:uFillTx/>
                        <a:latin typeface="+mn-lt"/>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8"/>
                  </a:ext>
                </a:extLst>
              </a:tr>
            </a:tbl>
          </a:graphicData>
        </a:graphic>
      </p:graphicFrame>
      <p:sp>
        <p:nvSpPr>
          <p:cNvPr id="2" name="Text 5">
            <a:extLst>
              <a:ext uri="{FF2B5EF4-FFF2-40B4-BE49-F238E27FC236}">
                <a16:creationId xmlns:a16="http://schemas.microsoft.com/office/drawing/2014/main" id="{BD13B0C6-9175-E647-AE88-37C81EC4F178}"/>
              </a:ext>
            </a:extLst>
          </p:cNvPr>
          <p:cNvSpPr/>
          <p:nvPr/>
        </p:nvSpPr>
        <p:spPr>
          <a:xfrm>
            <a:off x="1372473" y="1296746"/>
            <a:ext cx="9774500" cy="384444"/>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Key takeaway: V2 is the strongest Elastic Net model, but XGBoost remains the benchmark to beat on test MAE.</a:t>
            </a:r>
            <a:endParaRPr kumimoji="0" lang="en-US" sz="1600" b="1" i="0" u="none" strike="noStrike" kern="1200" cap="none" spc="0" normalizeH="0" baseline="0" noProof="0" dirty="0">
              <a:ln>
                <a:noFill/>
              </a:ln>
              <a:solidFill>
                <a:srgbClr val="000000"/>
              </a:solidFill>
              <a:effectLst/>
              <a:uLnTx/>
              <a:uFillTx/>
              <a:latin typeface="Arial"/>
              <a:ea typeface="+mn-ea"/>
              <a:cs typeface="+mn-cs"/>
            </a:endParaRPr>
          </a:p>
        </p:txBody>
      </p:sp>
      <p:sp>
        <p:nvSpPr>
          <p:cNvPr id="4" name="Text 3">
            <a:extLst>
              <a:ext uri="{FF2B5EF4-FFF2-40B4-BE49-F238E27FC236}">
                <a16:creationId xmlns:a16="http://schemas.microsoft.com/office/drawing/2014/main" id="{30B3A69D-C720-A455-AF5B-23B845D8DDAC}"/>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8" name="Shape 6">
            <a:extLst>
              <a:ext uri="{FF2B5EF4-FFF2-40B4-BE49-F238E27FC236}">
                <a16:creationId xmlns:a16="http://schemas.microsoft.com/office/drawing/2014/main" id="{D3C723B6-84B5-A592-FFF5-03C0407F2AA6}"/>
              </a:ext>
            </a:extLst>
          </p:cNvPr>
          <p:cNvSpPr/>
          <p:nvPr/>
        </p:nvSpPr>
        <p:spPr>
          <a:xfrm>
            <a:off x="504161" y="4804523"/>
            <a:ext cx="5449629" cy="1255773"/>
          </a:xfrm>
          <a:prstGeom prst="rect">
            <a:avLst/>
          </a:prstGeom>
          <a:solidFill>
            <a:srgbClr val="D5F5E3"/>
          </a:solidFill>
          <a:ln w="12700">
            <a:solidFill>
              <a:srgbClr val="1E844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sp>
        <p:nvSpPr>
          <p:cNvPr id="2" name="Shape 0"/>
          <p:cNvSpPr/>
          <p:nvPr/>
        </p:nvSpPr>
        <p:spPr>
          <a:xfrm>
            <a:off x="0" y="0"/>
            <a:ext cx="12191695" cy="777240"/>
          </a:xfrm>
          <a:prstGeom prst="rect">
            <a:avLst/>
          </a:prstGeom>
          <a:solidFill>
            <a:srgbClr val="0B2A45"/>
          </a:solidFill>
          <a:ln w="12700">
            <a:solidFill>
              <a:srgbClr val="0B2A4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502920" y="164592"/>
            <a:ext cx="10088575" cy="5029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Interpretation: What Elastic Net Retained</a:t>
            </a:r>
            <a:endParaRPr kumimoji="0" lang="en-US" sz="3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0" y="6537960"/>
            <a:ext cx="12191695" cy="320040"/>
          </a:xfrm>
          <a:prstGeom prst="rect">
            <a:avLst/>
          </a:prstGeom>
          <a:solidFill>
            <a:srgbClr val="0B2A45"/>
          </a:solidFill>
          <a:ln w="12700">
            <a:solidFill>
              <a:srgbClr val="0B2A4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510692" y="1536192"/>
            <a:ext cx="5432908" cy="2971800"/>
          </a:xfrm>
          <a:prstGeom prst="rect">
            <a:avLst/>
          </a:prstGeom>
          <a:solidFill>
            <a:srgbClr val="DFF5E6"/>
          </a:solidFill>
          <a:ln w="15875">
            <a:solidFill>
              <a:srgbClr val="2E7D3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731520" y="1719072"/>
            <a:ext cx="4975708" cy="3200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E7D32"/>
                </a:solidFill>
                <a:effectLst/>
                <a:uLnTx/>
                <a:uFillTx/>
                <a:latin typeface="Calibri" pitchFamily="34" charset="0"/>
                <a:ea typeface="Calibri" pitchFamily="34" charset="-122"/>
                <a:cs typeface="Calibri" pitchFamily="34" charset="-120"/>
              </a:rPr>
              <a:t>V1 retained features (2/2)</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731520" y="2130552"/>
            <a:ext cx="4892040" cy="1737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9"/>
          <p:cNvSpPr/>
          <p:nvPr/>
        </p:nvSpPr>
        <p:spPr>
          <a:xfrm>
            <a:off x="731520" y="2148840"/>
            <a:ext cx="196596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841248" y="2221992"/>
            <a:ext cx="174650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Feature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2697480" y="2148840"/>
            <a:ext cx="109728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2807208" y="2221992"/>
            <a:ext cx="87782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Coeff</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3794760" y="2148840"/>
            <a:ext cx="182880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3904488" y="2221992"/>
            <a:ext cx="160934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41248" y="2651759"/>
            <a:ext cx="1755648" cy="557784"/>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841248" y="2679192"/>
            <a:ext cx="1746504" cy="49377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20-day trailing vol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2679192" y="2642616"/>
            <a:ext cx="1069848" cy="557784"/>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2807208" y="2679192"/>
            <a:ext cx="877824" cy="49377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E7D32"/>
                </a:solidFill>
                <a:effectLst/>
                <a:uLnTx/>
                <a:uFillTx/>
                <a:latin typeface="Calibri" pitchFamily="34" charset="0"/>
                <a:ea typeface="Calibri" pitchFamily="34" charset="-122"/>
                <a:cs typeface="Calibri" pitchFamily="34" charset="-120"/>
              </a:rPr>
              <a:t>+0.0487</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3822192" y="2640002"/>
            <a:ext cx="1755648" cy="560397"/>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3794760" y="2606041"/>
            <a:ext cx="1783080" cy="55778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Dominant, smoother persistence signal</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841248" y="3264409"/>
            <a:ext cx="1746504" cy="563008"/>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841248" y="3319272"/>
            <a:ext cx="1746504" cy="49377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Current vol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2697480" y="3278777"/>
            <a:ext cx="1033272" cy="548640"/>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2807208" y="3319272"/>
            <a:ext cx="877824" cy="49377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E7D32"/>
                </a:solidFill>
                <a:effectLst/>
                <a:uLnTx/>
                <a:uFillTx/>
                <a:latin typeface="Calibri" pitchFamily="34" charset="0"/>
                <a:ea typeface="Calibri" pitchFamily="34" charset="-122"/>
                <a:cs typeface="Calibri" pitchFamily="34" charset="-120"/>
              </a:rPr>
              <a:t>+0.0377</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3794760" y="3246120"/>
            <a:ext cx="1783080" cy="581297"/>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3850996" y="3280083"/>
            <a:ext cx="1726844" cy="54733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Recency beyond the 20-day average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6255868" y="1536192"/>
            <a:ext cx="5432908" cy="2971800"/>
          </a:xfrm>
          <a:prstGeom prst="rect">
            <a:avLst/>
          </a:prstGeom>
          <a:solidFill>
            <a:srgbClr val="DFF4FB"/>
          </a:solidFill>
          <a:ln w="15875">
            <a:solidFill>
              <a:srgbClr val="00A3C4"/>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6484468" y="1719072"/>
            <a:ext cx="4975708" cy="3200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V2 retained features (3/8)</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6484468" y="2148840"/>
            <a:ext cx="4892040" cy="224028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6484468" y="2148840"/>
            <a:ext cx="196596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6594196" y="2221992"/>
            <a:ext cx="174650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Feature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450428" y="2148840"/>
            <a:ext cx="109728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560156" y="2221992"/>
            <a:ext cx="87782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Coeff</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9547708" y="2148840"/>
            <a:ext cx="182880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9657436" y="2221992"/>
            <a:ext cx="160934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6484468" y="2606040"/>
            <a:ext cx="196596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6594196" y="2679192"/>
            <a:ext cx="174650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20-day trailing vol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8450428" y="2606040"/>
            <a:ext cx="109728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8560156" y="2679192"/>
            <a:ext cx="877824" cy="44805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+0.0405</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9547708" y="2606040"/>
            <a:ext cx="182880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9657436" y="2679192"/>
            <a:ext cx="160934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Still dominant; slightly smaller with VIX added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2"/>
          <p:cNvSpPr/>
          <p:nvPr/>
        </p:nvSpPr>
        <p:spPr>
          <a:xfrm>
            <a:off x="6484468" y="3200400"/>
            <a:ext cx="1965960" cy="594360"/>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Text 43"/>
          <p:cNvSpPr/>
          <p:nvPr/>
        </p:nvSpPr>
        <p:spPr>
          <a:xfrm>
            <a:off x="6594196" y="3273552"/>
            <a:ext cx="174650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Current vol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8450428" y="3200400"/>
            <a:ext cx="1097280" cy="594360"/>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8560156" y="3273552"/>
            <a:ext cx="877824" cy="44805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+0.0323</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9547708" y="3200400"/>
            <a:ext cx="1828800" cy="594360"/>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657436" y="3273552"/>
            <a:ext cx="160934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Recency remains informative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Shape 48"/>
          <p:cNvSpPr/>
          <p:nvPr/>
        </p:nvSpPr>
        <p:spPr>
          <a:xfrm>
            <a:off x="6484468" y="3794760"/>
            <a:ext cx="196596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6594196" y="3867912"/>
            <a:ext cx="174650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VIX</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Shape 50"/>
          <p:cNvSpPr/>
          <p:nvPr/>
        </p:nvSpPr>
        <p:spPr>
          <a:xfrm>
            <a:off x="8450428" y="3794760"/>
            <a:ext cx="109728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 name="Text 51"/>
          <p:cNvSpPr/>
          <p:nvPr/>
        </p:nvSpPr>
        <p:spPr>
          <a:xfrm>
            <a:off x="8560156" y="3867912"/>
            <a:ext cx="877824" cy="44805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+0.0293</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4" name="Shape 52"/>
          <p:cNvSpPr/>
          <p:nvPr/>
        </p:nvSpPr>
        <p:spPr>
          <a:xfrm>
            <a:off x="9547708" y="3794760"/>
            <a:ext cx="182880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3"/>
          <p:cNvSpPr/>
          <p:nvPr/>
        </p:nvSpPr>
        <p:spPr>
          <a:xfrm>
            <a:off x="9657436" y="3867912"/>
            <a:ext cx="160934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Forward-looking implied volatility signal</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Shape 7">
            <a:extLst>
              <a:ext uri="{FF2B5EF4-FFF2-40B4-BE49-F238E27FC236}">
                <a16:creationId xmlns:a16="http://schemas.microsoft.com/office/drawing/2014/main" id="{FD349E88-F102-AB6B-4A74-3AA11753C701}"/>
              </a:ext>
            </a:extLst>
          </p:cNvPr>
          <p:cNvSpPr/>
          <p:nvPr/>
        </p:nvSpPr>
        <p:spPr>
          <a:xfrm>
            <a:off x="6269791" y="4804524"/>
            <a:ext cx="5432908" cy="1255772"/>
          </a:xfrm>
          <a:prstGeom prst="rect">
            <a:avLst/>
          </a:prstGeom>
          <a:solidFill>
            <a:srgbClr val="D6F2FA"/>
          </a:solidFill>
          <a:ln w="12700">
            <a:solidFill>
              <a:srgbClr val="00A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61" name="Text 8">
            <a:extLst>
              <a:ext uri="{FF2B5EF4-FFF2-40B4-BE49-F238E27FC236}">
                <a16:creationId xmlns:a16="http://schemas.microsoft.com/office/drawing/2014/main" id="{6B13C97D-3A48-96FF-998F-CE8C71F1BDC5}"/>
              </a:ext>
            </a:extLst>
          </p:cNvPr>
          <p:cNvSpPr/>
          <p:nvPr/>
        </p:nvSpPr>
        <p:spPr>
          <a:xfrm>
            <a:off x="582152" y="4853724"/>
            <a:ext cx="5289987" cy="115736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914400" rtl="0" eaLnBrk="1" fontAlgn="auto" latinLnBrk="0" hangingPunct="1">
              <a:lnSpc>
                <a:spcPct val="100000"/>
              </a:lnSpc>
              <a:spcBef>
                <a:spcPts val="0"/>
              </a:spcBef>
              <a:spcAft>
                <a:spcPts val="400"/>
              </a:spcAft>
              <a:buClr>
                <a:srgbClr val="1A1A2E"/>
              </a:buClr>
              <a:buSzTx/>
              <a:buFontTx/>
              <a:buNone/>
              <a:tabLst/>
              <a:defRPr/>
            </a:pPr>
            <a:r>
              <a:rPr kumimoji="0" lang="en-US" sz="1300" b="1" i="0" u="none" strike="noStrike" kern="1200" cap="none" spc="0" normalizeH="0" baseline="0" noProof="0" dirty="0">
                <a:ln>
                  <a:noFill/>
                </a:ln>
                <a:solidFill>
                  <a:srgbClr val="2E7D32"/>
                </a:solidFill>
                <a:effectLst/>
                <a:uLnTx/>
                <a:uFillTx/>
                <a:latin typeface="Calibri" panose="020F0502020204030204"/>
                <a:ea typeface="Calibri" pitchFamily="34" charset="-122"/>
                <a:cs typeface="Calibri" pitchFamily="34" charset="-120"/>
              </a:rPr>
              <a:t>V1 Economic Meaning: Volatility</a:t>
            </a:r>
            <a:endParaRPr kumimoji="0" lang="en-US" sz="1300" b="1" i="0" u="none" strike="noStrike" kern="1200" cap="none" spc="0" normalizeH="0" baseline="0" noProof="0" dirty="0">
              <a:ln>
                <a:noFill/>
              </a:ln>
              <a:solidFill>
                <a:srgbClr val="1A1A2E"/>
              </a:solidFill>
              <a:effectLst/>
              <a:uLnTx/>
              <a:uFillTx/>
              <a:latin typeface="Calibri" panose="020F0502020204030204"/>
              <a:ea typeface="Calibri"/>
              <a:cs typeface="+mn-cs"/>
            </a:endParaRPr>
          </a:p>
          <a:p>
            <a:pPr marL="171450" marR="0" lvl="0" indent="-171450" algn="l" defTabSz="914400" rtl="0" eaLnBrk="1" fontAlgn="auto" latinLnBrk="0" hangingPunct="1">
              <a:lnSpc>
                <a:spcPct val="100000"/>
              </a:lnSpc>
              <a:spcBef>
                <a:spcPts val="0"/>
              </a:spcBef>
              <a:spcAft>
                <a:spcPts val="600"/>
              </a:spcAft>
              <a:buClr>
                <a:srgbClr val="1A1A2E"/>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1A1A2E"/>
                </a:solidFill>
                <a:effectLst/>
                <a:uLnTx/>
                <a:uFillTx/>
                <a:latin typeface="Calibri" panose="020F0502020204030204"/>
                <a:ea typeface="Calibri"/>
                <a:cs typeface="+mn-cs"/>
              </a:rPr>
              <a:t>Both coefficients are positive</a:t>
            </a:r>
          </a:p>
          <a:p>
            <a:pPr marL="171450" marR="0" lvl="0" indent="-171450" algn="l" defTabSz="914400" rtl="0" eaLnBrk="1" fontAlgn="auto" latinLnBrk="0" hangingPunct="1">
              <a:lnSpc>
                <a:spcPct val="100000"/>
              </a:lnSpc>
              <a:spcBef>
                <a:spcPts val="0"/>
              </a:spcBef>
              <a:spcAft>
                <a:spcPts val="600"/>
              </a:spcAft>
              <a:buClr>
                <a:srgbClr val="1A1A2E"/>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1A1A2E"/>
                </a:solidFill>
                <a:effectLst/>
                <a:uLnTx/>
                <a:uFillTx/>
                <a:latin typeface="Calibri" panose="020F0502020204030204"/>
                <a:ea typeface="Calibri"/>
                <a:cs typeface="+mn-cs"/>
              </a:rPr>
              <a:t>20-day trailing volatility is the stronger signal</a:t>
            </a:r>
          </a:p>
          <a:p>
            <a:pPr marL="171450" marR="0" lvl="0" indent="-171450" algn="l" defTabSz="914400" rtl="0" eaLnBrk="1" fontAlgn="auto" latinLnBrk="0" hangingPunct="1">
              <a:lnSpc>
                <a:spcPct val="100000"/>
              </a:lnSpc>
              <a:spcBef>
                <a:spcPts val="0"/>
              </a:spcBef>
              <a:spcAft>
                <a:spcPts val="600"/>
              </a:spcAft>
              <a:buClr>
                <a:srgbClr val="1A1A2E"/>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Calibri" panose="020F0502020204030204"/>
                <a:ea typeface="+mn-ea"/>
                <a:cs typeface="+mn-cs"/>
              </a:rPr>
              <a:t>Current volatility recency</a:t>
            </a:r>
          </a:p>
          <a:p>
            <a:pPr marL="171450" marR="0" lvl="0" indent="-171450" algn="l" defTabSz="914400" rtl="0" eaLnBrk="1" fontAlgn="auto" latinLnBrk="0" hangingPunct="1">
              <a:lnSpc>
                <a:spcPct val="100000"/>
              </a:lnSpc>
              <a:spcBef>
                <a:spcPts val="0"/>
              </a:spcBef>
              <a:spcAft>
                <a:spcPts val="601"/>
              </a:spcAft>
              <a:buClr>
                <a:srgbClr val="1A1A2E"/>
              </a:buClr>
              <a:buSzTx/>
              <a:buFont typeface="Arial" panose="020B0604020202020204" pitchFamily="34" charset="0"/>
              <a:buChar char="•"/>
              <a:tabLst/>
              <a:defRPr/>
            </a:pPr>
            <a:endParaRPr kumimoji="0" lang="en-US" sz="12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100" name="Text 8">
            <a:extLst>
              <a:ext uri="{FF2B5EF4-FFF2-40B4-BE49-F238E27FC236}">
                <a16:creationId xmlns:a16="http://schemas.microsoft.com/office/drawing/2014/main" id="{CCF61E46-DCB3-164B-99B6-3C57DF654206}"/>
              </a:ext>
            </a:extLst>
          </p:cNvPr>
          <p:cNvSpPr/>
          <p:nvPr/>
        </p:nvSpPr>
        <p:spPr>
          <a:xfrm>
            <a:off x="6338571" y="4853725"/>
            <a:ext cx="5295347" cy="99843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400"/>
              </a:spcAft>
              <a:buClrTx/>
              <a:buSzTx/>
              <a:buFontTx/>
              <a:buNone/>
              <a:tabLst>
                <a:tab pos="0" algn="l"/>
              </a:tabLst>
              <a:defRPr/>
            </a:pPr>
            <a:r>
              <a:rPr kumimoji="0" lang="en-US" sz="14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V2: Why VIX Survives</a:t>
            </a:r>
            <a:endParaRPr kumimoji="0" lang="en-US" sz="1300" b="1" i="0" u="none" strike="noStrike" kern="1200" cap="none" spc="0" normalizeH="0" baseline="0" noProof="0" dirty="0">
              <a:ln>
                <a:noFill/>
              </a:ln>
              <a:solidFill>
                <a:srgbClr val="1A1A2E"/>
              </a:solidFill>
              <a:effectLst/>
              <a:uLnTx/>
              <a:uFillTx/>
              <a:latin typeface="Calibri" panose="020F0502020204030204"/>
              <a:ea typeface="Calibri"/>
              <a:cs typeface="+mn-cs"/>
            </a:endParaRP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tab pos="0" algn="l"/>
              </a:tabLst>
              <a:defRPr/>
            </a:pPr>
            <a:r>
              <a:rPr kumimoji="0" lang="en-US" sz="1200" b="1" i="0" u="none" strike="noStrike" kern="1200" cap="none" spc="0" normalizeH="0" baseline="0" noProof="0" dirty="0">
                <a:ln>
                  <a:noFill/>
                </a:ln>
                <a:solidFill>
                  <a:srgbClr val="1A1A2E"/>
                </a:solidFill>
                <a:effectLst/>
                <a:uLnTx/>
                <a:uFillTx/>
                <a:latin typeface="Calibri" panose="020F0502020204030204"/>
                <a:ea typeface="Calibri"/>
                <a:cs typeface="+mn-cs"/>
              </a:rPr>
              <a:t>VIX forward-looking, while the other retained volatility measures are backward-looking.</a:t>
            </a: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tab pos="0" algn="l"/>
              </a:tabLst>
              <a:defRPr/>
            </a:pPr>
            <a:r>
              <a:rPr kumimoji="0" lang="en-US" sz="1200" b="1" i="0" u="none" strike="noStrike" kern="1200" cap="none" spc="0" normalizeH="0" baseline="0" noProof="0" dirty="0">
                <a:ln>
                  <a:noFill/>
                </a:ln>
                <a:solidFill>
                  <a:srgbClr val="000000"/>
                </a:solidFill>
                <a:effectLst/>
                <a:uLnTx/>
                <a:uFillTx/>
                <a:latin typeface="Calibri" panose="020F0502020204030204"/>
                <a:ea typeface="+mn-ea"/>
                <a:cs typeface="+mn-cs"/>
              </a:rPr>
              <a:t>That gives VIX unique predictive value in V2.</a:t>
            </a:r>
          </a:p>
        </p:txBody>
      </p:sp>
      <p:sp>
        <p:nvSpPr>
          <p:cNvPr id="101" name="Text 5">
            <a:extLst>
              <a:ext uri="{FF2B5EF4-FFF2-40B4-BE49-F238E27FC236}">
                <a16:creationId xmlns:a16="http://schemas.microsoft.com/office/drawing/2014/main" id="{93BDD627-9A92-B266-94CA-7154B61271BB}"/>
              </a:ext>
            </a:extLst>
          </p:cNvPr>
          <p:cNvSpPr/>
          <p:nvPr/>
        </p:nvSpPr>
        <p:spPr>
          <a:xfrm>
            <a:off x="520882" y="896111"/>
            <a:ext cx="5432908" cy="53035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kumimoji="0" lang="en-US" sz="1300" b="1" i="0" u="none" strike="noStrike" kern="1200" cap="none" spc="0" normalizeH="0" baseline="0" noProof="0" dirty="0">
                <a:ln>
                  <a:noFill/>
                </a:ln>
                <a:solidFill>
                  <a:prstClr val="black"/>
                </a:solidFill>
                <a:effectLst/>
                <a:uLnTx/>
                <a:uFillTx/>
                <a:latin typeface="Calibri" panose="020F0502020204030204"/>
                <a:ea typeface="+mn-ea"/>
                <a:cs typeface="+mn-cs"/>
              </a:rPr>
              <a:t>V1 retains two current-state volatility features.</a:t>
            </a:r>
          </a:p>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kumimoji="0" lang="en-US" sz="1300" b="1" i="0" u="none" strike="noStrike" kern="1200" cap="none" spc="0" normalizeH="0" baseline="0" noProof="0" dirty="0">
                <a:ln>
                  <a:noFill/>
                </a:ln>
                <a:solidFill>
                  <a:prstClr val="black"/>
                </a:solidFill>
                <a:effectLst/>
                <a:uLnTx/>
                <a:uFillTx/>
                <a:latin typeface="Calibri" panose="020F0502020204030204"/>
                <a:ea typeface="+mn-ea"/>
                <a:cs typeface="+mn-cs"/>
              </a:rPr>
              <a:t>20-day trailing volatility term is the stronger predictor.</a:t>
            </a:r>
            <a:endParaRPr kumimoji="0" lang="en-US" sz="1300" b="1" i="0" u="none" strike="noStrike" kern="1200" cap="none" spc="0" normalizeH="0" baseline="0" noProof="0" dirty="0">
              <a:ln>
                <a:noFill/>
              </a:ln>
              <a:solidFill>
                <a:prstClr val="black"/>
              </a:solidFill>
              <a:effectLst/>
              <a:uLnTx/>
              <a:uFillTx/>
              <a:latin typeface="Arial"/>
              <a:ea typeface="+mn-ea"/>
              <a:cs typeface="+mn-cs"/>
            </a:endParaRPr>
          </a:p>
        </p:txBody>
      </p:sp>
      <p:sp>
        <p:nvSpPr>
          <p:cNvPr id="102" name="Text 5">
            <a:extLst>
              <a:ext uri="{FF2B5EF4-FFF2-40B4-BE49-F238E27FC236}">
                <a16:creationId xmlns:a16="http://schemas.microsoft.com/office/drawing/2014/main" id="{F4A5F84F-65E6-8FA9-813D-75D3989A7BBE}"/>
              </a:ext>
            </a:extLst>
          </p:cNvPr>
          <p:cNvSpPr/>
          <p:nvPr/>
        </p:nvSpPr>
        <p:spPr>
          <a:xfrm>
            <a:off x="6255868" y="896110"/>
            <a:ext cx="5432907" cy="53035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kumimoji="0" lang="en-US" sz="1300" b="1" i="0" u="none" strike="noStrike" kern="1200" cap="none" spc="0" normalizeH="0" baseline="0" noProof="0" dirty="0">
                <a:ln>
                  <a:noFill/>
                </a:ln>
                <a:solidFill>
                  <a:prstClr val="black"/>
                </a:solidFill>
                <a:effectLst/>
                <a:uLnTx/>
                <a:uFillTx/>
                <a:latin typeface="Calibri"/>
                <a:ea typeface="Calibri"/>
                <a:cs typeface="+mn-cs"/>
              </a:rPr>
              <a:t>V2 adds six macro and market features. </a:t>
            </a:r>
          </a:p>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kumimoji="0" lang="en-US" sz="1300" b="1" i="0" u="none" strike="noStrike" kern="1200" cap="none" spc="0" normalizeH="0" baseline="0" noProof="0" dirty="0">
                <a:ln>
                  <a:noFill/>
                </a:ln>
                <a:solidFill>
                  <a:prstClr val="black"/>
                </a:solidFill>
                <a:effectLst/>
                <a:uLnTx/>
                <a:uFillTx/>
                <a:latin typeface="Calibri"/>
                <a:ea typeface="Calibri"/>
                <a:cs typeface="+mn-cs"/>
              </a:rPr>
              <a:t>Only VIX is retained; the others are shrunk to zero. </a:t>
            </a:r>
            <a:endParaRPr kumimoji="0" lang="en-US" sz="1300" b="1" i="0" u="none" strike="noStrike" kern="1200" cap="none" spc="0" normalizeH="0" baseline="0" noProof="0" dirty="0">
              <a:ln>
                <a:noFill/>
              </a:ln>
              <a:solidFill>
                <a:prstClr val="black"/>
              </a:solidFill>
              <a:effectLst/>
              <a:uLnTx/>
              <a:uFillTx/>
              <a:latin typeface="Arial"/>
              <a:ea typeface="+mn-ea"/>
              <a:cs typeface="+mn-cs"/>
            </a:endParaRPr>
          </a:p>
        </p:txBody>
      </p:sp>
      <p:sp>
        <p:nvSpPr>
          <p:cNvPr id="56" name="Text 3">
            <a:extLst>
              <a:ext uri="{FF2B5EF4-FFF2-40B4-BE49-F238E27FC236}">
                <a16:creationId xmlns:a16="http://schemas.microsoft.com/office/drawing/2014/main" id="{881F9AEE-4A6C-8B73-1042-3CBAAB706B31}"/>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141" name="Shape 0"/>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42" name="Text 1"/>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a:ln>
                  <a:noFill/>
                </a:ln>
                <a:solidFill>
                  <a:srgbClr val="FFFFFF"/>
                </a:solidFill>
                <a:effectLst/>
                <a:uLnTx/>
                <a:uFillTx/>
                <a:latin typeface="Calibri"/>
                <a:ea typeface="Calibri"/>
                <a:cs typeface="+mn-cs"/>
              </a:rPr>
              <a:t>Subgroup Breakdown: Market / Sector / Industry ETFs</a:t>
            </a:r>
            <a:endParaRPr kumimoji="0" lang="en-US" sz="2933" b="0" i="0" u="none" strike="noStrike" kern="1200" cap="none" spc="0" normalizeH="0" baseline="0" noProof="0">
              <a:ln>
                <a:noFill/>
              </a:ln>
              <a:solidFill>
                <a:srgbClr val="000000"/>
              </a:solidFill>
              <a:effectLst/>
              <a:uLnTx/>
              <a:uFillTx/>
              <a:latin typeface="Arial"/>
              <a:ea typeface="+mn-ea"/>
              <a:cs typeface="+mn-cs"/>
            </a:endParaRPr>
          </a:p>
        </p:txBody>
      </p:sp>
      <p:sp>
        <p:nvSpPr>
          <p:cNvPr id="144" name="Shape 3"/>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46" name="Text 5"/>
          <p:cNvSpPr/>
          <p:nvPr/>
        </p:nvSpPr>
        <p:spPr>
          <a:xfrm>
            <a:off x="219360" y="914592"/>
            <a:ext cx="11752800" cy="46272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600" b="1" i="0" u="none" strike="noStrike" kern="1200" cap="none" spc="0" normalizeH="0" baseline="0" noProof="0" dirty="0">
                <a:ln>
                  <a:noFill/>
                </a:ln>
                <a:solidFill>
                  <a:srgbClr val="000000"/>
                </a:solidFill>
                <a:effectLst/>
                <a:uLnTx/>
                <a:uFillTx/>
                <a:latin typeface="Calibri"/>
                <a:ea typeface="Calibri"/>
                <a:cs typeface="+mn-cs"/>
              </a:rPr>
              <a:t>Performance by ETF subgroup. Industry ETFs are hardest to forecast because idiosyncratic risk is less well captured by aggregate volatility signals. V2’s clearest MAE improvement appears at the industry level.</a:t>
            </a:r>
            <a:endParaRPr kumimoji="0" lang="en-US" sz="1600" b="1" i="0" u="none" strike="noStrike" kern="1200" cap="none" spc="0" normalizeH="0" baseline="0" noProof="0" dirty="0">
              <a:ln>
                <a:noFill/>
              </a:ln>
              <a:solidFill>
                <a:srgbClr val="000000"/>
              </a:solidFill>
              <a:effectLst/>
              <a:uLnTx/>
              <a:uFillTx/>
              <a:latin typeface="Arial"/>
              <a:ea typeface="+mn-ea"/>
              <a:cs typeface="+mn-cs"/>
            </a:endParaRPr>
          </a:p>
        </p:txBody>
      </p:sp>
      <p:graphicFrame>
        <p:nvGraphicFramePr>
          <p:cNvPr id="147" name="Table 0"/>
          <p:cNvGraphicFramePr/>
          <p:nvPr/>
        </p:nvGraphicFramePr>
        <p:xfrm>
          <a:off x="341281" y="1658304"/>
          <a:ext cx="9757184" cy="2926080"/>
        </p:xfrm>
        <a:graphic>
          <a:graphicData uri="http://schemas.openxmlformats.org/drawingml/2006/table">
            <a:tbl>
              <a:tblPr/>
              <a:tblGrid>
                <a:gridCol w="1256360">
                  <a:extLst>
                    <a:ext uri="{9D8B030D-6E8A-4147-A177-3AD203B41FA5}">
                      <a16:colId xmlns:a16="http://schemas.microsoft.com/office/drawing/2014/main" val="20000"/>
                    </a:ext>
                  </a:extLst>
                </a:gridCol>
                <a:gridCol w="882136">
                  <a:extLst>
                    <a:ext uri="{9D8B030D-6E8A-4147-A177-3AD203B41FA5}">
                      <a16:colId xmlns:a16="http://schemas.microsoft.com/office/drawing/2014/main" val="20001"/>
                    </a:ext>
                  </a:extLst>
                </a:gridCol>
                <a:gridCol w="1122671">
                  <a:extLst>
                    <a:ext uri="{9D8B030D-6E8A-4147-A177-3AD203B41FA5}">
                      <a16:colId xmlns:a16="http://schemas.microsoft.com/office/drawing/2014/main" val="20002"/>
                    </a:ext>
                  </a:extLst>
                </a:gridCol>
                <a:gridCol w="1122671">
                  <a:extLst>
                    <a:ext uri="{9D8B030D-6E8A-4147-A177-3AD203B41FA5}">
                      <a16:colId xmlns:a16="http://schemas.microsoft.com/office/drawing/2014/main" val="20003"/>
                    </a:ext>
                  </a:extLst>
                </a:gridCol>
                <a:gridCol w="1122671">
                  <a:extLst>
                    <a:ext uri="{9D8B030D-6E8A-4147-A177-3AD203B41FA5}">
                      <a16:colId xmlns:a16="http://schemas.microsoft.com/office/drawing/2014/main" val="20004"/>
                    </a:ext>
                  </a:extLst>
                </a:gridCol>
                <a:gridCol w="1122671">
                  <a:extLst>
                    <a:ext uri="{9D8B030D-6E8A-4147-A177-3AD203B41FA5}">
                      <a16:colId xmlns:a16="http://schemas.microsoft.com/office/drawing/2014/main" val="20005"/>
                    </a:ext>
                  </a:extLst>
                </a:gridCol>
                <a:gridCol w="1042668">
                  <a:extLst>
                    <a:ext uri="{9D8B030D-6E8A-4147-A177-3AD203B41FA5}">
                      <a16:colId xmlns:a16="http://schemas.microsoft.com/office/drawing/2014/main" val="20006"/>
                    </a:ext>
                  </a:extLst>
                </a:gridCol>
                <a:gridCol w="1042668">
                  <a:extLst>
                    <a:ext uri="{9D8B030D-6E8A-4147-A177-3AD203B41FA5}">
                      <a16:colId xmlns:a16="http://schemas.microsoft.com/office/drawing/2014/main" val="20007"/>
                    </a:ext>
                  </a:extLst>
                </a:gridCol>
                <a:gridCol w="1042668">
                  <a:extLst>
                    <a:ext uri="{9D8B030D-6E8A-4147-A177-3AD203B41FA5}">
                      <a16:colId xmlns:a16="http://schemas.microsoft.com/office/drawing/2014/main" val="20008"/>
                    </a:ext>
                  </a:extLst>
                </a:gridCol>
              </a:tblGrid>
              <a:tr h="731520">
                <a:tc>
                  <a:txBody>
                    <a:bodyPr/>
                    <a:lstStyle/>
                    <a:p>
                      <a:pPr algn="ctr" defTabSz="914400">
                        <a:lnSpc>
                          <a:spcPct val="100000"/>
                        </a:lnSpc>
                        <a:tabLst>
                          <a:tab pos="0" algn="l"/>
                        </a:tabLst>
                      </a:pPr>
                      <a:r>
                        <a:rPr lang="en-US" sz="1500" b="1" u="none" strike="noStrike">
                          <a:solidFill>
                            <a:srgbClr val="FFFFFF"/>
                          </a:solidFill>
                          <a:effectLst/>
                          <a:uFillTx/>
                          <a:latin typeface="Calibri"/>
                          <a:ea typeface="Calibri"/>
                        </a:rPr>
                        <a:t>Group</a:t>
                      </a:r>
                      <a:endParaRPr lang="en-US" sz="1500" b="0" u="none" strike="noStrike">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500" b="1" u="none" strike="noStrike">
                          <a:solidFill>
                            <a:srgbClr val="FFFFFF"/>
                          </a:solidFill>
                          <a:effectLst/>
                          <a:uFillTx/>
                          <a:latin typeface="Calibri"/>
                          <a:ea typeface="Calibri"/>
                        </a:rPr>
                        <a:t>N Rows</a:t>
                      </a:r>
                      <a:endParaRPr lang="en-US" sz="1500" b="0" u="none" strike="noStrike">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500" b="1" u="none" strike="noStrike">
                          <a:solidFill>
                            <a:srgbClr val="FFFFFF"/>
                          </a:solidFill>
                          <a:effectLst/>
                          <a:uFillTx/>
                          <a:latin typeface="Calibri"/>
                          <a:ea typeface="Calibri"/>
                        </a:rPr>
                        <a:t>V1 MAE</a:t>
                      </a:r>
                      <a:endParaRPr lang="en-US" sz="1500" b="0" u="none" strike="noStrike">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500" b="1" u="none" strike="noStrike">
                          <a:solidFill>
                            <a:srgbClr val="FFFFFF"/>
                          </a:solidFill>
                          <a:effectLst/>
                          <a:uFillTx/>
                          <a:latin typeface="Calibri"/>
                          <a:ea typeface="Calibri"/>
                        </a:rPr>
                        <a:t>V2 MAE</a:t>
                      </a:r>
                      <a:endParaRPr lang="en-US" sz="1500" b="0" u="none" strike="noStrike">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500" b="1" u="none" strike="noStrike">
                          <a:solidFill>
                            <a:srgbClr val="FFFFFF"/>
                          </a:solidFill>
                          <a:effectLst/>
                          <a:uFillTx/>
                          <a:latin typeface="Calibri"/>
                          <a:ea typeface="Calibri"/>
                        </a:rPr>
                        <a:t>V1 RMSE</a:t>
                      </a:r>
                      <a:endParaRPr lang="en-US" sz="1500" b="0" u="none" strike="noStrike">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500" b="1" u="none" strike="noStrike">
                          <a:solidFill>
                            <a:srgbClr val="FFFFFF"/>
                          </a:solidFill>
                          <a:effectLst/>
                          <a:uFillTx/>
                          <a:latin typeface="Calibri"/>
                          <a:ea typeface="Calibri"/>
                        </a:rPr>
                        <a:t>V2 RMSE</a:t>
                      </a:r>
                      <a:endParaRPr lang="en-US" sz="1500" b="0" u="none" strike="noStrike">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500" b="1" u="none" strike="noStrike" dirty="0">
                          <a:solidFill>
                            <a:srgbClr val="FFFFFF"/>
                          </a:solidFill>
                          <a:effectLst/>
                          <a:uFillTx/>
                          <a:latin typeface="Calibri"/>
                          <a:ea typeface="Calibri"/>
                        </a:rPr>
                        <a:t>V1 R²</a:t>
                      </a:r>
                      <a:endParaRPr lang="en-US" sz="15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500" b="1" u="none" strike="noStrike" dirty="0">
                          <a:solidFill>
                            <a:srgbClr val="FFFFFF"/>
                          </a:solidFill>
                          <a:effectLst/>
                          <a:uFillTx/>
                          <a:latin typeface="Calibri"/>
                          <a:ea typeface="Calibri"/>
                        </a:rPr>
                        <a:t>V2 R²</a:t>
                      </a:r>
                      <a:endParaRPr lang="en-US" sz="15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500" b="1" u="none" strike="noStrike" dirty="0">
                          <a:solidFill>
                            <a:srgbClr val="FFFFFF"/>
                          </a:solidFill>
                          <a:effectLst/>
                          <a:uFillTx/>
                          <a:latin typeface="Calibri"/>
                          <a:ea typeface="Calibri"/>
                        </a:rPr>
                        <a:t>ΔMAE (V2 – V1)</a:t>
                      </a:r>
                      <a:endParaRPr lang="en-US" sz="15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extLst>
                  <a:ext uri="{0D108BD9-81ED-4DB2-BD59-A6C34878D82A}">
                    <a16:rowId xmlns:a16="http://schemas.microsoft.com/office/drawing/2014/main" val="10000"/>
                  </a:ext>
                </a:extLst>
              </a:tr>
              <a:tr h="731520">
                <a:tc>
                  <a:txBody>
                    <a:bodyPr/>
                    <a:lstStyle/>
                    <a:p>
                      <a:pPr defTabSz="914400">
                        <a:lnSpc>
                          <a:spcPct val="100000"/>
                        </a:lnSpc>
                        <a:tabLst>
                          <a:tab pos="0" algn="l"/>
                        </a:tabLst>
                      </a:pPr>
                      <a:r>
                        <a:rPr lang="en-US" sz="1500" b="0" u="none" strike="noStrike">
                          <a:solidFill>
                            <a:srgbClr val="000000"/>
                          </a:solidFill>
                          <a:effectLst/>
                          <a:uFillTx/>
                          <a:latin typeface="Calibri"/>
                          <a:ea typeface="Calibri"/>
                        </a:rPr>
                        <a:t>Market ETF</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245</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0.0792</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0.0802</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0.1264</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0.1225</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0.1442</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0.1973</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a:solidFill>
                            <a:srgbClr val="C0392B"/>
                          </a:solidFill>
                          <a:effectLst/>
                          <a:uFillTx/>
                          <a:latin typeface="Calibri"/>
                          <a:ea typeface="Calibri"/>
                        </a:rPr>
                        <a:t>+0.0010</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extLst>
                  <a:ext uri="{0D108BD9-81ED-4DB2-BD59-A6C34878D82A}">
                    <a16:rowId xmlns:a16="http://schemas.microsoft.com/office/drawing/2014/main" val="10001"/>
                  </a:ext>
                </a:extLst>
              </a:tr>
              <a:tr h="731520">
                <a:tc>
                  <a:txBody>
                    <a:bodyPr/>
                    <a:lstStyle/>
                    <a:p>
                      <a:pPr defTabSz="914400">
                        <a:lnSpc>
                          <a:spcPct val="100000"/>
                        </a:lnSpc>
                        <a:tabLst>
                          <a:tab pos="0" algn="l"/>
                        </a:tabLst>
                      </a:pPr>
                      <a:r>
                        <a:rPr lang="en-US" sz="1500" b="0" u="none" strike="noStrike">
                          <a:solidFill>
                            <a:srgbClr val="000000"/>
                          </a:solidFill>
                          <a:effectLst/>
                          <a:uFillTx/>
                          <a:latin typeface="Calibri"/>
                          <a:ea typeface="Calibri"/>
                        </a:rPr>
                        <a:t>Sector ETF</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3,185</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0.0737</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0.0743</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0.1148</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0.1123</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0.1410</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0.1774</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500" b="0" u="none" strike="noStrike">
                          <a:solidFill>
                            <a:srgbClr val="C0392B"/>
                          </a:solidFill>
                          <a:effectLst/>
                          <a:uFillTx/>
                          <a:latin typeface="Calibri"/>
                          <a:ea typeface="Calibri"/>
                        </a:rPr>
                        <a:t>+0.0006</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extLst>
                  <a:ext uri="{0D108BD9-81ED-4DB2-BD59-A6C34878D82A}">
                    <a16:rowId xmlns:a16="http://schemas.microsoft.com/office/drawing/2014/main" val="10002"/>
                  </a:ext>
                </a:extLst>
              </a:tr>
              <a:tr h="731520">
                <a:tc>
                  <a:txBody>
                    <a:bodyPr/>
                    <a:lstStyle/>
                    <a:p>
                      <a:pPr defTabSz="914400">
                        <a:lnSpc>
                          <a:spcPct val="100000"/>
                        </a:lnSpc>
                        <a:tabLst>
                          <a:tab pos="0" algn="l"/>
                        </a:tabLst>
                      </a:pPr>
                      <a:r>
                        <a:rPr lang="en-US" sz="1500" b="0" u="none" strike="noStrike">
                          <a:solidFill>
                            <a:srgbClr val="000000"/>
                          </a:solidFill>
                          <a:effectLst/>
                          <a:uFillTx/>
                          <a:latin typeface="Calibri"/>
                          <a:ea typeface="Calibri"/>
                        </a:rPr>
                        <a:t>Industry ETF</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dirty="0">
                          <a:solidFill>
                            <a:srgbClr val="000000"/>
                          </a:solidFill>
                          <a:effectLst/>
                          <a:uFillTx/>
                          <a:latin typeface="Calibri"/>
                          <a:ea typeface="Calibri"/>
                        </a:rPr>
                        <a:t>5,390</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0.0927</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0.0910</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dirty="0">
                          <a:solidFill>
                            <a:srgbClr val="000000"/>
                          </a:solidFill>
                          <a:effectLst/>
                          <a:uFillTx/>
                          <a:latin typeface="Calibri"/>
                          <a:ea typeface="Calibri"/>
                        </a:rPr>
                        <a:t>0.1470</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0.1433</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0.1367</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0" u="none" strike="noStrike">
                          <a:solidFill>
                            <a:srgbClr val="000000"/>
                          </a:solidFill>
                          <a:effectLst/>
                          <a:uFillTx/>
                          <a:latin typeface="Calibri"/>
                          <a:ea typeface="Calibri"/>
                        </a:rPr>
                        <a:t>0.1796</a:t>
                      </a:r>
                      <a:endParaRPr lang="en-US" sz="1500" b="0"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500" b="1" u="none" strike="noStrike" dirty="0">
                          <a:solidFill>
                            <a:srgbClr val="1E8449"/>
                          </a:solidFill>
                          <a:effectLst/>
                          <a:uFillTx/>
                          <a:latin typeface="Calibri"/>
                          <a:ea typeface="Calibri"/>
                        </a:rPr>
                        <a:t>−0.0017</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extLst>
                  <a:ext uri="{0D108BD9-81ED-4DB2-BD59-A6C34878D82A}">
                    <a16:rowId xmlns:a16="http://schemas.microsoft.com/office/drawing/2014/main" val="10003"/>
                  </a:ext>
                </a:extLst>
              </a:tr>
            </a:tbl>
          </a:graphicData>
        </a:graphic>
      </p:graphicFrame>
      <p:sp>
        <p:nvSpPr>
          <p:cNvPr id="5" name="Shape 6">
            <a:extLst>
              <a:ext uri="{FF2B5EF4-FFF2-40B4-BE49-F238E27FC236}">
                <a16:creationId xmlns:a16="http://schemas.microsoft.com/office/drawing/2014/main" id="{01849EE1-5C09-0D46-FCAF-E2F7074FBF94}"/>
              </a:ext>
            </a:extLst>
          </p:cNvPr>
          <p:cNvSpPr/>
          <p:nvPr/>
        </p:nvSpPr>
        <p:spPr>
          <a:xfrm>
            <a:off x="219360" y="5355485"/>
            <a:ext cx="11728320" cy="655076"/>
          </a:xfrm>
          <a:prstGeom prst="rect">
            <a:avLst/>
          </a:prstGeom>
          <a:solidFill>
            <a:srgbClr val="D5F5E3"/>
          </a:solidFill>
          <a:ln w="12700">
            <a:solidFill>
              <a:srgbClr val="1E8449"/>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7" name="Text 8">
            <a:extLst>
              <a:ext uri="{FF2B5EF4-FFF2-40B4-BE49-F238E27FC236}">
                <a16:creationId xmlns:a16="http://schemas.microsoft.com/office/drawing/2014/main" id="{B21DDC88-7C04-F54C-3AE7-D745E4049CFC}"/>
              </a:ext>
            </a:extLst>
          </p:cNvPr>
          <p:cNvSpPr/>
          <p:nvPr/>
        </p:nvSpPr>
        <p:spPr>
          <a:xfrm>
            <a:off x="316800" y="5441602"/>
            <a:ext cx="11338080" cy="479164"/>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Key takeaway: V2 improves R² in all subgroups, but lowers MAE only for industry ETFs. </a:t>
            </a:r>
          </a:p>
        </p:txBody>
      </p:sp>
      <p:sp>
        <p:nvSpPr>
          <p:cNvPr id="8" name="TextBox 7">
            <a:extLst>
              <a:ext uri="{FF2B5EF4-FFF2-40B4-BE49-F238E27FC236}">
                <a16:creationId xmlns:a16="http://schemas.microsoft.com/office/drawing/2014/main" id="{0496AA78-C1BE-A6FB-5D39-EE8CFBCC2CDA}"/>
              </a:ext>
            </a:extLst>
          </p:cNvPr>
          <p:cNvSpPr txBox="1"/>
          <p:nvPr/>
        </p:nvSpPr>
        <p:spPr>
          <a:xfrm>
            <a:off x="341280" y="4649474"/>
            <a:ext cx="3971205" cy="338554"/>
          </a:xfrm>
          <a:prstGeom prst="rect">
            <a:avLst/>
          </a:prstGeom>
          <a:noFill/>
        </p:spPr>
        <p:txBody>
          <a:bodyPr wrap="square" rtlCol="0">
            <a:sp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Note: Negative </a:t>
            </a:r>
            <a:r>
              <a:rPr kumimoji="0" lang="el-GR" sz="1600" b="1" i="0" u="none" strike="noStrike" kern="1200" cap="none" spc="0" normalizeH="0" baseline="0" noProof="0" dirty="0">
                <a:ln>
                  <a:noFill/>
                </a:ln>
                <a:solidFill>
                  <a:srgbClr val="000000"/>
                </a:solidFill>
                <a:effectLst/>
                <a:uLnTx/>
                <a:uFillTx/>
                <a:latin typeface="Calibri" panose="020F0502020204030204"/>
                <a:ea typeface="+mn-ea"/>
                <a:cs typeface="+mn-cs"/>
              </a:rPr>
              <a:t>Δ</a:t>
            </a: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MAE is better.</a:t>
            </a:r>
          </a:p>
        </p:txBody>
      </p:sp>
      <p:sp>
        <p:nvSpPr>
          <p:cNvPr id="3" name="Text 3">
            <a:extLst>
              <a:ext uri="{FF2B5EF4-FFF2-40B4-BE49-F238E27FC236}">
                <a16:creationId xmlns:a16="http://schemas.microsoft.com/office/drawing/2014/main" id="{51C2CA67-4AB6-A231-FDA7-5786A43AA0C2}"/>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193" name="Shape 0"/>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4" name="Text 1"/>
          <p:cNvSpPr/>
          <p:nvPr/>
        </p:nvSpPr>
        <p:spPr>
          <a:xfrm>
            <a:off x="341280" y="48960"/>
            <a:ext cx="1158192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Conclusions</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195" name="Shape 2"/>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8" name="Shape 4"/>
          <p:cNvSpPr/>
          <p:nvPr/>
        </p:nvSpPr>
        <p:spPr>
          <a:xfrm>
            <a:off x="219600" y="1045032"/>
            <a:ext cx="11752800" cy="2339365"/>
          </a:xfrm>
          <a:prstGeom prst="rect">
            <a:avLst/>
          </a:prstGeom>
          <a:solidFill>
            <a:srgbClr val="D6F2FA"/>
          </a:solidFill>
          <a:ln w="19050">
            <a:solidFill>
              <a:srgbClr val="00A8CC"/>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199" name="Text 5"/>
          <p:cNvSpPr/>
          <p:nvPr/>
        </p:nvSpPr>
        <p:spPr>
          <a:xfrm>
            <a:off x="341520" y="1103040"/>
            <a:ext cx="353520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Key Conclusions</a:t>
            </a:r>
            <a:endParaRPr kumimoji="0" lang="en-US" sz="1733" b="0" i="0" u="none" strike="noStrike" kern="1200" cap="none" spc="0" normalizeH="0" baseline="0" noProof="0" dirty="0">
              <a:ln>
                <a:noFill/>
              </a:ln>
              <a:solidFill>
                <a:srgbClr val="000000"/>
              </a:solidFill>
              <a:effectLst/>
              <a:uLnTx/>
              <a:uFillTx/>
              <a:latin typeface="Arial"/>
              <a:ea typeface="+mn-ea"/>
              <a:cs typeface="+mn-cs"/>
            </a:endParaRPr>
          </a:p>
        </p:txBody>
      </p:sp>
      <p:sp>
        <p:nvSpPr>
          <p:cNvPr id="200" name="Text 6"/>
          <p:cNvSpPr/>
          <p:nvPr/>
        </p:nvSpPr>
        <p:spPr>
          <a:xfrm>
            <a:off x="341520" y="1468321"/>
            <a:ext cx="11423520" cy="1825508"/>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1A1A2E"/>
                </a:solidFill>
                <a:effectLst/>
                <a:uLnTx/>
                <a:uFillTx/>
                <a:latin typeface="Calibri" panose="020F0502020204030204"/>
                <a:ea typeface="Calibri"/>
                <a:cs typeface="+mn-cs"/>
              </a:rPr>
              <a:t>V1 showed that current-state volatility features carry real predictive signal.</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V2 improved on V1 modestly, and most of that improvement came from VIX.</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V2 was the best Elastic Net model, but XGBoost remained the strongest benchmark on test MAE.</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All retained coefficients were positive, consistent with volatility clustering and persistence.</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Overall, Elastic Net provided a transparent and interpretable benchmark for the project.</a:t>
            </a:r>
          </a:p>
        </p:txBody>
      </p:sp>
      <p:sp>
        <p:nvSpPr>
          <p:cNvPr id="4" name="Text 3">
            <a:extLst>
              <a:ext uri="{FF2B5EF4-FFF2-40B4-BE49-F238E27FC236}">
                <a16:creationId xmlns:a16="http://schemas.microsoft.com/office/drawing/2014/main" id="{17A2A655-8549-7660-86C1-DDB5E5BE378B}"/>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a:extLst>
            <a:ext uri="{FF2B5EF4-FFF2-40B4-BE49-F238E27FC236}">
              <a16:creationId xmlns:a16="http://schemas.microsoft.com/office/drawing/2014/main" id="{B1404D75-18BC-D665-23F3-A867A7E049BA}"/>
            </a:ext>
          </a:extLst>
        </p:cNvPr>
        <p:cNvGrpSpPr/>
        <p:nvPr/>
      </p:nvGrpSpPr>
      <p:grpSpPr>
        <a:xfrm>
          <a:off x="0" y="0"/>
          <a:ext cx="0" cy="0"/>
          <a:chOff x="0" y="0"/>
          <a:chExt cx="0" cy="0"/>
        </a:xfrm>
      </p:grpSpPr>
      <p:sp>
        <p:nvSpPr>
          <p:cNvPr id="8" name="Shape 0">
            <a:extLst>
              <a:ext uri="{FF2B5EF4-FFF2-40B4-BE49-F238E27FC236}">
                <a16:creationId xmlns:a16="http://schemas.microsoft.com/office/drawing/2014/main" id="{DAA6D360-E1CA-306B-37C2-AC6AFA2269C8}"/>
              </a:ext>
            </a:extLst>
          </p:cNvPr>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 name="Text 1">
            <a:extLst>
              <a:ext uri="{FF2B5EF4-FFF2-40B4-BE49-F238E27FC236}">
                <a16:creationId xmlns:a16="http://schemas.microsoft.com/office/drawing/2014/main" id="{F98C06AD-E53E-F165-88DB-3EAF6EFEC227}"/>
              </a:ext>
            </a:extLst>
          </p:cNvPr>
          <p:cNvSpPr/>
          <p:nvPr/>
        </p:nvSpPr>
        <p:spPr>
          <a:xfrm>
            <a:off x="426720" y="975360"/>
            <a:ext cx="11338080" cy="2100943"/>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Long Short-Term Memory (LSTM)</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p:txBody>
      </p:sp>
      <p:sp>
        <p:nvSpPr>
          <p:cNvPr id="10" name="Shape 2">
            <a:extLst>
              <a:ext uri="{FF2B5EF4-FFF2-40B4-BE49-F238E27FC236}">
                <a16:creationId xmlns:a16="http://schemas.microsoft.com/office/drawing/2014/main" id="{F311261F-24A4-01E6-D62D-0B0ABFFA3480}"/>
              </a:ext>
            </a:extLst>
          </p:cNvPr>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2" name="Text 4">
            <a:extLst>
              <a:ext uri="{FF2B5EF4-FFF2-40B4-BE49-F238E27FC236}">
                <a16:creationId xmlns:a16="http://schemas.microsoft.com/office/drawing/2014/main" id="{256D60BD-02FD-FD3C-5C21-8889B537CFBE}"/>
              </a:ext>
            </a:extLst>
          </p:cNvPr>
          <p:cNvSpPr/>
          <p:nvPr/>
        </p:nvSpPr>
        <p:spPr>
          <a:xfrm>
            <a:off x="426720" y="5608320"/>
            <a:ext cx="113380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733" b="0" i="0" u="none" strike="noStrike" kern="1200" cap="none" spc="0" normalizeH="0" baseline="0" noProof="0" dirty="0">
                <a:ln>
                  <a:noFill/>
                </a:ln>
                <a:solidFill>
                  <a:srgbClr val="AAAACC"/>
                </a:solidFill>
                <a:effectLst/>
                <a:uLnTx/>
                <a:uFillTx/>
                <a:latin typeface="Calibri"/>
                <a:ea typeface="Calibri"/>
                <a:cs typeface="+mn-cs"/>
              </a:rPr>
              <a:t>DS 207 Final Project  ·  Team: Greed and Fear  ·  Author: Sid Sridhar ·  March 27, 2026</a:t>
            </a:r>
            <a:endParaRPr kumimoji="0" lang="en-US" sz="1733" b="0"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5672491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a:extLst>
            <a:ext uri="{FF2B5EF4-FFF2-40B4-BE49-F238E27FC236}">
              <a16:creationId xmlns:a16="http://schemas.microsoft.com/office/drawing/2014/main" id="{BD573920-0796-4D0E-E314-D193FD1B95D6}"/>
            </a:ext>
          </a:extLst>
        </p:cNvPr>
        <p:cNvGrpSpPr/>
        <p:nvPr/>
      </p:nvGrpSpPr>
      <p:grpSpPr>
        <a:xfrm>
          <a:off x="0" y="0"/>
          <a:ext cx="0" cy="0"/>
          <a:chOff x="0" y="0"/>
          <a:chExt cx="0" cy="0"/>
        </a:xfrm>
      </p:grpSpPr>
      <p:sp>
        <p:nvSpPr>
          <p:cNvPr id="193" name="Shape 0">
            <a:extLst>
              <a:ext uri="{FF2B5EF4-FFF2-40B4-BE49-F238E27FC236}">
                <a16:creationId xmlns:a16="http://schemas.microsoft.com/office/drawing/2014/main" id="{C2A7CD50-FD36-2B25-DFB9-F0B9B5861D69}"/>
              </a:ext>
            </a:extLst>
          </p:cNvPr>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4" name="Text 1">
            <a:extLst>
              <a:ext uri="{FF2B5EF4-FFF2-40B4-BE49-F238E27FC236}">
                <a16:creationId xmlns:a16="http://schemas.microsoft.com/office/drawing/2014/main" id="{ACEB6AC8-DD0A-BDF5-9ADD-C28B8375FDCE}"/>
              </a:ext>
            </a:extLst>
          </p:cNvPr>
          <p:cNvSpPr/>
          <p:nvPr/>
        </p:nvSpPr>
        <p:spPr>
          <a:xfrm>
            <a:off x="341280" y="48960"/>
            <a:ext cx="1158192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Title</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195" name="Shape 2">
            <a:extLst>
              <a:ext uri="{FF2B5EF4-FFF2-40B4-BE49-F238E27FC236}">
                <a16:creationId xmlns:a16="http://schemas.microsoft.com/office/drawing/2014/main" id="{771006B3-87BF-541B-1658-C8874A449F35}"/>
              </a:ext>
            </a:extLst>
          </p:cNvPr>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8" name="Shape 4">
            <a:extLst>
              <a:ext uri="{FF2B5EF4-FFF2-40B4-BE49-F238E27FC236}">
                <a16:creationId xmlns:a16="http://schemas.microsoft.com/office/drawing/2014/main" id="{2B525106-FB1D-BAAE-8361-C1B322F33ECE}"/>
              </a:ext>
            </a:extLst>
          </p:cNvPr>
          <p:cNvSpPr/>
          <p:nvPr/>
        </p:nvSpPr>
        <p:spPr>
          <a:xfrm>
            <a:off x="219600" y="1045032"/>
            <a:ext cx="11752800" cy="2339365"/>
          </a:xfrm>
          <a:prstGeom prst="rect">
            <a:avLst/>
          </a:prstGeom>
          <a:solidFill>
            <a:srgbClr val="D6F2FA"/>
          </a:solidFill>
          <a:ln w="19050">
            <a:solidFill>
              <a:srgbClr val="00A8CC"/>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199" name="Text 5">
            <a:extLst>
              <a:ext uri="{FF2B5EF4-FFF2-40B4-BE49-F238E27FC236}">
                <a16:creationId xmlns:a16="http://schemas.microsoft.com/office/drawing/2014/main" id="{390ED27C-DD6E-5715-89A6-FB036C8C74B2}"/>
              </a:ext>
            </a:extLst>
          </p:cNvPr>
          <p:cNvSpPr/>
          <p:nvPr/>
        </p:nvSpPr>
        <p:spPr>
          <a:xfrm>
            <a:off x="341520" y="1103040"/>
            <a:ext cx="353520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lang="en-US" sz="1733" b="1" dirty="0">
                <a:solidFill>
                  <a:srgbClr val="00A8CC"/>
                </a:solidFill>
                <a:latin typeface="Calibri"/>
                <a:ea typeface="Calibri"/>
              </a:rPr>
              <a:t>Heading</a:t>
            </a:r>
            <a:endParaRPr kumimoji="0" lang="en-US" sz="1733" b="0" i="0" u="none" strike="noStrike" kern="1200" cap="none" spc="0" normalizeH="0" baseline="0" noProof="0" dirty="0">
              <a:ln>
                <a:noFill/>
              </a:ln>
              <a:solidFill>
                <a:srgbClr val="000000"/>
              </a:solidFill>
              <a:effectLst/>
              <a:uLnTx/>
              <a:uFillTx/>
              <a:latin typeface="Arial"/>
              <a:ea typeface="+mn-ea"/>
              <a:cs typeface="+mn-cs"/>
            </a:endParaRPr>
          </a:p>
        </p:txBody>
      </p:sp>
      <p:sp>
        <p:nvSpPr>
          <p:cNvPr id="200" name="Text 6">
            <a:extLst>
              <a:ext uri="{FF2B5EF4-FFF2-40B4-BE49-F238E27FC236}">
                <a16:creationId xmlns:a16="http://schemas.microsoft.com/office/drawing/2014/main" id="{23E3E2C1-29EA-44B2-D2F4-F94FD5532FC7}"/>
              </a:ext>
            </a:extLst>
          </p:cNvPr>
          <p:cNvSpPr/>
          <p:nvPr/>
        </p:nvSpPr>
        <p:spPr>
          <a:xfrm>
            <a:off x="341520" y="1468321"/>
            <a:ext cx="11423520" cy="1825508"/>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1A1A2E"/>
                </a:solidFill>
                <a:effectLst/>
                <a:uLnTx/>
                <a:uFillTx/>
                <a:latin typeface="Calibri" panose="020F0502020204030204"/>
                <a:ea typeface="Calibri"/>
                <a:cs typeface="+mn-cs"/>
              </a:rPr>
              <a:t>Bullet.</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Bullet.</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Bullet.</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Bullet.</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Bullet.</a:t>
            </a:r>
          </a:p>
        </p:txBody>
      </p:sp>
      <p:sp>
        <p:nvSpPr>
          <p:cNvPr id="4" name="Text 3">
            <a:extLst>
              <a:ext uri="{FF2B5EF4-FFF2-40B4-BE49-F238E27FC236}">
                <a16:creationId xmlns:a16="http://schemas.microsoft.com/office/drawing/2014/main" id="{D2148B40-0170-B67B-6026-1C6C24BFD85B}"/>
              </a:ext>
            </a:extLst>
          </p:cNvPr>
          <p:cNvSpPr/>
          <p:nvPr/>
        </p:nvSpPr>
        <p:spPr>
          <a:xfrm>
            <a:off x="329184" y="6615684"/>
            <a:ext cx="6217920" cy="19006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AAACC"/>
                </a:solidFill>
                <a:effectLst/>
                <a:uLnTx/>
                <a:uFillTx/>
                <a:latin typeface="Calibri" panose="020F0502020204030204"/>
                <a:ea typeface="+mn-ea"/>
                <a:cs typeface="+mn-cs"/>
              </a:rPr>
              <a:t>DATASCI 207  ·  Final Project: Forecasting Volatility In Stock Market  ·  March 2026</a:t>
            </a:r>
            <a:endParaRPr kumimoji="0" lang="en-US" sz="125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43053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a:extLst>
            <a:ext uri="{FF2B5EF4-FFF2-40B4-BE49-F238E27FC236}">
              <a16:creationId xmlns:a16="http://schemas.microsoft.com/office/drawing/2014/main" id="{7F5F6A81-39C9-176D-3B90-2DA1F9EAD1E4}"/>
            </a:ext>
          </a:extLst>
        </p:cNvPr>
        <p:cNvGrpSpPr/>
        <p:nvPr/>
      </p:nvGrpSpPr>
      <p:grpSpPr>
        <a:xfrm>
          <a:off x="0" y="0"/>
          <a:ext cx="0" cy="0"/>
          <a:chOff x="0" y="0"/>
          <a:chExt cx="0" cy="0"/>
        </a:xfrm>
      </p:grpSpPr>
      <p:sp>
        <p:nvSpPr>
          <p:cNvPr id="8" name="Shape 0">
            <a:extLst>
              <a:ext uri="{FF2B5EF4-FFF2-40B4-BE49-F238E27FC236}">
                <a16:creationId xmlns:a16="http://schemas.microsoft.com/office/drawing/2014/main" id="{B925745C-D981-0EC8-4CA9-21EA9B848430}"/>
              </a:ext>
            </a:extLst>
          </p:cNvPr>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 name="Text 1">
            <a:extLst>
              <a:ext uri="{FF2B5EF4-FFF2-40B4-BE49-F238E27FC236}">
                <a16:creationId xmlns:a16="http://schemas.microsoft.com/office/drawing/2014/main" id="{B931C609-86AB-9ED8-54C0-85A840AD3A70}"/>
              </a:ext>
            </a:extLst>
          </p:cNvPr>
          <p:cNvSpPr/>
          <p:nvPr/>
        </p:nvSpPr>
        <p:spPr>
          <a:xfrm>
            <a:off x="426720" y="975360"/>
            <a:ext cx="11338080" cy="2100943"/>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Transformer</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p:txBody>
      </p:sp>
      <p:sp>
        <p:nvSpPr>
          <p:cNvPr id="10" name="Shape 2">
            <a:extLst>
              <a:ext uri="{FF2B5EF4-FFF2-40B4-BE49-F238E27FC236}">
                <a16:creationId xmlns:a16="http://schemas.microsoft.com/office/drawing/2014/main" id="{CD79616A-4A6B-D738-46A5-1F2E04FBF9CE}"/>
              </a:ext>
            </a:extLst>
          </p:cNvPr>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2" name="Text 4">
            <a:extLst>
              <a:ext uri="{FF2B5EF4-FFF2-40B4-BE49-F238E27FC236}">
                <a16:creationId xmlns:a16="http://schemas.microsoft.com/office/drawing/2014/main" id="{D8235E81-F496-11A0-4781-D3F73B4473D5}"/>
              </a:ext>
            </a:extLst>
          </p:cNvPr>
          <p:cNvSpPr/>
          <p:nvPr/>
        </p:nvSpPr>
        <p:spPr>
          <a:xfrm>
            <a:off x="426720" y="5608320"/>
            <a:ext cx="113380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lvl="0" defTabSz="1219170">
              <a:tabLst>
                <a:tab pos="0" algn="l"/>
              </a:tabLst>
              <a:defRPr/>
            </a:pPr>
            <a:r>
              <a:rPr kumimoji="0" lang="en-US" sz="1733" b="0" i="0" u="none" strike="noStrike" kern="1200" cap="none" spc="0" normalizeH="0" baseline="0" noProof="0" dirty="0">
                <a:ln>
                  <a:noFill/>
                </a:ln>
                <a:solidFill>
                  <a:srgbClr val="AAAACC"/>
                </a:solidFill>
                <a:effectLst/>
                <a:uLnTx/>
                <a:uFillTx/>
                <a:latin typeface="Calibri"/>
                <a:ea typeface="Calibri"/>
                <a:cs typeface="+mn-cs"/>
              </a:rPr>
              <a:t>DS 207 Final Project  ·  Team: Greed and Fear  ·  Author: </a:t>
            </a:r>
            <a:r>
              <a:rPr lang="en-US" sz="1733" dirty="0">
                <a:solidFill>
                  <a:srgbClr val="AAAACC"/>
                </a:solidFill>
                <a:ea typeface="Calibri"/>
              </a:rPr>
              <a:t>Ronald Ho · </a:t>
            </a:r>
            <a:r>
              <a:rPr kumimoji="0" lang="en-US" sz="1733" b="0" i="0" u="none" strike="noStrike" kern="1200" cap="none" spc="0" normalizeH="0" baseline="0" noProof="0" dirty="0">
                <a:ln>
                  <a:noFill/>
                </a:ln>
                <a:solidFill>
                  <a:srgbClr val="AAAACC"/>
                </a:solidFill>
                <a:effectLst/>
                <a:uLnTx/>
                <a:uFillTx/>
                <a:latin typeface="Calibri"/>
                <a:ea typeface="Calibri"/>
                <a:cs typeface="+mn-cs"/>
              </a:rPr>
              <a:t>March 27, 2026</a:t>
            </a:r>
            <a:endParaRPr kumimoji="0" lang="en-US" sz="1733" b="0"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25014333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CD6A1-8A4F-BE7D-AF92-E471416998CD}"/>
            </a:ext>
          </a:extLst>
        </p:cNvPr>
        <p:cNvGrpSpPr/>
        <p:nvPr/>
      </p:nvGrpSpPr>
      <p:grpSpPr>
        <a:xfrm>
          <a:off x="0" y="0"/>
          <a:ext cx="0" cy="0"/>
          <a:chOff x="0" y="0"/>
          <a:chExt cx="0" cy="0"/>
        </a:xfrm>
      </p:grpSpPr>
      <p:sp>
        <p:nvSpPr>
          <p:cNvPr id="193" name="Shape 0">
            <a:extLst>
              <a:ext uri="{FF2B5EF4-FFF2-40B4-BE49-F238E27FC236}">
                <a16:creationId xmlns:a16="http://schemas.microsoft.com/office/drawing/2014/main" id="{B45B720F-0CB6-889A-AF1D-C9E3B9686A70}"/>
              </a:ext>
            </a:extLst>
          </p:cNvPr>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4" name="Text 1">
            <a:extLst>
              <a:ext uri="{FF2B5EF4-FFF2-40B4-BE49-F238E27FC236}">
                <a16:creationId xmlns:a16="http://schemas.microsoft.com/office/drawing/2014/main" id="{F4C35190-7AC0-738E-15B5-9B05E2CA211C}"/>
              </a:ext>
            </a:extLst>
          </p:cNvPr>
          <p:cNvSpPr/>
          <p:nvPr/>
        </p:nvSpPr>
        <p:spPr>
          <a:xfrm>
            <a:off x="341280" y="48960"/>
            <a:ext cx="1158192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Title</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195" name="Shape 2">
            <a:extLst>
              <a:ext uri="{FF2B5EF4-FFF2-40B4-BE49-F238E27FC236}">
                <a16:creationId xmlns:a16="http://schemas.microsoft.com/office/drawing/2014/main" id="{6CE34A8A-0860-D4C5-11A3-01EE61AA4117}"/>
              </a:ext>
            </a:extLst>
          </p:cNvPr>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8" name="Shape 4">
            <a:extLst>
              <a:ext uri="{FF2B5EF4-FFF2-40B4-BE49-F238E27FC236}">
                <a16:creationId xmlns:a16="http://schemas.microsoft.com/office/drawing/2014/main" id="{BFDAAC3E-5810-35AC-EFB7-399B1CA90EB2}"/>
              </a:ext>
            </a:extLst>
          </p:cNvPr>
          <p:cNvSpPr/>
          <p:nvPr/>
        </p:nvSpPr>
        <p:spPr>
          <a:xfrm>
            <a:off x="219600" y="1045032"/>
            <a:ext cx="11752800" cy="2339365"/>
          </a:xfrm>
          <a:prstGeom prst="rect">
            <a:avLst/>
          </a:prstGeom>
          <a:solidFill>
            <a:srgbClr val="D6F2FA"/>
          </a:solidFill>
          <a:ln w="19050">
            <a:solidFill>
              <a:srgbClr val="00A8CC"/>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199" name="Text 5">
            <a:extLst>
              <a:ext uri="{FF2B5EF4-FFF2-40B4-BE49-F238E27FC236}">
                <a16:creationId xmlns:a16="http://schemas.microsoft.com/office/drawing/2014/main" id="{C41E6869-40EE-C680-2B1B-AB65F9C0ED84}"/>
              </a:ext>
            </a:extLst>
          </p:cNvPr>
          <p:cNvSpPr/>
          <p:nvPr/>
        </p:nvSpPr>
        <p:spPr>
          <a:xfrm>
            <a:off x="341520" y="1103040"/>
            <a:ext cx="353520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lang="en-US" sz="1733" b="1" dirty="0">
                <a:solidFill>
                  <a:srgbClr val="00A8CC"/>
                </a:solidFill>
                <a:latin typeface="Calibri"/>
                <a:ea typeface="Calibri"/>
              </a:rPr>
              <a:t>Heading</a:t>
            </a:r>
            <a:endParaRPr kumimoji="0" lang="en-US" sz="1733" b="0" i="0" u="none" strike="noStrike" kern="1200" cap="none" spc="0" normalizeH="0" baseline="0" noProof="0" dirty="0">
              <a:ln>
                <a:noFill/>
              </a:ln>
              <a:solidFill>
                <a:srgbClr val="000000"/>
              </a:solidFill>
              <a:effectLst/>
              <a:uLnTx/>
              <a:uFillTx/>
              <a:latin typeface="Arial"/>
              <a:ea typeface="+mn-ea"/>
              <a:cs typeface="+mn-cs"/>
            </a:endParaRPr>
          </a:p>
        </p:txBody>
      </p:sp>
      <p:sp>
        <p:nvSpPr>
          <p:cNvPr id="200" name="Text 6">
            <a:extLst>
              <a:ext uri="{FF2B5EF4-FFF2-40B4-BE49-F238E27FC236}">
                <a16:creationId xmlns:a16="http://schemas.microsoft.com/office/drawing/2014/main" id="{BB30473B-A6AF-1643-E846-BD5A3BCE8687}"/>
              </a:ext>
            </a:extLst>
          </p:cNvPr>
          <p:cNvSpPr/>
          <p:nvPr/>
        </p:nvSpPr>
        <p:spPr>
          <a:xfrm>
            <a:off x="341520" y="1468321"/>
            <a:ext cx="11423520" cy="1825508"/>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1A1A2E"/>
                </a:solidFill>
                <a:effectLst/>
                <a:uLnTx/>
                <a:uFillTx/>
                <a:latin typeface="Calibri" panose="020F0502020204030204"/>
                <a:ea typeface="Calibri"/>
                <a:cs typeface="+mn-cs"/>
              </a:rPr>
              <a:t>Bullet.</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Bullet.</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Bullet.</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Bullet.</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Bullet.</a:t>
            </a:r>
          </a:p>
        </p:txBody>
      </p:sp>
      <p:sp>
        <p:nvSpPr>
          <p:cNvPr id="4" name="Text 3">
            <a:extLst>
              <a:ext uri="{FF2B5EF4-FFF2-40B4-BE49-F238E27FC236}">
                <a16:creationId xmlns:a16="http://schemas.microsoft.com/office/drawing/2014/main" id="{3072A582-6281-0A9C-EC60-33323472EBE3}"/>
              </a:ext>
            </a:extLst>
          </p:cNvPr>
          <p:cNvSpPr/>
          <p:nvPr/>
        </p:nvSpPr>
        <p:spPr>
          <a:xfrm>
            <a:off x="329184" y="6615684"/>
            <a:ext cx="6217920" cy="19006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AAACC"/>
                </a:solidFill>
                <a:effectLst/>
                <a:uLnTx/>
                <a:uFillTx/>
                <a:latin typeface="Calibri" panose="020F0502020204030204"/>
                <a:ea typeface="+mn-ea"/>
                <a:cs typeface="+mn-cs"/>
              </a:rPr>
              <a:t>DATASCI 207  ·  Final Project: Forecasting Volatility In Stock Market  ·  March 2026</a:t>
            </a:r>
            <a:endParaRPr kumimoji="0" lang="en-US" sz="125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727141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a:extLst>
            <a:ext uri="{FF2B5EF4-FFF2-40B4-BE49-F238E27FC236}">
              <a16:creationId xmlns:a16="http://schemas.microsoft.com/office/drawing/2014/main" id="{6224B3A4-81DC-C437-9C3A-C6BE624B27F7}"/>
            </a:ext>
          </a:extLst>
        </p:cNvPr>
        <p:cNvGrpSpPr/>
        <p:nvPr/>
      </p:nvGrpSpPr>
      <p:grpSpPr>
        <a:xfrm>
          <a:off x="0" y="0"/>
          <a:ext cx="0" cy="0"/>
          <a:chOff x="0" y="0"/>
          <a:chExt cx="0" cy="0"/>
        </a:xfrm>
      </p:grpSpPr>
      <p:sp>
        <p:nvSpPr>
          <p:cNvPr id="29" name="Rectangle 28">
            <a:extLst>
              <a:ext uri="{FF2B5EF4-FFF2-40B4-BE49-F238E27FC236}">
                <a16:creationId xmlns:a16="http://schemas.microsoft.com/office/drawing/2014/main" id="{713B7816-D9D9-F558-8C77-50C0B70EC7B5}"/>
              </a:ext>
            </a:extLst>
          </p:cNvPr>
          <p:cNvSpPr/>
          <p:nvPr/>
        </p:nvSpPr>
        <p:spPr>
          <a:xfrm>
            <a:off x="5576637" y="733926"/>
            <a:ext cx="3001879" cy="55345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Shape 0">
            <a:extLst>
              <a:ext uri="{FF2B5EF4-FFF2-40B4-BE49-F238E27FC236}">
                <a16:creationId xmlns:a16="http://schemas.microsoft.com/office/drawing/2014/main" id="{69F5ECB5-D50B-1D08-53F8-3CF9A6121EB6}"/>
              </a:ext>
            </a:extLst>
          </p:cNvPr>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4" name="Text 1">
            <a:extLst>
              <a:ext uri="{FF2B5EF4-FFF2-40B4-BE49-F238E27FC236}">
                <a16:creationId xmlns:a16="http://schemas.microsoft.com/office/drawing/2014/main" id="{1939BC8B-D1CC-7A00-F1A3-D8C92FCA72E7}"/>
              </a:ext>
            </a:extLst>
          </p:cNvPr>
          <p:cNvSpPr/>
          <p:nvPr/>
        </p:nvSpPr>
        <p:spPr>
          <a:xfrm>
            <a:off x="304800" y="18083"/>
            <a:ext cx="1158192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Transformer Architecture</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195" name="Shape 2">
            <a:extLst>
              <a:ext uri="{FF2B5EF4-FFF2-40B4-BE49-F238E27FC236}">
                <a16:creationId xmlns:a16="http://schemas.microsoft.com/office/drawing/2014/main" id="{25EA78FC-2E3C-C65A-CE2F-A0FEDBAF034D}"/>
              </a:ext>
            </a:extLst>
          </p:cNvPr>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4" name="Text 3">
            <a:extLst>
              <a:ext uri="{FF2B5EF4-FFF2-40B4-BE49-F238E27FC236}">
                <a16:creationId xmlns:a16="http://schemas.microsoft.com/office/drawing/2014/main" id="{8A122B40-E040-F8D1-F9F8-DFB1B43039B4}"/>
              </a:ext>
            </a:extLst>
          </p:cNvPr>
          <p:cNvSpPr/>
          <p:nvPr/>
        </p:nvSpPr>
        <p:spPr>
          <a:xfrm>
            <a:off x="329184" y="6615684"/>
            <a:ext cx="6217920" cy="19006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AAACC"/>
                </a:solidFill>
                <a:effectLst/>
                <a:uLnTx/>
                <a:uFillTx/>
                <a:latin typeface="Calibri" panose="020F0502020204030204"/>
                <a:ea typeface="+mn-ea"/>
                <a:cs typeface="+mn-cs"/>
              </a:rPr>
              <a:t>DATASCI 207  ·  Final Project: Forecasting Volatility In Stock Market  ·  March 2026</a:t>
            </a:r>
            <a:endParaRPr kumimoji="0" lang="en-US" sz="125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0870CFB9-4B26-2894-8661-BA6673A471DF}"/>
              </a:ext>
            </a:extLst>
          </p:cNvPr>
          <p:cNvSpPr txBox="1"/>
          <p:nvPr/>
        </p:nvSpPr>
        <p:spPr>
          <a:xfrm>
            <a:off x="749969" y="1455923"/>
            <a:ext cx="2041278" cy="369332"/>
          </a:xfrm>
          <a:prstGeom prst="rect">
            <a:avLst/>
          </a:prstGeom>
          <a:noFill/>
          <a:ln>
            <a:solidFill>
              <a:schemeClr val="accent2">
                <a:lumMod val="75000"/>
              </a:schemeClr>
            </a:solidFill>
          </a:ln>
        </p:spPr>
        <p:txBody>
          <a:bodyPr wrap="square" rtlCol="0">
            <a:spAutoFit/>
          </a:bodyPr>
          <a:lstStyle/>
          <a:p>
            <a:pPr algn="ctr"/>
            <a:r>
              <a:rPr lang="en-US" dirty="0"/>
              <a:t>Dropout</a:t>
            </a:r>
          </a:p>
        </p:txBody>
      </p:sp>
      <p:sp>
        <p:nvSpPr>
          <p:cNvPr id="3" name="TextBox 2">
            <a:extLst>
              <a:ext uri="{FF2B5EF4-FFF2-40B4-BE49-F238E27FC236}">
                <a16:creationId xmlns:a16="http://schemas.microsoft.com/office/drawing/2014/main" id="{DEB08ABF-949D-163A-587D-185E01E58033}"/>
              </a:ext>
            </a:extLst>
          </p:cNvPr>
          <p:cNvSpPr txBox="1"/>
          <p:nvPr/>
        </p:nvSpPr>
        <p:spPr>
          <a:xfrm>
            <a:off x="749969" y="3246812"/>
            <a:ext cx="2041278" cy="646331"/>
          </a:xfrm>
          <a:prstGeom prst="rect">
            <a:avLst/>
          </a:prstGeom>
          <a:noFill/>
          <a:ln>
            <a:solidFill>
              <a:schemeClr val="accent2">
                <a:lumMod val="75000"/>
              </a:schemeClr>
            </a:solidFill>
          </a:ln>
        </p:spPr>
        <p:txBody>
          <a:bodyPr wrap="square" rtlCol="0">
            <a:spAutoFit/>
          </a:bodyPr>
          <a:lstStyle/>
          <a:p>
            <a:pPr algn="ctr"/>
            <a:r>
              <a:rPr lang="en-US" dirty="0"/>
              <a:t>Transformer Encoding Block</a:t>
            </a:r>
          </a:p>
        </p:txBody>
      </p:sp>
      <p:sp>
        <p:nvSpPr>
          <p:cNvPr id="5" name="TextBox 4">
            <a:extLst>
              <a:ext uri="{FF2B5EF4-FFF2-40B4-BE49-F238E27FC236}">
                <a16:creationId xmlns:a16="http://schemas.microsoft.com/office/drawing/2014/main" id="{CA528BCE-327B-1CB6-F87D-C54FA2B735AB}"/>
              </a:ext>
            </a:extLst>
          </p:cNvPr>
          <p:cNvSpPr txBox="1"/>
          <p:nvPr/>
        </p:nvSpPr>
        <p:spPr>
          <a:xfrm>
            <a:off x="749969" y="4204510"/>
            <a:ext cx="2041278" cy="369332"/>
          </a:xfrm>
          <a:prstGeom prst="rect">
            <a:avLst/>
          </a:prstGeom>
          <a:noFill/>
          <a:ln>
            <a:solidFill>
              <a:schemeClr val="accent2">
                <a:lumMod val="75000"/>
              </a:schemeClr>
            </a:solidFill>
          </a:ln>
        </p:spPr>
        <p:txBody>
          <a:bodyPr wrap="square" rtlCol="0">
            <a:spAutoFit/>
          </a:bodyPr>
          <a:lstStyle/>
          <a:p>
            <a:pPr algn="ctr"/>
            <a:r>
              <a:rPr lang="en-US" dirty="0"/>
              <a:t>Flatten</a:t>
            </a:r>
          </a:p>
        </p:txBody>
      </p:sp>
      <p:sp>
        <p:nvSpPr>
          <p:cNvPr id="6" name="TextBox 5">
            <a:extLst>
              <a:ext uri="{FF2B5EF4-FFF2-40B4-BE49-F238E27FC236}">
                <a16:creationId xmlns:a16="http://schemas.microsoft.com/office/drawing/2014/main" id="{438BC5EE-3ADB-33D9-5AE5-6E23971A2A3E}"/>
              </a:ext>
            </a:extLst>
          </p:cNvPr>
          <p:cNvSpPr txBox="1"/>
          <p:nvPr/>
        </p:nvSpPr>
        <p:spPr>
          <a:xfrm>
            <a:off x="749969" y="4859660"/>
            <a:ext cx="2041278" cy="369332"/>
          </a:xfrm>
          <a:prstGeom prst="rect">
            <a:avLst/>
          </a:prstGeom>
          <a:noFill/>
          <a:ln>
            <a:solidFill>
              <a:schemeClr val="accent2">
                <a:lumMod val="75000"/>
              </a:schemeClr>
            </a:solidFill>
          </a:ln>
        </p:spPr>
        <p:txBody>
          <a:bodyPr wrap="square" rtlCol="0">
            <a:spAutoFit/>
          </a:bodyPr>
          <a:lstStyle/>
          <a:p>
            <a:pPr algn="ctr"/>
            <a:r>
              <a:rPr lang="en-US" dirty="0"/>
              <a:t>Dropout</a:t>
            </a:r>
          </a:p>
        </p:txBody>
      </p:sp>
      <p:sp>
        <p:nvSpPr>
          <p:cNvPr id="7" name="TextBox 6">
            <a:extLst>
              <a:ext uri="{FF2B5EF4-FFF2-40B4-BE49-F238E27FC236}">
                <a16:creationId xmlns:a16="http://schemas.microsoft.com/office/drawing/2014/main" id="{0D113A92-F124-84E5-EB81-D595C10FB129}"/>
              </a:ext>
            </a:extLst>
          </p:cNvPr>
          <p:cNvSpPr txBox="1"/>
          <p:nvPr/>
        </p:nvSpPr>
        <p:spPr>
          <a:xfrm>
            <a:off x="6003758" y="4166393"/>
            <a:ext cx="2041278" cy="369332"/>
          </a:xfrm>
          <a:prstGeom prst="rect">
            <a:avLst/>
          </a:prstGeom>
          <a:noFill/>
          <a:ln>
            <a:solidFill>
              <a:schemeClr val="accent2">
                <a:lumMod val="75000"/>
              </a:schemeClr>
            </a:solidFill>
          </a:ln>
        </p:spPr>
        <p:txBody>
          <a:bodyPr wrap="square" rtlCol="0">
            <a:spAutoFit/>
          </a:bodyPr>
          <a:lstStyle/>
          <a:p>
            <a:pPr algn="ctr"/>
            <a:r>
              <a:rPr lang="en-US" dirty="0"/>
              <a:t>Output (Dense)</a:t>
            </a:r>
          </a:p>
        </p:txBody>
      </p:sp>
      <p:sp>
        <p:nvSpPr>
          <p:cNvPr id="8" name="TextBox 7">
            <a:extLst>
              <a:ext uri="{FF2B5EF4-FFF2-40B4-BE49-F238E27FC236}">
                <a16:creationId xmlns:a16="http://schemas.microsoft.com/office/drawing/2014/main" id="{4564BE52-ED4C-6D14-7826-6418EB2361F0}"/>
              </a:ext>
            </a:extLst>
          </p:cNvPr>
          <p:cNvSpPr txBox="1"/>
          <p:nvPr/>
        </p:nvSpPr>
        <p:spPr>
          <a:xfrm>
            <a:off x="749969" y="950727"/>
            <a:ext cx="2041278" cy="369332"/>
          </a:xfrm>
          <a:prstGeom prst="rect">
            <a:avLst/>
          </a:prstGeom>
          <a:noFill/>
          <a:ln>
            <a:solidFill>
              <a:schemeClr val="accent2">
                <a:lumMod val="75000"/>
              </a:schemeClr>
            </a:solidFill>
          </a:ln>
        </p:spPr>
        <p:txBody>
          <a:bodyPr wrap="square" rtlCol="0">
            <a:spAutoFit/>
          </a:bodyPr>
          <a:lstStyle/>
          <a:p>
            <a:pPr algn="ctr"/>
            <a:r>
              <a:rPr lang="en-US" dirty="0"/>
              <a:t>Input</a:t>
            </a:r>
          </a:p>
        </p:txBody>
      </p:sp>
      <p:sp>
        <p:nvSpPr>
          <p:cNvPr id="19" name="TextBox 18">
            <a:extLst>
              <a:ext uri="{FF2B5EF4-FFF2-40B4-BE49-F238E27FC236}">
                <a16:creationId xmlns:a16="http://schemas.microsoft.com/office/drawing/2014/main" id="{D6D1258B-C130-0483-DD7A-B77E58D43034}"/>
              </a:ext>
            </a:extLst>
          </p:cNvPr>
          <p:cNvSpPr txBox="1"/>
          <p:nvPr/>
        </p:nvSpPr>
        <p:spPr>
          <a:xfrm>
            <a:off x="6003758" y="1527121"/>
            <a:ext cx="2041278" cy="646331"/>
          </a:xfrm>
          <a:prstGeom prst="rect">
            <a:avLst/>
          </a:prstGeom>
          <a:noFill/>
          <a:ln>
            <a:solidFill>
              <a:schemeClr val="accent2">
                <a:lumMod val="75000"/>
              </a:schemeClr>
            </a:solidFill>
          </a:ln>
        </p:spPr>
        <p:txBody>
          <a:bodyPr wrap="square" rtlCol="0">
            <a:spAutoFit/>
          </a:bodyPr>
          <a:lstStyle/>
          <a:p>
            <a:pPr algn="ctr"/>
            <a:r>
              <a:rPr lang="en-US" dirty="0"/>
              <a:t>Multi-Head Attention</a:t>
            </a:r>
          </a:p>
        </p:txBody>
      </p:sp>
      <p:sp>
        <p:nvSpPr>
          <p:cNvPr id="20" name="TextBox 19">
            <a:extLst>
              <a:ext uri="{FF2B5EF4-FFF2-40B4-BE49-F238E27FC236}">
                <a16:creationId xmlns:a16="http://schemas.microsoft.com/office/drawing/2014/main" id="{F7B8377E-B092-3257-7DCD-CDD3302D8554}"/>
              </a:ext>
            </a:extLst>
          </p:cNvPr>
          <p:cNvSpPr txBox="1"/>
          <p:nvPr/>
        </p:nvSpPr>
        <p:spPr>
          <a:xfrm>
            <a:off x="770022" y="2683074"/>
            <a:ext cx="2041278" cy="369332"/>
          </a:xfrm>
          <a:prstGeom prst="rect">
            <a:avLst/>
          </a:prstGeom>
          <a:noFill/>
          <a:ln>
            <a:solidFill>
              <a:schemeClr val="accent2">
                <a:lumMod val="75000"/>
              </a:schemeClr>
            </a:solidFill>
          </a:ln>
        </p:spPr>
        <p:txBody>
          <a:bodyPr wrap="square" rtlCol="0">
            <a:spAutoFit/>
          </a:bodyPr>
          <a:lstStyle/>
          <a:p>
            <a:pPr algn="ctr"/>
            <a:r>
              <a:rPr lang="en-US" dirty="0"/>
              <a:t>(…) * </a:t>
            </a:r>
            <a:r>
              <a:rPr lang="en-US" dirty="0" err="1"/>
              <a:t>num_blocks</a:t>
            </a:r>
            <a:endParaRPr lang="en-US" dirty="0"/>
          </a:p>
        </p:txBody>
      </p:sp>
      <p:sp>
        <p:nvSpPr>
          <p:cNvPr id="21" name="TextBox 20">
            <a:extLst>
              <a:ext uri="{FF2B5EF4-FFF2-40B4-BE49-F238E27FC236}">
                <a16:creationId xmlns:a16="http://schemas.microsoft.com/office/drawing/2014/main" id="{36E37091-D872-BFFB-075A-329D839F96C4}"/>
              </a:ext>
            </a:extLst>
          </p:cNvPr>
          <p:cNvSpPr txBox="1"/>
          <p:nvPr/>
        </p:nvSpPr>
        <p:spPr>
          <a:xfrm>
            <a:off x="6003758" y="983010"/>
            <a:ext cx="2041278" cy="369332"/>
          </a:xfrm>
          <a:prstGeom prst="rect">
            <a:avLst/>
          </a:prstGeom>
          <a:noFill/>
          <a:ln>
            <a:solidFill>
              <a:schemeClr val="accent2">
                <a:lumMod val="75000"/>
              </a:schemeClr>
            </a:solidFill>
          </a:ln>
        </p:spPr>
        <p:txBody>
          <a:bodyPr wrap="square" rtlCol="0">
            <a:spAutoFit/>
          </a:bodyPr>
          <a:lstStyle/>
          <a:p>
            <a:pPr algn="ctr"/>
            <a:r>
              <a:rPr lang="en-US" dirty="0"/>
              <a:t>Input</a:t>
            </a:r>
          </a:p>
        </p:txBody>
      </p:sp>
      <p:sp>
        <p:nvSpPr>
          <p:cNvPr id="22" name="TextBox 21">
            <a:extLst>
              <a:ext uri="{FF2B5EF4-FFF2-40B4-BE49-F238E27FC236}">
                <a16:creationId xmlns:a16="http://schemas.microsoft.com/office/drawing/2014/main" id="{63403F21-289D-73F9-AA1A-C6DF43B9B34A}"/>
              </a:ext>
            </a:extLst>
          </p:cNvPr>
          <p:cNvSpPr txBox="1"/>
          <p:nvPr/>
        </p:nvSpPr>
        <p:spPr>
          <a:xfrm>
            <a:off x="770022" y="1916604"/>
            <a:ext cx="2041278" cy="646331"/>
          </a:xfrm>
          <a:prstGeom prst="rect">
            <a:avLst/>
          </a:prstGeom>
          <a:noFill/>
          <a:ln>
            <a:solidFill>
              <a:schemeClr val="accent2">
                <a:lumMod val="75000"/>
              </a:schemeClr>
            </a:solidFill>
          </a:ln>
        </p:spPr>
        <p:txBody>
          <a:bodyPr wrap="square" rtlCol="0">
            <a:spAutoFit/>
          </a:bodyPr>
          <a:lstStyle/>
          <a:p>
            <a:pPr algn="ctr"/>
            <a:r>
              <a:rPr lang="en-US" dirty="0"/>
              <a:t>Transformer Encoding Block</a:t>
            </a:r>
          </a:p>
        </p:txBody>
      </p:sp>
      <p:sp>
        <p:nvSpPr>
          <p:cNvPr id="23" name="TextBox 22">
            <a:extLst>
              <a:ext uri="{FF2B5EF4-FFF2-40B4-BE49-F238E27FC236}">
                <a16:creationId xmlns:a16="http://schemas.microsoft.com/office/drawing/2014/main" id="{4B47D3AF-C9D3-FA35-1853-078438049BD2}"/>
              </a:ext>
            </a:extLst>
          </p:cNvPr>
          <p:cNvSpPr txBox="1"/>
          <p:nvPr/>
        </p:nvSpPr>
        <p:spPr>
          <a:xfrm>
            <a:off x="6003758" y="2344296"/>
            <a:ext cx="2041278" cy="369332"/>
          </a:xfrm>
          <a:prstGeom prst="rect">
            <a:avLst/>
          </a:prstGeom>
          <a:noFill/>
          <a:ln>
            <a:solidFill>
              <a:schemeClr val="accent2">
                <a:lumMod val="75000"/>
              </a:schemeClr>
            </a:solidFill>
          </a:ln>
        </p:spPr>
        <p:txBody>
          <a:bodyPr wrap="square" rtlCol="0">
            <a:spAutoFit/>
          </a:bodyPr>
          <a:lstStyle/>
          <a:p>
            <a:pPr algn="ctr"/>
            <a:r>
              <a:rPr lang="en-US" dirty="0"/>
              <a:t>Dropout</a:t>
            </a:r>
          </a:p>
        </p:txBody>
      </p:sp>
      <p:sp>
        <p:nvSpPr>
          <p:cNvPr id="24" name="TextBox 23">
            <a:extLst>
              <a:ext uri="{FF2B5EF4-FFF2-40B4-BE49-F238E27FC236}">
                <a16:creationId xmlns:a16="http://schemas.microsoft.com/office/drawing/2014/main" id="{D7591C0A-B87D-CCF0-3F46-63E4A9F6870B}"/>
              </a:ext>
            </a:extLst>
          </p:cNvPr>
          <p:cNvSpPr txBox="1"/>
          <p:nvPr/>
        </p:nvSpPr>
        <p:spPr>
          <a:xfrm>
            <a:off x="6003758" y="2857736"/>
            <a:ext cx="2041278" cy="369332"/>
          </a:xfrm>
          <a:prstGeom prst="rect">
            <a:avLst/>
          </a:prstGeom>
          <a:noFill/>
          <a:ln>
            <a:solidFill>
              <a:schemeClr val="accent2">
                <a:lumMod val="75000"/>
              </a:schemeClr>
            </a:solidFill>
          </a:ln>
        </p:spPr>
        <p:txBody>
          <a:bodyPr wrap="square" rtlCol="0">
            <a:spAutoFit/>
          </a:bodyPr>
          <a:lstStyle/>
          <a:p>
            <a:pPr algn="ctr"/>
            <a:r>
              <a:rPr lang="en-US" dirty="0"/>
              <a:t>Layer Normalization</a:t>
            </a:r>
          </a:p>
        </p:txBody>
      </p:sp>
      <p:sp>
        <p:nvSpPr>
          <p:cNvPr id="25" name="TextBox 24">
            <a:extLst>
              <a:ext uri="{FF2B5EF4-FFF2-40B4-BE49-F238E27FC236}">
                <a16:creationId xmlns:a16="http://schemas.microsoft.com/office/drawing/2014/main" id="{ED97A854-F98B-D02D-53EB-EB50400E59C2}"/>
              </a:ext>
            </a:extLst>
          </p:cNvPr>
          <p:cNvSpPr txBox="1"/>
          <p:nvPr/>
        </p:nvSpPr>
        <p:spPr>
          <a:xfrm>
            <a:off x="6003758" y="3372068"/>
            <a:ext cx="2041278" cy="646331"/>
          </a:xfrm>
          <a:prstGeom prst="rect">
            <a:avLst/>
          </a:prstGeom>
          <a:noFill/>
          <a:ln>
            <a:solidFill>
              <a:schemeClr val="accent2">
                <a:lumMod val="75000"/>
              </a:schemeClr>
            </a:solidFill>
          </a:ln>
        </p:spPr>
        <p:txBody>
          <a:bodyPr wrap="square" rtlCol="0">
            <a:spAutoFit/>
          </a:bodyPr>
          <a:lstStyle/>
          <a:p>
            <a:pPr algn="ctr"/>
            <a:r>
              <a:rPr lang="en-US" dirty="0"/>
              <a:t>Residual Connection</a:t>
            </a:r>
          </a:p>
        </p:txBody>
      </p:sp>
      <p:sp>
        <p:nvSpPr>
          <p:cNvPr id="26" name="TextBox 25">
            <a:extLst>
              <a:ext uri="{FF2B5EF4-FFF2-40B4-BE49-F238E27FC236}">
                <a16:creationId xmlns:a16="http://schemas.microsoft.com/office/drawing/2014/main" id="{7CC1D007-DD36-5A0B-A6C1-2B762F74AE73}"/>
              </a:ext>
            </a:extLst>
          </p:cNvPr>
          <p:cNvSpPr txBox="1"/>
          <p:nvPr/>
        </p:nvSpPr>
        <p:spPr>
          <a:xfrm>
            <a:off x="770022" y="5519589"/>
            <a:ext cx="2041278" cy="369332"/>
          </a:xfrm>
          <a:prstGeom prst="rect">
            <a:avLst/>
          </a:prstGeom>
          <a:noFill/>
          <a:ln>
            <a:solidFill>
              <a:schemeClr val="accent2">
                <a:lumMod val="75000"/>
              </a:schemeClr>
            </a:solidFill>
          </a:ln>
        </p:spPr>
        <p:txBody>
          <a:bodyPr wrap="square" rtlCol="0">
            <a:spAutoFit/>
          </a:bodyPr>
          <a:lstStyle/>
          <a:p>
            <a:pPr algn="ctr"/>
            <a:r>
              <a:rPr lang="en-US" dirty="0"/>
              <a:t>Output (Dense)</a:t>
            </a:r>
          </a:p>
        </p:txBody>
      </p:sp>
      <p:sp>
        <p:nvSpPr>
          <p:cNvPr id="27" name="TextBox 26">
            <a:extLst>
              <a:ext uri="{FF2B5EF4-FFF2-40B4-BE49-F238E27FC236}">
                <a16:creationId xmlns:a16="http://schemas.microsoft.com/office/drawing/2014/main" id="{FEF92617-62B3-ADB4-A145-24AAC788AECB}"/>
              </a:ext>
            </a:extLst>
          </p:cNvPr>
          <p:cNvSpPr txBox="1"/>
          <p:nvPr/>
        </p:nvSpPr>
        <p:spPr>
          <a:xfrm>
            <a:off x="6003758" y="4659598"/>
            <a:ext cx="2041278" cy="369332"/>
          </a:xfrm>
          <a:prstGeom prst="rect">
            <a:avLst/>
          </a:prstGeom>
          <a:noFill/>
          <a:ln>
            <a:solidFill>
              <a:schemeClr val="accent2">
                <a:lumMod val="75000"/>
              </a:schemeClr>
            </a:solidFill>
          </a:ln>
        </p:spPr>
        <p:txBody>
          <a:bodyPr wrap="square" rtlCol="0">
            <a:spAutoFit/>
          </a:bodyPr>
          <a:lstStyle/>
          <a:p>
            <a:pPr algn="ctr"/>
            <a:r>
              <a:rPr lang="en-US" dirty="0"/>
              <a:t>Dropout</a:t>
            </a:r>
          </a:p>
        </p:txBody>
      </p:sp>
      <p:sp>
        <p:nvSpPr>
          <p:cNvPr id="28" name="TextBox 27">
            <a:extLst>
              <a:ext uri="{FF2B5EF4-FFF2-40B4-BE49-F238E27FC236}">
                <a16:creationId xmlns:a16="http://schemas.microsoft.com/office/drawing/2014/main" id="{0203846B-C309-2CF7-8142-203665518D2F}"/>
              </a:ext>
            </a:extLst>
          </p:cNvPr>
          <p:cNvSpPr txBox="1"/>
          <p:nvPr/>
        </p:nvSpPr>
        <p:spPr>
          <a:xfrm>
            <a:off x="6003758" y="5833844"/>
            <a:ext cx="2041278" cy="369332"/>
          </a:xfrm>
          <a:prstGeom prst="rect">
            <a:avLst/>
          </a:prstGeom>
          <a:noFill/>
          <a:ln>
            <a:solidFill>
              <a:schemeClr val="accent2">
                <a:lumMod val="75000"/>
              </a:schemeClr>
            </a:solidFill>
          </a:ln>
        </p:spPr>
        <p:txBody>
          <a:bodyPr wrap="square" rtlCol="0">
            <a:spAutoFit/>
          </a:bodyPr>
          <a:lstStyle/>
          <a:p>
            <a:pPr algn="ctr"/>
            <a:r>
              <a:rPr lang="en-US" dirty="0"/>
              <a:t>Layer Normalization</a:t>
            </a:r>
          </a:p>
        </p:txBody>
      </p:sp>
      <p:cxnSp>
        <p:nvCxnSpPr>
          <p:cNvPr id="38" name="Straight Connector 37">
            <a:extLst>
              <a:ext uri="{FF2B5EF4-FFF2-40B4-BE49-F238E27FC236}">
                <a16:creationId xmlns:a16="http://schemas.microsoft.com/office/drawing/2014/main" id="{38991300-090C-E97E-B17D-BFE1A1138A39}"/>
              </a:ext>
            </a:extLst>
          </p:cNvPr>
          <p:cNvCxnSpPr>
            <a:stCxn id="22" idx="3"/>
          </p:cNvCxnSpPr>
          <p:nvPr/>
        </p:nvCxnSpPr>
        <p:spPr>
          <a:xfrm flipV="1">
            <a:off x="2811300" y="733926"/>
            <a:ext cx="2765337" cy="1505844"/>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22A927AD-5B85-23FD-4E11-34CED8E90B09}"/>
              </a:ext>
            </a:extLst>
          </p:cNvPr>
          <p:cNvCxnSpPr>
            <a:stCxn id="22" idx="3"/>
          </p:cNvCxnSpPr>
          <p:nvPr/>
        </p:nvCxnSpPr>
        <p:spPr>
          <a:xfrm>
            <a:off x="2811300" y="2239770"/>
            <a:ext cx="2765337" cy="402868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40C4A20F-3671-E4EB-DB4C-166F58967F90}"/>
              </a:ext>
            </a:extLst>
          </p:cNvPr>
          <p:cNvSpPr txBox="1"/>
          <p:nvPr/>
        </p:nvSpPr>
        <p:spPr>
          <a:xfrm>
            <a:off x="6003758" y="5117491"/>
            <a:ext cx="2041278" cy="646331"/>
          </a:xfrm>
          <a:prstGeom prst="rect">
            <a:avLst/>
          </a:prstGeom>
          <a:noFill/>
          <a:ln>
            <a:solidFill>
              <a:schemeClr val="accent2">
                <a:lumMod val="75000"/>
              </a:schemeClr>
            </a:solidFill>
          </a:ln>
        </p:spPr>
        <p:txBody>
          <a:bodyPr wrap="square" rtlCol="0">
            <a:spAutoFit/>
          </a:bodyPr>
          <a:lstStyle/>
          <a:p>
            <a:pPr algn="ctr"/>
            <a:r>
              <a:rPr lang="en-US" dirty="0"/>
              <a:t>Residual Connection</a:t>
            </a:r>
          </a:p>
        </p:txBody>
      </p:sp>
    </p:spTree>
    <p:extLst>
      <p:ext uri="{BB962C8B-B14F-4D97-AF65-F5344CB8AC3E}">
        <p14:creationId xmlns:p14="http://schemas.microsoft.com/office/powerpoint/2010/main" val="24110455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DBFFE-0F17-BE17-C085-4D7CE7DB798D}"/>
            </a:ext>
          </a:extLst>
        </p:cNvPr>
        <p:cNvGrpSpPr/>
        <p:nvPr/>
      </p:nvGrpSpPr>
      <p:grpSpPr>
        <a:xfrm>
          <a:off x="0" y="0"/>
          <a:ext cx="0" cy="0"/>
          <a:chOff x="0" y="0"/>
          <a:chExt cx="0" cy="0"/>
        </a:xfrm>
      </p:grpSpPr>
      <p:sp>
        <p:nvSpPr>
          <p:cNvPr id="193" name="Shape 0">
            <a:extLst>
              <a:ext uri="{FF2B5EF4-FFF2-40B4-BE49-F238E27FC236}">
                <a16:creationId xmlns:a16="http://schemas.microsoft.com/office/drawing/2014/main" id="{BA5D1521-A975-62B4-7009-3ED44389C968}"/>
              </a:ext>
            </a:extLst>
          </p:cNvPr>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4" name="Text 1">
            <a:extLst>
              <a:ext uri="{FF2B5EF4-FFF2-40B4-BE49-F238E27FC236}">
                <a16:creationId xmlns:a16="http://schemas.microsoft.com/office/drawing/2014/main" id="{54A5A41F-1A68-349F-402B-831A8A2A3690}"/>
              </a:ext>
            </a:extLst>
          </p:cNvPr>
          <p:cNvSpPr/>
          <p:nvPr/>
        </p:nvSpPr>
        <p:spPr>
          <a:xfrm>
            <a:off x="341280" y="48960"/>
            <a:ext cx="1158192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Hyper-Parameter Considerations</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195" name="Shape 2">
            <a:extLst>
              <a:ext uri="{FF2B5EF4-FFF2-40B4-BE49-F238E27FC236}">
                <a16:creationId xmlns:a16="http://schemas.microsoft.com/office/drawing/2014/main" id="{FBC1FD78-FD30-0A72-C7CA-698F2495413F}"/>
              </a:ext>
            </a:extLst>
          </p:cNvPr>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4" name="Text 3">
            <a:extLst>
              <a:ext uri="{FF2B5EF4-FFF2-40B4-BE49-F238E27FC236}">
                <a16:creationId xmlns:a16="http://schemas.microsoft.com/office/drawing/2014/main" id="{06444588-BB72-25C9-DEBA-0D3D5F03A725}"/>
              </a:ext>
            </a:extLst>
          </p:cNvPr>
          <p:cNvSpPr/>
          <p:nvPr/>
        </p:nvSpPr>
        <p:spPr>
          <a:xfrm>
            <a:off x="329184" y="6615684"/>
            <a:ext cx="6217920" cy="19006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AAACC"/>
                </a:solidFill>
                <a:effectLst/>
                <a:uLnTx/>
                <a:uFillTx/>
                <a:latin typeface="Calibri" panose="020F0502020204030204"/>
                <a:ea typeface="+mn-ea"/>
                <a:cs typeface="+mn-cs"/>
              </a:rPr>
              <a:t>DATASCI 207  ·  Final Project: Forecasting Volatility In Stock Market  ·  March 2026</a:t>
            </a:r>
            <a:endParaRPr kumimoji="0" lang="en-US" sz="125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3" name="Rectangle: Rounded Corners 2">
            <a:extLst>
              <a:ext uri="{FF2B5EF4-FFF2-40B4-BE49-F238E27FC236}">
                <a16:creationId xmlns:a16="http://schemas.microsoft.com/office/drawing/2014/main" id="{D990C7E5-9699-F83F-ACBF-67E390CA5E88}"/>
              </a:ext>
            </a:extLst>
          </p:cNvPr>
          <p:cNvSpPr/>
          <p:nvPr/>
        </p:nvSpPr>
        <p:spPr>
          <a:xfrm>
            <a:off x="203202" y="1104348"/>
            <a:ext cx="2252870" cy="5031409"/>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7AD8442A-3D26-B554-A0F6-7C4059DCA138}"/>
              </a:ext>
            </a:extLst>
          </p:cNvPr>
          <p:cNvSpPr/>
          <p:nvPr/>
        </p:nvSpPr>
        <p:spPr>
          <a:xfrm>
            <a:off x="2615102" y="1104348"/>
            <a:ext cx="2252870" cy="5031409"/>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70374694-3C17-D1F8-90F7-5DEE176D56D3}"/>
              </a:ext>
            </a:extLst>
          </p:cNvPr>
          <p:cNvSpPr/>
          <p:nvPr/>
        </p:nvSpPr>
        <p:spPr>
          <a:xfrm>
            <a:off x="5027002" y="1103886"/>
            <a:ext cx="2252870" cy="5031409"/>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7" name="Rectangle: Rounded Corners 6">
            <a:extLst>
              <a:ext uri="{FF2B5EF4-FFF2-40B4-BE49-F238E27FC236}">
                <a16:creationId xmlns:a16="http://schemas.microsoft.com/office/drawing/2014/main" id="{E99ECD44-3C1C-B389-638C-AB51A9A0379C}"/>
              </a:ext>
            </a:extLst>
          </p:cNvPr>
          <p:cNvSpPr/>
          <p:nvPr/>
        </p:nvSpPr>
        <p:spPr>
          <a:xfrm>
            <a:off x="7438902" y="1104348"/>
            <a:ext cx="2252870" cy="5031409"/>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78B3DC4E-CC44-E3C9-0E1C-71455D548B75}"/>
              </a:ext>
            </a:extLst>
          </p:cNvPr>
          <p:cNvSpPr/>
          <p:nvPr/>
        </p:nvSpPr>
        <p:spPr>
          <a:xfrm>
            <a:off x="9850802" y="1104348"/>
            <a:ext cx="2252870" cy="5031409"/>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F79EE86-C996-2866-5922-EBA76C965639}"/>
              </a:ext>
            </a:extLst>
          </p:cNvPr>
          <p:cNvSpPr txBox="1"/>
          <p:nvPr/>
        </p:nvSpPr>
        <p:spPr>
          <a:xfrm>
            <a:off x="468243" y="1285461"/>
            <a:ext cx="1718366" cy="369332"/>
          </a:xfrm>
          <a:prstGeom prst="rect">
            <a:avLst/>
          </a:prstGeom>
          <a:noFill/>
        </p:spPr>
        <p:txBody>
          <a:bodyPr wrap="square" rtlCol="0">
            <a:spAutoFit/>
          </a:bodyPr>
          <a:lstStyle/>
          <a:p>
            <a:pPr algn="ctr"/>
            <a:r>
              <a:rPr lang="en-US" b="1" dirty="0"/>
              <a:t>Block Count</a:t>
            </a:r>
          </a:p>
        </p:txBody>
      </p:sp>
      <p:sp>
        <p:nvSpPr>
          <p:cNvPr id="10" name="TextBox 9">
            <a:extLst>
              <a:ext uri="{FF2B5EF4-FFF2-40B4-BE49-F238E27FC236}">
                <a16:creationId xmlns:a16="http://schemas.microsoft.com/office/drawing/2014/main" id="{661B4FB0-5E57-06F0-D6AF-AE54157F4154}"/>
              </a:ext>
            </a:extLst>
          </p:cNvPr>
          <p:cNvSpPr txBox="1"/>
          <p:nvPr/>
        </p:nvSpPr>
        <p:spPr>
          <a:xfrm>
            <a:off x="2873513" y="1285461"/>
            <a:ext cx="1718366" cy="369332"/>
          </a:xfrm>
          <a:prstGeom prst="rect">
            <a:avLst/>
          </a:prstGeom>
          <a:noFill/>
        </p:spPr>
        <p:txBody>
          <a:bodyPr wrap="square" rtlCol="0">
            <a:spAutoFit/>
          </a:bodyPr>
          <a:lstStyle/>
          <a:p>
            <a:pPr algn="ctr"/>
            <a:r>
              <a:rPr lang="en-US" b="1" dirty="0"/>
              <a:t>Head Size</a:t>
            </a:r>
          </a:p>
        </p:txBody>
      </p:sp>
      <p:sp>
        <p:nvSpPr>
          <p:cNvPr id="11" name="TextBox 10">
            <a:extLst>
              <a:ext uri="{FF2B5EF4-FFF2-40B4-BE49-F238E27FC236}">
                <a16:creationId xmlns:a16="http://schemas.microsoft.com/office/drawing/2014/main" id="{7DAF1700-BCBA-B727-50AB-3CD9D4A4C84B}"/>
              </a:ext>
            </a:extLst>
          </p:cNvPr>
          <p:cNvSpPr txBox="1"/>
          <p:nvPr/>
        </p:nvSpPr>
        <p:spPr>
          <a:xfrm>
            <a:off x="5273057" y="1146961"/>
            <a:ext cx="1718366" cy="646331"/>
          </a:xfrm>
          <a:prstGeom prst="rect">
            <a:avLst/>
          </a:prstGeom>
          <a:noFill/>
        </p:spPr>
        <p:txBody>
          <a:bodyPr wrap="square" rtlCol="0">
            <a:spAutoFit/>
          </a:bodyPr>
          <a:lstStyle/>
          <a:p>
            <a:pPr algn="ctr"/>
            <a:r>
              <a:rPr lang="en-US" b="1" dirty="0"/>
              <a:t>Dropout / Masking Layers</a:t>
            </a:r>
          </a:p>
        </p:txBody>
      </p:sp>
      <p:sp>
        <p:nvSpPr>
          <p:cNvPr id="12" name="TextBox 11">
            <a:extLst>
              <a:ext uri="{FF2B5EF4-FFF2-40B4-BE49-F238E27FC236}">
                <a16:creationId xmlns:a16="http://schemas.microsoft.com/office/drawing/2014/main" id="{AE425666-23A7-D9B8-CCEA-BECDBA950510}"/>
              </a:ext>
            </a:extLst>
          </p:cNvPr>
          <p:cNvSpPr txBox="1"/>
          <p:nvPr/>
        </p:nvSpPr>
        <p:spPr>
          <a:xfrm>
            <a:off x="7706154" y="1285460"/>
            <a:ext cx="1718366" cy="369332"/>
          </a:xfrm>
          <a:prstGeom prst="rect">
            <a:avLst/>
          </a:prstGeom>
          <a:noFill/>
        </p:spPr>
        <p:txBody>
          <a:bodyPr wrap="square" rtlCol="0">
            <a:spAutoFit/>
          </a:bodyPr>
          <a:lstStyle/>
          <a:p>
            <a:pPr algn="ctr"/>
            <a:r>
              <a:rPr lang="en-US" b="1" dirty="0"/>
              <a:t>FFN Dimension</a:t>
            </a:r>
          </a:p>
        </p:txBody>
      </p:sp>
      <p:sp>
        <p:nvSpPr>
          <p:cNvPr id="13" name="TextBox 12">
            <a:extLst>
              <a:ext uri="{FF2B5EF4-FFF2-40B4-BE49-F238E27FC236}">
                <a16:creationId xmlns:a16="http://schemas.microsoft.com/office/drawing/2014/main" id="{7845E1D3-619C-D6FD-AB85-3A9B9063F121}"/>
              </a:ext>
            </a:extLst>
          </p:cNvPr>
          <p:cNvSpPr txBox="1"/>
          <p:nvPr/>
        </p:nvSpPr>
        <p:spPr>
          <a:xfrm>
            <a:off x="10118054" y="1283250"/>
            <a:ext cx="1718366" cy="369332"/>
          </a:xfrm>
          <a:prstGeom prst="rect">
            <a:avLst/>
          </a:prstGeom>
          <a:noFill/>
        </p:spPr>
        <p:txBody>
          <a:bodyPr wrap="square" rtlCol="0">
            <a:spAutoFit/>
          </a:bodyPr>
          <a:lstStyle/>
          <a:p>
            <a:pPr algn="ctr"/>
            <a:r>
              <a:rPr lang="en-US" b="1" dirty="0"/>
              <a:t># Epochs</a:t>
            </a:r>
          </a:p>
        </p:txBody>
      </p:sp>
      <p:sp>
        <p:nvSpPr>
          <p:cNvPr id="14" name="TextBox 13">
            <a:extLst>
              <a:ext uri="{FF2B5EF4-FFF2-40B4-BE49-F238E27FC236}">
                <a16:creationId xmlns:a16="http://schemas.microsoft.com/office/drawing/2014/main" id="{A54A8004-2520-0A29-5D0B-4EC290D42F4B}"/>
              </a:ext>
            </a:extLst>
          </p:cNvPr>
          <p:cNvSpPr txBox="1"/>
          <p:nvPr/>
        </p:nvSpPr>
        <p:spPr>
          <a:xfrm>
            <a:off x="329184" y="2195443"/>
            <a:ext cx="1959025" cy="2292935"/>
          </a:xfrm>
          <a:prstGeom prst="rect">
            <a:avLst/>
          </a:prstGeom>
          <a:noFill/>
        </p:spPr>
        <p:txBody>
          <a:bodyPr wrap="square" rtlCol="0">
            <a:spAutoFit/>
          </a:bodyPr>
          <a:lstStyle/>
          <a:p>
            <a:pPr marL="285750" indent="-285750">
              <a:buFont typeface="Arial" panose="020B0604020202020204" pitchFamily="34" charset="0"/>
              <a:buChar char="•"/>
            </a:pPr>
            <a:r>
              <a:rPr lang="en-US" sz="1300" dirty="0"/>
              <a:t>Keep number of blocks low (2-4)</a:t>
            </a:r>
          </a:p>
          <a:p>
            <a:r>
              <a:rPr lang="en-US" sz="1300" dirty="0"/>
              <a:t> </a:t>
            </a:r>
          </a:p>
          <a:p>
            <a:pPr marL="285750" indent="-285750">
              <a:buFont typeface="Arial" panose="020B0604020202020204" pitchFamily="34" charset="0"/>
              <a:buChar char="•"/>
            </a:pPr>
            <a:r>
              <a:rPr lang="en-US" sz="1300" dirty="0"/>
              <a:t>Why: Each block will allow the transformer to memorize something different about the data. This can quickly lead to overfitting with such a simple dataset.</a:t>
            </a:r>
          </a:p>
        </p:txBody>
      </p:sp>
      <p:sp>
        <p:nvSpPr>
          <p:cNvPr id="15" name="TextBox 14">
            <a:extLst>
              <a:ext uri="{FF2B5EF4-FFF2-40B4-BE49-F238E27FC236}">
                <a16:creationId xmlns:a16="http://schemas.microsoft.com/office/drawing/2014/main" id="{AE4762ED-8923-849D-40A8-1C19397B92BE}"/>
              </a:ext>
            </a:extLst>
          </p:cNvPr>
          <p:cNvSpPr txBox="1"/>
          <p:nvPr/>
        </p:nvSpPr>
        <p:spPr>
          <a:xfrm>
            <a:off x="2776334" y="2184399"/>
            <a:ext cx="2016536" cy="2693045"/>
          </a:xfrm>
          <a:prstGeom prst="rect">
            <a:avLst/>
          </a:prstGeom>
          <a:noFill/>
        </p:spPr>
        <p:txBody>
          <a:bodyPr wrap="square" rtlCol="0">
            <a:spAutoFit/>
          </a:bodyPr>
          <a:lstStyle/>
          <a:p>
            <a:pPr marL="285750" indent="-285750">
              <a:buFont typeface="Arial" panose="020B0604020202020204" pitchFamily="34" charset="0"/>
              <a:buChar char="•"/>
            </a:pPr>
            <a:r>
              <a:rPr lang="en-US" sz="1300" dirty="0"/>
              <a:t>Set a sequence length of ~21. </a:t>
            </a:r>
          </a:p>
          <a:p>
            <a:r>
              <a:rPr lang="en-US" sz="1300" dirty="0"/>
              <a:t> </a:t>
            </a:r>
          </a:p>
          <a:p>
            <a:pPr marL="285750" indent="-285750">
              <a:buFont typeface="Arial" panose="020B0604020202020204" pitchFamily="34" charset="0"/>
              <a:buChar char="•"/>
            </a:pPr>
            <a:r>
              <a:rPr lang="en-US" sz="1300" dirty="0"/>
              <a:t>Why: The sequence length determines how many rows (data) the model will keep in its memory when running the Attention Layer. The variable with the longest backward-looking period is 20 days.</a:t>
            </a:r>
          </a:p>
        </p:txBody>
      </p:sp>
      <p:sp>
        <p:nvSpPr>
          <p:cNvPr id="16" name="TextBox 15">
            <a:extLst>
              <a:ext uri="{FF2B5EF4-FFF2-40B4-BE49-F238E27FC236}">
                <a16:creationId xmlns:a16="http://schemas.microsoft.com/office/drawing/2014/main" id="{1FF31B26-E519-B387-9D57-5E9ABEE0CC54}"/>
              </a:ext>
            </a:extLst>
          </p:cNvPr>
          <p:cNvSpPr txBox="1"/>
          <p:nvPr/>
        </p:nvSpPr>
        <p:spPr>
          <a:xfrm>
            <a:off x="5146020" y="2184398"/>
            <a:ext cx="2100723" cy="3093154"/>
          </a:xfrm>
          <a:prstGeom prst="rect">
            <a:avLst/>
          </a:prstGeom>
          <a:noFill/>
        </p:spPr>
        <p:txBody>
          <a:bodyPr wrap="square" rtlCol="0">
            <a:spAutoFit/>
          </a:bodyPr>
          <a:lstStyle/>
          <a:p>
            <a:pPr marL="285750" indent="-285750">
              <a:buFont typeface="Arial" panose="020B0604020202020204" pitchFamily="34" charset="0"/>
              <a:buChar char="•"/>
            </a:pPr>
            <a:r>
              <a:rPr lang="en-US" sz="1300" dirty="0"/>
              <a:t>Randomly deactivating weights while training the model to avoid overfitting.</a:t>
            </a:r>
          </a:p>
          <a:p>
            <a:r>
              <a:rPr lang="en-US" sz="1300" dirty="0"/>
              <a:t> </a:t>
            </a:r>
          </a:p>
          <a:p>
            <a:pPr marL="285750" indent="-285750">
              <a:buFont typeface="Arial" panose="020B0604020202020204" pitchFamily="34" charset="0"/>
              <a:buChar char="•"/>
            </a:pPr>
            <a:r>
              <a:rPr lang="en-US" sz="1300" b="1" dirty="0"/>
              <a:t>Why: </a:t>
            </a:r>
            <a:r>
              <a:rPr lang="en-US" sz="1300" dirty="0"/>
              <a:t>Transformers are the most complex mainstream models due to their ability to memorize data so well. This can quickly lead to overfitting, so forcing it to not rely on patterns when training is extremely important.</a:t>
            </a:r>
            <a:endParaRPr lang="en-US" sz="1300" b="1" dirty="0"/>
          </a:p>
        </p:txBody>
      </p:sp>
      <p:sp>
        <p:nvSpPr>
          <p:cNvPr id="17" name="TextBox 16">
            <a:extLst>
              <a:ext uri="{FF2B5EF4-FFF2-40B4-BE49-F238E27FC236}">
                <a16:creationId xmlns:a16="http://schemas.microsoft.com/office/drawing/2014/main" id="{5F442D0E-B876-F20A-5DF8-FE8D19522BAE}"/>
              </a:ext>
            </a:extLst>
          </p:cNvPr>
          <p:cNvSpPr txBox="1"/>
          <p:nvPr/>
        </p:nvSpPr>
        <p:spPr>
          <a:xfrm>
            <a:off x="7471776" y="2171144"/>
            <a:ext cx="2144653" cy="2292935"/>
          </a:xfrm>
          <a:prstGeom prst="rect">
            <a:avLst/>
          </a:prstGeom>
          <a:noFill/>
        </p:spPr>
        <p:txBody>
          <a:bodyPr wrap="square" rtlCol="0">
            <a:spAutoFit/>
          </a:bodyPr>
          <a:lstStyle/>
          <a:p>
            <a:pPr marL="285750" indent="-285750">
              <a:buFont typeface="Arial" panose="020B0604020202020204" pitchFamily="34" charset="0"/>
              <a:buChar char="•"/>
            </a:pPr>
            <a:r>
              <a:rPr lang="en-US" sz="1300" dirty="0"/>
              <a:t>Increasing dimensionality in transformer block before applying </a:t>
            </a:r>
            <a:r>
              <a:rPr lang="en-US" sz="1300" dirty="0" err="1"/>
              <a:t>ReLU</a:t>
            </a:r>
            <a:r>
              <a:rPr lang="en-US" sz="1300" dirty="0"/>
              <a:t>.</a:t>
            </a:r>
          </a:p>
          <a:p>
            <a:r>
              <a:rPr lang="en-US" sz="1300" dirty="0"/>
              <a:t> </a:t>
            </a:r>
          </a:p>
          <a:p>
            <a:pPr marL="285750" indent="-285750">
              <a:buFont typeface="Arial" panose="020B0604020202020204" pitchFamily="34" charset="0"/>
              <a:buChar char="•"/>
            </a:pPr>
            <a:r>
              <a:rPr lang="en-US" sz="1300" b="1" dirty="0"/>
              <a:t>Why: </a:t>
            </a:r>
            <a:r>
              <a:rPr lang="en-US" sz="1300" dirty="0"/>
              <a:t>Expanding the dimensions by a significant amount allows us to find greater non-linear relationships with the </a:t>
            </a:r>
            <a:r>
              <a:rPr lang="en-US" sz="1300" dirty="0" err="1"/>
              <a:t>ReLU</a:t>
            </a:r>
            <a:r>
              <a:rPr lang="en-US" sz="1300" dirty="0"/>
              <a:t> function.</a:t>
            </a:r>
            <a:endParaRPr lang="en-US" sz="1300" b="1" dirty="0"/>
          </a:p>
        </p:txBody>
      </p:sp>
      <p:sp>
        <p:nvSpPr>
          <p:cNvPr id="18" name="TextBox 17">
            <a:extLst>
              <a:ext uri="{FF2B5EF4-FFF2-40B4-BE49-F238E27FC236}">
                <a16:creationId xmlns:a16="http://schemas.microsoft.com/office/drawing/2014/main" id="{2BA420E8-47C7-764C-CDD4-BFCD091717F2}"/>
              </a:ext>
            </a:extLst>
          </p:cNvPr>
          <p:cNvSpPr txBox="1"/>
          <p:nvPr/>
        </p:nvSpPr>
        <p:spPr>
          <a:xfrm>
            <a:off x="9850802" y="2171143"/>
            <a:ext cx="2221928" cy="2492990"/>
          </a:xfrm>
          <a:prstGeom prst="rect">
            <a:avLst/>
          </a:prstGeom>
          <a:noFill/>
        </p:spPr>
        <p:txBody>
          <a:bodyPr wrap="square" rtlCol="0">
            <a:spAutoFit/>
          </a:bodyPr>
          <a:lstStyle/>
          <a:p>
            <a:pPr marL="285750" indent="-285750">
              <a:buFont typeface="Arial" panose="020B0604020202020204" pitchFamily="34" charset="0"/>
              <a:buChar char="•"/>
            </a:pPr>
            <a:r>
              <a:rPr lang="en-US" sz="1300" dirty="0"/>
              <a:t>High Epoch limit (100 to 200) with Early Stopping Callbacks.</a:t>
            </a:r>
          </a:p>
          <a:p>
            <a:r>
              <a:rPr lang="en-US" sz="1300" dirty="0"/>
              <a:t> </a:t>
            </a:r>
          </a:p>
          <a:p>
            <a:pPr marL="285750" indent="-285750">
              <a:buFont typeface="Arial" panose="020B0604020202020204" pitchFamily="34" charset="0"/>
              <a:buChar char="•"/>
            </a:pPr>
            <a:r>
              <a:rPr lang="en-US" sz="1300" b="1" dirty="0"/>
              <a:t>Why: </a:t>
            </a:r>
            <a:r>
              <a:rPr lang="en-US" sz="1300" dirty="0"/>
              <a:t>Transformers are computationally expensive and slow to learn. Setting a high epoch number with a callback allows us to maximize performance without overfitting.</a:t>
            </a:r>
            <a:endParaRPr lang="en-US" sz="1300" b="1" dirty="0"/>
          </a:p>
        </p:txBody>
      </p:sp>
    </p:spTree>
    <p:extLst>
      <p:ext uri="{BB962C8B-B14F-4D97-AF65-F5344CB8AC3E}">
        <p14:creationId xmlns:p14="http://schemas.microsoft.com/office/powerpoint/2010/main" val="13647398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a:extLst>
            <a:ext uri="{FF2B5EF4-FFF2-40B4-BE49-F238E27FC236}">
              <a16:creationId xmlns:a16="http://schemas.microsoft.com/office/drawing/2014/main" id="{52BF2DA8-1AD0-9284-41EA-77D34AEDBE26}"/>
            </a:ext>
          </a:extLst>
        </p:cNvPr>
        <p:cNvGrpSpPr/>
        <p:nvPr/>
      </p:nvGrpSpPr>
      <p:grpSpPr>
        <a:xfrm>
          <a:off x="0" y="0"/>
          <a:ext cx="0" cy="0"/>
          <a:chOff x="0" y="0"/>
          <a:chExt cx="0" cy="0"/>
        </a:xfrm>
      </p:grpSpPr>
      <p:sp>
        <p:nvSpPr>
          <p:cNvPr id="94" name="Shape 0">
            <a:extLst>
              <a:ext uri="{FF2B5EF4-FFF2-40B4-BE49-F238E27FC236}">
                <a16:creationId xmlns:a16="http://schemas.microsoft.com/office/drawing/2014/main" id="{593FEA92-22B6-12B4-C9EF-BB27A6250068}"/>
              </a:ext>
            </a:extLst>
          </p:cNvPr>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5" name="Text 1">
            <a:extLst>
              <a:ext uri="{FF2B5EF4-FFF2-40B4-BE49-F238E27FC236}">
                <a16:creationId xmlns:a16="http://schemas.microsoft.com/office/drawing/2014/main" id="{534FD73E-2174-ED35-AAF3-8328C8082285}"/>
              </a:ext>
            </a:extLst>
          </p:cNvPr>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Model Comparisons — 2025 Test Set (8,820 rows)</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97" name="Shape 3">
            <a:extLst>
              <a:ext uri="{FF2B5EF4-FFF2-40B4-BE49-F238E27FC236}">
                <a16:creationId xmlns:a16="http://schemas.microsoft.com/office/drawing/2014/main" id="{73340864-2159-E8C2-1228-C49C70516603}"/>
              </a:ext>
            </a:extLst>
          </p:cNvPr>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graphicFrame>
        <p:nvGraphicFramePr>
          <p:cNvPr id="100" name="Table 0">
            <a:extLst>
              <a:ext uri="{FF2B5EF4-FFF2-40B4-BE49-F238E27FC236}">
                <a16:creationId xmlns:a16="http://schemas.microsoft.com/office/drawing/2014/main" id="{36CD25CE-68ED-7064-731D-323C5E7F2357}"/>
              </a:ext>
            </a:extLst>
          </p:cNvPr>
          <p:cNvGraphicFramePr/>
          <p:nvPr>
            <p:custDataLst>
              <p:tags r:id="rId1"/>
            </p:custDataLst>
            <p:extLst>
              <p:ext uri="{D42A27DB-BD31-4B8C-83A1-F6EECF244321}">
                <p14:modId xmlns:p14="http://schemas.microsoft.com/office/powerpoint/2010/main" val="3870027332"/>
              </p:ext>
            </p:extLst>
          </p:nvPr>
        </p:nvGraphicFramePr>
        <p:xfrm>
          <a:off x="1711234" y="1198189"/>
          <a:ext cx="8321040" cy="5298520"/>
        </p:xfrm>
        <a:graphic>
          <a:graphicData uri="http://schemas.openxmlformats.org/drawingml/2006/table">
            <a:tbl>
              <a:tblPr/>
              <a:tblGrid>
                <a:gridCol w="3449214">
                  <a:extLst>
                    <a:ext uri="{9D8B030D-6E8A-4147-A177-3AD203B41FA5}">
                      <a16:colId xmlns:a16="http://schemas.microsoft.com/office/drawing/2014/main" val="20000"/>
                    </a:ext>
                  </a:extLst>
                </a:gridCol>
                <a:gridCol w="1230179">
                  <a:extLst>
                    <a:ext uri="{9D8B030D-6E8A-4147-A177-3AD203B41FA5}">
                      <a16:colId xmlns:a16="http://schemas.microsoft.com/office/drawing/2014/main" val="20003"/>
                    </a:ext>
                  </a:extLst>
                </a:gridCol>
                <a:gridCol w="1222371">
                  <a:extLst>
                    <a:ext uri="{9D8B030D-6E8A-4147-A177-3AD203B41FA5}">
                      <a16:colId xmlns:a16="http://schemas.microsoft.com/office/drawing/2014/main" val="20004"/>
                    </a:ext>
                  </a:extLst>
                </a:gridCol>
                <a:gridCol w="1209638">
                  <a:extLst>
                    <a:ext uri="{9D8B030D-6E8A-4147-A177-3AD203B41FA5}">
                      <a16:colId xmlns:a16="http://schemas.microsoft.com/office/drawing/2014/main" val="20005"/>
                    </a:ext>
                  </a:extLst>
                </a:gridCol>
                <a:gridCol w="1209638">
                  <a:extLst>
                    <a:ext uri="{9D8B030D-6E8A-4147-A177-3AD203B41FA5}">
                      <a16:colId xmlns:a16="http://schemas.microsoft.com/office/drawing/2014/main" val="20006"/>
                    </a:ext>
                  </a:extLst>
                </a:gridCol>
              </a:tblGrid>
              <a:tr h="365760">
                <a:tc>
                  <a:txBody>
                    <a:bodyPr/>
                    <a:lstStyle/>
                    <a:p>
                      <a:pPr defTabSz="914400">
                        <a:lnSpc>
                          <a:spcPct val="100000"/>
                        </a:lnSpc>
                        <a:tabLst>
                          <a:tab pos="0" algn="l"/>
                        </a:tabLst>
                      </a:pPr>
                      <a:r>
                        <a:rPr lang="en-US" sz="1400" b="1" u="none" strike="noStrike" dirty="0">
                          <a:solidFill>
                            <a:srgbClr val="FFFFFF"/>
                          </a:solidFill>
                          <a:effectLst/>
                          <a:uFillTx/>
                          <a:latin typeface="Calibri"/>
                          <a:ea typeface="Calibri"/>
                        </a:rPr>
                        <a:t>Model / Baseline</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Test MAE</a:t>
                      </a:r>
                      <a:endParaRPr lang="en-US" sz="1400" b="0" u="none" strike="noStrike" dirty="0">
                        <a:solidFill>
                          <a:srgbClr val="FFFFFF"/>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Test RMSE</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Test R²</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vs XGBoost</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extLst>
                  <a:ext uri="{0D108BD9-81ED-4DB2-BD59-A6C34878D82A}">
                    <a16:rowId xmlns:a16="http://schemas.microsoft.com/office/drawing/2014/main" val="10000"/>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Elastic Net</a:t>
                      </a:r>
                      <a:r>
                        <a:rPr lang="en-US" sz="1400" b="1" u="none" strike="noStrike" dirty="0">
                          <a:solidFill>
                            <a:srgbClr val="000000"/>
                          </a:solidFill>
                          <a:effectLst/>
                          <a:uFillTx/>
                          <a:latin typeface="+mn-lt"/>
                          <a:ea typeface="Calibri"/>
                        </a:rPr>
                        <a:t> — V1</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0.0855</a:t>
                      </a: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0.1357</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0.1794</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+0.0032</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extLst>
                  <a:ext uri="{0D108BD9-81ED-4DB2-BD59-A6C34878D82A}">
                    <a16:rowId xmlns:a16="http://schemas.microsoft.com/office/drawing/2014/main" val="10001"/>
                  </a:ext>
                </a:extLst>
              </a:tr>
              <a:tr h="352340">
                <a:tc>
                  <a:txBody>
                    <a:bodyPr/>
                    <a:lstStyle/>
                    <a:p>
                      <a:pPr defTabSz="914400">
                        <a:lnSpc>
                          <a:spcPct val="100000"/>
                        </a:lnSpc>
                        <a:tabLst>
                          <a:tab pos="0" algn="l"/>
                        </a:tabLst>
                      </a:pPr>
                      <a:r>
                        <a:rPr lang="en-US" sz="1400" b="1" u="none" strike="noStrike" dirty="0">
                          <a:solidFill>
                            <a:srgbClr val="00A8CC"/>
                          </a:solidFill>
                          <a:effectLst/>
                          <a:uFillTx/>
                          <a:latin typeface="Calibri"/>
                          <a:ea typeface="Calibri"/>
                        </a:rPr>
                        <a:t>Elastic Net</a:t>
                      </a:r>
                      <a:r>
                        <a:rPr lang="en-US" sz="1400" b="1" u="none" strike="noStrike" dirty="0">
                          <a:solidFill>
                            <a:srgbClr val="00A8CC"/>
                          </a:solidFill>
                          <a:effectLst/>
                          <a:uFillTx/>
                          <a:latin typeface="+mn-lt"/>
                          <a:ea typeface="Calibri"/>
                        </a:rPr>
                        <a:t> —</a:t>
                      </a:r>
                      <a:r>
                        <a:rPr lang="en-US" sz="1400" b="1" u="none" strike="noStrike" dirty="0">
                          <a:solidFill>
                            <a:srgbClr val="000000"/>
                          </a:solidFill>
                          <a:effectLst/>
                          <a:uFillTx/>
                          <a:latin typeface="+mn-lt"/>
                          <a:ea typeface="Calibri"/>
                        </a:rPr>
                        <a:t> </a:t>
                      </a:r>
                      <a:r>
                        <a:rPr lang="en-US" sz="1400" b="1" u="none" strike="noStrike" dirty="0">
                          <a:solidFill>
                            <a:srgbClr val="00A8CC"/>
                          </a:solidFill>
                          <a:effectLst/>
                          <a:uFillTx/>
                          <a:latin typeface="+mn-lt"/>
                          <a:ea typeface="Calibri"/>
                        </a:rPr>
                        <a:t>V2</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rgbClr val="00A8CC"/>
                          </a:solidFill>
                          <a:effectLst/>
                          <a:uFillTx/>
                          <a:latin typeface="Calibri"/>
                          <a:ea typeface="Calibri"/>
                        </a:rPr>
                        <a:t>0.0846</a:t>
                      </a:r>
                      <a:endParaRPr lang="en-US" sz="1400" b="0"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rgbClr val="00A8CC"/>
                          </a:solidFill>
                          <a:effectLst/>
                          <a:uFillTx/>
                          <a:latin typeface="Calibri"/>
                          <a:ea typeface="Calibri"/>
                        </a:rPr>
                        <a:t>0.1324</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rgbClr val="00A8CC"/>
                          </a:solidFill>
                          <a:effectLst/>
                          <a:uFillTx/>
                          <a:latin typeface="Calibri"/>
                          <a:ea typeface="Calibri"/>
                        </a:rPr>
                        <a:t>0.2188</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rgbClr val="00A8CC"/>
                          </a:solidFill>
                          <a:effectLst/>
                          <a:uFillTx/>
                          <a:latin typeface="Calibri"/>
                          <a:ea typeface="Calibri"/>
                        </a:rPr>
                        <a:t>+0.0024</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extLst>
                  <a:ext uri="{0D108BD9-81ED-4DB2-BD59-A6C34878D82A}">
                    <a16:rowId xmlns:a16="http://schemas.microsoft.com/office/drawing/2014/main" val="10002"/>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LSTM</a:t>
                      </a:r>
                      <a:r>
                        <a:rPr lang="en-US" sz="1400" b="1" u="none" strike="noStrike" dirty="0">
                          <a:solidFill>
                            <a:srgbClr val="000000"/>
                          </a:solidFill>
                          <a:effectLst/>
                          <a:uFillTx/>
                          <a:latin typeface="+mn-lt"/>
                          <a:ea typeface="Calibri"/>
                        </a:rPr>
                        <a:t>— V1</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903431423"/>
                  </a:ext>
                </a:extLst>
              </a:tr>
              <a:tr h="352340">
                <a:tc>
                  <a:txBody>
                    <a:bodyPr/>
                    <a:lstStyle/>
                    <a:p>
                      <a:pPr defTabSz="914400">
                        <a:lnSpc>
                          <a:spcPct val="100000"/>
                        </a:lnSpc>
                        <a:tabLst>
                          <a:tab pos="0" algn="l"/>
                        </a:tabLst>
                      </a:pPr>
                      <a:r>
                        <a:rPr lang="en-US" sz="1400" b="1" u="none" strike="noStrike" dirty="0">
                          <a:solidFill>
                            <a:srgbClr val="00A8CC"/>
                          </a:solidFill>
                          <a:effectLst/>
                          <a:uFillTx/>
                          <a:latin typeface="Calibri"/>
                          <a:ea typeface="Calibri"/>
                        </a:rPr>
                        <a:t>LSTM</a:t>
                      </a:r>
                      <a:r>
                        <a:rPr lang="en-US" sz="1400" b="1" u="none" strike="noStrike" dirty="0">
                          <a:solidFill>
                            <a:srgbClr val="00A8CC"/>
                          </a:solidFill>
                          <a:effectLst/>
                          <a:uFillTx/>
                          <a:latin typeface="+mn-lt"/>
                          <a:ea typeface="Calibri"/>
                        </a:rPr>
                        <a:t>—</a:t>
                      </a:r>
                      <a:r>
                        <a:rPr lang="en-US" sz="1400" b="1" u="none" strike="noStrike" dirty="0">
                          <a:solidFill>
                            <a:srgbClr val="000000"/>
                          </a:solidFill>
                          <a:effectLst/>
                          <a:uFillTx/>
                          <a:latin typeface="+mn-lt"/>
                          <a:ea typeface="Calibri"/>
                        </a:rPr>
                        <a:t> </a:t>
                      </a:r>
                      <a:r>
                        <a:rPr lang="en-US" sz="1400" b="1" u="none" strike="noStrike" dirty="0">
                          <a:solidFill>
                            <a:srgbClr val="00A8CC"/>
                          </a:solidFill>
                          <a:effectLst/>
                          <a:uFillTx/>
                          <a:latin typeface="+mn-lt"/>
                          <a:ea typeface="Calibri"/>
                        </a:rPr>
                        <a:t>V2</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0"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0"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0"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0"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extLst>
                  <a:ext uri="{0D108BD9-81ED-4DB2-BD59-A6C34878D82A}">
                    <a16:rowId xmlns:a16="http://schemas.microsoft.com/office/drawing/2014/main" val="2976346831"/>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Transformer-Encoder Only</a:t>
                      </a:r>
                      <a:r>
                        <a:rPr lang="en-US" sz="1400" b="1" u="none" strike="noStrike" dirty="0">
                          <a:solidFill>
                            <a:srgbClr val="000000"/>
                          </a:solidFill>
                          <a:effectLst/>
                          <a:uFillTx/>
                          <a:latin typeface="+mn-lt"/>
                          <a:ea typeface="Calibri"/>
                        </a:rPr>
                        <a:t>— V1</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783397590"/>
                  </a:ext>
                </a:extLst>
              </a:tr>
              <a:tr h="352340">
                <a:tc>
                  <a:txBody>
                    <a:bodyPr/>
                    <a:lstStyle/>
                    <a:p>
                      <a:pPr defTabSz="914400">
                        <a:lnSpc>
                          <a:spcPct val="100000"/>
                        </a:lnSpc>
                        <a:tabLst>
                          <a:tab pos="0" algn="l"/>
                        </a:tabLst>
                      </a:pPr>
                      <a:r>
                        <a:rPr lang="en-US" sz="1400" b="1" u="none" strike="noStrike" dirty="0">
                          <a:solidFill>
                            <a:srgbClr val="00A8CC"/>
                          </a:solidFill>
                          <a:effectLst/>
                          <a:uFillTx/>
                          <a:latin typeface="+mn-lt"/>
                          <a:ea typeface="Calibri"/>
                        </a:rPr>
                        <a:t>Transformer-Encoder Only—</a:t>
                      </a:r>
                      <a:r>
                        <a:rPr lang="en-US" sz="1400" b="1" u="none" strike="noStrike" dirty="0">
                          <a:solidFill>
                            <a:srgbClr val="000000"/>
                          </a:solidFill>
                          <a:effectLst/>
                          <a:uFillTx/>
                          <a:latin typeface="+mn-lt"/>
                          <a:ea typeface="Calibri"/>
                        </a:rPr>
                        <a:t> </a:t>
                      </a:r>
                      <a:r>
                        <a:rPr lang="en-US" sz="1400" b="1" u="none" strike="noStrike" dirty="0">
                          <a:solidFill>
                            <a:srgbClr val="00A8CC"/>
                          </a:solidFill>
                          <a:effectLst/>
                          <a:uFillTx/>
                          <a:latin typeface="+mn-lt"/>
                          <a:ea typeface="Calibri"/>
                        </a:rPr>
                        <a:t>V2</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0"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extLst>
                  <a:ext uri="{0D108BD9-81ED-4DB2-BD59-A6C34878D82A}">
                    <a16:rowId xmlns:a16="http://schemas.microsoft.com/office/drawing/2014/main" val="2346527065"/>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Transformer-Encoder (Diogo) – V1</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786650060"/>
                  </a:ext>
                </a:extLst>
              </a:tr>
              <a:tr h="352340">
                <a:tc>
                  <a:txBody>
                    <a:bodyPr/>
                    <a:lstStyle/>
                    <a:p>
                      <a:pPr defTabSz="914400">
                        <a:lnSpc>
                          <a:spcPct val="100000"/>
                        </a:lnSpc>
                        <a:tabLst>
                          <a:tab pos="0" algn="l"/>
                        </a:tabLst>
                      </a:pPr>
                      <a:r>
                        <a:rPr lang="en-US" sz="1400" b="1" u="none" strike="noStrike" dirty="0">
                          <a:solidFill>
                            <a:srgbClr val="00A8CC"/>
                          </a:solidFill>
                          <a:effectLst/>
                          <a:uFillTx/>
                          <a:latin typeface="+mn-lt"/>
                          <a:ea typeface="Calibri"/>
                        </a:rPr>
                        <a:t>Transformer-Encoder (Diogo) – V2</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A8CC"/>
                          </a:solidFill>
                          <a:effectLst/>
                          <a:uFillTx/>
                          <a:latin typeface="Calibri"/>
                          <a:ea typeface="Calibri"/>
                          <a:cs typeface="+mn-cs"/>
                        </a:rPr>
                        <a:t>0.1034</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A8CC"/>
                          </a:solidFill>
                          <a:effectLst/>
                          <a:uFillTx/>
                          <a:latin typeface="Calibri"/>
                          <a:ea typeface="Calibri"/>
                          <a:cs typeface="+mn-cs"/>
                        </a:rPr>
                        <a:t>0.1503</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A8CC"/>
                          </a:solidFill>
                          <a:effectLst/>
                          <a:uFillTx/>
                          <a:latin typeface="Calibri"/>
                          <a:ea typeface="Calibri"/>
                          <a:cs typeface="+mn-cs"/>
                        </a:rPr>
                        <a:t>0.0425</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A8CC"/>
                          </a:solidFill>
                          <a:effectLst/>
                          <a:uFillTx/>
                          <a:latin typeface="Calibri"/>
                          <a:ea typeface="Calibri"/>
                          <a:cs typeface="+mn-cs"/>
                        </a:rPr>
                        <a:t>+0.0211</a:t>
                      </a: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extLst>
                  <a:ext uri="{0D108BD9-81ED-4DB2-BD59-A6C34878D82A}">
                    <a16:rowId xmlns:a16="http://schemas.microsoft.com/office/drawing/2014/main" val="4243249360"/>
                  </a:ext>
                </a:extLst>
              </a:tr>
              <a:tr h="352340">
                <a:tc>
                  <a:txBody>
                    <a:bodyPr/>
                    <a:lstStyle/>
                    <a:p>
                      <a:pPr defTabSz="914400">
                        <a:lnSpc>
                          <a:spcPct val="100000"/>
                        </a:lnSpc>
                        <a:tabLst>
                          <a:tab pos="0" algn="l"/>
                        </a:tabLst>
                      </a:pPr>
                      <a:r>
                        <a:rPr lang="en-US" sz="1400" b="1" u="none" strike="noStrike" dirty="0">
                          <a:solidFill>
                            <a:srgbClr val="E8972A"/>
                          </a:solidFill>
                          <a:effectLst/>
                          <a:uFillTx/>
                          <a:latin typeface="Calibri"/>
                          <a:ea typeface="Calibri"/>
                        </a:rPr>
                        <a:t>Baseline: </a:t>
                      </a:r>
                      <a:r>
                        <a:rPr lang="en-US" sz="1400" b="1" u="none" strike="noStrike" dirty="0" err="1">
                          <a:solidFill>
                            <a:srgbClr val="E8972A"/>
                          </a:solidFill>
                          <a:effectLst/>
                          <a:uFillTx/>
                          <a:latin typeface="Calibri"/>
                          <a:ea typeface="Calibri"/>
                        </a:rPr>
                        <a:t>XGBoost</a:t>
                      </a:r>
                      <a:r>
                        <a:rPr lang="en-US" sz="1400" b="1" u="none" strike="noStrike" dirty="0">
                          <a:solidFill>
                            <a:srgbClr val="E8972A"/>
                          </a:solidFill>
                          <a:effectLst/>
                          <a:uFillTx/>
                          <a:latin typeface="Calibri"/>
                          <a:ea typeface="Calibri"/>
                        </a:rPr>
                        <a:t> walk-forward</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E8972A"/>
                          </a:solidFill>
                          <a:effectLst/>
                          <a:uFillTx/>
                          <a:latin typeface="Calibri"/>
                          <a:ea typeface="Calibri"/>
                        </a:rPr>
                        <a:t>0.0823</a:t>
                      </a: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0.1352</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0.1856</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E8972A"/>
                          </a:solidFill>
                          <a:effectLst/>
                          <a:uFillTx/>
                          <a:latin typeface="Calibri"/>
                          <a:ea typeface="Calibri"/>
                        </a:rPr>
                        <a:t>BEST ★</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extLst>
                  <a:ext uri="{0D108BD9-81ED-4DB2-BD59-A6C34878D82A}">
                    <a16:rowId xmlns:a16="http://schemas.microsoft.com/office/drawing/2014/main" val="10003"/>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Baseline: Trailing 20 Day Average</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0.0922</a:t>
                      </a:r>
                      <a:endParaRPr lang="en-US" sz="1400" b="1" u="none" strike="noStrike">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0.1491</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0.0088</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+0.0099</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4"/>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Trailing 5 Day Average</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0.1005</a:t>
                      </a:r>
                      <a:endParaRPr lang="en-US" sz="1400" b="1" u="none" strike="noStrike">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0.1625</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−0.1773</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+0.0182</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5"/>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Current Volatility</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0.1020</a:t>
                      </a: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0.1619</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−0.1680</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+0.0197</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6"/>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Trailing 20 Day OLS</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0.1298</a:t>
                      </a:r>
                      <a:endParaRPr lang="en-US" sz="1400" b="1" u="none" strike="noStrike">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0.2091</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−0.9498</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+0.0475</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7"/>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Trailing 5 Day OLS</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0.1644</a:t>
                      </a: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0.2478</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−1.7383</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+0.0821</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8"/>
                  </a:ext>
                </a:extLst>
              </a:tr>
            </a:tbl>
          </a:graphicData>
        </a:graphic>
      </p:graphicFrame>
      <p:sp>
        <p:nvSpPr>
          <p:cNvPr id="4" name="Text 3">
            <a:extLst>
              <a:ext uri="{FF2B5EF4-FFF2-40B4-BE49-F238E27FC236}">
                <a16:creationId xmlns:a16="http://schemas.microsoft.com/office/drawing/2014/main" id="{39D6D745-8213-0B28-5A97-8CC6A63C972D}"/>
              </a:ext>
            </a:extLst>
          </p:cNvPr>
          <p:cNvSpPr/>
          <p:nvPr/>
        </p:nvSpPr>
        <p:spPr>
          <a:xfrm>
            <a:off x="329184" y="6615684"/>
            <a:ext cx="6217920" cy="19006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AAACC"/>
                </a:solidFill>
                <a:effectLst/>
                <a:uLnTx/>
                <a:uFillTx/>
                <a:latin typeface="Calibri" panose="020F0502020204030204"/>
                <a:ea typeface="+mn-ea"/>
                <a:cs typeface="+mn-cs"/>
              </a:rPr>
              <a:t>DATASCI 207  ·  Final Project: Forecasting Volatility In Stock Market  ·  March 2026</a:t>
            </a:r>
            <a:endParaRPr kumimoji="0" lang="en-US" sz="125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3" name="Text 5">
            <a:extLst>
              <a:ext uri="{FF2B5EF4-FFF2-40B4-BE49-F238E27FC236}">
                <a16:creationId xmlns:a16="http://schemas.microsoft.com/office/drawing/2014/main" id="{E2ED3607-8945-2BF1-B826-398C4C1CCFA4}"/>
              </a:ext>
            </a:extLst>
          </p:cNvPr>
          <p:cNvSpPr/>
          <p:nvPr/>
        </p:nvSpPr>
        <p:spPr>
          <a:xfrm>
            <a:off x="1711234" y="668022"/>
            <a:ext cx="8611228" cy="505687"/>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600" b="1" i="0" u="none" strike="noStrike" kern="1200" cap="none" spc="0" normalizeH="0" baseline="0" noProof="0" dirty="0">
                <a:ln>
                  <a:noFill/>
                </a:ln>
                <a:solidFill>
                  <a:srgbClr val="000000"/>
                </a:solidFill>
                <a:effectLst/>
                <a:uLnTx/>
                <a:uFillTx/>
                <a:latin typeface="Calibri"/>
                <a:ea typeface="Calibri"/>
                <a:cs typeface="+mn-cs"/>
              </a:rPr>
              <a:t>All results use the same 8,820-row test set. Lower MAE and RMSE are better; higher R² is better.</a:t>
            </a:r>
            <a:endParaRPr kumimoji="0" lang="en-US" sz="1600" b="1"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19694272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a:extLst>
            <a:ext uri="{FF2B5EF4-FFF2-40B4-BE49-F238E27FC236}">
              <a16:creationId xmlns:a16="http://schemas.microsoft.com/office/drawing/2014/main" id="{2154A49D-C027-369F-B7E6-79283D59151B}"/>
            </a:ext>
          </a:extLst>
        </p:cNvPr>
        <p:cNvGrpSpPr/>
        <p:nvPr/>
      </p:nvGrpSpPr>
      <p:grpSpPr>
        <a:xfrm>
          <a:off x="0" y="0"/>
          <a:ext cx="0" cy="0"/>
          <a:chOff x="0" y="0"/>
          <a:chExt cx="0" cy="0"/>
        </a:xfrm>
      </p:grpSpPr>
      <p:sp>
        <p:nvSpPr>
          <p:cNvPr id="8" name="Shape 0">
            <a:extLst>
              <a:ext uri="{FF2B5EF4-FFF2-40B4-BE49-F238E27FC236}">
                <a16:creationId xmlns:a16="http://schemas.microsoft.com/office/drawing/2014/main" id="{82EF9DDC-8D19-E009-5283-20BAC7A6A2DE}"/>
              </a:ext>
            </a:extLst>
          </p:cNvPr>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0" name="Shape 2">
            <a:extLst>
              <a:ext uri="{FF2B5EF4-FFF2-40B4-BE49-F238E27FC236}">
                <a16:creationId xmlns:a16="http://schemas.microsoft.com/office/drawing/2014/main" id="{31E2C028-6C8B-318B-1CEE-D4430066B74C}"/>
              </a:ext>
            </a:extLst>
          </p:cNvPr>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pic>
        <p:nvPicPr>
          <p:cNvPr id="7" name="Picture 6">
            <a:extLst>
              <a:ext uri="{FF2B5EF4-FFF2-40B4-BE49-F238E27FC236}">
                <a16:creationId xmlns:a16="http://schemas.microsoft.com/office/drawing/2014/main" id="{0C141618-C374-B494-41EE-B0A8BC9DF1F8}"/>
              </a:ext>
            </a:extLst>
          </p:cNvPr>
          <p:cNvPicPr>
            <a:picLocks noChangeAspect="1"/>
          </p:cNvPicPr>
          <p:nvPr/>
        </p:nvPicPr>
        <p:blipFill>
          <a:blip r:embed="rId3"/>
          <a:stretch>
            <a:fillRect/>
          </a:stretch>
        </p:blipFill>
        <p:spPr>
          <a:xfrm>
            <a:off x="2676797" y="330200"/>
            <a:ext cx="6676209" cy="4450806"/>
          </a:xfrm>
          <a:prstGeom prst="rect">
            <a:avLst/>
          </a:prstGeom>
        </p:spPr>
      </p:pic>
      <p:sp>
        <p:nvSpPr>
          <p:cNvPr id="11" name="Shape 3">
            <a:extLst>
              <a:ext uri="{FF2B5EF4-FFF2-40B4-BE49-F238E27FC236}">
                <a16:creationId xmlns:a16="http://schemas.microsoft.com/office/drawing/2014/main" id="{1137C331-FA45-9782-2EB5-4A0163AC98AA}"/>
              </a:ext>
            </a:extLst>
          </p:cNvPr>
          <p:cNvSpPr/>
          <p:nvPr/>
        </p:nvSpPr>
        <p:spPr>
          <a:xfrm>
            <a:off x="145920" y="6559200"/>
            <a:ext cx="1204560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3" name="Text 3">
            <a:extLst>
              <a:ext uri="{FF2B5EF4-FFF2-40B4-BE49-F238E27FC236}">
                <a16:creationId xmlns:a16="http://schemas.microsoft.com/office/drawing/2014/main" id="{8F7065A9-0E13-67ED-52C0-2006B84512B7}"/>
              </a:ext>
            </a:extLst>
          </p:cNvPr>
          <p:cNvSpPr/>
          <p:nvPr/>
        </p:nvSpPr>
        <p:spPr>
          <a:xfrm>
            <a:off x="403606" y="6615684"/>
            <a:ext cx="6143498" cy="19006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AAACC"/>
                </a:solidFill>
                <a:effectLst/>
                <a:uLnTx/>
                <a:uFillTx/>
                <a:latin typeface="Calibri" panose="020F0502020204030204"/>
                <a:ea typeface="+mn-ea"/>
                <a:cs typeface="+mn-cs"/>
              </a:rPr>
              <a:t>DATASCI 207  ·  Final Project: Forecasting Volatility In Stock Market  ·  March 2026</a:t>
            </a:r>
            <a:endParaRPr kumimoji="0" lang="en-US" sz="125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6875092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FSPANMODE" val="span"/>
</p:tagLst>
</file>

<file path=ppt/tags/tag2.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2745</TotalTime>
  <Words>2971</Words>
  <Application>Microsoft Office PowerPoint</Application>
  <PresentationFormat>Widescreen</PresentationFormat>
  <Paragraphs>477</Paragraphs>
  <Slides>22</Slides>
  <Notes>20</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22</vt:i4>
      </vt:variant>
    </vt:vector>
  </HeadingPairs>
  <TitlesOfParts>
    <vt:vector size="31" baseType="lpstr">
      <vt:lpstr>Calibri </vt:lpstr>
      <vt:lpstr>Aptos</vt:lpstr>
      <vt:lpstr>Arial</vt:lpstr>
      <vt:lpstr>Calibri</vt:lpstr>
      <vt:lpstr>Symbol</vt:lpstr>
      <vt:lpstr>Times New Roman</vt:lpstr>
      <vt:lpstr>Wingdings</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Diogo Viveiros</cp:lastModifiedBy>
  <cp:revision>40</cp:revision>
  <dcterms:created xsi:type="dcterms:W3CDTF">2026-03-31T21:53:36Z</dcterms:created>
  <dcterms:modified xsi:type="dcterms:W3CDTF">2026-04-10T18:38:03Z</dcterms:modified>
</cp:coreProperties>
</file>