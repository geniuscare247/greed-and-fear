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tags/tag1.xml" ContentType="application/vnd.openxmlformats-officedocument.presentationml.tags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tags/tag2.xml" ContentType="application/vnd.openxmlformats-officedocument.presentationml.tags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docMetadata/LabelInfo.xml" ContentType="application/vnd.ms-office.classificationlabel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Relationship Id="rId4" Type="http://schemas.microsoft.com/office/2020/02/relationships/classificationlabels" Target="docMetadata/LabelInfo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  <p:sldMasterId id="2147483651" r:id="rId2"/>
  </p:sldMasterIdLst>
  <p:notesMasterIdLst>
    <p:notesMasterId r:id="rId25"/>
  </p:notesMasterIdLst>
  <p:sldIdLst>
    <p:sldId id="272" r:id="rId3"/>
    <p:sldId id="256" r:id="rId4"/>
    <p:sldId id="257" r:id="rId5"/>
    <p:sldId id="258" r:id="rId6"/>
    <p:sldId id="260" r:id="rId7"/>
    <p:sldId id="261" r:id="rId8"/>
    <p:sldId id="262" r:id="rId9"/>
    <p:sldId id="263" r:id="rId10"/>
    <p:sldId id="267" r:id="rId11"/>
    <p:sldId id="268" r:id="rId12"/>
    <p:sldId id="269" r:id="rId13"/>
    <p:sldId id="270" r:id="rId14"/>
    <p:sldId id="265" r:id="rId15"/>
    <p:sldId id="271" r:id="rId16"/>
    <p:sldId id="273" r:id="rId17"/>
    <p:sldId id="277" r:id="rId18"/>
    <p:sldId id="274" r:id="rId19"/>
    <p:sldId id="283" r:id="rId20"/>
    <p:sldId id="282" r:id="rId21"/>
    <p:sldId id="284" r:id="rId22"/>
    <p:sldId id="280" r:id="rId23"/>
    <p:sldId id="276" r:id="rId24"/>
  </p:sld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CF3CF"/>
    <a:srgbClr val="EBF5FB"/>
    <a:srgbClr val="F5F6F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6988" autoAdjust="0"/>
    <p:restoredTop sz="94610"/>
  </p:normalViewPr>
  <p:slideViewPr>
    <p:cSldViewPr snapToGrid="0" snapToObjects="1">
      <p:cViewPr varScale="1">
        <p:scale>
          <a:sx n="104" d="100"/>
          <a:sy n="104" d="100"/>
        </p:scale>
        <p:origin x="108" y="22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6.xml"/><Relationship Id="rId13" Type="http://schemas.openxmlformats.org/officeDocument/2006/relationships/slide" Target="slides/slide11.xml"/><Relationship Id="rId18" Type="http://schemas.openxmlformats.org/officeDocument/2006/relationships/slide" Target="slides/slide16.xml"/><Relationship Id="rId26" Type="http://schemas.openxmlformats.org/officeDocument/2006/relationships/presProps" Target="presProps.xml"/><Relationship Id="rId3" Type="http://schemas.openxmlformats.org/officeDocument/2006/relationships/slide" Target="slides/slide1.xml"/><Relationship Id="rId21" Type="http://schemas.openxmlformats.org/officeDocument/2006/relationships/slide" Target="slides/slide19.xml"/><Relationship Id="rId7" Type="http://schemas.openxmlformats.org/officeDocument/2006/relationships/slide" Target="slides/slide5.xml"/><Relationship Id="rId12" Type="http://schemas.openxmlformats.org/officeDocument/2006/relationships/slide" Target="slides/slide10.xml"/><Relationship Id="rId17" Type="http://schemas.openxmlformats.org/officeDocument/2006/relationships/slide" Target="slides/slide15.xml"/><Relationship Id="rId25" Type="http://schemas.openxmlformats.org/officeDocument/2006/relationships/notesMaster" Target="notesMasters/notesMaster1.xml"/><Relationship Id="rId2" Type="http://schemas.openxmlformats.org/officeDocument/2006/relationships/slideMaster" Target="slideMasters/slideMaster2.xml"/><Relationship Id="rId16" Type="http://schemas.openxmlformats.org/officeDocument/2006/relationships/slide" Target="slides/slide14.xml"/><Relationship Id="rId20" Type="http://schemas.openxmlformats.org/officeDocument/2006/relationships/slide" Target="slides/slide18.xml"/><Relationship Id="rId29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4.xml"/><Relationship Id="rId11" Type="http://schemas.openxmlformats.org/officeDocument/2006/relationships/slide" Target="slides/slide9.xml"/><Relationship Id="rId24" Type="http://schemas.openxmlformats.org/officeDocument/2006/relationships/slide" Target="slides/slide22.xml"/><Relationship Id="rId5" Type="http://schemas.openxmlformats.org/officeDocument/2006/relationships/slide" Target="slides/slide3.xml"/><Relationship Id="rId15" Type="http://schemas.openxmlformats.org/officeDocument/2006/relationships/slide" Target="slides/slide13.xml"/><Relationship Id="rId23" Type="http://schemas.openxmlformats.org/officeDocument/2006/relationships/slide" Target="slides/slide21.xml"/><Relationship Id="rId28" Type="http://schemas.openxmlformats.org/officeDocument/2006/relationships/theme" Target="theme/theme1.xml"/><Relationship Id="rId10" Type="http://schemas.openxmlformats.org/officeDocument/2006/relationships/slide" Target="slides/slide8.xml"/><Relationship Id="rId19" Type="http://schemas.openxmlformats.org/officeDocument/2006/relationships/slide" Target="slides/slide17.xml"/><Relationship Id="rId4" Type="http://schemas.openxmlformats.org/officeDocument/2006/relationships/slide" Target="slides/slide2.xml"/><Relationship Id="rId9" Type="http://schemas.openxmlformats.org/officeDocument/2006/relationships/slide" Target="slides/slide7.xml"/><Relationship Id="rId14" Type="http://schemas.openxmlformats.org/officeDocument/2006/relationships/slide" Target="slides/slide12.xml"/><Relationship Id="rId22" Type="http://schemas.openxmlformats.org/officeDocument/2006/relationships/slide" Target="slides/slide20.xml"/><Relationship Id="rId27" Type="http://schemas.openxmlformats.org/officeDocument/2006/relationships/viewProps" Target="view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828423383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DB30E27-3341-8D58-EFE0-6D22A3F8B4A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>
            <a:extLst>
              <a:ext uri="{FF2B5EF4-FFF2-40B4-BE49-F238E27FC236}">
                <a16:creationId xmlns:a16="http://schemas.microsoft.com/office/drawing/2014/main" id="{D83479BE-F067-05E5-3FF8-E66FBFADB4F9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PlaceHolder 2">
            <a:extLst>
              <a:ext uri="{FF2B5EF4-FFF2-40B4-BE49-F238E27FC236}">
                <a16:creationId xmlns:a16="http://schemas.microsoft.com/office/drawing/2014/main" id="{AE9E29B2-8658-1A52-7E1D-9AC38CB66F3D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>
            <a:extLst>
              <a:ext uri="{FF2B5EF4-FFF2-40B4-BE49-F238E27FC236}">
                <a16:creationId xmlns:a16="http://schemas.microsoft.com/office/drawing/2014/main" id="{039CF368-DD7A-E67E-A06B-7563E9AD49E6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8E9D2C-E2AA-4A61-811E-44DD82E65BD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24791867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description summarized from the team project proposal and milestone report.
[Sources]
- Project Proposal PDF (uploaded in this chat)
- Project Milestone Report PDF (uploaded in this chat)
[/Sources]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F662D1D-100A-9BF4-C08D-8DE1D559B2C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>
            <a:extLst>
              <a:ext uri="{FF2B5EF4-FFF2-40B4-BE49-F238E27FC236}">
                <a16:creationId xmlns:a16="http://schemas.microsoft.com/office/drawing/2014/main" id="{09D3E7F2-6B5C-B694-D2CE-1FD0E11B3C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>
            <a:extLst>
              <a:ext uri="{FF2B5EF4-FFF2-40B4-BE49-F238E27FC236}">
                <a16:creationId xmlns:a16="http://schemas.microsoft.com/office/drawing/2014/main" id="{6DBA7ED3-720E-44B9-946C-EB13DEABD327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Project description summarized from the team project proposal and milestone report.
[Sources]
- Project Proposal PDF (uploaded in this chat)
- Project Milestone Report PDF (uploaded in this chat)
[/Sources]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14C2FB2B-BDB5-C4C6-EB3D-C26667012402}"/>
              </a:ext>
            </a:extLst>
          </p:cNvPr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0336734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Uploaded PDF: volatility_dataset_description_UPDATED_013026.pdf (dataset size, schema, key, target, macro storage, join strategy)
- Uploaded PPTX: project slide deck used as style reference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
[Sources]
- Uploaded PDF: DATASCI 207 — ETF Volatility Dataset: Time-Series EDA (EDA_ETF_Volatility_TimeSeries_vb_done_021126_VB_021026) — used for the checklist text and plot thumbnails.
- Uploaded PPTX: project slide deck (style reference for header/footer and typography).
[/Sources]
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/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8E9D2C-E2AA-4A61-811E-44DD82E65BD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0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1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2" name="PlaceHolder 3"/>
          <p:cNvSpPr>
            <a:spLocks noGrp="1"/>
          </p:cNvSpPr>
          <p:nvPr>
            <p:ph type="sldNum" idx="6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92AB39F7-BA42-41FD-BC49-F42D7046AA93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6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17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 dirty="0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18" name="PlaceHolder 3"/>
          <p:cNvSpPr>
            <a:spLocks noGrp="1"/>
          </p:cNvSpPr>
          <p:nvPr>
            <p:ph type="sldNum" idx="8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C8801C66-0D28-445B-8BDC-B7CD68A3718D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3"/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F1260DA-6912-4A9B-8AD9-FC04EB69A99D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Coefficient interpretation for V1 and V2 (Elastic Net).
[Sources]
- elastic_net_vol_v1v2_vb_done_032726.ipynb (user-provided notebook)
- elastic_net_vol_slides_wip_032726.pptx (user-provided deck)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7021451-1387-4CA6-816F-3879F97B5CBC}" type="slidenum">
              <a:rPr kumimoji="0" lang="en-US" sz="1800" b="0" i="0" u="none" strike="noStrike" kern="1200" cap="none" spc="0" normalizeH="0" baseline="0" noProof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Aptos" panose="02110004020202020204"/>
                <a:ea typeface="+mn-ea"/>
                <a:cs typeface="+mn-cs"/>
              </a:rPr>
              <a:pPr marL="0" marR="0" lvl="0" indent="0" algn="l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12</a:t>
            </a:fld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ptos" panose="0211000402020202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2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3" name="PlaceHolder 3"/>
          <p:cNvSpPr>
            <a:spLocks noGrp="1"/>
          </p:cNvSpPr>
          <p:nvPr>
            <p:ph type="sldNum" idx="13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F8718ACF-244A-47D4-894C-0AD4F4E01906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13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/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8" name="PlaceHolder 2"/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3"/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404CCE6-61FE-46B3-8996-5BF314FE3D0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14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EFDD616-2E0A-5CA5-FAD2-3E7652DDAC99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>
            <a:extLst>
              <a:ext uri="{FF2B5EF4-FFF2-40B4-BE49-F238E27FC236}">
                <a16:creationId xmlns:a16="http://schemas.microsoft.com/office/drawing/2014/main" id="{CD61C938-BD10-5839-4160-D3350AC5B8E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PlaceHolder 2">
            <a:extLst>
              <a:ext uri="{FF2B5EF4-FFF2-40B4-BE49-F238E27FC236}">
                <a16:creationId xmlns:a16="http://schemas.microsoft.com/office/drawing/2014/main" id="{0F16ED71-5446-4139-8B84-900E3C7BBB34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>
            <a:extLst>
              <a:ext uri="{FF2B5EF4-FFF2-40B4-BE49-F238E27FC236}">
                <a16:creationId xmlns:a16="http://schemas.microsoft.com/office/drawing/2014/main" id="{2D7F721B-2ECE-2160-B713-1B41E9F317F8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8E9D2C-E2AA-4A61-811E-44DD82E65BD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15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617314622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678ADB9-F51F-B0A8-727E-4FF2BB505F4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>
            <a:extLst>
              <a:ext uri="{FF2B5EF4-FFF2-40B4-BE49-F238E27FC236}">
                <a16:creationId xmlns:a16="http://schemas.microsoft.com/office/drawing/2014/main" id="{FD1FB4C6-C5B2-D7A9-AD09-8F108BDFFCFC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8" name="PlaceHolder 2">
            <a:extLst>
              <a:ext uri="{FF2B5EF4-FFF2-40B4-BE49-F238E27FC236}">
                <a16:creationId xmlns:a16="http://schemas.microsoft.com/office/drawing/2014/main" id="{5499D948-5A7E-4EF2-0158-23D3696D098E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3">
            <a:extLst>
              <a:ext uri="{FF2B5EF4-FFF2-40B4-BE49-F238E27FC236}">
                <a16:creationId xmlns:a16="http://schemas.microsoft.com/office/drawing/2014/main" id="{B40E8E55-9EFA-414B-171A-68C8A4B68183}"/>
              </a:ext>
            </a:extLst>
          </p:cNvPr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404CCE6-61FE-46B3-8996-5BF314FE3D0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16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72168113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C44E657A-B680-1396-322F-FC663BB7F61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>
            <a:extLst>
              <a:ext uri="{FF2B5EF4-FFF2-40B4-BE49-F238E27FC236}">
                <a16:creationId xmlns:a16="http://schemas.microsoft.com/office/drawing/2014/main" id="{9C4F7010-23FA-B7E2-5114-6D3F40BF455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PlaceHolder 2">
            <a:extLst>
              <a:ext uri="{FF2B5EF4-FFF2-40B4-BE49-F238E27FC236}">
                <a16:creationId xmlns:a16="http://schemas.microsoft.com/office/drawing/2014/main" id="{916653ED-2156-E169-CDB0-D49DCA6FA645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>
            <a:extLst>
              <a:ext uri="{FF2B5EF4-FFF2-40B4-BE49-F238E27FC236}">
                <a16:creationId xmlns:a16="http://schemas.microsoft.com/office/drawing/2014/main" id="{22C9D295-0937-AB72-94AD-92DD6918EE3C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8E9D2C-E2AA-4A61-811E-44DD82E65BD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17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646322583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00E7940-1922-2022-691F-C2482E770F8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>
            <a:extLst>
              <a:ext uri="{FF2B5EF4-FFF2-40B4-BE49-F238E27FC236}">
                <a16:creationId xmlns:a16="http://schemas.microsoft.com/office/drawing/2014/main" id="{3C912DF0-6A47-97B8-532A-E80CDDC262B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8" name="PlaceHolder 2">
            <a:extLst>
              <a:ext uri="{FF2B5EF4-FFF2-40B4-BE49-F238E27FC236}">
                <a16:creationId xmlns:a16="http://schemas.microsoft.com/office/drawing/2014/main" id="{637E75FC-61CD-E396-1446-2472E032112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3">
            <a:extLst>
              <a:ext uri="{FF2B5EF4-FFF2-40B4-BE49-F238E27FC236}">
                <a16:creationId xmlns:a16="http://schemas.microsoft.com/office/drawing/2014/main" id="{1E3C99BE-1602-D94A-CB04-B6E218AB3FBB}"/>
              </a:ext>
            </a:extLst>
          </p:cNvPr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404CCE6-61FE-46B3-8996-5BF314FE3D0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18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248603817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864F8E7-4A5A-B293-E545-D97C3D1523D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>
            <a:extLst>
              <a:ext uri="{FF2B5EF4-FFF2-40B4-BE49-F238E27FC236}">
                <a16:creationId xmlns:a16="http://schemas.microsoft.com/office/drawing/2014/main" id="{CC4C3637-C2C5-7BDE-9041-E2252E695EB4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8" name="PlaceHolder 2">
            <a:extLst>
              <a:ext uri="{FF2B5EF4-FFF2-40B4-BE49-F238E27FC236}">
                <a16:creationId xmlns:a16="http://schemas.microsoft.com/office/drawing/2014/main" id="{29E6DDEF-4BB3-258C-0600-79695349BB62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3">
            <a:extLst>
              <a:ext uri="{FF2B5EF4-FFF2-40B4-BE49-F238E27FC236}">
                <a16:creationId xmlns:a16="http://schemas.microsoft.com/office/drawing/2014/main" id="{8AD9C1E5-475D-9E13-1D3B-7EF48FFC6291}"/>
              </a:ext>
            </a:extLst>
          </p:cNvPr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404CCE6-61FE-46B3-8996-5BF314FE3D0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19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96451815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8410005-D7CE-ED44-828C-F90E1659236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PlaceHolder 1">
            <a:extLst>
              <a:ext uri="{FF2B5EF4-FFF2-40B4-BE49-F238E27FC236}">
                <a16:creationId xmlns:a16="http://schemas.microsoft.com/office/drawing/2014/main" id="{AD8E4CAC-7254-6EF8-6629-73463AFCA146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38" name="PlaceHolder 2">
            <a:extLst>
              <a:ext uri="{FF2B5EF4-FFF2-40B4-BE49-F238E27FC236}">
                <a16:creationId xmlns:a16="http://schemas.microsoft.com/office/drawing/2014/main" id="{253D9250-CADC-285B-6DD5-BC21F330C7C6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39" name="PlaceHolder 3">
            <a:extLst>
              <a:ext uri="{FF2B5EF4-FFF2-40B4-BE49-F238E27FC236}">
                <a16:creationId xmlns:a16="http://schemas.microsoft.com/office/drawing/2014/main" id="{C5DE9853-38BC-9BB8-CDEC-C8EC91AFAC6C}"/>
              </a:ext>
            </a:extLst>
          </p:cNvPr>
          <p:cNvSpPr>
            <a:spLocks noGrp="1"/>
          </p:cNvSpPr>
          <p:nvPr>
            <p:ph type="sldNum" idx="15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8404CCE6-61FE-46B3-8996-5BF314FE3D04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20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82595730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150FA0-3662-CBE5-E69D-0F20CB7A8CC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9" name="PlaceHolder 1">
            <a:extLst>
              <a:ext uri="{FF2B5EF4-FFF2-40B4-BE49-F238E27FC236}">
                <a16:creationId xmlns:a16="http://schemas.microsoft.com/office/drawing/2014/main" id="{CBB2859C-963A-B26C-1362-9F2A50F1F5CE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20" name="PlaceHolder 2">
            <a:extLst>
              <a:ext uri="{FF2B5EF4-FFF2-40B4-BE49-F238E27FC236}">
                <a16:creationId xmlns:a16="http://schemas.microsoft.com/office/drawing/2014/main" id="{3E9184C3-936B-89D6-E609-5ADF5AE6128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21" name="PlaceHolder 3">
            <a:extLst>
              <a:ext uri="{FF2B5EF4-FFF2-40B4-BE49-F238E27FC236}">
                <a16:creationId xmlns:a16="http://schemas.microsoft.com/office/drawing/2014/main" id="{3FEC6C48-3DBE-93DE-D14A-767F3DB1B934}"/>
              </a:ext>
            </a:extLst>
          </p:cNvPr>
          <p:cNvSpPr>
            <a:spLocks noGrp="1"/>
          </p:cNvSpPr>
          <p:nvPr>
            <p:ph type="sldNum" idx="9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EF1260DA-6912-4A9B-8AD9-FC04EB69A99D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21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408878664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C42810B-6E70-C868-17A4-62348C2C3A5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4" name="PlaceHolder 1">
            <a:extLst>
              <a:ext uri="{FF2B5EF4-FFF2-40B4-BE49-F238E27FC236}">
                <a16:creationId xmlns:a16="http://schemas.microsoft.com/office/drawing/2014/main" id="{EF047777-8674-B6A7-162D-B935BA422C8F}"/>
              </a:ext>
            </a:extLst>
          </p:cNvPr>
          <p:cNvSpPr>
            <a:spLocks noGrp="1" noRot="1" noChangeAspect="1"/>
          </p:cNvSpPr>
          <p:nvPr>
            <p:ph type="sldImg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ln w="0">
            <a:noFill/>
          </a:ln>
        </p:spPr>
        <p:txBody>
          <a:bodyPr/>
          <a:lstStyle/>
          <a:p>
            <a:endParaRPr lang="en-US"/>
          </a:p>
        </p:txBody>
      </p:sp>
      <p:sp>
        <p:nvSpPr>
          <p:cNvPr id="205" name="PlaceHolder 2">
            <a:extLst>
              <a:ext uri="{FF2B5EF4-FFF2-40B4-BE49-F238E27FC236}">
                <a16:creationId xmlns:a16="http://schemas.microsoft.com/office/drawing/2014/main" id="{D8D668EC-FB43-A0F4-6543-EDBA074E35EF}"/>
              </a:ext>
            </a:extLst>
          </p:cNvPr>
          <p:cNvSpPr>
            <a:spLocks noGrp="1"/>
          </p:cNvSpPr>
          <p:nvPr>
            <p:ph type="body"/>
          </p:nvPr>
        </p:nvSpPr>
        <p:spPr>
          <a:xfrm>
            <a:off x="685800" y="4400640"/>
            <a:ext cx="5486040" cy="360000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t">
            <a:noAutofit/>
          </a:bodyPr>
          <a:lstStyle/>
          <a:p>
            <a:pPr indent="0">
              <a:buNone/>
            </a:pPr>
            <a:endParaRPr lang="en-US" sz="1800" b="0" u="none" strike="noStrike">
              <a:solidFill>
                <a:srgbClr val="000000"/>
              </a:solidFill>
              <a:effectLst/>
              <a:uFillTx/>
              <a:latin typeface="Arial"/>
            </a:endParaRPr>
          </a:p>
        </p:txBody>
      </p:sp>
      <p:sp>
        <p:nvSpPr>
          <p:cNvPr id="206" name="PlaceHolder 3">
            <a:extLst>
              <a:ext uri="{FF2B5EF4-FFF2-40B4-BE49-F238E27FC236}">
                <a16:creationId xmlns:a16="http://schemas.microsoft.com/office/drawing/2014/main" id="{87487499-DD1B-46AD-D013-BB05AC06009E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3884760" y="8685360"/>
            <a:ext cx="2971440" cy="458280"/>
          </a:xfrm>
          <a:prstGeom prst="rect">
            <a:avLst/>
          </a:prstGeom>
          <a:noFill/>
          <a:ln w="0">
            <a:noFill/>
          </a:ln>
        </p:spPr>
        <p:txBody>
          <a:bodyPr lIns="91440" tIns="45720" rIns="91440" bIns="45720" anchor="b">
            <a:noAutofit/>
          </a:bodyPr>
          <a:lstStyle>
            <a:lvl1pPr indent="0" algn="r" defTabSz="914400">
              <a:lnSpc>
                <a:spcPct val="100000"/>
              </a:lnSpc>
              <a:buNone/>
              <a:defRPr lang="en-US" sz="1200" b="0" u="none" strike="noStrike">
                <a:solidFill>
                  <a:schemeClr val="dk1"/>
                </a:solidFill>
                <a:effectLst/>
                <a:uFillTx/>
                <a:latin typeface="+mn-lt"/>
                <a:ea typeface="+mn-ea"/>
              </a:defRPr>
            </a:lvl1pPr>
          </a:lstStyle>
          <a:p>
            <a:pPr marL="0" marR="0" lvl="0" indent="0" algn="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fld id="{B38E9D2C-E2AA-4A61-811E-44DD82E65BDC}" type="slidenum">
              <a:rPr kumimoji="0" lang="en-US" sz="1200" b="0" i="0" u="none" strike="noStrike" kern="1200" cap="none" spc="0" normalizeH="0" baseline="0" noProof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pPr marL="0" marR="0" lvl="0" indent="0" algn="r" defTabSz="914400" rtl="0" eaLnBrk="1" fontAlgn="auto" latinLnBrk="0" hangingPunct="1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Tx/>
                <a:buSzTx/>
                <a:buFontTx/>
                <a:buNone/>
                <a:tabLst/>
                <a:defRPr/>
              </a:pPr>
              <a:t>22</a:t>
            </a:fld>
            <a:endParaRPr kumimoji="0" lang="en-US" sz="12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Times New Roman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40996771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2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4/9/2026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48178034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DEFAU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296076438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theme" Target="../theme/theme2.xml"/><Relationship Id="rId1" Type="http://schemas.openxmlformats.org/officeDocument/2006/relationships/slideLayout" Target="../slideLayouts/slideLayout3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PlaceHolder 1"/>
          <p:cNvSpPr>
            <a:spLocks noGrp="1"/>
          </p:cNvSpPr>
          <p:nvPr>
            <p:ph type="title"/>
          </p:nvPr>
        </p:nvSpPr>
        <p:spPr>
          <a:xfrm>
            <a:off x="609600" y="273600"/>
            <a:ext cx="10972320" cy="114480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ctr">
            <a:noAutofit/>
          </a:bodyPr>
          <a:lstStyle/>
          <a:p>
            <a:pPr indent="0">
              <a:buNone/>
            </a:pPr>
            <a:r>
              <a:rPr lang="en-US" sz="24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title text format</a:t>
            </a:r>
          </a:p>
        </p:txBody>
      </p:sp>
      <p:sp>
        <p:nvSpPr>
          <p:cNvPr id="3" name="PlaceHolder 2"/>
          <p:cNvSpPr>
            <a:spLocks noGrp="1"/>
          </p:cNvSpPr>
          <p:nvPr>
            <p:ph type="body"/>
          </p:nvPr>
        </p:nvSpPr>
        <p:spPr>
          <a:xfrm>
            <a:off x="609600" y="1604640"/>
            <a:ext cx="10972320" cy="3977280"/>
          </a:xfrm>
          <a:prstGeom prst="rect">
            <a:avLst/>
          </a:prstGeom>
          <a:noFill/>
          <a:ln w="0">
            <a:noFill/>
          </a:ln>
        </p:spPr>
        <p:txBody>
          <a:bodyPr lIns="0" tIns="0" rIns="0" bIns="0" anchor="t">
            <a:normAutofit/>
          </a:bodyPr>
          <a:lstStyle/>
          <a:p>
            <a:pPr marL="432000" indent="-324000">
              <a:spcBef>
                <a:spcPts val="141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4267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Click to edit the outline text format</a:t>
            </a:r>
          </a:p>
          <a:p>
            <a:pPr marL="1151971" lvl="1" indent="-431989">
              <a:spcBef>
                <a:spcPts val="1512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3200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Second Outline Level</a:t>
            </a:r>
          </a:p>
          <a:p>
            <a:pPr marL="1727957" lvl="2" indent="-383990">
              <a:spcBef>
                <a:spcPts val="1133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67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Third Outline Level</a:t>
            </a:r>
          </a:p>
          <a:p>
            <a:pPr marL="2303942" lvl="3" indent="-287993">
              <a:spcBef>
                <a:spcPts val="756"/>
              </a:spcBef>
              <a:buClr>
                <a:srgbClr val="000000"/>
              </a:buClr>
              <a:buSzPct val="75000"/>
              <a:buFont typeface="Symbol" charset="2"/>
              <a:buChar char=""/>
            </a:pPr>
            <a:r>
              <a:rPr lang="en-US" sz="2667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Fourth Outline Level</a:t>
            </a:r>
          </a:p>
          <a:p>
            <a:pPr marL="2879928" lvl="4" indent="-287993">
              <a:spcBef>
                <a:spcPts val="37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67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Fifth Outline Level</a:t>
            </a:r>
          </a:p>
          <a:p>
            <a:pPr marL="3455914" lvl="5" indent="-287993">
              <a:spcBef>
                <a:spcPts val="37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67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Sixth Outline Level</a:t>
            </a:r>
          </a:p>
          <a:p>
            <a:pPr marL="4031899" lvl="6" indent="-287993">
              <a:spcBef>
                <a:spcPts val="377"/>
              </a:spcBef>
              <a:buClr>
                <a:srgbClr val="000000"/>
              </a:buClr>
              <a:buSzPct val="45000"/>
              <a:buFont typeface="Wingdings" charset="2"/>
              <a:buChar char=""/>
            </a:pPr>
            <a:r>
              <a:rPr lang="en-US" sz="2667" b="0" u="none" strike="noStrike">
                <a:solidFill>
                  <a:schemeClr val="dk1"/>
                </a:solidFill>
                <a:effectLst/>
                <a:uFillTx/>
                <a:latin typeface="Calibri"/>
              </a:rPr>
              <a:t>Seventh Outline Level</a:t>
            </a:r>
          </a:p>
        </p:txBody>
      </p:sp>
    </p:spTree>
    <p:extLst>
      <p:ext uri="{BB962C8B-B14F-4D97-AF65-F5344CB8AC3E}">
        <p14:creationId xmlns:p14="http://schemas.microsoft.com/office/powerpoint/2010/main" val="335847543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52" r:id="rId1"/>
  </p:sldLayoutIdLst>
  <p:txStyles>
    <p:titleStyle>
      <a:lvl1pPr indent="0" algn="l" defTabSz="1219170" rtl="0" eaLnBrk="1" latinLnBrk="0" hangingPunct="1">
        <a:lnSpc>
          <a:spcPct val="90000"/>
        </a:lnSpc>
        <a:spcBef>
          <a:spcPct val="0"/>
        </a:spcBef>
        <a:buNone/>
        <a:defRPr sz="5867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575986" indent="-431989" algn="l" defTabSz="1219170" rtl="0" eaLnBrk="1" latinLnBrk="0" hangingPunct="1">
        <a:lnSpc>
          <a:spcPct val="90000"/>
        </a:lnSpc>
        <a:spcBef>
          <a:spcPts val="1889"/>
        </a:spcBef>
        <a:buClr>
          <a:srgbClr val="000000"/>
        </a:buClr>
        <a:buSzPct val="45000"/>
        <a:buFont typeface="Wingdings" charset="2"/>
        <a:buChar char=""/>
        <a:defRPr sz="3733" kern="1200">
          <a:solidFill>
            <a:schemeClr val="tx1"/>
          </a:solidFill>
          <a:latin typeface="+mn-lt"/>
          <a:ea typeface="+mn-ea"/>
          <a:cs typeface="+mn-cs"/>
        </a:defRPr>
      </a:lvl1pPr>
      <a:lvl2pPr marL="91437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2pPr>
      <a:lvl3pPr marL="1523962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667" kern="1200">
          <a:solidFill>
            <a:schemeClr val="tx1"/>
          </a:solidFill>
          <a:latin typeface="+mn-lt"/>
          <a:ea typeface="+mn-ea"/>
          <a:cs typeface="+mn-cs"/>
        </a:defRPr>
      </a:lvl3pPr>
      <a:lvl4pPr marL="2133547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74313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35271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962301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571886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5181470" indent="-304792" algn="l" defTabSz="1219170" rtl="0" eaLnBrk="1" latinLnBrk="0" hangingPunct="1">
        <a:lnSpc>
          <a:spcPct val="90000"/>
        </a:lnSpc>
        <a:spcBef>
          <a:spcPts val="667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1pPr>
      <a:lvl2pPr marL="609585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219170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82875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4pPr>
      <a:lvl5pPr marL="243833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5pPr>
      <a:lvl6pPr marL="3047924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6pPr>
      <a:lvl7pPr marL="3657509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7pPr>
      <a:lvl8pPr marL="4267093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8pPr>
      <a:lvl9pPr marL="4876678" algn="l" defTabSz="1219170" rtl="0" eaLnBrk="1" latinLnBrk="0" hangingPunct="1">
        <a:defRPr sz="24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3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11" Type="http://schemas.openxmlformats.org/officeDocument/2006/relationships/image" Target="../media/image10.png"/><Relationship Id="rId5" Type="http://schemas.openxmlformats.org/officeDocument/2006/relationships/image" Target="../media/image4.png"/><Relationship Id="rId10" Type="http://schemas.openxmlformats.org/officeDocument/2006/relationships/image" Target="../media/image9.png"/><Relationship Id="rId4" Type="http://schemas.openxmlformats.org/officeDocument/2006/relationships/image" Target="../media/image3.png"/><Relationship Id="rId9" Type="http://schemas.openxmlformats.org/officeDocument/2006/relationships/image" Target="../media/image8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pn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3.xml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3.xml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8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1.xml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3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3.xml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3.xml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3.xml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3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3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3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3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notesSlide" Target="../notesSlides/notesSlide19.xml"/><Relationship Id="rId2" Type="http://schemas.openxmlformats.org/officeDocument/2006/relationships/slideLayout" Target="../slideLayouts/slideLayout3.xml"/><Relationship Id="rId1" Type="http://schemas.openxmlformats.org/officeDocument/2006/relationships/tags" Target="../tags/tag2.xml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4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3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4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7FBE54B-D2FB-7E9D-E8D9-9F7D24EDEA6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48DD7D0F-F9F5-5344-D1D7-41257D31C514}"/>
              </a:ext>
            </a:extLst>
          </p:cNvPr>
          <p:cNvSpPr/>
          <p:nvPr/>
        </p:nvSpPr>
        <p:spPr>
          <a:xfrm>
            <a:off x="0" y="0"/>
            <a:ext cx="145920" cy="6857760"/>
          </a:xfrm>
          <a:prstGeom prst="rect">
            <a:avLst/>
          </a:prstGeom>
          <a:solidFill>
            <a:srgbClr val="00A8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B4BBEA62-81F5-2C55-7E9D-74F3B2A5E25A}"/>
              </a:ext>
            </a:extLst>
          </p:cNvPr>
          <p:cNvSpPr/>
          <p:nvPr/>
        </p:nvSpPr>
        <p:spPr>
          <a:xfrm>
            <a:off x="426720" y="975360"/>
            <a:ext cx="11338080" cy="24379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6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Forecasting Volatility</a:t>
            </a:r>
            <a:endParaRPr kumimoji="0" lang="en-US" sz="6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6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In Stock Market</a:t>
            </a:r>
            <a:endParaRPr kumimoji="0" lang="en-US" sz="6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D0982A92-3E69-B2C5-C535-BF1C574922BD}"/>
              </a:ext>
            </a:extLst>
          </p:cNvPr>
          <p:cNvSpPr/>
          <p:nvPr/>
        </p:nvSpPr>
        <p:spPr>
          <a:xfrm>
            <a:off x="426720" y="3596640"/>
            <a:ext cx="11460000" cy="48480"/>
          </a:xfrm>
          <a:prstGeom prst="rect">
            <a:avLst/>
          </a:prstGeom>
          <a:solidFill>
            <a:srgbClr val="00A8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-11040" rIns="120000" bIns="-1104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4F090630-7208-BEDC-AE80-E37EC36F6053}"/>
              </a:ext>
            </a:extLst>
          </p:cNvPr>
          <p:cNvSpPr/>
          <p:nvPr/>
        </p:nvSpPr>
        <p:spPr>
          <a:xfrm>
            <a:off x="426720" y="3892303"/>
            <a:ext cx="11338080" cy="129423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pt-BR" sz="1733" b="0" i="0" u="none" strike="noStrike" kern="1200" cap="none" spc="0" normalizeH="0" baseline="0" noProof="0" dirty="0">
                <a:ln>
                  <a:noFill/>
                </a:ln>
                <a:solidFill>
                  <a:srgbClr val="AAAACC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Sid Sridhar – siddharthen_sridhar@berkeley.edu </a:t>
            </a:r>
          </a:p>
          <a:p>
            <a:pPr lvl="0" defTabSz="1219170">
              <a:tabLst>
                <a:tab pos="0" algn="l"/>
              </a:tabLst>
              <a:defRPr/>
            </a:pPr>
            <a:r>
              <a:rPr kumimoji="0" lang="pt-BR" sz="1733" b="0" i="0" u="none" strike="noStrike" kern="1200" cap="none" spc="0" normalizeH="0" baseline="0" noProof="0" dirty="0">
                <a:ln>
                  <a:noFill/>
                </a:ln>
                <a:solidFill>
                  <a:srgbClr val="AAAACC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Diogo Viveiros </a:t>
            </a:r>
            <a:r>
              <a:rPr lang="pt-BR" sz="1733" dirty="0">
                <a:solidFill>
                  <a:srgbClr val="AAAACC"/>
                </a:solidFill>
                <a:ea typeface="Calibri"/>
              </a:rPr>
              <a:t>–</a:t>
            </a:r>
            <a:r>
              <a:rPr kumimoji="0" lang="pt-BR" sz="1733" b="0" i="0" u="none" strike="noStrike" kern="1200" cap="none" spc="0" normalizeH="0" baseline="0" noProof="0" dirty="0">
                <a:ln>
                  <a:noFill/>
                </a:ln>
                <a:solidFill>
                  <a:srgbClr val="AAAACC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 diogoviveiros@berkeley.edu 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pt-BR" sz="1733" b="0" i="0" u="none" strike="noStrike" kern="1200" cap="none" spc="0" normalizeH="0" baseline="0" noProof="0" dirty="0">
                <a:ln>
                  <a:noFill/>
                </a:ln>
                <a:solidFill>
                  <a:srgbClr val="AAAACC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Ronald Ho – ronald.ho@berkeley.edu </a:t>
            </a:r>
          </a:p>
          <a:p>
            <a:pPr lvl="0" defTabSz="1219170">
              <a:tabLst>
                <a:tab pos="0" algn="l"/>
              </a:tabLst>
              <a:defRPr/>
            </a:pPr>
            <a:r>
              <a:rPr kumimoji="0" lang="pt-BR" sz="1733" b="0" i="0" u="none" strike="noStrike" kern="1200" cap="none" spc="0" normalizeH="0" baseline="0" noProof="0" dirty="0">
                <a:ln>
                  <a:noFill/>
                </a:ln>
                <a:solidFill>
                  <a:srgbClr val="AAAACC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Vinit S. Bhatt </a:t>
            </a:r>
            <a:r>
              <a:rPr lang="pt-BR" sz="1733" dirty="0">
                <a:solidFill>
                  <a:srgbClr val="AAAACC"/>
                </a:solidFill>
                <a:ea typeface="Calibri"/>
              </a:rPr>
              <a:t>–</a:t>
            </a:r>
            <a:r>
              <a:rPr kumimoji="0" lang="pt-BR" sz="1733" b="0" i="0" u="none" strike="noStrike" kern="1200" cap="none" spc="0" normalizeH="0" baseline="0" noProof="0" dirty="0">
                <a:ln>
                  <a:noFill/>
                </a:ln>
                <a:solidFill>
                  <a:srgbClr val="AAAACC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 vbhatt@berkeley.edu </a:t>
            </a:r>
          </a:p>
        </p:txBody>
      </p:sp>
      <p:sp>
        <p:nvSpPr>
          <p:cNvPr id="2" name="Text 4">
            <a:extLst>
              <a:ext uri="{FF2B5EF4-FFF2-40B4-BE49-F238E27FC236}">
                <a16:creationId xmlns:a16="http://schemas.microsoft.com/office/drawing/2014/main" id="{0860C2B8-2065-2F74-37FA-0EE61988D638}"/>
              </a:ext>
            </a:extLst>
          </p:cNvPr>
          <p:cNvSpPr/>
          <p:nvPr/>
        </p:nvSpPr>
        <p:spPr>
          <a:xfrm>
            <a:off x="487680" y="2983166"/>
            <a:ext cx="11338080" cy="36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defTabSz="1219170">
              <a:tabLst>
                <a:tab pos="0" algn="l"/>
              </a:tabLst>
            </a:pPr>
            <a:r>
              <a:rPr lang="en-US" sz="1733" dirty="0">
                <a:solidFill>
                  <a:srgbClr val="AAAACC"/>
                </a:solidFill>
                <a:ea typeface="Calibri"/>
              </a:rPr>
              <a:t>DATASCI 207 Final Project, </a:t>
            </a:r>
            <a:r>
              <a:rPr kumimoji="0" lang="en-US" sz="1733" b="0" i="0" u="none" strike="noStrike" kern="1200" cap="none" spc="0" normalizeH="0" baseline="0" noProof="0" dirty="0">
                <a:ln>
                  <a:noFill/>
                </a:ln>
                <a:solidFill>
                  <a:srgbClr val="AAAACC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March 27, 2026</a:t>
            </a:r>
            <a:endParaRPr kumimoji="0" lang="en-US" sz="1733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902177071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33679"/>
          </a:xfrm>
          <a:prstGeom prst="rect">
            <a:avLst/>
          </a:prstGeom>
          <a:solidFill>
            <a:srgbClr val="0D2340"/>
          </a:solidFill>
          <a:ln w="12700">
            <a:solidFill>
              <a:srgbClr val="0D23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341071" y="49378"/>
            <a:ext cx="11581790" cy="56052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Project: Forecasting Volatility In Stock Market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0" y="6558991"/>
            <a:ext cx="12191695" cy="298094"/>
          </a:xfrm>
          <a:prstGeom prst="rect">
            <a:avLst/>
          </a:prstGeom>
          <a:solidFill>
            <a:srgbClr val="0D2340"/>
          </a:solidFill>
          <a:ln w="12700">
            <a:solidFill>
              <a:srgbClr val="0D23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341071" y="1389888"/>
            <a:ext cx="11423599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0000"/>
              </a:lnSpc>
              <a:buSzPct val="100000"/>
              <a:buChar char="•"/>
            </a:pPr>
            <a:endParaRPr lang="en-US" sz="1600" dirty="0"/>
          </a:p>
        </p:txBody>
      </p:sp>
      <p:sp>
        <p:nvSpPr>
          <p:cNvPr id="12" name="TextBox 11"/>
          <p:cNvSpPr txBox="1"/>
          <p:nvPr/>
        </p:nvSpPr>
        <p:spPr>
          <a:xfrm>
            <a:off x="3081351" y="6128039"/>
            <a:ext cx="5943037" cy="307777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r>
              <a:rPr sz="1400" b="1" dirty="0">
                <a:solidFill>
                  <a:srgbClr val="1A1A2E"/>
                </a:solidFill>
                <a:latin typeface="Calibri"/>
              </a:rPr>
              <a:t>S&amp;P 500 chart highlighting major drawdowns and changing volatility regimes.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776514" y="4151321"/>
            <a:ext cx="184731" cy="3123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sz="1430" b="1" dirty="0">
              <a:solidFill>
                <a:srgbClr val="1A1A2E"/>
              </a:solidFill>
              <a:latin typeface="Calibri"/>
            </a:endParaRPr>
          </a:p>
        </p:txBody>
      </p:sp>
      <p:pic>
        <p:nvPicPr>
          <p:cNvPr id="14" name="Picture 13">
            <a:extLst>
              <a:ext uri="{FF2B5EF4-FFF2-40B4-BE49-F238E27FC236}">
                <a16:creationId xmlns:a16="http://schemas.microsoft.com/office/drawing/2014/main" id="{484DE742-A634-5F95-CAAE-9A7B4C8620CE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57886" y="1189318"/>
            <a:ext cx="11606784" cy="4863934"/>
          </a:xfrm>
          <a:prstGeom prst="rect">
            <a:avLst/>
          </a:prstGeom>
        </p:spPr>
      </p:pic>
      <p:sp>
        <p:nvSpPr>
          <p:cNvPr id="15" name="TextBox 14">
            <a:extLst>
              <a:ext uri="{FF2B5EF4-FFF2-40B4-BE49-F238E27FC236}">
                <a16:creationId xmlns:a16="http://schemas.microsoft.com/office/drawing/2014/main" id="{EC1E1F7B-8F5F-4DAE-AF18-3F253AF2F340}"/>
              </a:ext>
            </a:extLst>
          </p:cNvPr>
          <p:cNvSpPr txBox="1"/>
          <p:nvPr/>
        </p:nvSpPr>
        <p:spPr>
          <a:xfrm>
            <a:off x="5037224" y="730065"/>
            <a:ext cx="2117246" cy="40011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sz="2000" b="1" dirty="0">
                <a:solidFill>
                  <a:srgbClr val="00A8CC"/>
                </a:solidFill>
              </a:rPr>
              <a:t>What is Volatility?</a:t>
            </a:r>
          </a:p>
        </p:txBody>
      </p:sp>
      <p:sp>
        <p:nvSpPr>
          <p:cNvPr id="6" name="Shape 5">
            <a:extLst>
              <a:ext uri="{FF2B5EF4-FFF2-40B4-BE49-F238E27FC236}">
                <a16:creationId xmlns:a16="http://schemas.microsoft.com/office/drawing/2014/main" id="{01C70E8E-E084-C0AE-22BC-15F747F203D5}"/>
              </a:ext>
            </a:extLst>
          </p:cNvPr>
          <p:cNvSpPr/>
          <p:nvPr/>
        </p:nvSpPr>
        <p:spPr>
          <a:xfrm flipV="1">
            <a:off x="5166360" y="1112825"/>
            <a:ext cx="1848394" cy="0"/>
          </a:xfrm>
          <a:prstGeom prst="line">
            <a:avLst/>
          </a:prstGeom>
          <a:noFill/>
          <a:ln w="15240">
            <a:solidFill>
              <a:srgbClr val="08A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E62870E0-E75F-1918-96DE-CDE61EEC5EC4}"/>
              </a:ext>
            </a:extLst>
          </p:cNvPr>
          <p:cNvSpPr/>
          <p:nvPr/>
        </p:nvSpPr>
        <p:spPr>
          <a:xfrm>
            <a:off x="329184" y="6615684"/>
            <a:ext cx="6217920" cy="190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AAAACC"/>
                </a:solidFill>
              </a:rPr>
              <a:t>DATASCI 207  ·  Final Project: Forecasting Volatility In Stock Market  ·  March 2026</a:t>
            </a:r>
            <a:endParaRPr lang="en-US" sz="125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0FD38F3-9CCD-288E-2F25-B5BEF5256B0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>
            <a:extLst>
              <a:ext uri="{FF2B5EF4-FFF2-40B4-BE49-F238E27FC236}">
                <a16:creationId xmlns:a16="http://schemas.microsoft.com/office/drawing/2014/main" id="{D1CC733E-286B-DB4C-4C3D-26B1BA7D38C0}"/>
              </a:ext>
            </a:extLst>
          </p:cNvPr>
          <p:cNvSpPr/>
          <p:nvPr/>
        </p:nvSpPr>
        <p:spPr>
          <a:xfrm>
            <a:off x="0" y="0"/>
            <a:ext cx="12191695" cy="633679"/>
          </a:xfrm>
          <a:prstGeom prst="rect">
            <a:avLst/>
          </a:prstGeom>
          <a:solidFill>
            <a:srgbClr val="0D2340"/>
          </a:solidFill>
          <a:ln w="12700">
            <a:solidFill>
              <a:srgbClr val="0D23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>
            <a:extLst>
              <a:ext uri="{FF2B5EF4-FFF2-40B4-BE49-F238E27FC236}">
                <a16:creationId xmlns:a16="http://schemas.microsoft.com/office/drawing/2014/main" id="{42142922-2786-A3D8-94C6-5218335D60BE}"/>
              </a:ext>
            </a:extLst>
          </p:cNvPr>
          <p:cNvSpPr/>
          <p:nvPr/>
        </p:nvSpPr>
        <p:spPr>
          <a:xfrm>
            <a:off x="341071" y="49378"/>
            <a:ext cx="11581790" cy="560527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Project: Forecasting Volatility In Stock Market</a:t>
            </a:r>
            <a:endParaRPr lang="en-US" sz="2900" dirty="0"/>
          </a:p>
        </p:txBody>
      </p:sp>
      <p:sp>
        <p:nvSpPr>
          <p:cNvPr id="4" name="Shape 2">
            <a:extLst>
              <a:ext uri="{FF2B5EF4-FFF2-40B4-BE49-F238E27FC236}">
                <a16:creationId xmlns:a16="http://schemas.microsoft.com/office/drawing/2014/main" id="{5BDBA904-3875-2D8B-B440-D4BB0858E2B5}"/>
              </a:ext>
            </a:extLst>
          </p:cNvPr>
          <p:cNvSpPr/>
          <p:nvPr/>
        </p:nvSpPr>
        <p:spPr>
          <a:xfrm>
            <a:off x="0" y="6558991"/>
            <a:ext cx="12191695" cy="298094"/>
          </a:xfrm>
          <a:prstGeom prst="rect">
            <a:avLst/>
          </a:prstGeom>
          <a:solidFill>
            <a:srgbClr val="0D2340"/>
          </a:solidFill>
          <a:ln w="12700">
            <a:solidFill>
              <a:srgbClr val="0D2340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>
            <a:extLst>
              <a:ext uri="{FF2B5EF4-FFF2-40B4-BE49-F238E27FC236}">
                <a16:creationId xmlns:a16="http://schemas.microsoft.com/office/drawing/2014/main" id="{26382F0A-05BB-1ED2-EFB3-4EC93A08AFBF}"/>
              </a:ext>
            </a:extLst>
          </p:cNvPr>
          <p:cNvSpPr/>
          <p:nvPr/>
        </p:nvSpPr>
        <p:spPr>
          <a:xfrm>
            <a:off x="341071" y="1389888"/>
            <a:ext cx="11423599" cy="4892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28600" indent="-228600">
              <a:lnSpc>
                <a:spcPct val="110000"/>
              </a:lnSpc>
              <a:buSzPct val="100000"/>
              <a:buChar char="•"/>
            </a:pPr>
            <a:endParaRPr lang="en-US" sz="16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1D433F22-3FAE-CC59-CFA3-ACC37CEB1C86}"/>
              </a:ext>
            </a:extLst>
          </p:cNvPr>
          <p:cNvSpPr txBox="1"/>
          <p:nvPr/>
        </p:nvSpPr>
        <p:spPr>
          <a:xfrm>
            <a:off x="405536" y="1152144"/>
            <a:ext cx="11380622" cy="5187445"/>
          </a:xfrm>
          <a:prstGeom prst="rect">
            <a:avLst/>
          </a:prstGeom>
          <a:noFill/>
        </p:spPr>
        <p:txBody>
          <a:bodyPr wrap="square">
            <a:normAutofit fontScale="70000" lnSpcReduction="20000"/>
          </a:bodyPr>
          <a:lstStyle/>
          <a:p>
            <a:pPr>
              <a:spcAft>
                <a:spcPts val="200"/>
              </a:spcAft>
            </a:pPr>
            <a:r>
              <a:rPr sz="2200" b="1" dirty="0">
                <a:solidFill>
                  <a:srgbClr val="00A8CC"/>
                </a:solidFill>
                <a:latin typeface="Calibri"/>
              </a:rPr>
              <a:t>Forecasting Objective</a:t>
            </a:r>
          </a:p>
          <a:p>
            <a:pPr marL="285750" indent="-2857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sz="2200" b="1" dirty="0">
                <a:solidFill>
                  <a:srgbClr val="1A1A2E"/>
                </a:solidFill>
                <a:latin typeface="Calibri"/>
              </a:rPr>
              <a:t>Predict next-week (next 5 trading days) realized volatility </a:t>
            </a:r>
            <a:r>
              <a:rPr sz="2200" b="0" dirty="0">
                <a:solidFill>
                  <a:srgbClr val="1A1A2E"/>
                </a:solidFill>
                <a:latin typeface="Calibri"/>
              </a:rPr>
              <a:t>for S&amp;P 500-linked ETFs using only information known at the prediction date.</a:t>
            </a: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2200" b="1" dirty="0">
                <a:solidFill>
                  <a:srgbClr val="1A1A2E"/>
                </a:solidFill>
                <a:latin typeface="Calibri"/>
              </a:rPr>
              <a:t>Why it matters: </a:t>
            </a:r>
            <a:r>
              <a:rPr sz="2200" b="0" dirty="0">
                <a:solidFill>
                  <a:srgbClr val="1A1A2E"/>
                </a:solidFill>
                <a:latin typeface="Calibri"/>
              </a:rPr>
              <a:t>volatility drives position sizing, risk budgeting, drawdown control, and derivatives/risk-management pricing.</a:t>
            </a:r>
            <a:endParaRPr lang="en-US" sz="2200" b="1" dirty="0">
              <a:solidFill>
                <a:srgbClr val="00A8CC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endParaRPr lang="en-US" sz="2200" b="1" dirty="0">
              <a:solidFill>
                <a:srgbClr val="00A8CC"/>
              </a:solidFill>
              <a:latin typeface="Calibri"/>
            </a:endParaRPr>
          </a:p>
          <a:p>
            <a:pPr>
              <a:spcAft>
                <a:spcPts val="200"/>
              </a:spcAft>
            </a:pPr>
            <a:r>
              <a:rPr sz="2200" b="1" dirty="0">
                <a:solidFill>
                  <a:srgbClr val="00A8CC"/>
                </a:solidFill>
                <a:latin typeface="Calibri"/>
              </a:rPr>
              <a:t>Data Universe</a:t>
            </a:r>
          </a:p>
          <a:p>
            <a:pPr marL="285750" indent="-2857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sz="2200" b="1" dirty="0">
                <a:solidFill>
                  <a:srgbClr val="1A1A2E"/>
                </a:solidFill>
                <a:latin typeface="Calibri"/>
              </a:rPr>
              <a:t>36 ETF tickers</a:t>
            </a:r>
            <a:r>
              <a:rPr lang="en-US" sz="2200" b="1" dirty="0">
                <a:solidFill>
                  <a:srgbClr val="1A1A2E"/>
                </a:solidFill>
                <a:latin typeface="Calibri"/>
              </a:rPr>
              <a:t>:</a:t>
            </a:r>
            <a:r>
              <a:rPr sz="2200" b="1" dirty="0">
                <a:solidFill>
                  <a:srgbClr val="1A1A2E"/>
                </a:solidFill>
                <a:latin typeface="Calibri"/>
              </a:rPr>
              <a:t> </a:t>
            </a:r>
            <a:endParaRPr lang="en-US" sz="2200" b="1" dirty="0">
              <a:solidFill>
                <a:srgbClr val="1A1A2E"/>
              </a:solidFill>
              <a:latin typeface="Calibri"/>
            </a:endParaRPr>
          </a:p>
          <a:p>
            <a:pPr marL="742950" lvl="1" indent="-285750">
              <a:spcAft>
                <a:spcPts val="100"/>
              </a:spcAft>
              <a:buFont typeface="Wingdings" panose="05000000000000000000" pitchFamily="2" charset="2"/>
              <a:buChar char="Ø"/>
            </a:pPr>
            <a:r>
              <a:rPr sz="2200" b="0" dirty="0">
                <a:solidFill>
                  <a:srgbClr val="1A1A2E"/>
                </a:solidFill>
                <a:latin typeface="Calibri"/>
              </a:rPr>
              <a:t>S&amp;P 500 market proxy, </a:t>
            </a:r>
            <a:endParaRPr lang="en-US" sz="2200" dirty="0">
              <a:solidFill>
                <a:srgbClr val="1A1A2E"/>
              </a:solidFill>
              <a:latin typeface="Calibri"/>
            </a:endParaRPr>
          </a:p>
          <a:p>
            <a:pPr marL="742950" lvl="1" indent="-285750">
              <a:spcAft>
                <a:spcPts val="100"/>
              </a:spcAft>
              <a:buFont typeface="Wingdings" panose="05000000000000000000" pitchFamily="2" charset="2"/>
              <a:buChar char="Ø"/>
            </a:pPr>
            <a:r>
              <a:rPr sz="2200" b="0" dirty="0">
                <a:solidFill>
                  <a:srgbClr val="1A1A2E"/>
                </a:solidFill>
                <a:latin typeface="Calibri"/>
              </a:rPr>
              <a:t>sector ETFs, </a:t>
            </a:r>
            <a:endParaRPr lang="en-US" sz="2200" dirty="0">
              <a:solidFill>
                <a:srgbClr val="1A1A2E"/>
              </a:solidFill>
              <a:latin typeface="Calibri"/>
            </a:endParaRPr>
          </a:p>
          <a:p>
            <a:pPr marL="742950" lvl="1" indent="-285750">
              <a:spcAft>
                <a:spcPts val="100"/>
              </a:spcAft>
              <a:buFont typeface="Wingdings" panose="05000000000000000000" pitchFamily="2" charset="2"/>
              <a:buChar char="Ø"/>
            </a:pPr>
            <a:r>
              <a:rPr sz="2200" b="0" dirty="0">
                <a:solidFill>
                  <a:srgbClr val="1A1A2E"/>
                </a:solidFill>
                <a:latin typeface="Calibri"/>
              </a:rPr>
              <a:t>industry ETFs.</a:t>
            </a:r>
          </a:p>
          <a:p>
            <a:pPr marL="285750" indent="-285750">
              <a:spcAft>
                <a:spcPts val="200"/>
              </a:spcAft>
              <a:buFont typeface="Arial" panose="020B0604020202020204" pitchFamily="34" charset="0"/>
              <a:buChar char="•"/>
            </a:pPr>
            <a:r>
              <a:rPr sz="2200" b="1" dirty="0">
                <a:solidFill>
                  <a:srgbClr val="1A1A2E"/>
                </a:solidFill>
                <a:latin typeface="Calibri"/>
              </a:rPr>
              <a:t>6 macro/risk series for regime context: </a:t>
            </a:r>
            <a:endParaRPr lang="en-US" sz="2200" b="1" dirty="0">
              <a:solidFill>
                <a:srgbClr val="1A1A2E"/>
              </a:solidFill>
              <a:latin typeface="Calibri"/>
            </a:endParaRPr>
          </a:p>
          <a:p>
            <a:pPr marL="742950" lvl="1" indent="-285750">
              <a:spcAft>
                <a:spcPts val="200"/>
              </a:spcAft>
              <a:buFont typeface="Wingdings" panose="05000000000000000000" pitchFamily="2" charset="2"/>
              <a:buChar char="Ø"/>
            </a:pPr>
            <a:r>
              <a:rPr lang="en-US" sz="2200" b="0" dirty="0">
                <a:solidFill>
                  <a:srgbClr val="1A1A2E"/>
                </a:solidFill>
                <a:latin typeface="Calibri"/>
              </a:rPr>
              <a:t>3 month T-Bill yield</a:t>
            </a:r>
          </a:p>
          <a:p>
            <a:pPr marL="742950" lvl="1" indent="-285750">
              <a:spcAft>
                <a:spcPts val="200"/>
              </a:spcAft>
              <a:buFont typeface="Wingdings" panose="05000000000000000000" pitchFamily="2" charset="2"/>
              <a:buChar char="Ø"/>
            </a:pPr>
            <a:r>
              <a:rPr lang="en-US" sz="2200" b="0" dirty="0">
                <a:solidFill>
                  <a:srgbClr val="1A1A2E"/>
                </a:solidFill>
                <a:latin typeface="Calibri"/>
              </a:rPr>
              <a:t>10 year US bond yield</a:t>
            </a:r>
          </a:p>
          <a:p>
            <a:pPr marL="742950" lvl="1" indent="-285750">
              <a:spcAft>
                <a:spcPts val="200"/>
              </a:spcAft>
              <a:buFont typeface="Wingdings" panose="05000000000000000000" pitchFamily="2" charset="2"/>
              <a:buChar char="Ø"/>
            </a:pPr>
            <a:r>
              <a:rPr sz="2200" b="0" dirty="0">
                <a:solidFill>
                  <a:srgbClr val="1A1A2E"/>
                </a:solidFill>
                <a:latin typeface="Calibri"/>
              </a:rPr>
              <a:t>US</a:t>
            </a:r>
            <a:r>
              <a:rPr lang="en-US" sz="2200" b="0" dirty="0">
                <a:solidFill>
                  <a:srgbClr val="1A1A2E"/>
                </a:solidFill>
                <a:latin typeface="Calibri"/>
              </a:rPr>
              <a:t> 10 year </a:t>
            </a:r>
            <a:r>
              <a:rPr lang="en-US" sz="2200" dirty="0">
                <a:solidFill>
                  <a:srgbClr val="1A1A2E"/>
                </a:solidFill>
                <a:latin typeface="Calibri"/>
              </a:rPr>
              <a:t>-</a:t>
            </a:r>
            <a:r>
              <a:rPr lang="en-US" sz="2200" b="0" dirty="0">
                <a:solidFill>
                  <a:srgbClr val="1A1A2E"/>
                </a:solidFill>
                <a:latin typeface="Calibri"/>
              </a:rPr>
              <a:t> month yield spread</a:t>
            </a:r>
          </a:p>
          <a:p>
            <a:pPr marL="742950" lvl="1" indent="-285750">
              <a:spcAft>
                <a:spcPts val="200"/>
              </a:spcAft>
              <a:buFont typeface="Wingdings" panose="05000000000000000000" pitchFamily="2" charset="2"/>
              <a:buChar char="Ø"/>
            </a:pPr>
            <a:r>
              <a:rPr lang="en-US" sz="2200" b="0" dirty="0">
                <a:solidFill>
                  <a:srgbClr val="1A1A2E"/>
                </a:solidFill>
                <a:latin typeface="Calibri"/>
              </a:rPr>
              <a:t>Gold spot price</a:t>
            </a:r>
          </a:p>
          <a:p>
            <a:pPr marL="742950" lvl="1" indent="-285750">
              <a:spcAft>
                <a:spcPts val="200"/>
              </a:spcAft>
              <a:buFont typeface="Wingdings" panose="05000000000000000000" pitchFamily="2" charset="2"/>
              <a:buChar char="Ø"/>
            </a:pPr>
            <a:r>
              <a:rPr lang="en-US" sz="2200" b="0" dirty="0">
                <a:solidFill>
                  <a:srgbClr val="1A1A2E"/>
                </a:solidFill>
                <a:latin typeface="Calibri"/>
              </a:rPr>
              <a:t>Oil spot price</a:t>
            </a:r>
            <a:endParaRPr lang="en-US" sz="2200" dirty="0">
              <a:solidFill>
                <a:srgbClr val="1A1A2E"/>
              </a:solidFill>
              <a:latin typeface="Calibri"/>
            </a:endParaRPr>
          </a:p>
          <a:p>
            <a:pPr marL="742950" lvl="1" indent="-285750">
              <a:spcAft>
                <a:spcPts val="200"/>
              </a:spcAft>
              <a:buFont typeface="Wingdings" panose="05000000000000000000" pitchFamily="2" charset="2"/>
              <a:buChar char="Ø"/>
            </a:pPr>
            <a:r>
              <a:rPr sz="2200" b="0" dirty="0">
                <a:solidFill>
                  <a:srgbClr val="1A1A2E"/>
                </a:solidFill>
                <a:latin typeface="Calibri"/>
              </a:rPr>
              <a:t>VIX</a:t>
            </a:r>
          </a:p>
          <a:p>
            <a:pPr marL="285750" indent="-2857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sz="2200" b="1" dirty="0">
                <a:solidFill>
                  <a:srgbClr val="1A1A2E"/>
                </a:solidFill>
                <a:latin typeface="Calibri"/>
              </a:rPr>
              <a:t>Market (1): </a:t>
            </a:r>
            <a:r>
              <a:rPr sz="2200" b="0" dirty="0">
                <a:solidFill>
                  <a:srgbClr val="1A1A2E"/>
                </a:solidFill>
                <a:latin typeface="Calibri"/>
              </a:rPr>
              <a:t>SPY</a:t>
            </a:r>
          </a:p>
          <a:p>
            <a:pPr marL="285750" indent="-285750">
              <a:spcAft>
                <a:spcPts val="100"/>
              </a:spcAft>
              <a:buFont typeface="Arial" panose="020B0604020202020204" pitchFamily="34" charset="0"/>
              <a:buChar char="•"/>
            </a:pPr>
            <a:r>
              <a:rPr sz="2200" b="1" dirty="0">
                <a:solidFill>
                  <a:srgbClr val="1A1A2E"/>
                </a:solidFill>
                <a:latin typeface="Calibri"/>
              </a:rPr>
              <a:t>Sector (13): </a:t>
            </a:r>
            <a:r>
              <a:rPr sz="2200" b="0" dirty="0">
                <a:solidFill>
                  <a:srgbClr val="1A1A2E"/>
                </a:solidFill>
                <a:latin typeface="Calibri"/>
              </a:rPr>
              <a:t>IYZ, VGT, XLB, XLC, XLE, XLF, XLI, XLK, XLP, XLRE, XLU, XLV, XLY</a:t>
            </a:r>
            <a:endParaRPr lang="en-US" sz="2200" b="0" dirty="0">
              <a:solidFill>
                <a:srgbClr val="1A1A2E"/>
              </a:solidFill>
              <a:latin typeface="Calibri"/>
            </a:endParaRPr>
          </a:p>
          <a:p>
            <a:pPr marL="285750" indent="-285750">
              <a:spcAft>
                <a:spcPts val="600"/>
              </a:spcAft>
              <a:buFont typeface="Arial" panose="020B0604020202020204" pitchFamily="34" charset="0"/>
              <a:buChar char="•"/>
            </a:pPr>
            <a:r>
              <a:rPr sz="2200" b="1" dirty="0">
                <a:solidFill>
                  <a:srgbClr val="1A1A2E"/>
                </a:solidFill>
                <a:latin typeface="Calibri"/>
              </a:rPr>
              <a:t>Industry (22): </a:t>
            </a:r>
            <a:r>
              <a:rPr sz="2200" b="0" dirty="0">
                <a:solidFill>
                  <a:srgbClr val="1A1A2E"/>
                </a:solidFill>
                <a:latin typeface="Calibri"/>
              </a:rPr>
              <a:t>BEDZ, FTXG, KBE, KCE, KIE, KRE, PEJ, PNQI, PXQ, XAR, XBI, XES, XHB, XHE, XHS, XME, XOP, XPH, XSD, XSW, XTL, XTN</a:t>
            </a:r>
            <a:endParaRPr lang="en-US" sz="2200" b="1" dirty="0">
              <a:solidFill>
                <a:srgbClr val="00A8CC"/>
              </a:solidFill>
            </a:endParaRPr>
          </a:p>
          <a:p>
            <a:endParaRPr lang="en-US" sz="2200" b="1" dirty="0">
              <a:solidFill>
                <a:srgbClr val="00A8CC"/>
              </a:solidFill>
            </a:endParaRPr>
          </a:p>
          <a:p>
            <a:r>
              <a:rPr lang="en-US" sz="2200" b="1" dirty="0">
                <a:solidFill>
                  <a:srgbClr val="00A8CC"/>
                </a:solidFill>
              </a:rPr>
              <a:t>Prediction Models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rgbClr val="1A1A2E"/>
                </a:solidFill>
              </a:rPr>
              <a:t>Transformer 1: </a:t>
            </a:r>
            <a:r>
              <a:rPr lang="en-US" sz="2200" dirty="0">
                <a:solidFill>
                  <a:srgbClr val="1A1A2E"/>
                </a:solidFill>
              </a:rPr>
              <a:t>Diogo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rgbClr val="1A1A2E"/>
                </a:solidFill>
              </a:rPr>
              <a:t>Transformer 2: </a:t>
            </a:r>
            <a:r>
              <a:rPr lang="en-US" sz="2200" dirty="0">
                <a:solidFill>
                  <a:srgbClr val="1A1A2E"/>
                </a:solidFill>
              </a:rPr>
              <a:t>Ronald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rgbClr val="1A1A2E"/>
                </a:solidFill>
              </a:rPr>
              <a:t>LSTM: </a:t>
            </a:r>
            <a:r>
              <a:rPr lang="en-US" sz="2200" dirty="0">
                <a:solidFill>
                  <a:srgbClr val="1A1A2E"/>
                </a:solidFill>
              </a:rPr>
              <a:t>Sid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2200" b="1" dirty="0">
                <a:solidFill>
                  <a:srgbClr val="1A1A2E"/>
                </a:solidFill>
              </a:rPr>
              <a:t>Elastic Net Regression: </a:t>
            </a:r>
            <a:r>
              <a:rPr lang="en-US" sz="2200" dirty="0">
                <a:solidFill>
                  <a:srgbClr val="1A1A2E"/>
                </a:solidFill>
              </a:rPr>
              <a:t>Vinit</a:t>
            </a:r>
            <a:endParaRPr sz="2200" dirty="0">
              <a:solidFill>
                <a:srgbClr val="1A1A2E"/>
              </a:solidFill>
              <a:latin typeface="Calibri"/>
            </a:endParaRP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E08A7C2B-6610-A068-F22A-20B8D98D043D}"/>
              </a:ext>
            </a:extLst>
          </p:cNvPr>
          <p:cNvSpPr txBox="1"/>
          <p:nvPr/>
        </p:nvSpPr>
        <p:spPr>
          <a:xfrm>
            <a:off x="7776514" y="4151321"/>
            <a:ext cx="184731" cy="312393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endParaRPr sz="1430" b="1" dirty="0">
              <a:solidFill>
                <a:srgbClr val="1A1A2E"/>
              </a:solidFill>
              <a:latin typeface="Calibri"/>
            </a:endParaRPr>
          </a:p>
        </p:txBody>
      </p:sp>
      <p:sp>
        <p:nvSpPr>
          <p:cNvPr id="6" name="Text 4">
            <a:extLst>
              <a:ext uri="{FF2B5EF4-FFF2-40B4-BE49-F238E27FC236}">
                <a16:creationId xmlns:a16="http://schemas.microsoft.com/office/drawing/2014/main" id="{CB58AC01-D69F-0961-3DB3-71446248FD7B}"/>
              </a:ext>
            </a:extLst>
          </p:cNvPr>
          <p:cNvSpPr/>
          <p:nvPr/>
        </p:nvSpPr>
        <p:spPr>
          <a:xfrm>
            <a:off x="3404375" y="835838"/>
            <a:ext cx="5296989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>
              <a:spcAft>
                <a:spcPts val="800"/>
              </a:spcAft>
            </a:pPr>
            <a:r>
              <a:rPr lang="en-US" sz="2000" b="1" dirty="0">
                <a:solidFill>
                  <a:srgbClr val="00A8CC"/>
                </a:solidFill>
              </a:rPr>
              <a:t>Project Scope, Universe &amp; Model Lineup</a:t>
            </a:r>
          </a:p>
        </p:txBody>
      </p:sp>
      <p:sp>
        <p:nvSpPr>
          <p:cNvPr id="7" name="Shape 5">
            <a:extLst>
              <a:ext uri="{FF2B5EF4-FFF2-40B4-BE49-F238E27FC236}">
                <a16:creationId xmlns:a16="http://schemas.microsoft.com/office/drawing/2014/main" id="{55344706-2FDA-4EF5-FED1-46EE2344AF75}"/>
              </a:ext>
            </a:extLst>
          </p:cNvPr>
          <p:cNvSpPr/>
          <p:nvPr/>
        </p:nvSpPr>
        <p:spPr>
          <a:xfrm>
            <a:off x="3404376" y="1152144"/>
            <a:ext cx="4217802" cy="0"/>
          </a:xfrm>
          <a:prstGeom prst="line">
            <a:avLst/>
          </a:prstGeom>
          <a:noFill/>
          <a:ln w="15240">
            <a:solidFill>
              <a:srgbClr val="08A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3">
            <a:extLst>
              <a:ext uri="{FF2B5EF4-FFF2-40B4-BE49-F238E27FC236}">
                <a16:creationId xmlns:a16="http://schemas.microsoft.com/office/drawing/2014/main" id="{69AACFBE-0627-E569-226C-EBF28D4C041A}"/>
              </a:ext>
            </a:extLst>
          </p:cNvPr>
          <p:cNvSpPr/>
          <p:nvPr/>
        </p:nvSpPr>
        <p:spPr>
          <a:xfrm>
            <a:off x="329184" y="6615684"/>
            <a:ext cx="6217920" cy="190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AAAACC"/>
                </a:solidFill>
              </a:rPr>
              <a:t>DATASCI 207  ·  Final Project: Forecasting Volatility In Stock Market  ·  March 2026</a:t>
            </a:r>
            <a:endParaRPr lang="en-US" sz="1250" dirty="0"/>
          </a:p>
        </p:txBody>
      </p:sp>
    </p:spTree>
    <p:extLst>
      <p:ext uri="{BB962C8B-B14F-4D97-AF65-F5344CB8AC3E}">
        <p14:creationId xmlns:p14="http://schemas.microsoft.com/office/powerpoint/2010/main" val="52062169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6" name="Shape 18">
            <a:extLst>
              <a:ext uri="{FF2B5EF4-FFF2-40B4-BE49-F238E27FC236}">
                <a16:creationId xmlns:a16="http://schemas.microsoft.com/office/drawing/2014/main" id="{FC7D3787-6746-4327-3D79-5236943008D3}"/>
              </a:ext>
            </a:extLst>
          </p:cNvPr>
          <p:cNvSpPr/>
          <p:nvPr/>
        </p:nvSpPr>
        <p:spPr>
          <a:xfrm>
            <a:off x="502920" y="5432488"/>
            <a:ext cx="11173968" cy="1014032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875">
            <a:solidFill>
              <a:srgbClr val="C8D5E6"/>
            </a:solidFill>
            <a:prstDash val="solid"/>
          </a:ln>
          <a:effectLst>
            <a:outerShdw blurRad="12700" dist="50800" dir="2700000" algn="bl" rotWithShape="0">
              <a:srgbClr val="D9E3F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445"/>
          </a:solidFill>
          <a:ln w="12700">
            <a:solidFill>
              <a:srgbClr val="0B24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20624" y="155448"/>
            <a:ext cx="71323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Dataset Description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445"/>
          </a:solidFill>
          <a:ln w="12700">
            <a:solidFill>
              <a:srgbClr val="0B24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29184" y="6615684"/>
            <a:ext cx="6217920" cy="190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AAAACC"/>
                </a:solidFill>
              </a:rPr>
              <a:t>DATASCI 207  ·  Final Project: Forecasting Volatility In Stock Market  ·  March 2026</a:t>
            </a:r>
            <a:endParaRPr lang="en-US" sz="1250" dirty="0"/>
          </a:p>
        </p:txBody>
      </p:sp>
      <p:sp>
        <p:nvSpPr>
          <p:cNvPr id="6" name="Text 4"/>
          <p:cNvSpPr/>
          <p:nvPr/>
        </p:nvSpPr>
        <p:spPr>
          <a:xfrm>
            <a:off x="4093682" y="728907"/>
            <a:ext cx="4065596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000" b="1" dirty="0">
                <a:solidFill>
                  <a:srgbClr val="08A3C7"/>
                </a:solidFill>
                <a:ea typeface="Arial" pitchFamily="34" charset="-122"/>
                <a:cs typeface="Arial" pitchFamily="34" charset="-120"/>
              </a:rPr>
              <a:t>Data Source: Downloads from FactSet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 flipV="1">
            <a:off x="4114799" y="1003881"/>
            <a:ext cx="3968495" cy="45720"/>
          </a:xfrm>
          <a:prstGeom prst="line">
            <a:avLst/>
          </a:prstGeom>
          <a:noFill/>
          <a:ln w="15240">
            <a:solidFill>
              <a:srgbClr val="08A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2920" y="1284732"/>
            <a:ext cx="36576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5875">
            <a:solidFill>
              <a:srgbClr val="C8D5E6"/>
            </a:solidFill>
            <a:prstDash val="solid"/>
          </a:ln>
          <a:effectLst>
            <a:outerShdw blurRad="12700" dist="50800" dir="2700000" algn="bl" rotWithShape="0">
              <a:srgbClr val="D9E3F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649224" y="1374213"/>
            <a:ext cx="1920240" cy="347472"/>
          </a:xfrm>
          <a:prstGeom prst="roundRect">
            <a:avLst>
              <a:gd name="adj" fmla="val 13158"/>
            </a:avLst>
          </a:prstGeom>
          <a:solidFill>
            <a:srgbClr val="E9F8FC"/>
          </a:solidFill>
          <a:ln w="12700">
            <a:solidFill>
              <a:srgbClr val="E9F8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13232" y="1465802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445"/>
                </a:solidFill>
                <a:ea typeface="Arial" pitchFamily="34" charset="-122"/>
                <a:cs typeface="Arial" pitchFamily="34" charset="-120"/>
              </a:rPr>
              <a:t>Observation &amp; files</a:t>
            </a:r>
            <a:endParaRPr lang="en-US" sz="1400" dirty="0"/>
          </a:p>
        </p:txBody>
      </p:sp>
      <p:sp>
        <p:nvSpPr>
          <p:cNvPr id="11" name="Text 9"/>
          <p:cNvSpPr/>
          <p:nvPr/>
        </p:nvSpPr>
        <p:spPr>
          <a:xfrm>
            <a:off x="704088" y="1815084"/>
            <a:ext cx="3273552" cy="1307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2445"/>
                </a:solidFill>
                <a:ea typeface="Arial" pitchFamily="34" charset="-122"/>
                <a:cs typeface="Arial" pitchFamily="34" charset="-120"/>
              </a:rPr>
              <a:t>• </a:t>
            </a:r>
            <a:r>
              <a:rPr lang="en-US" sz="14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1 row = 1 instrument on 1 trading date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B2445"/>
                </a:solidFill>
                <a:ea typeface="Arial" pitchFamily="34" charset="-122"/>
                <a:cs typeface="Arial" pitchFamily="34" charset="-120"/>
              </a:rPr>
              <a:t>• </a:t>
            </a:r>
            <a:r>
              <a:rPr lang="en-US" sz="14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Natural primary key: (ticker, date)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B2445"/>
                </a:solidFill>
                <a:ea typeface="Arial" pitchFamily="34" charset="-122"/>
                <a:cs typeface="Arial" pitchFamily="34" charset="-120"/>
              </a:rPr>
              <a:t>• </a:t>
            </a:r>
            <a:r>
              <a:rPr lang="en-US" sz="14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Dates are trading dates, not calendar dates</a:t>
            </a:r>
            <a:endParaRPr lang="en-US" sz="1400" dirty="0"/>
          </a:p>
          <a:p>
            <a:r>
              <a:rPr lang="en-US" sz="1400" b="1" dirty="0">
                <a:solidFill>
                  <a:srgbClr val="0B2445"/>
                </a:solidFill>
                <a:ea typeface="Arial" pitchFamily="34" charset="-122"/>
                <a:cs typeface="Arial" pitchFamily="34" charset="-120"/>
              </a:rPr>
              <a:t>• </a:t>
            </a:r>
            <a:r>
              <a:rPr lang="en-US" sz="14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XLSX for review</a:t>
            </a:r>
          </a:p>
          <a:p>
            <a:r>
              <a:rPr lang="en-US" sz="1400" b="1" dirty="0">
                <a:solidFill>
                  <a:srgbClr val="0B2445"/>
                </a:solidFill>
                <a:ea typeface="Arial" pitchFamily="34" charset="-122"/>
                <a:cs typeface="Arial" pitchFamily="34" charset="-120"/>
              </a:rPr>
              <a:t>• </a:t>
            </a:r>
            <a:r>
              <a:rPr lang="en-US" sz="14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Convert XLSX to CSV</a:t>
            </a:r>
            <a:endParaRPr lang="en-US" sz="1400" dirty="0"/>
          </a:p>
        </p:txBody>
      </p:sp>
      <p:sp>
        <p:nvSpPr>
          <p:cNvPr id="12" name="Shape 10"/>
          <p:cNvSpPr/>
          <p:nvPr/>
        </p:nvSpPr>
        <p:spPr>
          <a:xfrm>
            <a:off x="4261103" y="1287345"/>
            <a:ext cx="36576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5875">
            <a:solidFill>
              <a:srgbClr val="C8D5E6"/>
            </a:solidFill>
            <a:prstDash val="solid"/>
          </a:ln>
          <a:effectLst>
            <a:outerShdw blurRad="12700" dist="50800" dir="2700000" algn="bl" rotWithShape="0">
              <a:srgbClr val="D9E3F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4389119" y="1376172"/>
            <a:ext cx="1920240" cy="347472"/>
          </a:xfrm>
          <a:prstGeom prst="roundRect">
            <a:avLst>
              <a:gd name="adj" fmla="val 13158"/>
            </a:avLst>
          </a:prstGeom>
          <a:solidFill>
            <a:srgbClr val="E9F8FC"/>
          </a:solidFill>
          <a:ln w="12700">
            <a:solidFill>
              <a:srgbClr val="E9F8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462271" y="1474797"/>
            <a:ext cx="177393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445"/>
                </a:solidFill>
                <a:ea typeface="Arial" pitchFamily="34" charset="-122"/>
                <a:cs typeface="Arial" pitchFamily="34" charset="-120"/>
              </a:rPr>
              <a:t>Coverage &amp; universe</a:t>
            </a:r>
            <a:endParaRPr lang="en-US" sz="1400" dirty="0"/>
          </a:p>
        </p:txBody>
      </p:sp>
      <p:sp>
        <p:nvSpPr>
          <p:cNvPr id="15" name="Text 13"/>
          <p:cNvSpPr/>
          <p:nvPr/>
        </p:nvSpPr>
        <p:spPr>
          <a:xfrm>
            <a:off x="4462271" y="1817697"/>
            <a:ext cx="3273552" cy="1307592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2445"/>
                </a:solidFill>
                <a:ea typeface="Arial" pitchFamily="34" charset="-122"/>
                <a:cs typeface="Arial" pitchFamily="34" charset="-120"/>
              </a:rPr>
              <a:t>• </a:t>
            </a:r>
            <a:r>
              <a:rPr lang="en-US" sz="14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116,525 rows × 18 columns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B2445"/>
                </a:solidFill>
                <a:ea typeface="Arial" pitchFamily="34" charset="-122"/>
                <a:cs typeface="Arial" pitchFamily="34" charset="-120"/>
              </a:rPr>
              <a:t>• </a:t>
            </a:r>
            <a:r>
              <a:rPr lang="en-US" sz="14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Date range: 2014-12-31 to 2025-12-31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B2445"/>
                </a:solidFill>
                <a:ea typeface="Arial" pitchFamily="34" charset="-122"/>
                <a:cs typeface="Arial" pitchFamily="34" charset="-120"/>
              </a:rPr>
              <a:t>• </a:t>
            </a:r>
            <a:r>
              <a:rPr lang="en-US" sz="14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42 total tickers = 36 ETFs + 6 macro/risk series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B2445"/>
                </a:solidFill>
                <a:ea typeface="Arial" pitchFamily="34" charset="-122"/>
                <a:cs typeface="Arial" pitchFamily="34" charset="-120"/>
              </a:rPr>
              <a:t>• </a:t>
            </a:r>
            <a:r>
              <a:rPr lang="en-US" sz="14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ETF labels support market / sector / industry subgroup analysis</a:t>
            </a:r>
            <a:endParaRPr lang="en-US" sz="1400" dirty="0"/>
          </a:p>
          <a:p>
            <a:pPr marL="0" indent="0">
              <a:buNone/>
            </a:pPr>
            <a:endParaRPr lang="en-US" sz="1160" dirty="0"/>
          </a:p>
        </p:txBody>
      </p:sp>
      <p:sp>
        <p:nvSpPr>
          <p:cNvPr id="16" name="Shape 14"/>
          <p:cNvSpPr/>
          <p:nvPr/>
        </p:nvSpPr>
        <p:spPr>
          <a:xfrm>
            <a:off x="8019286" y="1287345"/>
            <a:ext cx="3639312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5875">
            <a:solidFill>
              <a:srgbClr val="C8D5E6"/>
            </a:solidFill>
            <a:prstDash val="solid"/>
          </a:ln>
          <a:effectLst>
            <a:outerShdw blurRad="12700" dist="50800" dir="2700000" algn="bl" rotWithShape="0">
              <a:srgbClr val="D9E3F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8092438" y="1376172"/>
            <a:ext cx="2057400" cy="347472"/>
          </a:xfrm>
          <a:prstGeom prst="roundRect">
            <a:avLst>
              <a:gd name="adj" fmla="val 13158"/>
            </a:avLst>
          </a:prstGeom>
          <a:solidFill>
            <a:srgbClr val="E9F8FC"/>
          </a:solidFill>
          <a:ln w="12700">
            <a:solidFill>
              <a:srgbClr val="E9F8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8238742" y="1474797"/>
            <a:ext cx="1911096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445"/>
                </a:solidFill>
                <a:ea typeface="Arial" pitchFamily="34" charset="-122"/>
                <a:cs typeface="Arial" pitchFamily="34" charset="-120"/>
              </a:rPr>
              <a:t>Core modeling fields</a:t>
            </a:r>
            <a:endParaRPr lang="en-US" sz="1400" dirty="0"/>
          </a:p>
        </p:txBody>
      </p:sp>
      <p:sp>
        <p:nvSpPr>
          <p:cNvPr id="19" name="Text 17"/>
          <p:cNvSpPr/>
          <p:nvPr/>
        </p:nvSpPr>
        <p:spPr>
          <a:xfrm>
            <a:off x="8119869" y="1817697"/>
            <a:ext cx="3438145" cy="1362456"/>
          </a:xfrm>
          <a:prstGeom prst="rect">
            <a:avLst/>
          </a:prstGeom>
          <a:noFill/>
          <a:ln/>
        </p:spPr>
        <p:txBody>
          <a:bodyPr wrap="square" lIns="254" tIns="254" rIns="254" bIns="254" rtlCol="0" anchor="t"/>
          <a:lstStyle/>
          <a:p>
            <a:pPr marL="0" indent="0">
              <a:buNone/>
            </a:pPr>
            <a:r>
              <a:rPr lang="en-US" sz="1400" b="1" dirty="0">
                <a:solidFill>
                  <a:srgbClr val="0B2445"/>
                </a:solidFill>
                <a:ea typeface="Arial" pitchFamily="34" charset="-122"/>
                <a:cs typeface="Arial" pitchFamily="34" charset="-120"/>
              </a:rPr>
              <a:t>• </a:t>
            </a:r>
            <a:r>
              <a:rPr lang="en-US" sz="14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Price/volume: adjusted close, volume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B2445"/>
                </a:solidFill>
                <a:ea typeface="Arial" pitchFamily="34" charset="-122"/>
                <a:cs typeface="Arial" pitchFamily="34" charset="-120"/>
              </a:rPr>
              <a:t>• </a:t>
            </a:r>
            <a:r>
              <a:rPr lang="en-US" sz="14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Volatility: trailing 5 day and 20 day</a:t>
            </a:r>
            <a:endParaRPr lang="en-US" sz="1400" dirty="0"/>
          </a:p>
          <a:p>
            <a:pPr marL="0" indent="0">
              <a:buNone/>
            </a:pPr>
            <a:r>
              <a:rPr lang="en-US" sz="1400" b="1" dirty="0">
                <a:solidFill>
                  <a:srgbClr val="0B2445"/>
                </a:solidFill>
                <a:ea typeface="Arial" pitchFamily="34" charset="-122"/>
                <a:cs typeface="Arial" pitchFamily="34" charset="-120"/>
              </a:rPr>
              <a:t>• </a:t>
            </a:r>
            <a:r>
              <a:rPr lang="en-US" sz="14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Target: forward 5 day volatility </a:t>
            </a:r>
          </a:p>
          <a:p>
            <a:pPr marL="0" indent="0">
              <a:buNone/>
            </a:pPr>
            <a:r>
              <a:rPr lang="en-US" sz="1400" b="1" dirty="0">
                <a:solidFill>
                  <a:srgbClr val="0B2445"/>
                </a:solidFill>
                <a:ea typeface="Arial" pitchFamily="34" charset="-122"/>
                <a:cs typeface="Arial" pitchFamily="34" charset="-120"/>
              </a:rPr>
              <a:t>• </a:t>
            </a:r>
            <a:r>
              <a:rPr lang="en-US" sz="14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Groups:  market, sector, industry</a:t>
            </a:r>
            <a:endParaRPr lang="en-US" sz="1400" dirty="0"/>
          </a:p>
        </p:txBody>
      </p:sp>
      <p:sp>
        <p:nvSpPr>
          <p:cNvPr id="20" name="Shape 18"/>
          <p:cNvSpPr/>
          <p:nvPr/>
        </p:nvSpPr>
        <p:spPr>
          <a:xfrm>
            <a:off x="509016" y="3346704"/>
            <a:ext cx="11173968" cy="2011680"/>
          </a:xfrm>
          <a:prstGeom prst="roundRect">
            <a:avLst>
              <a:gd name="adj" fmla="val 3636"/>
            </a:avLst>
          </a:prstGeom>
          <a:solidFill>
            <a:srgbClr val="FFFFFF"/>
          </a:solidFill>
          <a:ln w="15875">
            <a:solidFill>
              <a:srgbClr val="C8D5E6"/>
            </a:solidFill>
            <a:prstDash val="solid"/>
          </a:ln>
          <a:effectLst>
            <a:outerShdw blurRad="12700" dist="50800" dir="2700000" algn="bl" rotWithShape="0">
              <a:srgbClr val="D9E3F0">
                <a:alpha val="15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655320" y="3465576"/>
            <a:ext cx="2359152" cy="347472"/>
          </a:xfrm>
          <a:prstGeom prst="roundRect">
            <a:avLst>
              <a:gd name="adj" fmla="val 13158"/>
            </a:avLst>
          </a:prstGeom>
          <a:solidFill>
            <a:srgbClr val="E9F8FC"/>
          </a:solidFill>
          <a:ln w="12700">
            <a:solidFill>
              <a:srgbClr val="E9F8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737616" y="3525012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445"/>
                </a:solidFill>
                <a:ea typeface="Arial" pitchFamily="34" charset="-122"/>
                <a:cs typeface="Arial" pitchFamily="34" charset="-120"/>
              </a:rPr>
              <a:t>How the data is stored</a:t>
            </a:r>
            <a:endParaRPr lang="en-US" sz="1400" dirty="0"/>
          </a:p>
        </p:txBody>
      </p:sp>
      <p:sp>
        <p:nvSpPr>
          <p:cNvPr id="23" name="Text 21"/>
          <p:cNvSpPr/>
          <p:nvPr/>
        </p:nvSpPr>
        <p:spPr>
          <a:xfrm>
            <a:off x="774192" y="3895344"/>
            <a:ext cx="10424160" cy="42062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445"/>
                </a:solidFill>
                <a:ea typeface="Arial" pitchFamily="34" charset="-122"/>
                <a:cs typeface="Arial" pitchFamily="34" charset="-120"/>
              </a:rPr>
              <a:t>Long-format source table: </a:t>
            </a:r>
            <a:r>
              <a:rPr lang="en-US" sz="14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all ETFs and the 6 macro/risk series are stacked in one table keyed by </a:t>
            </a:r>
            <a:r>
              <a:rPr lang="en-US" sz="1400" i="1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(ticker, date).</a:t>
            </a:r>
            <a:r>
              <a:rPr lang="en-US" sz="14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 </a:t>
            </a:r>
            <a:endParaRPr lang="en-US" sz="1400" dirty="0"/>
          </a:p>
        </p:txBody>
      </p:sp>
      <p:sp>
        <p:nvSpPr>
          <p:cNvPr id="24" name="Shape 22"/>
          <p:cNvSpPr/>
          <p:nvPr/>
        </p:nvSpPr>
        <p:spPr>
          <a:xfrm>
            <a:off x="1085088" y="4645152"/>
            <a:ext cx="2331720" cy="566928"/>
          </a:xfrm>
          <a:prstGeom prst="roundRect">
            <a:avLst>
              <a:gd name="adj" fmla="val 6452"/>
            </a:avLst>
          </a:prstGeom>
          <a:solidFill>
            <a:srgbClr val="F6F9FD"/>
          </a:solidFill>
          <a:ln w="14605">
            <a:solidFill>
              <a:srgbClr val="C8D5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1158240" y="4809744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1. Filter 6 macro tickers</a:t>
            </a:r>
            <a:endParaRPr lang="en-US" sz="1400" dirty="0"/>
          </a:p>
        </p:txBody>
      </p:sp>
      <p:sp>
        <p:nvSpPr>
          <p:cNvPr id="26" name="Shape 24"/>
          <p:cNvSpPr/>
          <p:nvPr/>
        </p:nvSpPr>
        <p:spPr>
          <a:xfrm>
            <a:off x="3480816" y="4901184"/>
            <a:ext cx="146304" cy="201168"/>
          </a:xfrm>
          <a:prstGeom prst="chevron">
            <a:avLst/>
          </a:prstGeom>
          <a:solidFill>
            <a:srgbClr val="08A3C7"/>
          </a:solidFill>
          <a:ln w="12700">
            <a:solidFill>
              <a:srgbClr val="08A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7" name="Shape 25"/>
          <p:cNvSpPr/>
          <p:nvPr/>
        </p:nvSpPr>
        <p:spPr>
          <a:xfrm>
            <a:off x="3736848" y="4645152"/>
            <a:ext cx="2331720" cy="566928"/>
          </a:xfrm>
          <a:prstGeom prst="roundRect">
            <a:avLst>
              <a:gd name="adj" fmla="val 6452"/>
            </a:avLst>
          </a:prstGeom>
          <a:solidFill>
            <a:srgbClr val="F6F9FD"/>
          </a:solidFill>
          <a:ln w="14605">
            <a:solidFill>
              <a:srgbClr val="C8D5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3810000" y="4809744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2. Pivot long → wide by date</a:t>
            </a:r>
            <a:endParaRPr lang="en-US" sz="1400" dirty="0"/>
          </a:p>
        </p:txBody>
      </p:sp>
      <p:sp>
        <p:nvSpPr>
          <p:cNvPr id="29" name="Shape 27"/>
          <p:cNvSpPr/>
          <p:nvPr/>
        </p:nvSpPr>
        <p:spPr>
          <a:xfrm>
            <a:off x="6126480" y="5047488"/>
            <a:ext cx="146304" cy="201168"/>
          </a:xfrm>
          <a:prstGeom prst="chevron">
            <a:avLst/>
          </a:prstGeom>
          <a:solidFill>
            <a:srgbClr val="08A3C7"/>
          </a:solidFill>
          <a:ln w="12700">
            <a:solidFill>
              <a:srgbClr val="08A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Shape 28"/>
          <p:cNvSpPr/>
          <p:nvPr/>
        </p:nvSpPr>
        <p:spPr>
          <a:xfrm>
            <a:off x="6388608" y="4645152"/>
            <a:ext cx="2331720" cy="566928"/>
          </a:xfrm>
          <a:prstGeom prst="roundRect">
            <a:avLst>
              <a:gd name="adj" fmla="val 6452"/>
            </a:avLst>
          </a:prstGeom>
          <a:solidFill>
            <a:srgbClr val="F6F9FD"/>
          </a:solidFill>
          <a:ln w="14605">
            <a:solidFill>
              <a:srgbClr val="C8D5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Text 29"/>
          <p:cNvSpPr/>
          <p:nvPr/>
        </p:nvSpPr>
        <p:spPr>
          <a:xfrm>
            <a:off x="6461760" y="4809744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3. Left-join onto ETF panel</a:t>
            </a:r>
            <a:endParaRPr lang="en-US" sz="1400" dirty="0"/>
          </a:p>
        </p:txBody>
      </p:sp>
      <p:sp>
        <p:nvSpPr>
          <p:cNvPr id="32" name="Shape 30"/>
          <p:cNvSpPr/>
          <p:nvPr/>
        </p:nvSpPr>
        <p:spPr>
          <a:xfrm>
            <a:off x="8784336" y="4901184"/>
            <a:ext cx="146304" cy="201168"/>
          </a:xfrm>
          <a:prstGeom prst="chevron">
            <a:avLst/>
          </a:prstGeom>
          <a:solidFill>
            <a:srgbClr val="08A3C7"/>
          </a:solidFill>
          <a:ln w="12700">
            <a:solidFill>
              <a:srgbClr val="08A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3" name="Shape 31"/>
          <p:cNvSpPr/>
          <p:nvPr/>
        </p:nvSpPr>
        <p:spPr>
          <a:xfrm>
            <a:off x="9040368" y="4645152"/>
            <a:ext cx="2331720" cy="566928"/>
          </a:xfrm>
          <a:prstGeom prst="roundRect">
            <a:avLst>
              <a:gd name="adj" fmla="val 6452"/>
            </a:avLst>
          </a:prstGeom>
          <a:solidFill>
            <a:srgbClr val="DFF3FA"/>
          </a:solidFill>
          <a:ln w="14605">
            <a:solidFill>
              <a:srgbClr val="08A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9113520" y="4809744"/>
            <a:ext cx="2185416" cy="1645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400" b="1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4. Modeling-ready panel</a:t>
            </a:r>
            <a:endParaRPr lang="en-US" sz="1400" dirty="0"/>
          </a:p>
        </p:txBody>
      </p:sp>
      <p:sp>
        <p:nvSpPr>
          <p:cNvPr id="35" name="Text 33"/>
          <p:cNvSpPr/>
          <p:nvPr/>
        </p:nvSpPr>
        <p:spPr>
          <a:xfrm>
            <a:off x="649224" y="5673335"/>
            <a:ext cx="10735056" cy="66190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en-US" sz="1400" dirty="0">
              <a:ea typeface="Arial" pitchFamily="34" charset="-122"/>
              <a:cs typeface="Arial" pitchFamily="34" charset="-120"/>
            </a:endParaRP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a typeface="Arial" pitchFamily="34" charset="-122"/>
                <a:cs typeface="Arial" pitchFamily="34" charset="-120"/>
              </a:rPr>
              <a:t>trailing features end at time t, while the prediction target is next-week realized volatility over t+1 to t+5. 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sz="1400" dirty="0">
                <a:ea typeface="Arial" pitchFamily="34" charset="-122"/>
                <a:cs typeface="Arial" pitchFamily="34" charset="-120"/>
              </a:rPr>
              <a:t>This preserves a strict no-look-ahead design.</a:t>
            </a:r>
            <a:endParaRPr lang="en-US" sz="1400" dirty="0"/>
          </a:p>
        </p:txBody>
      </p:sp>
      <p:sp>
        <p:nvSpPr>
          <p:cNvPr id="38" name="Shape 19">
            <a:extLst>
              <a:ext uri="{FF2B5EF4-FFF2-40B4-BE49-F238E27FC236}">
                <a16:creationId xmlns:a16="http://schemas.microsoft.com/office/drawing/2014/main" id="{CB86D98C-0980-79FA-92CF-BDD0E780C443}"/>
              </a:ext>
            </a:extLst>
          </p:cNvPr>
          <p:cNvSpPr/>
          <p:nvPr/>
        </p:nvSpPr>
        <p:spPr>
          <a:xfrm>
            <a:off x="649224" y="5517887"/>
            <a:ext cx="2359152" cy="347472"/>
          </a:xfrm>
          <a:prstGeom prst="roundRect">
            <a:avLst>
              <a:gd name="adj" fmla="val 13158"/>
            </a:avLst>
          </a:prstGeom>
          <a:solidFill>
            <a:srgbClr val="E9F8FC"/>
          </a:solidFill>
          <a:ln w="12700">
            <a:solidFill>
              <a:srgbClr val="E9F8F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9" name="Text 20">
            <a:extLst>
              <a:ext uri="{FF2B5EF4-FFF2-40B4-BE49-F238E27FC236}">
                <a16:creationId xmlns:a16="http://schemas.microsoft.com/office/drawing/2014/main" id="{981FE59C-ACDE-9CDE-6C03-632FB9B479DB}"/>
              </a:ext>
            </a:extLst>
          </p:cNvPr>
          <p:cNvSpPr/>
          <p:nvPr/>
        </p:nvSpPr>
        <p:spPr>
          <a:xfrm>
            <a:off x="704088" y="5599231"/>
            <a:ext cx="2194560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B2445"/>
                </a:solidFill>
                <a:ea typeface="Arial" pitchFamily="34" charset="-122"/>
                <a:cs typeface="Arial" pitchFamily="34" charset="-120"/>
              </a:rPr>
              <a:t>Key modeling convention</a:t>
            </a:r>
            <a:endParaRPr lang="en-US" sz="14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2191695" cy="640080"/>
          </a:xfrm>
          <a:prstGeom prst="rect">
            <a:avLst/>
          </a:prstGeom>
          <a:solidFill>
            <a:srgbClr val="0B2445"/>
          </a:solidFill>
          <a:ln w="12700">
            <a:solidFill>
              <a:srgbClr val="0B24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20624" y="155448"/>
            <a:ext cx="11338560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2900" b="1" dirty="0">
                <a:solidFill>
                  <a:srgbClr val="FFFFFF"/>
                </a:solidFill>
                <a:ea typeface="Arial" pitchFamily="34" charset="-122"/>
                <a:cs typeface="Arial" pitchFamily="34" charset="-120"/>
              </a:rPr>
              <a:t>EDA</a:t>
            </a:r>
            <a:endParaRPr lang="en-US" sz="2900" dirty="0"/>
          </a:p>
        </p:txBody>
      </p:sp>
      <p:sp>
        <p:nvSpPr>
          <p:cNvPr id="4" name="Shape 2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445"/>
          </a:solidFill>
          <a:ln w="12700">
            <a:solidFill>
              <a:srgbClr val="0B2445">
                <a:alpha val="0"/>
              </a:srgbClr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559040" y="822960"/>
            <a:ext cx="23382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A3C7"/>
                </a:solidFill>
                <a:ea typeface="Arial" pitchFamily="34" charset="-122"/>
                <a:cs typeface="Arial" pitchFamily="34" charset="-120"/>
              </a:rPr>
              <a:t>Outputs &amp; Plots</a:t>
            </a:r>
            <a:endParaRPr lang="en-US" sz="2000" dirty="0"/>
          </a:p>
        </p:txBody>
      </p:sp>
      <p:sp>
        <p:nvSpPr>
          <p:cNvPr id="7" name="Shape 5"/>
          <p:cNvSpPr/>
          <p:nvPr/>
        </p:nvSpPr>
        <p:spPr>
          <a:xfrm>
            <a:off x="7905445" y="1152144"/>
            <a:ext cx="1643637" cy="0"/>
          </a:xfrm>
          <a:prstGeom prst="line">
            <a:avLst/>
          </a:prstGeom>
          <a:noFill/>
          <a:ln w="15240">
            <a:solidFill>
              <a:srgbClr val="08A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502920" y="1417320"/>
            <a:ext cx="4709160" cy="4983480"/>
          </a:xfrm>
          <a:prstGeom prst="roundRect">
            <a:avLst>
              <a:gd name="adj" fmla="val 1553"/>
            </a:avLst>
          </a:prstGeom>
          <a:solidFill>
            <a:srgbClr val="FFFFFF"/>
          </a:solidFill>
          <a:ln w="15875">
            <a:solidFill>
              <a:srgbClr val="C8D5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667512" y="1563624"/>
            <a:ext cx="4379976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A3C7"/>
                </a:solidFill>
                <a:ea typeface="Arial" pitchFamily="34" charset="-122"/>
                <a:cs typeface="Arial" pitchFamily="34" charset="-120"/>
              </a:rPr>
              <a:t>All EDA tests/checks performed</a:t>
            </a:r>
            <a:endParaRPr lang="en-US" sz="1400" dirty="0"/>
          </a:p>
        </p:txBody>
      </p:sp>
      <p:sp>
        <p:nvSpPr>
          <p:cNvPr id="10" name="Text 8"/>
          <p:cNvSpPr/>
          <p:nvPr/>
        </p:nvSpPr>
        <p:spPr>
          <a:xfrm>
            <a:off x="667512" y="1837944"/>
            <a:ext cx="2098548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</a:pP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1) </a:t>
            </a:r>
            <a:r>
              <a:rPr lang="en-US" sz="1200" b="1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Load + robust date parse </a:t>
            </a: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+ canonical (ticker, date) sort</a:t>
            </a:r>
          </a:p>
          <a:p>
            <a:pPr>
              <a:buSzPct val="100000"/>
            </a:pPr>
            <a:endParaRPr lang="en-US" sz="1200" dirty="0"/>
          </a:p>
          <a:p>
            <a:pPr>
              <a:buSzPct val="100000"/>
            </a:pP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2) </a:t>
            </a:r>
            <a:r>
              <a:rPr lang="en-US" sz="1200" b="1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Panel integrity</a:t>
            </a: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: duplicate key check; per-ticker monotone dates</a:t>
            </a:r>
          </a:p>
          <a:p>
            <a:pPr marL="228600" indent="-228600">
              <a:buSzPct val="100000"/>
              <a:buChar char="•"/>
            </a:pPr>
            <a:endParaRPr lang="en-US" sz="1200" dirty="0"/>
          </a:p>
          <a:p>
            <a:pPr>
              <a:buSzPct val="100000"/>
            </a:pP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3) </a:t>
            </a:r>
            <a:r>
              <a:rPr lang="en-US" sz="1200" b="1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Coverage</a:t>
            </a:r>
            <a:r>
              <a:rPr lang="en-US" sz="1200" b="1" dirty="0">
                <a:ea typeface="Arial" pitchFamily="34" charset="-122"/>
                <a:cs typeface="Arial" pitchFamily="34" charset="-120"/>
              </a:rPr>
              <a:t>: </a:t>
            </a:r>
            <a:r>
              <a:rPr lang="en-US" sz="1200" dirty="0">
                <a:ea typeface="Arial" pitchFamily="34" charset="-122"/>
                <a:cs typeface="Arial" pitchFamily="34" charset="-120"/>
              </a:rPr>
              <a:t>per-ticker </a:t>
            </a: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start/end and n_days table</a:t>
            </a:r>
          </a:p>
          <a:p>
            <a:pPr marL="228600" indent="-228600">
              <a:buSzPct val="100000"/>
              <a:buChar char="•"/>
            </a:pPr>
            <a:endParaRPr lang="en-US" sz="1200" dirty="0"/>
          </a:p>
          <a:p>
            <a:pPr>
              <a:buSzPct val="100000"/>
            </a:pP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4) </a:t>
            </a:r>
            <a:r>
              <a:rPr lang="en-US" sz="1200" b="1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Gaps: </a:t>
            </a: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flag calendar gaps &gt; 10 days within ticker</a:t>
            </a:r>
          </a:p>
          <a:p>
            <a:pPr marL="228600" indent="-228600">
              <a:buSzPct val="100000"/>
              <a:buChar char="•"/>
            </a:pPr>
            <a:endParaRPr lang="en-US" sz="1200" dirty="0"/>
          </a:p>
          <a:p>
            <a:pPr>
              <a:buSzPct val="100000"/>
            </a:pP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5) </a:t>
            </a:r>
            <a:r>
              <a:rPr lang="en-US" sz="1200" b="1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Missingness: </a:t>
            </a: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by-column rates + target missingness by ticker</a:t>
            </a:r>
          </a:p>
          <a:p>
            <a:pPr marL="228600" indent="-228600">
              <a:buSzPct val="100000"/>
              <a:buChar char="•"/>
            </a:pPr>
            <a:endParaRPr lang="en-US" sz="1200" dirty="0">
              <a:solidFill>
                <a:srgbClr val="1F2A44"/>
              </a:solidFill>
              <a:ea typeface="Arial" pitchFamily="34" charset="-122"/>
              <a:cs typeface="Arial" pitchFamily="34" charset="-120"/>
            </a:endParaRPr>
          </a:p>
          <a:p>
            <a:pPr>
              <a:buSzPct val="100000"/>
            </a:pP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6) </a:t>
            </a:r>
            <a:r>
              <a:rPr lang="en-US" sz="1200" b="1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Macro sanity: </a:t>
            </a: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macro columns constant across tickers per date (</a:t>
            </a:r>
            <a:r>
              <a:rPr lang="en-US" sz="1200" dirty="0" err="1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nunique</a:t>
            </a: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)</a:t>
            </a:r>
          </a:p>
          <a:p>
            <a:pPr marL="228600" indent="-228600">
              <a:buSzPct val="100000"/>
              <a:buChar char="•"/>
            </a:pPr>
            <a:endParaRPr lang="en-US" sz="1200" dirty="0"/>
          </a:p>
          <a:p>
            <a:pPr>
              <a:buSzPct val="100000"/>
            </a:pP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7) </a:t>
            </a:r>
            <a:r>
              <a:rPr lang="en-US" sz="1200" b="1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Distribution EDA: </a:t>
            </a: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returns, log(volume), trailing vol (calc + FactSet), target</a:t>
            </a:r>
            <a:endParaRPr lang="en-US" sz="1200" dirty="0"/>
          </a:p>
          <a:p>
            <a:pPr>
              <a:buSzPct val="100000"/>
            </a:pPr>
            <a:endParaRPr lang="en-US" sz="1200" dirty="0"/>
          </a:p>
        </p:txBody>
      </p:sp>
      <p:sp>
        <p:nvSpPr>
          <p:cNvPr id="11" name="Text 9"/>
          <p:cNvSpPr/>
          <p:nvPr/>
        </p:nvSpPr>
        <p:spPr>
          <a:xfrm>
            <a:off x="2948940" y="1837944"/>
            <a:ext cx="2098548" cy="4526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>
              <a:buSzPct val="100000"/>
            </a:pP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8) </a:t>
            </a:r>
            <a:r>
              <a:rPr lang="en-US" sz="1200" b="1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Single-ticker series</a:t>
            </a: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: price, returns, trailing vol, target + macro overlays</a:t>
            </a:r>
            <a:endParaRPr lang="en-US" sz="1200" dirty="0"/>
          </a:p>
          <a:p>
            <a:pPr marL="228600" indent="-228600">
              <a:buSzPct val="100000"/>
              <a:buChar char="•"/>
            </a:pPr>
            <a:endParaRPr lang="en-US" sz="1200" dirty="0">
              <a:solidFill>
                <a:srgbClr val="1F2A44"/>
              </a:solidFill>
              <a:ea typeface="Arial" pitchFamily="34" charset="-122"/>
              <a:cs typeface="Arial" pitchFamily="34" charset="-120"/>
            </a:endParaRPr>
          </a:p>
          <a:p>
            <a:pPr>
              <a:buSzPct val="100000"/>
            </a:pP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9) </a:t>
            </a:r>
            <a:r>
              <a:rPr lang="en-US" sz="1200" b="1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ACF diagnostics: </a:t>
            </a: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returns vs squared returns vs target forward vol</a:t>
            </a:r>
          </a:p>
          <a:p>
            <a:pPr marL="228600" indent="-228600">
              <a:buSzPct val="100000"/>
              <a:buChar char="•"/>
            </a:pPr>
            <a:endParaRPr lang="en-US" sz="1200" dirty="0"/>
          </a:p>
          <a:p>
            <a:pPr>
              <a:buSzPct val="100000"/>
            </a:pP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10) </a:t>
            </a:r>
            <a:r>
              <a:rPr lang="en-US" sz="1200" b="1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Feature–target checks: </a:t>
            </a: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train-only corr table + scatter plots</a:t>
            </a:r>
          </a:p>
          <a:p>
            <a:pPr marL="228600" indent="-228600">
              <a:buSzPct val="100000"/>
              <a:buChar char="•"/>
            </a:pPr>
            <a:endParaRPr lang="en-US" sz="1200" dirty="0"/>
          </a:p>
          <a:p>
            <a:pPr>
              <a:buSzPct val="100000"/>
            </a:pP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11) </a:t>
            </a:r>
            <a:r>
              <a:rPr lang="en-US" sz="1200" b="1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Leakage/alignment: </a:t>
            </a: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recompute returns, trailing vol, forward vol; compare</a:t>
            </a:r>
          </a:p>
          <a:p>
            <a:pPr marL="228600" indent="-228600">
              <a:buSzPct val="100000"/>
              <a:buChar char="•"/>
            </a:pPr>
            <a:endParaRPr lang="en-US" sz="1200" dirty="0"/>
          </a:p>
          <a:p>
            <a:pPr>
              <a:buSzPct val="100000"/>
            </a:pP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12) </a:t>
            </a:r>
            <a:r>
              <a:rPr lang="en-US" sz="1200" b="1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Baselines: </a:t>
            </a: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persistence using trailing 5d/20d vol (RMSE/MAE on train/val/test)</a:t>
            </a:r>
          </a:p>
          <a:p>
            <a:pPr marL="228600" indent="-228600">
              <a:buSzPct val="100000"/>
              <a:buChar char="•"/>
            </a:pPr>
            <a:endParaRPr lang="en-US" sz="1200" dirty="0"/>
          </a:p>
          <a:p>
            <a:pPr>
              <a:buSzPct val="100000"/>
            </a:pP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13) </a:t>
            </a:r>
            <a:r>
              <a:rPr lang="en-US" sz="1200" b="1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Save artifacts: </a:t>
            </a:r>
            <a:r>
              <a:rPr lang="en-US" sz="1200" dirty="0">
                <a:solidFill>
                  <a:srgbClr val="1F2A44"/>
                </a:solidFill>
                <a:ea typeface="Arial" pitchFamily="34" charset="-122"/>
                <a:cs typeface="Arial" pitchFamily="34" charset="-120"/>
              </a:rPr>
              <a:t>coverage/missingness/macro-check tables to disk</a:t>
            </a:r>
            <a:endParaRPr lang="en-US" sz="1200" dirty="0"/>
          </a:p>
        </p:txBody>
      </p:sp>
      <p:sp>
        <p:nvSpPr>
          <p:cNvPr id="12" name="Shape 10"/>
          <p:cNvSpPr/>
          <p:nvPr/>
        </p:nvSpPr>
        <p:spPr>
          <a:xfrm>
            <a:off x="5349240" y="1417320"/>
            <a:ext cx="6793992" cy="4983480"/>
          </a:xfrm>
          <a:prstGeom prst="roundRect">
            <a:avLst>
              <a:gd name="adj" fmla="val 1468"/>
            </a:avLst>
          </a:prstGeom>
          <a:solidFill>
            <a:srgbClr val="FFFFFF"/>
          </a:solidFill>
          <a:ln w="15875">
            <a:solidFill>
              <a:srgbClr val="C8D5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5513832" y="1563624"/>
            <a:ext cx="6464808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08A3C7"/>
                </a:solidFill>
                <a:ea typeface="Arial" pitchFamily="34" charset="-122"/>
                <a:cs typeface="Arial" pitchFamily="34" charset="-120"/>
              </a:rPr>
              <a:t>Representative plots produced by the notebook</a:t>
            </a:r>
            <a:endParaRPr lang="en-US" sz="1400" dirty="0"/>
          </a:p>
        </p:txBody>
      </p:sp>
      <p:sp>
        <p:nvSpPr>
          <p:cNvPr id="14" name="Text 12"/>
          <p:cNvSpPr/>
          <p:nvPr/>
        </p:nvSpPr>
        <p:spPr>
          <a:xfrm>
            <a:off x="5513832" y="1764792"/>
            <a:ext cx="6464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ea typeface="Arial" pitchFamily="34" charset="-122"/>
                <a:cs typeface="Arial" pitchFamily="34" charset="-120"/>
              </a:rPr>
              <a:t>Data quality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5513832" y="3328416"/>
            <a:ext cx="6464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ea typeface="Arial" pitchFamily="34" charset="-122"/>
                <a:cs typeface="Arial" pitchFamily="34" charset="-120"/>
              </a:rPr>
              <a:t>Time-series structure</a:t>
            </a:r>
            <a:endParaRPr lang="en-US" sz="1200" dirty="0"/>
          </a:p>
        </p:txBody>
      </p:sp>
      <p:sp>
        <p:nvSpPr>
          <p:cNvPr id="16" name="Text 14"/>
          <p:cNvSpPr/>
          <p:nvPr/>
        </p:nvSpPr>
        <p:spPr>
          <a:xfrm>
            <a:off x="5513832" y="4892040"/>
            <a:ext cx="6464808" cy="14630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ea typeface="Arial" pitchFamily="34" charset="-122"/>
                <a:cs typeface="Arial" pitchFamily="34" charset="-120"/>
              </a:rPr>
              <a:t>Signal, leakage checks, baselines</a:t>
            </a:r>
            <a:endParaRPr lang="en-US" sz="1200" b="1" dirty="0"/>
          </a:p>
        </p:txBody>
      </p:sp>
      <p:sp>
        <p:nvSpPr>
          <p:cNvPr id="17" name="Shape 15"/>
          <p:cNvSpPr/>
          <p:nvPr/>
        </p:nvSpPr>
        <p:spPr>
          <a:xfrm>
            <a:off x="5513832" y="1975104"/>
            <a:ext cx="2045208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C8D5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0" descr="/mnt/data/eda_thumbs/coverage_crop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1884" y="1988820"/>
            <a:ext cx="1136107" cy="1097280"/>
          </a:xfrm>
          <a:prstGeom prst="rect">
            <a:avLst/>
          </a:prstGeom>
        </p:spPr>
      </p:pic>
      <p:sp>
        <p:nvSpPr>
          <p:cNvPr id="19" name="Shape 16"/>
          <p:cNvSpPr/>
          <p:nvPr/>
        </p:nvSpPr>
        <p:spPr>
          <a:xfrm>
            <a:off x="7723632" y="1975104"/>
            <a:ext cx="2045208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C8D5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0" name="Image 1" descr="/mnt/data/eda_thumbs/missingness_crop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042605" y="2020824"/>
            <a:ext cx="1681582" cy="1097280"/>
          </a:xfrm>
          <a:prstGeom prst="rect">
            <a:avLst/>
          </a:prstGeom>
        </p:spPr>
      </p:pic>
      <p:sp>
        <p:nvSpPr>
          <p:cNvPr id="21" name="Shape 17"/>
          <p:cNvSpPr/>
          <p:nvPr/>
        </p:nvSpPr>
        <p:spPr>
          <a:xfrm>
            <a:off x="9933432" y="1975104"/>
            <a:ext cx="2045208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C8D5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2" name="Image 2" descr="/mnt/data/eda_thumbs/macro_crop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951719" y="2079783"/>
            <a:ext cx="1900646" cy="745713"/>
          </a:xfrm>
          <a:prstGeom prst="rect">
            <a:avLst/>
          </a:prstGeom>
        </p:spPr>
      </p:pic>
      <p:sp>
        <p:nvSpPr>
          <p:cNvPr id="23" name="Shape 18"/>
          <p:cNvSpPr/>
          <p:nvPr/>
        </p:nvSpPr>
        <p:spPr>
          <a:xfrm>
            <a:off x="5513832" y="3538728"/>
            <a:ext cx="2045208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C8D5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3" descr="/mnt/data/eda_thumbs/dist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130015" y="3584448"/>
            <a:ext cx="812841" cy="1097280"/>
          </a:xfrm>
          <a:prstGeom prst="rect">
            <a:avLst/>
          </a:prstGeom>
        </p:spPr>
      </p:pic>
      <p:sp>
        <p:nvSpPr>
          <p:cNvPr id="25" name="Shape 19"/>
          <p:cNvSpPr/>
          <p:nvPr/>
        </p:nvSpPr>
        <p:spPr>
          <a:xfrm>
            <a:off x="7723632" y="3538728"/>
            <a:ext cx="2045208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C8D5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6" name="Image 4" descr="/mnt/data/eda_thumbs/ts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8352573" y="3563548"/>
            <a:ext cx="812841" cy="1097280"/>
          </a:xfrm>
          <a:prstGeom prst="rect">
            <a:avLst/>
          </a:prstGeom>
        </p:spPr>
      </p:pic>
      <p:sp>
        <p:nvSpPr>
          <p:cNvPr id="27" name="Shape 20"/>
          <p:cNvSpPr/>
          <p:nvPr/>
        </p:nvSpPr>
        <p:spPr>
          <a:xfrm>
            <a:off x="9933432" y="3538728"/>
            <a:ext cx="2045208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C8D5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8" name="Image 5" descr="/mnt/data/eda_thumbs/acf_combo_final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10565453" y="3584448"/>
            <a:ext cx="781166" cy="1097280"/>
          </a:xfrm>
          <a:prstGeom prst="rect">
            <a:avLst/>
          </a:prstGeom>
        </p:spPr>
      </p:pic>
      <p:sp>
        <p:nvSpPr>
          <p:cNvPr id="29" name="Shape 21"/>
          <p:cNvSpPr/>
          <p:nvPr/>
        </p:nvSpPr>
        <p:spPr>
          <a:xfrm>
            <a:off x="5513832" y="5102352"/>
            <a:ext cx="2045208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C8D5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6" descr="/mnt/data/eda_thumbs/scatter.png"/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6130015" y="5148072"/>
            <a:ext cx="812841" cy="1097280"/>
          </a:xfrm>
          <a:prstGeom prst="rect">
            <a:avLst/>
          </a:prstGeom>
        </p:spPr>
      </p:pic>
      <p:sp>
        <p:nvSpPr>
          <p:cNvPr id="31" name="Shape 22"/>
          <p:cNvSpPr/>
          <p:nvPr/>
        </p:nvSpPr>
        <p:spPr>
          <a:xfrm>
            <a:off x="7723632" y="5102352"/>
            <a:ext cx="2045208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C8D5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2" name="Image 7" descr="/mnt/data/eda_thumbs/leak.png"/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8339815" y="5148072"/>
            <a:ext cx="812841" cy="1097280"/>
          </a:xfrm>
          <a:prstGeom prst="rect">
            <a:avLst/>
          </a:prstGeom>
        </p:spPr>
      </p:pic>
      <p:sp>
        <p:nvSpPr>
          <p:cNvPr id="33" name="Shape 23"/>
          <p:cNvSpPr/>
          <p:nvPr/>
        </p:nvSpPr>
        <p:spPr>
          <a:xfrm>
            <a:off x="9933432" y="5102352"/>
            <a:ext cx="2045208" cy="1188720"/>
          </a:xfrm>
          <a:prstGeom prst="rect">
            <a:avLst/>
          </a:prstGeom>
          <a:solidFill>
            <a:srgbClr val="FFFFFF"/>
          </a:solidFill>
          <a:ln w="11430">
            <a:solidFill>
              <a:srgbClr val="C8D5E6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4" name="Image 8" descr="/mnt/data/eda_thumbs/baseline_crop.png"/>
          <p:cNvPicPr>
            <a:picLocks noChangeAspect="1"/>
          </p:cNvPicPr>
          <p:nvPr/>
        </p:nvPicPr>
        <p:blipFill>
          <a:blip r:embed="rId11"/>
          <a:stretch>
            <a:fillRect/>
          </a:stretch>
        </p:blipFill>
        <p:spPr>
          <a:xfrm>
            <a:off x="9992435" y="5257133"/>
            <a:ext cx="1953768" cy="458839"/>
          </a:xfrm>
          <a:prstGeom prst="rect">
            <a:avLst/>
          </a:prstGeom>
        </p:spPr>
      </p:pic>
      <p:sp>
        <p:nvSpPr>
          <p:cNvPr id="36" name="Rectangle 35">
            <a:extLst>
              <a:ext uri="{FF2B5EF4-FFF2-40B4-BE49-F238E27FC236}">
                <a16:creationId xmlns:a16="http://schemas.microsoft.com/office/drawing/2014/main" id="{FD897550-A202-3B81-3CAF-EF872806DCBC}"/>
              </a:ext>
            </a:extLst>
          </p:cNvPr>
          <p:cNvSpPr/>
          <p:nvPr/>
        </p:nvSpPr>
        <p:spPr>
          <a:xfrm>
            <a:off x="5968383" y="2916936"/>
            <a:ext cx="1136107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000" tIns="4000" rIns="12000" bIns="2000" rtlCol="0" anchor="ctr"/>
          <a:lstStyle/>
          <a:p>
            <a:pPr algn="ctr"/>
            <a:r>
              <a:rPr sz="850" b="1" dirty="0">
                <a:solidFill>
                  <a:schemeClr val="tx1"/>
                </a:solidFill>
                <a:latin typeface="Arial"/>
              </a:rPr>
              <a:t>Coverage by ticker</a:t>
            </a:r>
          </a:p>
        </p:txBody>
      </p:sp>
      <p:sp>
        <p:nvSpPr>
          <p:cNvPr id="37" name="Rectangle 36">
            <a:extLst>
              <a:ext uri="{FF2B5EF4-FFF2-40B4-BE49-F238E27FC236}">
                <a16:creationId xmlns:a16="http://schemas.microsoft.com/office/drawing/2014/main" id="{679420DD-5BF9-3E50-8418-BD3B4D5F7B51}"/>
              </a:ext>
            </a:extLst>
          </p:cNvPr>
          <p:cNvSpPr/>
          <p:nvPr/>
        </p:nvSpPr>
        <p:spPr>
          <a:xfrm>
            <a:off x="7905445" y="2916936"/>
            <a:ext cx="1681582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000" tIns="4000" rIns="12000" bIns="2000" rtlCol="0" anchor="ctr"/>
          <a:lstStyle/>
          <a:p>
            <a:pPr algn="ctr"/>
            <a:r>
              <a:rPr sz="850" b="1" dirty="0">
                <a:solidFill>
                  <a:schemeClr val="tx1"/>
                </a:solidFill>
                <a:latin typeface="Arial"/>
              </a:rPr>
              <a:t>Gaps &amp; missingness</a:t>
            </a:r>
          </a:p>
        </p:txBody>
      </p:sp>
      <p:sp>
        <p:nvSpPr>
          <p:cNvPr id="38" name="Rectangle 37">
            <a:extLst>
              <a:ext uri="{FF2B5EF4-FFF2-40B4-BE49-F238E27FC236}">
                <a16:creationId xmlns:a16="http://schemas.microsoft.com/office/drawing/2014/main" id="{6A8FC696-DFE6-43CA-5B3B-C47D0567F302}"/>
              </a:ext>
            </a:extLst>
          </p:cNvPr>
          <p:cNvSpPr/>
          <p:nvPr/>
        </p:nvSpPr>
        <p:spPr>
          <a:xfrm>
            <a:off x="9979152" y="2935224"/>
            <a:ext cx="1953768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000" tIns="4000" rIns="12000" bIns="2000" rtlCol="0" anchor="ctr"/>
          <a:lstStyle/>
          <a:p>
            <a:pPr algn="ctr"/>
            <a:r>
              <a:rPr sz="850" b="1" dirty="0">
                <a:solidFill>
                  <a:schemeClr val="tx1"/>
                </a:solidFill>
                <a:latin typeface="Arial"/>
              </a:rPr>
              <a:t>Macro constancy check</a:t>
            </a:r>
          </a:p>
        </p:txBody>
      </p:sp>
      <p:sp>
        <p:nvSpPr>
          <p:cNvPr id="39" name="Rectangle 38">
            <a:extLst>
              <a:ext uri="{FF2B5EF4-FFF2-40B4-BE49-F238E27FC236}">
                <a16:creationId xmlns:a16="http://schemas.microsoft.com/office/drawing/2014/main" id="{5026C52B-3CBD-39DE-84EC-42C809BDBDFF}"/>
              </a:ext>
            </a:extLst>
          </p:cNvPr>
          <p:cNvSpPr/>
          <p:nvPr/>
        </p:nvSpPr>
        <p:spPr>
          <a:xfrm>
            <a:off x="6043968" y="4432881"/>
            <a:ext cx="1101714" cy="265176"/>
          </a:xfrm>
          <a:prstGeom prst="rect">
            <a:avLst/>
          </a:prstGeom>
          <a:solidFill>
            <a:srgbClr val="FFFFFF"/>
          </a:solidFill>
          <a:ln w="635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000" tIns="4000" rIns="12000" bIns="2000" rtlCol="0" anchor="ctr"/>
          <a:lstStyle/>
          <a:p>
            <a:pPr algn="ctr"/>
            <a:r>
              <a:rPr sz="850" b="1" dirty="0">
                <a:solidFill>
                  <a:schemeClr val="tx1"/>
                </a:solidFill>
                <a:latin typeface="Arial"/>
              </a:rPr>
              <a:t>Pooled distributions
(returns/volume/vol)</a:t>
            </a:r>
          </a:p>
        </p:txBody>
      </p:sp>
      <p:sp>
        <p:nvSpPr>
          <p:cNvPr id="40" name="Rectangle 39">
            <a:extLst>
              <a:ext uri="{FF2B5EF4-FFF2-40B4-BE49-F238E27FC236}">
                <a16:creationId xmlns:a16="http://schemas.microsoft.com/office/drawing/2014/main" id="{729D3D25-8A0D-71C9-FA33-26C761269473}"/>
              </a:ext>
            </a:extLst>
          </p:cNvPr>
          <p:cNvSpPr/>
          <p:nvPr/>
        </p:nvSpPr>
        <p:spPr>
          <a:xfrm>
            <a:off x="8339815" y="4493623"/>
            <a:ext cx="903245" cy="201168"/>
          </a:xfrm>
          <a:prstGeom prst="rect">
            <a:avLst/>
          </a:prstGeom>
          <a:solidFill>
            <a:srgbClr val="FFFFFF"/>
          </a:solidFill>
          <a:ln w="635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000" tIns="4000" rIns="12000" bIns="2000" rtlCol="0" anchor="ctr"/>
          <a:lstStyle/>
          <a:p>
            <a:pPr algn="ctr"/>
            <a:r>
              <a:rPr sz="850" b="1" dirty="0">
                <a:solidFill>
                  <a:schemeClr val="tx1"/>
                </a:solidFill>
                <a:latin typeface="Arial"/>
              </a:rPr>
              <a:t>Single-ticker</a:t>
            </a:r>
          </a:p>
        </p:txBody>
      </p:sp>
      <p:sp>
        <p:nvSpPr>
          <p:cNvPr id="41" name="Rectangle 40">
            <a:extLst>
              <a:ext uri="{FF2B5EF4-FFF2-40B4-BE49-F238E27FC236}">
                <a16:creationId xmlns:a16="http://schemas.microsoft.com/office/drawing/2014/main" id="{D89BF1CC-4B4F-BB49-CC51-836CC243F754}"/>
              </a:ext>
            </a:extLst>
          </p:cNvPr>
          <p:cNvSpPr/>
          <p:nvPr/>
        </p:nvSpPr>
        <p:spPr>
          <a:xfrm>
            <a:off x="10497990" y="4455741"/>
            <a:ext cx="1123627" cy="233172"/>
          </a:xfrm>
          <a:prstGeom prst="rect">
            <a:avLst/>
          </a:prstGeom>
          <a:solidFill>
            <a:srgbClr val="FFFFFF"/>
          </a:solidFill>
          <a:ln w="635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000" tIns="4000" rIns="12000" bIns="2000" rtlCol="0" anchor="ctr"/>
          <a:lstStyle/>
          <a:p>
            <a:pPr algn="ctr"/>
            <a:r>
              <a:rPr sz="850" b="1" dirty="0">
                <a:solidFill>
                  <a:schemeClr val="tx1"/>
                </a:solidFill>
                <a:latin typeface="Arial"/>
              </a:rPr>
              <a:t>ACF diagnostics 
returns, sq. returns, </a:t>
            </a:r>
          </a:p>
        </p:txBody>
      </p:sp>
      <p:sp>
        <p:nvSpPr>
          <p:cNvPr id="42" name="Rectangle 41">
            <a:extLst>
              <a:ext uri="{FF2B5EF4-FFF2-40B4-BE49-F238E27FC236}">
                <a16:creationId xmlns:a16="http://schemas.microsoft.com/office/drawing/2014/main" id="{6209993F-2B4F-0510-66E4-5F62070DEE45}"/>
              </a:ext>
            </a:extLst>
          </p:cNvPr>
          <p:cNvSpPr/>
          <p:nvPr/>
        </p:nvSpPr>
        <p:spPr>
          <a:xfrm>
            <a:off x="5828263" y="6038957"/>
            <a:ext cx="1519728" cy="219457"/>
          </a:xfrm>
          <a:prstGeom prst="rect">
            <a:avLst/>
          </a:prstGeom>
          <a:solidFill>
            <a:srgbClr val="FFFFFF"/>
          </a:solidFill>
          <a:ln w="635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000" tIns="4000" rIns="12000" bIns="2000" rtlCol="0" anchor="ctr"/>
          <a:lstStyle/>
          <a:p>
            <a:pPr algn="ctr"/>
            <a:r>
              <a:rPr sz="850" b="1" dirty="0">
                <a:solidFill>
                  <a:schemeClr val="tx1"/>
                </a:solidFill>
                <a:latin typeface="Arial"/>
              </a:rPr>
              <a:t>Feature–target relationships
(</a:t>
            </a:r>
            <a:r>
              <a:rPr sz="850" b="1" dirty="0" err="1">
                <a:solidFill>
                  <a:schemeClr val="tx1"/>
                </a:solidFill>
                <a:latin typeface="Arial"/>
              </a:rPr>
              <a:t>corr</a:t>
            </a:r>
            <a:r>
              <a:rPr sz="850" b="1" dirty="0">
                <a:solidFill>
                  <a:schemeClr val="tx1"/>
                </a:solidFill>
                <a:latin typeface="Arial"/>
              </a:rPr>
              <a:t> + scatter)</a:t>
            </a:r>
          </a:p>
        </p:txBody>
      </p:sp>
      <p:sp>
        <p:nvSpPr>
          <p:cNvPr id="43" name="Rectangle 42">
            <a:extLst>
              <a:ext uri="{FF2B5EF4-FFF2-40B4-BE49-F238E27FC236}">
                <a16:creationId xmlns:a16="http://schemas.microsoft.com/office/drawing/2014/main" id="{E88D3FBE-ED9B-049D-694C-6C0BD1AC17E0}"/>
              </a:ext>
            </a:extLst>
          </p:cNvPr>
          <p:cNvSpPr/>
          <p:nvPr/>
        </p:nvSpPr>
        <p:spPr>
          <a:xfrm>
            <a:off x="8033791" y="6050716"/>
            <a:ext cx="1515291" cy="210311"/>
          </a:xfrm>
          <a:prstGeom prst="rect">
            <a:avLst/>
          </a:prstGeom>
          <a:solidFill>
            <a:srgbClr val="FFFFFF"/>
          </a:solidFill>
          <a:ln w="635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000" tIns="4000" rIns="12000" bIns="2000" rtlCol="0" anchor="ctr"/>
          <a:lstStyle/>
          <a:p>
            <a:pPr algn="ctr"/>
            <a:r>
              <a:rPr sz="850" b="1" dirty="0">
                <a:solidFill>
                  <a:schemeClr val="tx1"/>
                </a:solidFill>
                <a:latin typeface="Arial"/>
              </a:rPr>
              <a:t>Leakage/alignment checks</a:t>
            </a:r>
          </a:p>
        </p:txBody>
      </p:sp>
      <p:sp>
        <p:nvSpPr>
          <p:cNvPr id="44" name="Rectangle 43">
            <a:extLst>
              <a:ext uri="{FF2B5EF4-FFF2-40B4-BE49-F238E27FC236}">
                <a16:creationId xmlns:a16="http://schemas.microsoft.com/office/drawing/2014/main" id="{D56C1AB5-ED87-50D6-3046-593844A64EFB}"/>
              </a:ext>
            </a:extLst>
          </p:cNvPr>
          <p:cNvSpPr/>
          <p:nvPr/>
        </p:nvSpPr>
        <p:spPr>
          <a:xfrm>
            <a:off x="10142437" y="6059207"/>
            <a:ext cx="1709928" cy="171121"/>
          </a:xfrm>
          <a:prstGeom prst="rect">
            <a:avLst/>
          </a:prstGeom>
          <a:solidFill>
            <a:srgbClr val="FFFFFF"/>
          </a:solidFill>
          <a:ln w="6350">
            <a:solidFill>
              <a:srgbClr val="C8D5E6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wrap="square" lIns="12000" tIns="4000" rIns="12000" bIns="2000" rtlCol="0" anchor="ctr"/>
          <a:lstStyle/>
          <a:p>
            <a:pPr algn="ctr"/>
            <a:r>
              <a:rPr sz="850" b="1" dirty="0">
                <a:solidFill>
                  <a:schemeClr val="tx1"/>
                </a:solidFill>
                <a:latin typeface="Arial"/>
              </a:rPr>
              <a:t>Baselines to beat</a:t>
            </a:r>
          </a:p>
        </p:txBody>
      </p:sp>
      <p:sp>
        <p:nvSpPr>
          <p:cNvPr id="45" name="Text 4">
            <a:extLst>
              <a:ext uri="{FF2B5EF4-FFF2-40B4-BE49-F238E27FC236}">
                <a16:creationId xmlns:a16="http://schemas.microsoft.com/office/drawing/2014/main" id="{E5345DA6-C830-2CF4-453D-19E2ABE68BC6}"/>
              </a:ext>
            </a:extLst>
          </p:cNvPr>
          <p:cNvSpPr/>
          <p:nvPr/>
        </p:nvSpPr>
        <p:spPr>
          <a:xfrm>
            <a:off x="1896291" y="847344"/>
            <a:ext cx="2338251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000" b="1" dirty="0">
                <a:solidFill>
                  <a:srgbClr val="08A3C7"/>
                </a:solidFill>
                <a:ea typeface="Arial" pitchFamily="34" charset="-122"/>
                <a:cs typeface="Arial" pitchFamily="34" charset="-120"/>
              </a:rPr>
              <a:t>EDA Tests</a:t>
            </a:r>
            <a:endParaRPr lang="en-US" sz="2000" dirty="0"/>
          </a:p>
        </p:txBody>
      </p:sp>
      <p:sp>
        <p:nvSpPr>
          <p:cNvPr id="46" name="Shape 5">
            <a:extLst>
              <a:ext uri="{FF2B5EF4-FFF2-40B4-BE49-F238E27FC236}">
                <a16:creationId xmlns:a16="http://schemas.microsoft.com/office/drawing/2014/main" id="{093B9FA4-F5C8-06E5-E026-A7E3FFF94532}"/>
              </a:ext>
            </a:extLst>
          </p:cNvPr>
          <p:cNvSpPr/>
          <p:nvPr/>
        </p:nvSpPr>
        <p:spPr>
          <a:xfrm flipV="1">
            <a:off x="2599508" y="1152144"/>
            <a:ext cx="979715" cy="0"/>
          </a:xfrm>
          <a:prstGeom prst="line">
            <a:avLst/>
          </a:prstGeom>
          <a:noFill/>
          <a:ln w="15240">
            <a:solidFill>
              <a:srgbClr val="08A3C7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3">
            <a:extLst>
              <a:ext uri="{FF2B5EF4-FFF2-40B4-BE49-F238E27FC236}">
                <a16:creationId xmlns:a16="http://schemas.microsoft.com/office/drawing/2014/main" id="{5FCC1BC8-5AEE-0C4A-72D1-04569D7295A9}"/>
              </a:ext>
            </a:extLst>
          </p:cNvPr>
          <p:cNvSpPr/>
          <p:nvPr/>
        </p:nvSpPr>
        <p:spPr>
          <a:xfrm>
            <a:off x="329184" y="6615684"/>
            <a:ext cx="6217920" cy="190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AAAACC"/>
                </a:solidFill>
              </a:rPr>
              <a:t>DATASCI 207  ·  Final Project: Forecasting Volatility In Stock Market  ·  March 2026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Rectangle 2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0B2445"/>
          </a:solidFill>
          <a:ln>
            <a:solidFill>
              <a:srgbClr val="0B2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0B2445"/>
          </a:solidFill>
          <a:ln>
            <a:solidFill>
              <a:srgbClr val="0B2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0000" y="60736"/>
            <a:ext cx="2541800" cy="53860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lang="en-US" sz="2900" b="1" dirty="0">
                <a:solidFill>
                  <a:srgbClr val="FFFFFF"/>
                </a:solidFill>
              </a:rPr>
              <a:t>D</a:t>
            </a:r>
            <a:r>
              <a:rPr lang="en-US" sz="2900" b="1" i="0" dirty="0">
                <a:solidFill>
                  <a:srgbClr val="FFFFFF"/>
                </a:solidFill>
              </a:rPr>
              <a:t>ata Splitting</a:t>
            </a:r>
            <a:endParaRPr sz="2900" b="1" i="0" dirty="0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304148" y="789355"/>
            <a:ext cx="11491703" cy="40011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lang="en-US" sz="2000" b="1" dirty="0">
                <a:solidFill>
                  <a:srgbClr val="169EC5"/>
                </a:solidFill>
              </a:rPr>
              <a:t>S</a:t>
            </a:r>
            <a:r>
              <a:rPr lang="en-US" sz="2000" b="1" i="0" dirty="0">
                <a:solidFill>
                  <a:srgbClr val="169EC5"/>
                </a:solidFill>
              </a:rPr>
              <a:t>plit is Chronological, Leakage-Aware, and Standardized </a:t>
            </a:r>
            <a:r>
              <a:rPr lang="en-US" sz="2000" b="1" dirty="0">
                <a:solidFill>
                  <a:srgbClr val="169EC5"/>
                </a:solidFill>
              </a:rPr>
              <a:t>A</a:t>
            </a:r>
            <a:r>
              <a:rPr lang="en-US" sz="2000" b="1" i="0" dirty="0">
                <a:solidFill>
                  <a:srgbClr val="169EC5"/>
                </a:solidFill>
              </a:rPr>
              <a:t>cross </a:t>
            </a:r>
            <a:r>
              <a:rPr lang="en-US" sz="2000" b="1" dirty="0">
                <a:solidFill>
                  <a:srgbClr val="169EC5"/>
                </a:solidFill>
              </a:rPr>
              <a:t>A</a:t>
            </a:r>
            <a:r>
              <a:rPr lang="en-US" sz="2000" b="1" i="0" dirty="0">
                <a:solidFill>
                  <a:srgbClr val="169EC5"/>
                </a:solidFill>
              </a:rPr>
              <a:t>ll </a:t>
            </a:r>
            <a:r>
              <a:rPr lang="en-US" sz="2000" b="1" dirty="0">
                <a:solidFill>
                  <a:srgbClr val="169EC5"/>
                </a:solidFill>
              </a:rPr>
              <a:t>T</a:t>
            </a:r>
            <a:r>
              <a:rPr lang="en-US" sz="2000" b="1" i="0" dirty="0">
                <a:solidFill>
                  <a:srgbClr val="169EC5"/>
                </a:solidFill>
              </a:rPr>
              <a:t>eam </a:t>
            </a:r>
            <a:r>
              <a:rPr lang="en-US" sz="2000" b="1" dirty="0">
                <a:solidFill>
                  <a:srgbClr val="169EC5"/>
                </a:solidFill>
              </a:rPr>
              <a:t>M</a:t>
            </a:r>
            <a:r>
              <a:rPr lang="en-US" sz="2000" b="1" i="0" dirty="0">
                <a:solidFill>
                  <a:srgbClr val="169EC5"/>
                </a:solidFill>
              </a:rPr>
              <a:t>odels</a:t>
            </a:r>
            <a:endParaRPr sz="2000" b="1" i="0" dirty="0">
              <a:solidFill>
                <a:srgbClr val="169EC5"/>
              </a:solidFill>
            </a:endParaRPr>
          </a:p>
        </p:txBody>
      </p:sp>
      <p:sp>
        <p:nvSpPr>
          <p:cNvPr id="9" name="Rounded Rectangle 8"/>
          <p:cNvSpPr/>
          <p:nvPr/>
        </p:nvSpPr>
        <p:spPr>
          <a:xfrm>
            <a:off x="500000" y="1400000"/>
            <a:ext cx="2720000" cy="14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8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0" name="Rounded Rectangle 9"/>
          <p:cNvSpPr/>
          <p:nvPr/>
        </p:nvSpPr>
        <p:spPr>
          <a:xfrm>
            <a:off x="640000" y="1510000"/>
            <a:ext cx="1750000" cy="360000"/>
          </a:xfrm>
          <a:prstGeom prst="roundRect">
            <a:avLst>
              <a:gd name="adj" fmla="val 8000"/>
            </a:avLst>
          </a:prstGeom>
          <a:solidFill>
            <a:srgbClr val="E9F8FC"/>
          </a:solidFill>
          <a:ln>
            <a:solidFill>
              <a:srgbClr val="E9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1" name="TextBox 10"/>
          <p:cNvSpPr txBox="1"/>
          <p:nvPr/>
        </p:nvSpPr>
        <p:spPr>
          <a:xfrm>
            <a:off x="810000" y="1565000"/>
            <a:ext cx="155000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 i="0" dirty="0">
                <a:solidFill>
                  <a:srgbClr val="0B2445"/>
                </a:solidFill>
              </a:rPr>
              <a:t>Training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0000" y="2000000"/>
            <a:ext cx="2320000" cy="82484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 i="0" dirty="0">
                <a:solidFill>
                  <a:srgbClr val="2C3A50"/>
                </a:solidFill>
                <a:latin typeface="Calibri "/>
              </a:rPr>
              <a:t>2015-01-02 → 2022-12-30
69,453 rows  |  71.95%
Long historical window for model fitting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3440000" y="1400000"/>
            <a:ext cx="2720000" cy="14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8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Rounded Rectangle 13"/>
          <p:cNvSpPr/>
          <p:nvPr/>
        </p:nvSpPr>
        <p:spPr>
          <a:xfrm>
            <a:off x="3580000" y="1510000"/>
            <a:ext cx="1750000" cy="360000"/>
          </a:xfrm>
          <a:prstGeom prst="roundRect">
            <a:avLst>
              <a:gd name="adj" fmla="val 8000"/>
            </a:avLst>
          </a:prstGeom>
          <a:solidFill>
            <a:srgbClr val="E9F8FC"/>
          </a:solidFill>
          <a:ln>
            <a:solidFill>
              <a:srgbClr val="E9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3750000" y="1565000"/>
            <a:ext cx="155000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 i="0">
                <a:solidFill>
                  <a:srgbClr val="0B2445"/>
                </a:solidFill>
              </a:rPr>
              <a:t>Validation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640000" y="2000000"/>
            <a:ext cx="2320000" cy="82484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 i="0" dirty="0">
                <a:solidFill>
                  <a:srgbClr val="2C3A50"/>
                </a:solidFill>
                <a:latin typeface="Calibri "/>
              </a:rPr>
              <a:t>2023-01-03 → 2024-12-31
18,072 rows  |  18.72%
Recent window for tuning and model selection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380000" y="1400000"/>
            <a:ext cx="2720000" cy="14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8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8" name="Rounded Rectangle 17"/>
          <p:cNvSpPr/>
          <p:nvPr/>
        </p:nvSpPr>
        <p:spPr>
          <a:xfrm>
            <a:off x="6520000" y="1510000"/>
            <a:ext cx="1750000" cy="360000"/>
          </a:xfrm>
          <a:prstGeom prst="roundRect">
            <a:avLst>
              <a:gd name="adj" fmla="val 8000"/>
            </a:avLst>
          </a:prstGeom>
          <a:solidFill>
            <a:srgbClr val="E9F8FC"/>
          </a:solidFill>
          <a:ln>
            <a:solidFill>
              <a:srgbClr val="E9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6690000" y="1565000"/>
            <a:ext cx="155000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 i="0">
                <a:solidFill>
                  <a:srgbClr val="0B2445"/>
                </a:solidFill>
              </a:rPr>
              <a:t>Test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0000" y="2000000"/>
            <a:ext cx="2320000" cy="82484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 i="0" dirty="0">
                <a:solidFill>
                  <a:srgbClr val="2C3A50"/>
                </a:solidFill>
                <a:latin typeface="Calibri "/>
              </a:rPr>
              <a:t>2025-01-02 → 2025-12-31
9,000 rows  |  9.32%
Fully held-out year for final evaluation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9320000" y="1400000"/>
            <a:ext cx="2720000" cy="142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8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2" name="Rounded Rectangle 21"/>
          <p:cNvSpPr/>
          <p:nvPr/>
        </p:nvSpPr>
        <p:spPr>
          <a:xfrm>
            <a:off x="9460000" y="1510000"/>
            <a:ext cx="1900000" cy="360000"/>
          </a:xfrm>
          <a:prstGeom prst="roundRect">
            <a:avLst>
              <a:gd name="adj" fmla="val 8000"/>
            </a:avLst>
          </a:prstGeom>
          <a:solidFill>
            <a:srgbClr val="E9F8FC"/>
          </a:solidFill>
          <a:ln>
            <a:solidFill>
              <a:srgbClr val="E9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9630000" y="1565000"/>
            <a:ext cx="170000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 i="0" dirty="0">
                <a:solidFill>
                  <a:srgbClr val="0B2445"/>
                </a:solidFill>
              </a:rPr>
              <a:t>Leakage</a:t>
            </a:r>
            <a:r>
              <a:rPr lang="en-US" sz="1400" b="1" i="0" dirty="0">
                <a:solidFill>
                  <a:srgbClr val="0B2445"/>
                </a:solidFill>
              </a:rPr>
              <a:t> </a:t>
            </a:r>
            <a:r>
              <a:rPr sz="1400" b="1" i="0" dirty="0">
                <a:solidFill>
                  <a:srgbClr val="0B2445"/>
                </a:solidFill>
              </a:rPr>
              <a:t>control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20000" y="2000000"/>
            <a:ext cx="2320000" cy="824841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 i="0" dirty="0">
                <a:solidFill>
                  <a:srgbClr val="2C3A50"/>
                </a:solidFill>
                <a:latin typeface="Calibri "/>
              </a:rPr>
              <a:t>5-trading-day purge gap at each boundary
Remove rows whose target window crosses partitions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00000" y="3000000"/>
            <a:ext cx="4200000" cy="2300000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8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dirty="0"/>
          </a:p>
        </p:txBody>
      </p:sp>
      <p:sp>
        <p:nvSpPr>
          <p:cNvPr id="26" name="Rounded Rectangle 25"/>
          <p:cNvSpPr/>
          <p:nvPr/>
        </p:nvSpPr>
        <p:spPr>
          <a:xfrm>
            <a:off x="639999" y="3110000"/>
            <a:ext cx="2181577" cy="360000"/>
          </a:xfrm>
          <a:prstGeom prst="roundRect">
            <a:avLst>
              <a:gd name="adj" fmla="val 8000"/>
            </a:avLst>
          </a:prstGeom>
          <a:solidFill>
            <a:srgbClr val="E9F8FC"/>
          </a:solidFill>
          <a:ln>
            <a:solidFill>
              <a:srgbClr val="E9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740000" y="3160000"/>
            <a:ext cx="200000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 i="0" dirty="0">
                <a:solidFill>
                  <a:srgbClr val="0B2445"/>
                </a:solidFill>
              </a:rPr>
              <a:t>Methodology &amp;</a:t>
            </a:r>
            <a:r>
              <a:rPr lang="en-US" sz="1400" b="1" i="0" dirty="0">
                <a:solidFill>
                  <a:srgbClr val="0B2445"/>
                </a:solidFill>
              </a:rPr>
              <a:t> </a:t>
            </a:r>
            <a:r>
              <a:rPr sz="1400" b="1" i="0" dirty="0">
                <a:solidFill>
                  <a:srgbClr val="0B2445"/>
                </a:solidFill>
              </a:rPr>
              <a:t>guardrails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80000" y="3560000"/>
            <a:ext cx="3840000" cy="1608133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>
              <a:spcAft>
                <a:spcPts val="100"/>
              </a:spcAft>
              <a:defRPr sz="1160">
                <a:solidFill>
                  <a:srgbClr val="2C3A50"/>
                </a:solidFill>
                <a:latin typeface="Aptos"/>
              </a:defRPr>
            </a:pPr>
            <a:r>
              <a:rPr sz="1200" dirty="0">
                <a:latin typeface="Calibri "/>
              </a:rPr>
              <a:t>• Split by date across all ETFs simultaneously; no random shuffling.</a:t>
            </a:r>
          </a:p>
          <a:p>
            <a:pPr>
              <a:spcAft>
                <a:spcPts val="100"/>
              </a:spcAft>
              <a:defRPr sz="1160">
                <a:solidFill>
                  <a:srgbClr val="2C3A50"/>
                </a:solidFill>
                <a:latin typeface="Aptos"/>
              </a:defRPr>
            </a:pPr>
            <a:r>
              <a:rPr sz="1200" dirty="0">
                <a:latin typeface="Calibri "/>
              </a:rPr>
              <a:t>• Forward 5-day target uses future returns, so chronology must be preserved.</a:t>
            </a:r>
          </a:p>
          <a:p>
            <a:pPr>
              <a:spcAft>
                <a:spcPts val="100"/>
              </a:spcAft>
              <a:defRPr sz="1160">
                <a:solidFill>
                  <a:srgbClr val="2C3A50"/>
                </a:solidFill>
                <a:latin typeface="Aptos"/>
              </a:defRPr>
            </a:pPr>
            <a:r>
              <a:rPr sz="1200" dirty="0">
                <a:latin typeface="Calibri "/>
              </a:rPr>
              <a:t>• Same train / validation / test rows used for every team model.</a:t>
            </a:r>
          </a:p>
          <a:p>
            <a:pPr>
              <a:spcAft>
                <a:spcPts val="100"/>
              </a:spcAft>
              <a:defRPr sz="1160">
                <a:solidFill>
                  <a:srgbClr val="2C3A50"/>
                </a:solidFill>
                <a:latin typeface="Aptos"/>
              </a:defRPr>
            </a:pPr>
            <a:r>
              <a:rPr sz="1200" dirty="0">
                <a:latin typeface="Calibri "/>
              </a:rPr>
              <a:t>• Natural year boundaries create realistic validation and unseen test periods.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70000" y="4759999"/>
            <a:ext cx="3860000" cy="485857"/>
          </a:xfrm>
          <a:prstGeom prst="roundRect">
            <a:avLst>
              <a:gd name="adj" fmla="val 8000"/>
            </a:avLst>
          </a:prstGeom>
          <a:solidFill>
            <a:srgbClr val="F6F9FD"/>
          </a:solidFill>
          <a:ln>
            <a:solidFill>
              <a:srgbClr val="E2E8F0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0" name="TextBox 29"/>
          <p:cNvSpPr txBox="1"/>
          <p:nvPr/>
        </p:nvSpPr>
        <p:spPr>
          <a:xfrm>
            <a:off x="770810" y="4759999"/>
            <a:ext cx="3700000" cy="461665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200" b="0" i="0" dirty="0">
                <a:solidFill>
                  <a:srgbClr val="2C3A50"/>
                </a:solidFill>
                <a:latin typeface="Calibri "/>
              </a:rPr>
              <a:t>Checks passed: train max &lt; validation min, validation max &lt; test min, no overlap, all rows accounted for.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4880000" y="2999999"/>
            <a:ext cx="7160000" cy="3394269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8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2" name="Rounded Rectangle 31"/>
          <p:cNvSpPr/>
          <p:nvPr/>
        </p:nvSpPr>
        <p:spPr>
          <a:xfrm>
            <a:off x="5030000" y="3110000"/>
            <a:ext cx="2600000" cy="360000"/>
          </a:xfrm>
          <a:prstGeom prst="roundRect">
            <a:avLst>
              <a:gd name="adj" fmla="val 8000"/>
            </a:avLst>
          </a:prstGeom>
          <a:solidFill>
            <a:srgbClr val="E9F8FC"/>
          </a:solidFill>
          <a:ln>
            <a:solidFill>
              <a:srgbClr val="E9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150000" y="3165000"/>
            <a:ext cx="2400000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 i="0" dirty="0">
                <a:solidFill>
                  <a:srgbClr val="0B2445"/>
                </a:solidFill>
              </a:rPr>
              <a:t>Chronological split</a:t>
            </a:r>
            <a:r>
              <a:rPr lang="en-US" sz="1400" b="1" i="0" dirty="0">
                <a:solidFill>
                  <a:srgbClr val="0B2445"/>
                </a:solidFill>
              </a:rPr>
              <a:t> </a:t>
            </a:r>
            <a:r>
              <a:rPr sz="1400" b="1" i="0" dirty="0">
                <a:solidFill>
                  <a:srgbClr val="0B2445"/>
                </a:solidFill>
              </a:rPr>
              <a:t>visualization</a:t>
            </a:r>
          </a:p>
        </p:txBody>
      </p:sp>
      <p:pic>
        <p:nvPicPr>
          <p:cNvPr id="34" name="Picture 33" descr="split_chart_crop2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30000" y="3520337"/>
            <a:ext cx="6870942" cy="2764494"/>
          </a:xfrm>
          <a:prstGeom prst="rect">
            <a:avLst/>
          </a:prstGeom>
        </p:spPr>
      </p:pic>
      <p:sp>
        <p:nvSpPr>
          <p:cNvPr id="38" name="Shape 5">
            <a:extLst>
              <a:ext uri="{FF2B5EF4-FFF2-40B4-BE49-F238E27FC236}">
                <a16:creationId xmlns:a16="http://schemas.microsoft.com/office/drawing/2014/main" id="{A9B774C7-6D28-DAD6-8C9F-74E4DA89048B}"/>
              </a:ext>
            </a:extLst>
          </p:cNvPr>
          <p:cNvSpPr/>
          <p:nvPr/>
        </p:nvSpPr>
        <p:spPr>
          <a:xfrm>
            <a:off x="1848394" y="1170000"/>
            <a:ext cx="8392886" cy="0"/>
          </a:xfrm>
          <a:prstGeom prst="line">
            <a:avLst/>
          </a:prstGeom>
          <a:noFill/>
          <a:ln w="15240">
            <a:solidFill>
              <a:srgbClr val="08A3C7"/>
            </a:solidFill>
            <a:prstDash val="solid"/>
          </a:ln>
        </p:spPr>
        <p:txBody>
          <a:bodyPr/>
          <a:lstStyle/>
          <a:p>
            <a:endParaRPr lang="en-US" dirty="0"/>
          </a:p>
        </p:txBody>
      </p:sp>
      <p:sp>
        <p:nvSpPr>
          <p:cNvPr id="2" name="Text 3">
            <a:extLst>
              <a:ext uri="{FF2B5EF4-FFF2-40B4-BE49-F238E27FC236}">
                <a16:creationId xmlns:a16="http://schemas.microsoft.com/office/drawing/2014/main" id="{2B7A3644-7E18-3125-0F2A-7C12F5CA1B8E}"/>
              </a:ext>
            </a:extLst>
          </p:cNvPr>
          <p:cNvSpPr/>
          <p:nvPr/>
        </p:nvSpPr>
        <p:spPr>
          <a:xfrm>
            <a:off x="329184" y="6615684"/>
            <a:ext cx="6217920" cy="190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AAAACC"/>
                </a:solidFill>
              </a:rPr>
              <a:t>DATASCI 207  ·  Final Project: Forecasting Volatility In Stock Market  ·  March 2026</a:t>
            </a:r>
            <a:endParaRPr lang="en-US" sz="12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8" name="Rounded Rectangle 8">
            <a:extLst>
              <a:ext uri="{FF2B5EF4-FFF2-40B4-BE49-F238E27FC236}">
                <a16:creationId xmlns:a16="http://schemas.microsoft.com/office/drawing/2014/main" id="{60761F46-314F-BA2E-A447-C25A2E591134}"/>
              </a:ext>
            </a:extLst>
          </p:cNvPr>
          <p:cNvSpPr/>
          <p:nvPr/>
        </p:nvSpPr>
        <p:spPr>
          <a:xfrm>
            <a:off x="220000" y="1311665"/>
            <a:ext cx="5560313" cy="50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8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12192000" cy="640080"/>
          </a:xfrm>
          <a:prstGeom prst="rect">
            <a:avLst/>
          </a:prstGeom>
          <a:solidFill>
            <a:srgbClr val="0B2445"/>
          </a:solidFill>
          <a:ln>
            <a:solidFill>
              <a:srgbClr val="0B2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4" name="Rectangle 3"/>
          <p:cNvSpPr/>
          <p:nvPr/>
        </p:nvSpPr>
        <p:spPr>
          <a:xfrm>
            <a:off x="0" y="6537960"/>
            <a:ext cx="12192000" cy="320040"/>
          </a:xfrm>
          <a:prstGeom prst="rect">
            <a:avLst/>
          </a:prstGeom>
          <a:solidFill>
            <a:srgbClr val="0B2445"/>
          </a:solidFill>
          <a:ln>
            <a:solidFill>
              <a:srgbClr val="0B244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5" name="TextBox 4"/>
          <p:cNvSpPr txBox="1"/>
          <p:nvPr/>
        </p:nvSpPr>
        <p:spPr>
          <a:xfrm>
            <a:off x="500000" y="73245"/>
            <a:ext cx="9000000" cy="538609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lang="en-US" sz="2900" b="1" i="0" dirty="0">
                <a:solidFill>
                  <a:srgbClr val="FFFFFF"/>
                </a:solidFill>
              </a:rPr>
              <a:t>Baselines</a:t>
            </a:r>
            <a:endParaRPr sz="2900" b="1" i="0" dirty="0">
              <a:solidFill>
                <a:srgbClr val="FFFFFF"/>
              </a:solidFill>
            </a:endParaRPr>
          </a:p>
        </p:txBody>
      </p:sp>
      <p:sp>
        <p:nvSpPr>
          <p:cNvPr id="6" name="TextBox 5"/>
          <p:cNvSpPr txBox="1"/>
          <p:nvPr/>
        </p:nvSpPr>
        <p:spPr>
          <a:xfrm>
            <a:off x="4138743" y="769825"/>
            <a:ext cx="3400000" cy="400110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lang="en-US" sz="2000" b="1" dirty="0">
                <a:solidFill>
                  <a:srgbClr val="169EC5"/>
                </a:solidFill>
              </a:rPr>
              <a:t>6 </a:t>
            </a:r>
            <a:r>
              <a:rPr sz="2000" b="1" i="0" dirty="0">
                <a:solidFill>
                  <a:srgbClr val="169EC5"/>
                </a:solidFill>
              </a:rPr>
              <a:t>Baseline</a:t>
            </a:r>
            <a:r>
              <a:rPr lang="en-US" sz="2000" b="1" i="0" dirty="0">
                <a:solidFill>
                  <a:srgbClr val="169EC5"/>
                </a:solidFill>
              </a:rPr>
              <a:t> Leakage-Safe</a:t>
            </a:r>
            <a:endParaRPr sz="2000" b="1" i="0" dirty="0">
              <a:solidFill>
                <a:srgbClr val="169EC5"/>
              </a:solidFill>
            </a:endParaRPr>
          </a:p>
        </p:txBody>
      </p:sp>
      <p:sp>
        <p:nvSpPr>
          <p:cNvPr id="13" name="Rounded Rectangle 12"/>
          <p:cNvSpPr/>
          <p:nvPr/>
        </p:nvSpPr>
        <p:spPr>
          <a:xfrm>
            <a:off x="389184" y="1422864"/>
            <a:ext cx="2000000" cy="330000"/>
          </a:xfrm>
          <a:prstGeom prst="roundRect">
            <a:avLst>
              <a:gd name="adj" fmla="val 8000"/>
            </a:avLst>
          </a:prstGeom>
          <a:solidFill>
            <a:srgbClr val="E9F8FC"/>
          </a:solidFill>
          <a:ln>
            <a:solidFill>
              <a:srgbClr val="E9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449184" y="1463507"/>
            <a:ext cx="1900000" cy="310854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 i="0" dirty="0">
                <a:solidFill>
                  <a:srgbClr val="0B2445"/>
                </a:solidFill>
              </a:rPr>
              <a:t>Six baseline models</a:t>
            </a:r>
          </a:p>
        </p:txBody>
      </p:sp>
      <p:pic>
        <p:nvPicPr>
          <p:cNvPr id="22" name="Picture 21" descr="baseline_summary_tabl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29184" y="1970303"/>
            <a:ext cx="5327184" cy="3692446"/>
          </a:xfrm>
          <a:prstGeom prst="rect">
            <a:avLst/>
          </a:prstGeom>
        </p:spPr>
      </p:pic>
      <p:sp>
        <p:nvSpPr>
          <p:cNvPr id="23" name="Rounded Rectangle 22"/>
          <p:cNvSpPr/>
          <p:nvPr/>
        </p:nvSpPr>
        <p:spPr>
          <a:xfrm>
            <a:off x="5900000" y="1311665"/>
            <a:ext cx="6072000" cy="5030352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>
            <a:solidFill>
              <a:srgbClr val="B8C8D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4" name="Rounded Rectangle 23"/>
          <p:cNvSpPr/>
          <p:nvPr/>
        </p:nvSpPr>
        <p:spPr>
          <a:xfrm>
            <a:off x="6050000" y="1422935"/>
            <a:ext cx="3185440" cy="360000"/>
          </a:xfrm>
          <a:prstGeom prst="roundRect">
            <a:avLst>
              <a:gd name="adj" fmla="val 8000"/>
            </a:avLst>
          </a:prstGeom>
          <a:solidFill>
            <a:srgbClr val="E9F8FC"/>
          </a:solidFill>
          <a:ln>
            <a:solidFill>
              <a:srgbClr val="E9F8FC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6169999" y="1463507"/>
            <a:ext cx="3692457" cy="307777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l"/>
            <a:r>
              <a:rPr sz="1400" b="1" i="0" dirty="0">
                <a:solidFill>
                  <a:srgbClr val="0B2445"/>
                </a:solidFill>
              </a:rPr>
              <a:t>Example: SPY baselines vs target (2025)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052300" y="4306917"/>
            <a:ext cx="5440000" cy="264688"/>
          </a:xfrm>
          <a:prstGeom prst="rect">
            <a:avLst/>
          </a:prstGeom>
          <a:noFill/>
        </p:spPr>
        <p:txBody>
          <a:bodyPr wrap="square" lIns="0" rIns="0">
            <a:spAutoFit/>
          </a:bodyPr>
          <a:lstStyle/>
          <a:p>
            <a:pPr algn="ctr"/>
            <a:r>
              <a:rPr sz="1120" b="1" dirty="0"/>
              <a:t>Note: plot overlays 6 baseline predictions with the target forward 5-day volatility.</a:t>
            </a:r>
          </a:p>
        </p:txBody>
      </p:sp>
      <p:pic>
        <p:nvPicPr>
          <p:cNvPr id="32" name="Picture 31">
            <a:extLst>
              <a:ext uri="{FF2B5EF4-FFF2-40B4-BE49-F238E27FC236}">
                <a16:creationId xmlns:a16="http://schemas.microsoft.com/office/drawing/2014/main" id="{5B272BEA-BFD3-D734-EB98-FFA9D889F48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52299" y="1978878"/>
            <a:ext cx="5756524" cy="2208899"/>
          </a:xfrm>
          <a:prstGeom prst="rect">
            <a:avLst/>
          </a:prstGeom>
        </p:spPr>
      </p:pic>
      <p:sp>
        <p:nvSpPr>
          <p:cNvPr id="33" name="Shape 5">
            <a:extLst>
              <a:ext uri="{FF2B5EF4-FFF2-40B4-BE49-F238E27FC236}">
                <a16:creationId xmlns:a16="http://schemas.microsoft.com/office/drawing/2014/main" id="{323F93E3-8AB8-FFF0-BE7E-9FDE4A533785}"/>
              </a:ext>
            </a:extLst>
          </p:cNvPr>
          <p:cNvSpPr/>
          <p:nvPr/>
        </p:nvSpPr>
        <p:spPr>
          <a:xfrm>
            <a:off x="4598125" y="1115722"/>
            <a:ext cx="2495005" cy="0"/>
          </a:xfrm>
          <a:prstGeom prst="line">
            <a:avLst/>
          </a:prstGeom>
          <a:noFill/>
          <a:ln w="15240">
            <a:solidFill>
              <a:srgbClr val="08A3C7"/>
            </a:solidFill>
            <a:prstDash val="solid"/>
          </a:ln>
        </p:spPr>
        <p:txBody>
          <a:bodyPr/>
          <a:lstStyle/>
          <a:p>
            <a:endParaRPr lang="en-US" b="1" dirty="0"/>
          </a:p>
        </p:txBody>
      </p:sp>
      <p:sp>
        <p:nvSpPr>
          <p:cNvPr id="7" name="Text 3">
            <a:extLst>
              <a:ext uri="{FF2B5EF4-FFF2-40B4-BE49-F238E27FC236}">
                <a16:creationId xmlns:a16="http://schemas.microsoft.com/office/drawing/2014/main" id="{E94C59CC-4C05-0B14-CC11-0C7D4CB6E89B}"/>
              </a:ext>
            </a:extLst>
          </p:cNvPr>
          <p:cNvSpPr/>
          <p:nvPr/>
        </p:nvSpPr>
        <p:spPr>
          <a:xfrm>
            <a:off x="329184" y="6615684"/>
            <a:ext cx="6217920" cy="190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AAAACC"/>
                </a:solidFill>
              </a:rPr>
              <a:t>DATASCI 207  ·  Final Project: Forecasting Volatility In Stock Market  ·  March 2026</a:t>
            </a:r>
            <a:endParaRPr lang="en-US" sz="12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40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/>
          <p:cNvSpPr/>
          <p:nvPr/>
        </p:nvSpPr>
        <p:spPr>
          <a:xfrm>
            <a:off x="0" y="0"/>
            <a:ext cx="145920" cy="6857760"/>
          </a:xfrm>
          <a:prstGeom prst="rect">
            <a:avLst/>
          </a:prstGeom>
          <a:solidFill>
            <a:srgbClr val="00A8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 1"/>
          <p:cNvSpPr/>
          <p:nvPr/>
        </p:nvSpPr>
        <p:spPr>
          <a:xfrm>
            <a:off x="426720" y="975360"/>
            <a:ext cx="11338080" cy="108608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6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Elastic Net Regression</a:t>
            </a:r>
            <a:endParaRPr kumimoji="0" lang="en-US" sz="6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Shape 2"/>
          <p:cNvSpPr/>
          <p:nvPr/>
        </p:nvSpPr>
        <p:spPr>
          <a:xfrm>
            <a:off x="426720" y="3596640"/>
            <a:ext cx="11460000" cy="48480"/>
          </a:xfrm>
          <a:prstGeom prst="rect">
            <a:avLst/>
          </a:prstGeom>
          <a:solidFill>
            <a:srgbClr val="00A8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-11040" rIns="120000" bIns="-1104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 4"/>
          <p:cNvSpPr/>
          <p:nvPr/>
        </p:nvSpPr>
        <p:spPr>
          <a:xfrm>
            <a:off x="426720" y="5608320"/>
            <a:ext cx="11338080" cy="36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733" b="0" i="0" u="none" strike="noStrike" kern="1200" cap="none" spc="0" normalizeH="0" baseline="0" noProof="0" dirty="0">
                <a:ln>
                  <a:noFill/>
                </a:ln>
                <a:solidFill>
                  <a:srgbClr val="AAAACC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DS 207 Final Project  ·  Team: Greed and Fear  ·  Author: Vinit Bhatt  ·  March 27, 2026</a:t>
            </a:r>
            <a:endParaRPr kumimoji="0" lang="en-US" sz="1733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" name="Shape 0"/>
          <p:cNvSpPr/>
          <p:nvPr/>
        </p:nvSpPr>
        <p:spPr>
          <a:xfrm>
            <a:off x="0" y="0"/>
            <a:ext cx="12191520" cy="633600"/>
          </a:xfrm>
          <a:prstGeom prst="rect">
            <a:avLst/>
          </a:prstGeom>
          <a:solidFill>
            <a:srgbClr val="0D234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3" name="Text 1"/>
          <p:cNvSpPr/>
          <p:nvPr/>
        </p:nvSpPr>
        <p:spPr>
          <a:xfrm>
            <a:off x="341280" y="48960"/>
            <a:ext cx="10606560" cy="56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9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What Is Elastic Net?</a:t>
            </a:r>
            <a:endParaRPr kumimoji="0" lang="en-US" sz="2933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5" name="Shape 3"/>
          <p:cNvSpPr/>
          <p:nvPr/>
        </p:nvSpPr>
        <p:spPr>
          <a:xfrm>
            <a:off x="0" y="6559200"/>
            <a:ext cx="12191520" cy="298080"/>
          </a:xfrm>
          <a:prstGeom prst="rect">
            <a:avLst/>
          </a:prstGeom>
          <a:solidFill>
            <a:srgbClr val="0D234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7" name="Text 5"/>
          <p:cNvSpPr/>
          <p:nvPr/>
        </p:nvSpPr>
        <p:spPr>
          <a:xfrm>
            <a:off x="219360" y="731520"/>
            <a:ext cx="5851680" cy="36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endParaRPr kumimoji="0" lang="en-US" sz="1733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39" name="Shape 7"/>
          <p:cNvSpPr/>
          <p:nvPr/>
        </p:nvSpPr>
        <p:spPr>
          <a:xfrm>
            <a:off x="219360" y="3887896"/>
            <a:ext cx="5510400" cy="1950331"/>
          </a:xfrm>
          <a:prstGeom prst="rect">
            <a:avLst/>
          </a:prstGeom>
          <a:solidFill>
            <a:srgbClr val="D6F2FA"/>
          </a:solidFill>
          <a:ln w="19050">
            <a:solidFill>
              <a:srgbClr val="00A8C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1" name="Text 9"/>
          <p:cNvSpPr/>
          <p:nvPr/>
        </p:nvSpPr>
        <p:spPr>
          <a:xfrm>
            <a:off x="243840" y="3985826"/>
            <a:ext cx="5242080" cy="123787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33"/>
              </a:spcAft>
              <a:buClr>
                <a:srgbClr val="1A1A2E"/>
              </a:buClr>
              <a:buSzTx/>
              <a:buFontTx/>
              <a:buNone/>
              <a:tabLst/>
              <a:defRPr/>
            </a:pPr>
            <a:r>
              <a:rPr kumimoji="0" lang="en-US" sz="1733" b="1" i="0" u="none" strike="noStrike" kern="1200" cap="none" spc="0" normalizeH="0" baseline="0" noProof="0" dirty="0">
                <a:ln>
                  <a:noFill/>
                </a:ln>
                <a:solidFill>
                  <a:srgbClr val="00A8CC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Bottom Line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33"/>
              </a:spcAft>
              <a:buClr>
                <a:srgbClr val="1A1A2E"/>
              </a:buClr>
              <a:buSzTx/>
              <a:buFontTx/>
              <a:buNone/>
              <a:tabLst/>
              <a:defRPr/>
            </a:pPr>
            <a:r>
              <a:rPr kumimoji="0" lang="en-US" sz="1467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Elastic Net is a strong, interpretable benchmark that helps us identify which features matter and which do not</a:t>
            </a:r>
            <a:r>
              <a:rPr kumimoji="0" lang="en-US" sz="1533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Arial"/>
                <a:ea typeface="+mn-ea"/>
                <a:cs typeface="+mn-cs"/>
              </a:rPr>
              <a:t>.</a:t>
            </a:r>
          </a:p>
        </p:txBody>
      </p:sp>
      <p:sp>
        <p:nvSpPr>
          <p:cNvPr id="43" name="Shape 11"/>
          <p:cNvSpPr/>
          <p:nvPr/>
        </p:nvSpPr>
        <p:spPr>
          <a:xfrm>
            <a:off x="6096000" y="1121760"/>
            <a:ext cx="5876160" cy="2584608"/>
          </a:xfrm>
          <a:prstGeom prst="rect">
            <a:avLst/>
          </a:prstGeom>
          <a:solidFill>
            <a:srgbClr val="D5F5E3"/>
          </a:solidFill>
          <a:ln w="19050">
            <a:solidFill>
              <a:srgbClr val="1E844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5" name="Text 13"/>
          <p:cNvSpPr/>
          <p:nvPr/>
        </p:nvSpPr>
        <p:spPr>
          <a:xfrm>
            <a:off x="6136745" y="1174542"/>
            <a:ext cx="5607840" cy="17517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33"/>
              </a:spcAft>
              <a:buClr>
                <a:srgbClr val="1A1A2E"/>
              </a:buClr>
              <a:buSzTx/>
              <a:buFontTx/>
              <a:buNone/>
              <a:tabLst/>
              <a:defRPr/>
            </a:pPr>
            <a:r>
              <a:rPr kumimoji="0" lang="en-US" sz="1733" b="1" i="0" u="none" strike="noStrike" kern="1200" cap="none" spc="0" normalizeH="0" baseline="0" noProof="0" dirty="0">
                <a:ln>
                  <a:noFill/>
                </a:ln>
                <a:solidFill>
                  <a:srgbClr val="00A8CC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Why We Use It Here</a:t>
            </a: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33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67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Our volatility features overlap</a:t>
            </a: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33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67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Some macro variables may add little value</a:t>
            </a: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33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67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We want a model that is still easy to interpret</a:t>
            </a:r>
          </a:p>
        </p:txBody>
      </p:sp>
      <p:sp>
        <p:nvSpPr>
          <p:cNvPr id="46" name="Shape 14"/>
          <p:cNvSpPr/>
          <p:nvPr/>
        </p:nvSpPr>
        <p:spPr>
          <a:xfrm>
            <a:off x="6096000" y="3863416"/>
            <a:ext cx="5876160" cy="1974808"/>
          </a:xfrm>
          <a:prstGeom prst="rect">
            <a:avLst/>
          </a:prstGeom>
          <a:solidFill>
            <a:srgbClr val="FADBD8"/>
          </a:solidFill>
          <a:ln w="19050">
            <a:solidFill>
              <a:srgbClr val="C0392B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8" name="Text 16"/>
          <p:cNvSpPr/>
          <p:nvPr/>
        </p:nvSpPr>
        <p:spPr>
          <a:xfrm>
            <a:off x="6071040" y="3985826"/>
            <a:ext cx="5607840" cy="103662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33"/>
              </a:spcAft>
              <a:buClr>
                <a:srgbClr val="1A1A2E"/>
              </a:buClr>
              <a:buSzTx/>
              <a:buFontTx/>
              <a:buNone/>
              <a:tabLst/>
              <a:defRPr/>
            </a:pPr>
            <a:r>
              <a:rPr kumimoji="0" lang="en-US" sz="1733" b="1" i="0" u="none" strike="noStrike" kern="1200" cap="none" spc="0" normalizeH="0" baseline="0" noProof="0" dirty="0">
                <a:ln>
                  <a:noFill/>
                </a:ln>
                <a:solidFill>
                  <a:srgbClr val="00A8CC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Main Tradeoff</a:t>
            </a:r>
            <a:endParaRPr kumimoji="0" lang="en-US" sz="1467" b="0" i="0" u="none" strike="noStrike" kern="1200" cap="none" spc="0" normalizeH="0" baseline="0" noProof="0" dirty="0">
              <a:ln>
                <a:noFill/>
              </a:ln>
              <a:solidFill>
                <a:srgbClr val="1A1A2E"/>
              </a:solidFill>
              <a:effectLst/>
              <a:uLnTx/>
              <a:uFillTx/>
              <a:latin typeface="Calibri"/>
              <a:ea typeface="Calibri"/>
              <a:cs typeface="+mn-cs"/>
            </a:endParaRP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33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67" b="0" i="0" u="none" strike="noStrike" kern="120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Elastic Net is transparent and disciplined</a:t>
            </a: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33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467" b="0" i="0" u="none" strike="noStrike" kern="120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But it is still linear, so it may miss nonlinear volatility patterns</a:t>
            </a:r>
            <a:endParaRPr kumimoji="0" lang="en-US" sz="1467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Shape 13">
            <a:extLst>
              <a:ext uri="{FF2B5EF4-FFF2-40B4-BE49-F238E27FC236}">
                <a16:creationId xmlns:a16="http://schemas.microsoft.com/office/drawing/2014/main" id="{C8B8F06B-FD16-7B16-3190-45285D1E9BE4}"/>
              </a:ext>
            </a:extLst>
          </p:cNvPr>
          <p:cNvSpPr/>
          <p:nvPr/>
        </p:nvSpPr>
        <p:spPr>
          <a:xfrm>
            <a:off x="243840" y="1109280"/>
            <a:ext cx="5485920" cy="2597088"/>
          </a:xfrm>
          <a:prstGeom prst="rect">
            <a:avLst/>
          </a:prstGeom>
          <a:solidFill>
            <a:srgbClr val="FCF3CF"/>
          </a:solidFill>
          <a:ln w="25400">
            <a:solidFill>
              <a:srgbClr val="E8972A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33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33" b="1" i="0" u="none" strike="noStrike" kern="1200" cap="none" spc="0" normalizeH="0" baseline="0" noProof="0" dirty="0">
                <a:ln>
                  <a:noFill/>
                </a:ln>
                <a:solidFill>
                  <a:srgbClr val="00A8CC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How It Works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33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67" b="1" i="0" u="none" strike="noStrike" kern="120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Calibri" panose="020F0502020204030204"/>
                <a:ea typeface="Calibri"/>
                <a:cs typeface="+mn-cs"/>
              </a:rPr>
              <a:t>Elastic Net is a linear regression model with built-in regularization.  </a:t>
            </a:r>
            <a:r>
              <a:rPr kumimoji="0" lang="en-US" sz="1467" b="0" i="0" u="none" strike="noStrike" kern="120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Calibri" panose="020F0502020204030204"/>
                <a:ea typeface="Calibri"/>
                <a:cs typeface="+mn-cs"/>
              </a:rPr>
              <a:t>It helps the model fit the data while avoiding noisy or unstable coefficients.</a:t>
            </a: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67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Think of it as a combination of two ideas:</a:t>
            </a: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33"/>
              </a:spcAft>
              <a:buClrTx/>
              <a:buSzTx/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kumimoji="0" lang="en-US" sz="1467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Lasso (L1): </a:t>
            </a:r>
            <a:r>
              <a:rPr kumimoji="0" lang="en-US" sz="1467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removes weak or redundant features</a:t>
            </a: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33"/>
              </a:spcAft>
              <a:buClrTx/>
              <a:buSzTx/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kumimoji="0" lang="en-US" sz="1467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Ridge (L2): </a:t>
            </a:r>
            <a:r>
              <a:rPr kumimoji="0" lang="en-US" sz="1467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shrinks and stabilizes correlated features</a:t>
            </a: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533"/>
              </a:spcAft>
              <a:buClrTx/>
              <a:buSzTx/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kumimoji="0" lang="en-US" sz="1467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Elastic Net: </a:t>
            </a:r>
            <a:r>
              <a:rPr kumimoji="0" lang="en-US" sz="1467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does both at the same time</a:t>
            </a:r>
            <a:endParaRPr kumimoji="0" lang="en-US" sz="1533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36DD4909-E9CD-657C-677A-54C3E4B100FA}"/>
              </a:ext>
            </a:extLst>
          </p:cNvPr>
          <p:cNvSpPr/>
          <p:nvPr/>
        </p:nvSpPr>
        <p:spPr>
          <a:xfrm>
            <a:off x="329184" y="6615684"/>
            <a:ext cx="6217920" cy="190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AAAACC"/>
                </a:solidFill>
              </a:rPr>
              <a:t>DATASCI 207  ·  Final Project: Forecasting Volatility In Stock Market  ·  March 2026</a:t>
            </a:r>
            <a:endParaRPr lang="en-US" sz="12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7" name="Shape 0"/>
          <p:cNvSpPr/>
          <p:nvPr/>
        </p:nvSpPr>
        <p:spPr>
          <a:xfrm>
            <a:off x="0" y="0"/>
            <a:ext cx="12191520" cy="633600"/>
          </a:xfrm>
          <a:prstGeom prst="rect">
            <a:avLst/>
          </a:prstGeom>
          <a:solidFill>
            <a:srgbClr val="0D234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88" name="Text 1"/>
          <p:cNvSpPr/>
          <p:nvPr/>
        </p:nvSpPr>
        <p:spPr>
          <a:xfrm>
            <a:off x="341280" y="48960"/>
            <a:ext cx="10606560" cy="56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9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Elastic Net Setup: V1 vs. V2</a:t>
            </a:r>
            <a:endParaRPr kumimoji="0" lang="en-US" sz="2933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0" name="Shape 3"/>
          <p:cNvSpPr/>
          <p:nvPr/>
        </p:nvSpPr>
        <p:spPr>
          <a:xfrm>
            <a:off x="0" y="6559200"/>
            <a:ext cx="12191520" cy="298080"/>
          </a:xfrm>
          <a:prstGeom prst="rect">
            <a:avLst/>
          </a:prstGeom>
          <a:solidFill>
            <a:srgbClr val="0D234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aphicFrame>
        <p:nvGraphicFramePr>
          <p:cNvPr id="93" name="Table 0"/>
          <p:cNvGraphicFramePr/>
          <p:nvPr>
            <p:custDataLst>
              <p:tags r:id="rId1"/>
            </p:custDataLst>
          </p:nvPr>
        </p:nvGraphicFramePr>
        <p:xfrm>
          <a:off x="231600" y="1833441"/>
          <a:ext cx="11752800" cy="3312747"/>
        </p:xfrm>
        <a:graphic>
          <a:graphicData uri="http://schemas.openxmlformats.org/drawingml/2006/table">
            <a:tbl>
              <a:tblPr/>
              <a:tblGrid>
                <a:gridCol w="2535936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4271893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817880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412709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</a:tblGrid>
              <a:tr h="7555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Model Tier</a:t>
                      </a:r>
                      <a:endParaRPr lang="en-US" sz="16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Features</a:t>
                      </a:r>
                      <a:endParaRPr lang="en-US" sz="16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Count</a:t>
                      </a:r>
                      <a:endParaRPr lang="en-US" sz="16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6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Role / Notes</a:t>
                      </a:r>
                      <a:endParaRPr lang="en-US" sz="16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555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V1 — Current-State Volatility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Aft>
                          <a:spcPts val="400"/>
                        </a:spcAft>
                        <a:tabLst>
                          <a:tab pos="0" algn="l"/>
                        </a:tabLst>
                      </a:pPr>
                      <a:r>
                        <a:rPr lang="en-US" sz="15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Current realized volatility (most recent observation)</a:t>
                      </a:r>
                    </a:p>
                    <a:p>
                      <a:pPr defTabSz="914400">
                        <a:lnSpc>
                          <a:spcPct val="100000"/>
                        </a:lnSpc>
                        <a:spcAft>
                          <a:spcPts val="400"/>
                        </a:spcAft>
                        <a:tabLst>
                          <a:tab pos="0" algn="l"/>
                        </a:tabLst>
                      </a:pPr>
                      <a:r>
                        <a:rPr lang="en-US" sz="15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20-day trailing realized volatility</a:t>
                      </a: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900" b="1" u="none" strike="noStrike" dirty="0">
                          <a:solidFill>
                            <a:srgbClr val="1E844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</a:t>
                      </a:r>
                      <a:endParaRPr lang="en-US" sz="19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Aft>
                          <a:spcPts val="400"/>
                        </a:spcAft>
                        <a:tabLst>
                          <a:tab pos="0" algn="l"/>
                        </a:tabLst>
                      </a:pPr>
                      <a:r>
                        <a:rPr lang="en-US" sz="15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Pure vol-persistence model. </a:t>
                      </a:r>
                    </a:p>
                    <a:p>
                      <a:pPr defTabSz="914400">
                        <a:lnSpc>
                          <a:spcPct val="100000"/>
                        </a:lnSpc>
                        <a:spcAft>
                          <a:spcPts val="400"/>
                        </a:spcAft>
                        <a:tabLst>
                          <a:tab pos="0" algn="l"/>
                        </a:tabLst>
                      </a:pPr>
                      <a:r>
                        <a:rPr lang="en-US" sz="15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Both features genuinely retained by Lasso.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1801707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V2 — Added Macro/Market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Aft>
                          <a:spcPts val="400"/>
                        </a:spcAft>
                        <a:tabLst>
                          <a:tab pos="0" algn="l"/>
                        </a:tabLst>
                      </a:pPr>
                      <a:r>
                        <a:rPr lang="en-US" sz="15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+ Volume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spcAft>
                          <a:spcPts val="400"/>
                        </a:spcAft>
                        <a:tabLst>
                          <a:tab pos="0" algn="l"/>
                        </a:tabLst>
                      </a:pPr>
                      <a:r>
                        <a:rPr lang="en-US" sz="15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+ NYGOLDS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spcAft>
                          <a:spcPts val="400"/>
                        </a:spcAft>
                        <a:tabLst>
                          <a:tab pos="0" algn="l"/>
                        </a:tabLst>
                      </a:pPr>
                      <a:r>
                        <a:rPr lang="en-US" sz="15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+ OIL_WTI_S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spcAft>
                          <a:spcPts val="400"/>
                        </a:spcAft>
                        <a:tabLst>
                          <a:tab pos="0" algn="l"/>
                        </a:tabLst>
                      </a:pPr>
                      <a:r>
                        <a:rPr lang="en-US" sz="15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+ US_10Y_BOND_YLD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spcAft>
                          <a:spcPts val="400"/>
                        </a:spcAft>
                        <a:tabLst>
                          <a:tab pos="0" algn="l"/>
                        </a:tabLst>
                      </a:pPr>
                      <a:r>
                        <a:rPr lang="en-US" sz="15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+ US_3M_TB_YLD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  <a:p>
                      <a:pPr defTabSz="914400">
                        <a:lnSpc>
                          <a:spcPct val="100000"/>
                        </a:lnSpc>
                        <a:spcAft>
                          <a:spcPts val="400"/>
                        </a:spcAft>
                        <a:tabLst>
                          <a:tab pos="0" algn="l"/>
                        </a:tabLst>
                      </a:pPr>
                      <a:r>
                        <a:rPr lang="en-US" sz="15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+ VIX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700" b="1" u="none" strike="noStrike" dirty="0">
                          <a:solidFill>
                            <a:srgbClr val="00A8C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8</a:t>
                      </a:r>
                      <a:endParaRPr lang="en-US" sz="17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spcAft>
                          <a:spcPts val="400"/>
                        </a:spcAft>
                        <a:tabLst>
                          <a:tab pos="0" algn="l"/>
                        </a:tabLst>
                      </a:pPr>
                      <a:r>
                        <a:rPr lang="en-US" sz="15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Current-state macro context. </a:t>
                      </a:r>
                    </a:p>
                    <a:p>
                      <a:pPr defTabSz="914400">
                        <a:lnSpc>
                          <a:spcPct val="100000"/>
                        </a:lnSpc>
                        <a:spcAft>
                          <a:spcPts val="400"/>
                        </a:spcAft>
                        <a:tabLst>
                          <a:tab pos="0" algn="l"/>
                        </a:tabLst>
                      </a:pPr>
                      <a:r>
                        <a:rPr lang="en-US" sz="15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Only VIX survives Lasso regularization. </a:t>
                      </a:r>
                    </a:p>
                    <a:p>
                      <a:pPr defTabSz="914400">
                        <a:lnSpc>
                          <a:spcPct val="100000"/>
                        </a:lnSpc>
                        <a:spcAft>
                          <a:spcPts val="400"/>
                        </a:spcAft>
                        <a:tabLst>
                          <a:tab pos="0" algn="l"/>
                        </a:tabLst>
                      </a:pPr>
                      <a:r>
                        <a:rPr lang="en-US" sz="15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Other 5 macro features zeroed out.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</a:tbl>
          </a:graphicData>
        </a:graphic>
      </p:graphicFrame>
      <p:sp>
        <p:nvSpPr>
          <p:cNvPr id="4" name="TextBox 3">
            <a:extLst>
              <a:ext uri="{FF2B5EF4-FFF2-40B4-BE49-F238E27FC236}">
                <a16:creationId xmlns:a16="http://schemas.microsoft.com/office/drawing/2014/main" id="{559A7459-E959-0EFB-A0FB-33A4AD2C3694}"/>
              </a:ext>
            </a:extLst>
          </p:cNvPr>
          <p:cNvSpPr txBox="1"/>
          <p:nvPr/>
        </p:nvSpPr>
        <p:spPr>
          <a:xfrm>
            <a:off x="231600" y="1038595"/>
            <a:ext cx="11728320" cy="359009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733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V2 tests whether macro and market context improves on the simple volatility-only V1 model</a:t>
            </a:r>
            <a:endParaRPr kumimoji="0" lang="en-US" sz="24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3A2D322F-BCCC-7D67-B5C2-0E37FB5F266A}"/>
              </a:ext>
            </a:extLst>
          </p:cNvPr>
          <p:cNvSpPr/>
          <p:nvPr/>
        </p:nvSpPr>
        <p:spPr>
          <a:xfrm>
            <a:off x="329184" y="6615684"/>
            <a:ext cx="6217920" cy="190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AAAACC"/>
                </a:solidFill>
              </a:rPr>
              <a:t>DATASCI 207  ·  Final Project: Forecasting Volatility In Stock Market  ·  March 2026</a:t>
            </a:r>
            <a:endParaRPr lang="en-US" sz="12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0"/>
          <p:cNvSpPr/>
          <p:nvPr/>
        </p:nvSpPr>
        <p:spPr>
          <a:xfrm>
            <a:off x="0" y="0"/>
            <a:ext cx="12191520" cy="633600"/>
          </a:xfrm>
          <a:prstGeom prst="rect">
            <a:avLst/>
          </a:prstGeom>
          <a:solidFill>
            <a:srgbClr val="0D234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5" name="Text 1"/>
          <p:cNvSpPr/>
          <p:nvPr/>
        </p:nvSpPr>
        <p:spPr>
          <a:xfrm>
            <a:off x="341280" y="48960"/>
            <a:ext cx="10606560" cy="56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933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Model Performance Results — 2025 Test Set (8,820 rows)</a:t>
            </a:r>
            <a:endParaRPr kumimoji="0" lang="en-US" sz="2933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7" name="Shape 3"/>
          <p:cNvSpPr/>
          <p:nvPr/>
        </p:nvSpPr>
        <p:spPr>
          <a:xfrm>
            <a:off x="0" y="6559200"/>
            <a:ext cx="12191520" cy="298080"/>
          </a:xfrm>
          <a:prstGeom prst="rect">
            <a:avLst/>
          </a:prstGeom>
          <a:solidFill>
            <a:srgbClr val="0D234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9" name="Text 5"/>
          <p:cNvSpPr/>
          <p:nvPr/>
        </p:nvSpPr>
        <p:spPr>
          <a:xfrm>
            <a:off x="1372473" y="824585"/>
            <a:ext cx="8611228" cy="5056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All results use the same 8,820-row test set. Lower MAE and RMSE are better; higher R² is better.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aphicFrame>
        <p:nvGraphicFramePr>
          <p:cNvPr id="100" name="Table 0"/>
          <p:cNvGraphicFramePr/>
          <p:nvPr>
            <p:extLst>
              <p:ext uri="{D42A27DB-BD31-4B8C-83A1-F6EECF244321}">
                <p14:modId xmlns:p14="http://schemas.microsoft.com/office/powerpoint/2010/main" val="1313192674"/>
              </p:ext>
            </p:extLst>
          </p:nvPr>
        </p:nvGraphicFramePr>
        <p:xfrm>
          <a:off x="1450560" y="2061292"/>
          <a:ext cx="9290400" cy="3515360"/>
        </p:xfrm>
        <a:graphic>
          <a:graphicData uri="http://schemas.openxmlformats.org/drawingml/2006/table">
            <a:tbl>
              <a:tblPr/>
              <a:tblGrid>
                <a:gridCol w="289284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012180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045028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003228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872324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02384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440960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58928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Model / Baseline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Candidate Features</a:t>
                      </a:r>
                      <a:endParaRPr lang="en-US" sz="14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Retained</a:t>
                      </a:r>
                      <a:endParaRPr lang="en-US" sz="14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Test MAE</a:t>
                      </a:r>
                      <a:endParaRPr lang="en-US" sz="14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Test RMSE</a:t>
                      </a:r>
                      <a:endParaRPr lang="en-US" sz="14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Test R²</a:t>
                      </a:r>
                      <a:endParaRPr lang="en-US" sz="14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vs XGBoost</a:t>
                      </a:r>
                      <a:endParaRPr lang="en-US" sz="14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V1 — Elastic Net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0.0855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0.1357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0.1794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+0.0032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A8CC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V2 — Elastic Net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A8CC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8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A8CC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A8CC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0.0846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A8CC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0.1324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A8CC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0.2188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A8CC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+0.0024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E8972A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Baseline: </a:t>
                      </a:r>
                      <a:r>
                        <a:rPr lang="en-US" sz="1400" b="1" u="none" strike="noStrike" dirty="0" err="1">
                          <a:solidFill>
                            <a:srgbClr val="E8972A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XGBoost</a:t>
                      </a:r>
                      <a:r>
                        <a:rPr lang="en-US" sz="1400" b="1" u="none" strike="noStrike" dirty="0">
                          <a:solidFill>
                            <a:srgbClr val="E8972A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 walk-forward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—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—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8972A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0.0823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0.1352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0.1856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E8972A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BEST ★</a:t>
                      </a:r>
                      <a:endParaRPr lang="en-US" sz="14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Baseline: Trailing 20 Day Average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—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—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0.0922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0.1491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0.0088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+0.0099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Baseline: Trailing 5 Day Average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—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—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0.1005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0.1625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−0.1773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+0.0182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Baseline: Current Volatility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—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—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0.1020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0.1619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−0.1680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+0.0197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Baseline: Trailing 20 Day OLS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—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—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0.1298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0.2091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−0.9498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+0.0475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657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Baseline: Trailing 5 Day OLS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—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—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0.1644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0.2478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−1.7383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+0.0821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+mn-lt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2" name="Text 5">
            <a:extLst>
              <a:ext uri="{FF2B5EF4-FFF2-40B4-BE49-F238E27FC236}">
                <a16:creationId xmlns:a16="http://schemas.microsoft.com/office/drawing/2014/main" id="{BD13B0C6-9175-E647-AE88-37C81EC4F178}"/>
              </a:ext>
            </a:extLst>
          </p:cNvPr>
          <p:cNvSpPr/>
          <p:nvPr/>
        </p:nvSpPr>
        <p:spPr>
          <a:xfrm>
            <a:off x="1372473" y="1296746"/>
            <a:ext cx="9774500" cy="38444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Key takeaway: V2 is the strongest Elastic Net model, but XGBoost remains the benchmark to beat on test MAE.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30B3A69D-C720-A455-AF5B-23B845D8DDAC}"/>
              </a:ext>
            </a:extLst>
          </p:cNvPr>
          <p:cNvSpPr/>
          <p:nvPr/>
        </p:nvSpPr>
        <p:spPr>
          <a:xfrm>
            <a:off x="329184" y="6615684"/>
            <a:ext cx="6217920" cy="190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AAAACC"/>
                </a:solidFill>
              </a:rPr>
              <a:t>DATASCI 207  ·  Final Project: Forecasting Volatility In Stock Market  ·  March 2026</a:t>
            </a:r>
            <a:endParaRPr lang="en-US" sz="12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7FA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Shape 6">
            <a:extLst>
              <a:ext uri="{FF2B5EF4-FFF2-40B4-BE49-F238E27FC236}">
                <a16:creationId xmlns:a16="http://schemas.microsoft.com/office/drawing/2014/main" id="{D3C723B6-84B5-A592-FFF5-03C0407F2AA6}"/>
              </a:ext>
            </a:extLst>
          </p:cNvPr>
          <p:cNvSpPr/>
          <p:nvPr/>
        </p:nvSpPr>
        <p:spPr>
          <a:xfrm>
            <a:off x="504161" y="4804523"/>
            <a:ext cx="5449629" cy="1255773"/>
          </a:xfrm>
          <a:prstGeom prst="rect">
            <a:avLst/>
          </a:prstGeom>
          <a:solidFill>
            <a:srgbClr val="D5F5E3"/>
          </a:solidFill>
          <a:ln w="12700">
            <a:solidFill>
              <a:srgbClr val="1E844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" name="Shape 0"/>
          <p:cNvSpPr/>
          <p:nvPr/>
        </p:nvSpPr>
        <p:spPr>
          <a:xfrm>
            <a:off x="0" y="0"/>
            <a:ext cx="12191695" cy="777240"/>
          </a:xfrm>
          <a:prstGeom prst="rect">
            <a:avLst/>
          </a:prstGeom>
          <a:solidFill>
            <a:srgbClr val="0B2A45"/>
          </a:solidFill>
          <a:ln w="12700">
            <a:solidFill>
              <a:srgbClr val="0B2A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1"/>
          <p:cNvSpPr/>
          <p:nvPr/>
        </p:nvSpPr>
        <p:spPr>
          <a:xfrm>
            <a:off x="502920" y="164592"/>
            <a:ext cx="10088575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3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Interpretation: What Elastic Net Retained</a:t>
            </a:r>
            <a:endParaRPr kumimoji="0" lang="en-US" sz="3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" name="Shape 3"/>
          <p:cNvSpPr/>
          <p:nvPr/>
        </p:nvSpPr>
        <p:spPr>
          <a:xfrm>
            <a:off x="0" y="6537960"/>
            <a:ext cx="12191695" cy="320040"/>
          </a:xfrm>
          <a:prstGeom prst="rect">
            <a:avLst/>
          </a:prstGeom>
          <a:solidFill>
            <a:srgbClr val="0B2A45"/>
          </a:solidFill>
          <a:ln w="12700">
            <a:solidFill>
              <a:srgbClr val="0B2A45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8" name="Shape 6"/>
          <p:cNvSpPr/>
          <p:nvPr/>
        </p:nvSpPr>
        <p:spPr>
          <a:xfrm>
            <a:off x="510692" y="1536192"/>
            <a:ext cx="5432908" cy="2971800"/>
          </a:xfrm>
          <a:prstGeom prst="rect">
            <a:avLst/>
          </a:prstGeom>
          <a:solidFill>
            <a:srgbClr val="DFF5E6"/>
          </a:solidFill>
          <a:ln w="15875">
            <a:solidFill>
              <a:srgbClr val="2E7D32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9" name="Text 7"/>
          <p:cNvSpPr/>
          <p:nvPr/>
        </p:nvSpPr>
        <p:spPr>
          <a:xfrm>
            <a:off x="731520" y="1719072"/>
            <a:ext cx="49757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2E7D3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V1 retained features (2/2)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" name="Shape 8"/>
          <p:cNvSpPr/>
          <p:nvPr/>
        </p:nvSpPr>
        <p:spPr>
          <a:xfrm>
            <a:off x="731520" y="2130552"/>
            <a:ext cx="4892040" cy="1737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1" name="Shape 9"/>
          <p:cNvSpPr/>
          <p:nvPr/>
        </p:nvSpPr>
        <p:spPr>
          <a:xfrm>
            <a:off x="731520" y="2148840"/>
            <a:ext cx="1965960" cy="457200"/>
          </a:xfrm>
          <a:prstGeom prst="rect">
            <a:avLst/>
          </a:prstGeom>
          <a:solidFill>
            <a:srgbClr val="0B2A45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2" name="Text 10"/>
          <p:cNvSpPr/>
          <p:nvPr/>
        </p:nvSpPr>
        <p:spPr>
          <a:xfrm>
            <a:off x="841248" y="2221992"/>
            <a:ext cx="17465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3" name="Shape 11"/>
          <p:cNvSpPr/>
          <p:nvPr/>
        </p:nvSpPr>
        <p:spPr>
          <a:xfrm>
            <a:off x="2697480" y="2148840"/>
            <a:ext cx="1097280" cy="457200"/>
          </a:xfrm>
          <a:prstGeom prst="rect">
            <a:avLst/>
          </a:prstGeom>
          <a:solidFill>
            <a:srgbClr val="0B2A45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4" name="Text 12"/>
          <p:cNvSpPr/>
          <p:nvPr/>
        </p:nvSpPr>
        <p:spPr>
          <a:xfrm>
            <a:off x="2807208" y="2221992"/>
            <a:ext cx="8778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Coeff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5" name="Shape 13"/>
          <p:cNvSpPr/>
          <p:nvPr/>
        </p:nvSpPr>
        <p:spPr>
          <a:xfrm>
            <a:off x="3794760" y="2148840"/>
            <a:ext cx="1828800" cy="457200"/>
          </a:xfrm>
          <a:prstGeom prst="rect">
            <a:avLst/>
          </a:prstGeom>
          <a:solidFill>
            <a:srgbClr val="0B2A45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6" name="Text 14"/>
          <p:cNvSpPr/>
          <p:nvPr/>
        </p:nvSpPr>
        <p:spPr>
          <a:xfrm>
            <a:off x="3904488" y="2221992"/>
            <a:ext cx="1609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Meaning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7" name="Shape 15"/>
          <p:cNvSpPr/>
          <p:nvPr/>
        </p:nvSpPr>
        <p:spPr>
          <a:xfrm>
            <a:off x="841248" y="2651759"/>
            <a:ext cx="175564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8" name="Text 16"/>
          <p:cNvSpPr/>
          <p:nvPr/>
        </p:nvSpPr>
        <p:spPr>
          <a:xfrm>
            <a:off x="841248" y="2679192"/>
            <a:ext cx="174650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20-day trailing vol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9" name="Shape 17"/>
          <p:cNvSpPr/>
          <p:nvPr/>
        </p:nvSpPr>
        <p:spPr>
          <a:xfrm>
            <a:off x="2679192" y="2642616"/>
            <a:ext cx="1069848" cy="557784"/>
          </a:xfrm>
          <a:prstGeom prst="rect">
            <a:avLst/>
          </a:prstGeom>
          <a:solidFill>
            <a:srgbClr val="FFFFFF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0" name="Text 18"/>
          <p:cNvSpPr/>
          <p:nvPr/>
        </p:nvSpPr>
        <p:spPr>
          <a:xfrm>
            <a:off x="2807208" y="2679192"/>
            <a:ext cx="87782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E7D3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+0.0487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1" name="Shape 19"/>
          <p:cNvSpPr/>
          <p:nvPr/>
        </p:nvSpPr>
        <p:spPr>
          <a:xfrm>
            <a:off x="3822192" y="2640002"/>
            <a:ext cx="1755648" cy="560397"/>
          </a:xfrm>
          <a:prstGeom prst="rect">
            <a:avLst/>
          </a:prstGeom>
          <a:solidFill>
            <a:srgbClr val="FFFFFF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2" name="Text 20"/>
          <p:cNvSpPr/>
          <p:nvPr/>
        </p:nvSpPr>
        <p:spPr>
          <a:xfrm>
            <a:off x="3794760" y="2606041"/>
            <a:ext cx="1783080" cy="55778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Dominant, smoother persistence signal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3" name="Shape 21"/>
          <p:cNvSpPr/>
          <p:nvPr/>
        </p:nvSpPr>
        <p:spPr>
          <a:xfrm>
            <a:off x="841248" y="3264409"/>
            <a:ext cx="1746504" cy="563008"/>
          </a:xfrm>
          <a:prstGeom prst="rect">
            <a:avLst/>
          </a:prstGeom>
          <a:solidFill>
            <a:srgbClr val="F7FAFC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4" name="Text 22"/>
          <p:cNvSpPr/>
          <p:nvPr/>
        </p:nvSpPr>
        <p:spPr>
          <a:xfrm>
            <a:off x="841248" y="3319272"/>
            <a:ext cx="174650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Current vol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5" name="Shape 23"/>
          <p:cNvSpPr/>
          <p:nvPr/>
        </p:nvSpPr>
        <p:spPr>
          <a:xfrm>
            <a:off x="2697480" y="3278777"/>
            <a:ext cx="1033272" cy="548640"/>
          </a:xfrm>
          <a:prstGeom prst="rect">
            <a:avLst/>
          </a:prstGeom>
          <a:solidFill>
            <a:srgbClr val="F7FAFC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6" name="Text 24"/>
          <p:cNvSpPr/>
          <p:nvPr/>
        </p:nvSpPr>
        <p:spPr>
          <a:xfrm>
            <a:off x="2807208" y="3319272"/>
            <a:ext cx="877824" cy="49377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2E7D32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+0.0377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7" name="Shape 25"/>
          <p:cNvSpPr/>
          <p:nvPr/>
        </p:nvSpPr>
        <p:spPr>
          <a:xfrm>
            <a:off x="3794760" y="3246120"/>
            <a:ext cx="1783080" cy="581297"/>
          </a:xfrm>
          <a:prstGeom prst="rect">
            <a:avLst/>
          </a:prstGeom>
          <a:solidFill>
            <a:srgbClr val="F7FAFC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8" name="Text 26"/>
          <p:cNvSpPr/>
          <p:nvPr/>
        </p:nvSpPr>
        <p:spPr>
          <a:xfrm>
            <a:off x="3850996" y="3280083"/>
            <a:ext cx="1726844" cy="54733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Recency beyond the 20-day average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9" name="Shape 27"/>
          <p:cNvSpPr/>
          <p:nvPr/>
        </p:nvSpPr>
        <p:spPr>
          <a:xfrm>
            <a:off x="6255868" y="1536192"/>
            <a:ext cx="5432908" cy="2971800"/>
          </a:xfrm>
          <a:prstGeom prst="rect">
            <a:avLst/>
          </a:prstGeom>
          <a:solidFill>
            <a:srgbClr val="DFF4FB"/>
          </a:solidFill>
          <a:ln w="15875">
            <a:solidFill>
              <a:srgbClr val="00A3C4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0" name="Text 28"/>
          <p:cNvSpPr/>
          <p:nvPr/>
        </p:nvSpPr>
        <p:spPr>
          <a:xfrm>
            <a:off x="6484468" y="1719072"/>
            <a:ext cx="4975708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800" b="1" i="0" u="none" strike="noStrike" kern="1200" cap="none" spc="0" normalizeH="0" baseline="0" noProof="0" dirty="0">
                <a:ln>
                  <a:noFill/>
                </a:ln>
                <a:solidFill>
                  <a:srgbClr val="00A3C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V2 retained features (3/8)</a:t>
            </a: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1" name="Shape 29"/>
          <p:cNvSpPr/>
          <p:nvPr/>
        </p:nvSpPr>
        <p:spPr>
          <a:xfrm>
            <a:off x="6484468" y="2148840"/>
            <a:ext cx="4892040" cy="224028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2" name="Shape 30"/>
          <p:cNvSpPr/>
          <p:nvPr/>
        </p:nvSpPr>
        <p:spPr>
          <a:xfrm>
            <a:off x="6484468" y="2148840"/>
            <a:ext cx="1965960" cy="457200"/>
          </a:xfrm>
          <a:prstGeom prst="rect">
            <a:avLst/>
          </a:prstGeom>
          <a:solidFill>
            <a:srgbClr val="0B2A45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3" name="Text 31"/>
          <p:cNvSpPr/>
          <p:nvPr/>
        </p:nvSpPr>
        <p:spPr>
          <a:xfrm>
            <a:off x="6594196" y="2221992"/>
            <a:ext cx="174650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Feature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4" name="Shape 32"/>
          <p:cNvSpPr/>
          <p:nvPr/>
        </p:nvSpPr>
        <p:spPr>
          <a:xfrm>
            <a:off x="8450428" y="2148840"/>
            <a:ext cx="1097280" cy="457200"/>
          </a:xfrm>
          <a:prstGeom prst="rect">
            <a:avLst/>
          </a:prstGeom>
          <a:solidFill>
            <a:srgbClr val="0B2A45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5" name="Text 33"/>
          <p:cNvSpPr/>
          <p:nvPr/>
        </p:nvSpPr>
        <p:spPr>
          <a:xfrm>
            <a:off x="8560156" y="2221992"/>
            <a:ext cx="87782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Coeff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6" name="Shape 34"/>
          <p:cNvSpPr/>
          <p:nvPr/>
        </p:nvSpPr>
        <p:spPr>
          <a:xfrm>
            <a:off x="9547708" y="2148840"/>
            <a:ext cx="1828800" cy="457200"/>
          </a:xfrm>
          <a:prstGeom prst="rect">
            <a:avLst/>
          </a:prstGeom>
          <a:solidFill>
            <a:srgbClr val="0B2A45"/>
          </a:solidFill>
          <a:ln w="12700">
            <a:solidFill>
              <a:srgbClr val="FFFFFF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7" name="Text 35"/>
          <p:cNvSpPr/>
          <p:nvPr/>
        </p:nvSpPr>
        <p:spPr>
          <a:xfrm>
            <a:off x="9657436" y="2221992"/>
            <a:ext cx="1609344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Meaning</a:t>
            </a:r>
            <a:endParaRPr kumimoji="0" lang="en-US" sz="16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8" name="Shape 36"/>
          <p:cNvSpPr/>
          <p:nvPr/>
        </p:nvSpPr>
        <p:spPr>
          <a:xfrm>
            <a:off x="6484468" y="2606040"/>
            <a:ext cx="19659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9" name="Text 37"/>
          <p:cNvSpPr/>
          <p:nvPr/>
        </p:nvSpPr>
        <p:spPr>
          <a:xfrm>
            <a:off x="6594196" y="2679192"/>
            <a:ext cx="17465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20-day trailing vol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0" name="Shape 38"/>
          <p:cNvSpPr/>
          <p:nvPr/>
        </p:nvSpPr>
        <p:spPr>
          <a:xfrm>
            <a:off x="8450428" y="2606040"/>
            <a:ext cx="10972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1" name="Text 39"/>
          <p:cNvSpPr/>
          <p:nvPr/>
        </p:nvSpPr>
        <p:spPr>
          <a:xfrm>
            <a:off x="8560156" y="2679192"/>
            <a:ext cx="87782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A3C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+0.0405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2" name="Shape 40"/>
          <p:cNvSpPr/>
          <p:nvPr/>
        </p:nvSpPr>
        <p:spPr>
          <a:xfrm>
            <a:off x="9547708" y="2606040"/>
            <a:ext cx="18288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3" name="Text 41"/>
          <p:cNvSpPr/>
          <p:nvPr/>
        </p:nvSpPr>
        <p:spPr>
          <a:xfrm>
            <a:off x="9657436" y="2679192"/>
            <a:ext cx="160934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Still dominant; slightly smaller with VIX added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4" name="Shape 42"/>
          <p:cNvSpPr/>
          <p:nvPr/>
        </p:nvSpPr>
        <p:spPr>
          <a:xfrm>
            <a:off x="6484468" y="3200400"/>
            <a:ext cx="1965960" cy="594360"/>
          </a:xfrm>
          <a:prstGeom prst="rect">
            <a:avLst/>
          </a:prstGeom>
          <a:solidFill>
            <a:srgbClr val="F7FAFC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5" name="Text 43"/>
          <p:cNvSpPr/>
          <p:nvPr/>
        </p:nvSpPr>
        <p:spPr>
          <a:xfrm>
            <a:off x="6594196" y="3273552"/>
            <a:ext cx="17465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Current vol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6" name="Shape 44"/>
          <p:cNvSpPr/>
          <p:nvPr/>
        </p:nvSpPr>
        <p:spPr>
          <a:xfrm>
            <a:off x="8450428" y="3200400"/>
            <a:ext cx="1097280" cy="594360"/>
          </a:xfrm>
          <a:prstGeom prst="rect">
            <a:avLst/>
          </a:prstGeom>
          <a:solidFill>
            <a:srgbClr val="F7FAFC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7" name="Text 45"/>
          <p:cNvSpPr/>
          <p:nvPr/>
        </p:nvSpPr>
        <p:spPr>
          <a:xfrm>
            <a:off x="8560156" y="3273552"/>
            <a:ext cx="87782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A3C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+0.0323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8" name="Shape 46"/>
          <p:cNvSpPr/>
          <p:nvPr/>
        </p:nvSpPr>
        <p:spPr>
          <a:xfrm>
            <a:off x="9547708" y="3200400"/>
            <a:ext cx="1828800" cy="594360"/>
          </a:xfrm>
          <a:prstGeom prst="rect">
            <a:avLst/>
          </a:prstGeom>
          <a:solidFill>
            <a:srgbClr val="F7FAFC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49" name="Text 47"/>
          <p:cNvSpPr/>
          <p:nvPr/>
        </p:nvSpPr>
        <p:spPr>
          <a:xfrm>
            <a:off x="9657436" y="3273552"/>
            <a:ext cx="160934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Recency remains informative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0" name="Shape 48"/>
          <p:cNvSpPr/>
          <p:nvPr/>
        </p:nvSpPr>
        <p:spPr>
          <a:xfrm>
            <a:off x="6484468" y="3794760"/>
            <a:ext cx="196596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1" name="Text 49"/>
          <p:cNvSpPr/>
          <p:nvPr/>
        </p:nvSpPr>
        <p:spPr>
          <a:xfrm>
            <a:off x="6594196" y="3867912"/>
            <a:ext cx="174650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5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VIX</a:t>
            </a:r>
            <a:endParaRPr kumimoji="0" lang="en-US" sz="15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2" name="Shape 50"/>
          <p:cNvSpPr/>
          <p:nvPr/>
        </p:nvSpPr>
        <p:spPr>
          <a:xfrm>
            <a:off x="8450428" y="3794760"/>
            <a:ext cx="109728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3" name="Text 51"/>
          <p:cNvSpPr/>
          <p:nvPr/>
        </p:nvSpPr>
        <p:spPr>
          <a:xfrm>
            <a:off x="8560156" y="3867912"/>
            <a:ext cx="87782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ctr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A3C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+0.0293</a:t>
            </a:r>
            <a:endParaRPr kumimoji="0" lang="en-US" sz="14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4" name="Shape 52"/>
          <p:cNvSpPr/>
          <p:nvPr/>
        </p:nvSpPr>
        <p:spPr>
          <a:xfrm>
            <a:off x="9547708" y="3794760"/>
            <a:ext cx="1828800" cy="594360"/>
          </a:xfrm>
          <a:prstGeom prst="rect">
            <a:avLst/>
          </a:prstGeom>
          <a:solidFill>
            <a:srgbClr val="FFFFFF"/>
          </a:solidFill>
          <a:ln w="12700">
            <a:solidFill>
              <a:srgbClr val="D0D6DC"/>
            </a:solidFill>
            <a:prstDash val="solid"/>
          </a:ln>
        </p:spPr>
        <p:txBody>
          <a:bodyPr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800" b="0" i="0" u="none" strike="noStrike" kern="1200" cap="none" spc="0" normalizeH="0" baseline="0" noProof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55" name="Text 53"/>
          <p:cNvSpPr/>
          <p:nvPr/>
        </p:nvSpPr>
        <p:spPr>
          <a:xfrm>
            <a:off x="9657436" y="3867912"/>
            <a:ext cx="1609344" cy="4480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3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Forward-looking implied volatility signal</a:t>
            </a:r>
            <a:endParaRPr kumimoji="0" lang="en-US" sz="1300" b="0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0" name="Shape 7">
            <a:extLst>
              <a:ext uri="{FF2B5EF4-FFF2-40B4-BE49-F238E27FC236}">
                <a16:creationId xmlns:a16="http://schemas.microsoft.com/office/drawing/2014/main" id="{FD349E88-F102-AB6B-4A74-3AA11753C701}"/>
              </a:ext>
            </a:extLst>
          </p:cNvPr>
          <p:cNvSpPr/>
          <p:nvPr/>
        </p:nvSpPr>
        <p:spPr>
          <a:xfrm>
            <a:off x="6269791" y="4804524"/>
            <a:ext cx="5432908" cy="1255772"/>
          </a:xfrm>
          <a:prstGeom prst="rect">
            <a:avLst/>
          </a:prstGeom>
          <a:solidFill>
            <a:srgbClr val="D6F2FA"/>
          </a:solidFill>
          <a:ln w="12700">
            <a:solidFill>
              <a:srgbClr val="00A8C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61" name="Text 8">
            <a:extLst>
              <a:ext uri="{FF2B5EF4-FFF2-40B4-BE49-F238E27FC236}">
                <a16:creationId xmlns:a16="http://schemas.microsoft.com/office/drawing/2014/main" id="{6B13C97D-3A48-96FF-998F-CE8C71F1BDC5}"/>
              </a:ext>
            </a:extLst>
          </p:cNvPr>
          <p:cNvSpPr/>
          <p:nvPr/>
        </p:nvSpPr>
        <p:spPr>
          <a:xfrm>
            <a:off x="582152" y="4853724"/>
            <a:ext cx="5289987" cy="1157369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t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>
                <a:srgbClr val="1A1A2E"/>
              </a:buClr>
              <a:buSzTx/>
              <a:buFontTx/>
              <a:buNone/>
              <a:tabLst/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srgbClr val="2E7D32"/>
                </a:solidFill>
                <a:effectLst/>
                <a:uLnTx/>
                <a:uFillTx/>
                <a:latin typeface="Calibri" panose="020F0502020204030204"/>
                <a:ea typeface="Calibri" pitchFamily="34" charset="-122"/>
                <a:cs typeface="Calibri" pitchFamily="34" charset="-120"/>
              </a:rPr>
              <a:t>V1 Economic Meaning: Volatility</a:t>
            </a:r>
            <a:endParaRPr kumimoji="0" lang="en-US" sz="1300" b="1" i="0" u="none" strike="noStrike" kern="1200" cap="none" spc="0" normalizeH="0" baseline="0" noProof="0" dirty="0">
              <a:ln>
                <a:noFill/>
              </a:ln>
              <a:solidFill>
                <a:srgbClr val="1A1A2E"/>
              </a:solidFill>
              <a:effectLst/>
              <a:uLnTx/>
              <a:uFillTx/>
              <a:latin typeface="Calibri" panose="020F0502020204030204"/>
              <a:ea typeface="Calibr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Calibri" panose="020F0502020204030204"/>
                <a:ea typeface="Calibri"/>
                <a:cs typeface="+mn-cs"/>
              </a:rPr>
              <a:t>Both coefficients are positive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Calibri" panose="020F0502020204030204"/>
                <a:ea typeface="Calibri"/>
                <a:cs typeface="+mn-cs"/>
              </a:rPr>
              <a:t>20-day trailing volatility is the stronger signal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Current volatility recency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1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endParaRPr kumimoji="0" lang="en-US" sz="12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100" name="Text 8">
            <a:extLst>
              <a:ext uri="{FF2B5EF4-FFF2-40B4-BE49-F238E27FC236}">
                <a16:creationId xmlns:a16="http://schemas.microsoft.com/office/drawing/2014/main" id="{CCF61E46-DCB3-164B-99B6-3C57DF654206}"/>
              </a:ext>
            </a:extLst>
          </p:cNvPr>
          <p:cNvSpPr/>
          <p:nvPr/>
        </p:nvSpPr>
        <p:spPr>
          <a:xfrm>
            <a:off x="6338571" y="4853725"/>
            <a:ext cx="5295347" cy="998436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400" b="1" i="0" u="none" strike="noStrike" kern="1200" cap="none" spc="0" normalizeH="0" baseline="0" noProof="0" dirty="0">
                <a:ln>
                  <a:noFill/>
                </a:ln>
                <a:solidFill>
                  <a:srgbClr val="00A3C4"/>
                </a:solidFill>
                <a:effectLst/>
                <a:uLnTx/>
                <a:uFillTx/>
                <a:latin typeface="Calibri" pitchFamily="34" charset="0"/>
                <a:ea typeface="Calibri" pitchFamily="34" charset="-122"/>
                <a:cs typeface="Calibri" pitchFamily="34" charset="-120"/>
              </a:rPr>
              <a:t>V2: Why VIX Survives</a:t>
            </a:r>
            <a:endParaRPr kumimoji="0" lang="en-US" sz="1300" b="1" i="0" u="none" strike="noStrike" kern="1200" cap="none" spc="0" normalizeH="0" baseline="0" noProof="0" dirty="0">
              <a:ln>
                <a:noFill/>
              </a:ln>
              <a:solidFill>
                <a:srgbClr val="1A1A2E"/>
              </a:solidFill>
              <a:effectLst/>
              <a:uLnTx/>
              <a:uFillTx/>
              <a:latin typeface="Calibri" panose="020F0502020204030204"/>
              <a:ea typeface="Calibri"/>
              <a:cs typeface="+mn-cs"/>
            </a:endParaRP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Calibri" panose="020F0502020204030204"/>
                <a:ea typeface="Calibri"/>
                <a:cs typeface="+mn-cs"/>
              </a:rPr>
              <a:t>VIX forward-looking, while the other retained volatility measures are backward-looking.</a:t>
            </a:r>
          </a:p>
          <a:p>
            <a:pPr marL="171450" marR="0" lvl="0" indent="-17145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00"/>
              </a:spcAft>
              <a:buClrTx/>
              <a:buSzTx/>
              <a:buFont typeface="Arial" panose="020B0604020202020204" pitchFamily="34" charset="0"/>
              <a:buChar char="•"/>
              <a:tabLst>
                <a:tab pos="0" algn="l"/>
              </a:tabLst>
              <a:defRPr/>
            </a:pPr>
            <a:r>
              <a:rPr kumimoji="0" lang="en-US" sz="12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That gives VIX unique predictive value in V2.</a:t>
            </a:r>
          </a:p>
        </p:txBody>
      </p:sp>
      <p:sp>
        <p:nvSpPr>
          <p:cNvPr id="101" name="Text 5">
            <a:extLst>
              <a:ext uri="{FF2B5EF4-FFF2-40B4-BE49-F238E27FC236}">
                <a16:creationId xmlns:a16="http://schemas.microsoft.com/office/drawing/2014/main" id="{93BDD627-9A92-B266-94CA-7154B61271BB}"/>
              </a:ext>
            </a:extLst>
          </p:cNvPr>
          <p:cNvSpPr/>
          <p:nvPr/>
        </p:nvSpPr>
        <p:spPr>
          <a:xfrm>
            <a:off x="520882" y="896111"/>
            <a:ext cx="5432908" cy="53035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V1 retains two current-state volatility features.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20-day trailing volatility term is the stronger predictor.</a:t>
            </a:r>
            <a:endParaRPr kumimoji="0" lang="en-US" sz="13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2" name="Text 5">
            <a:extLst>
              <a:ext uri="{FF2B5EF4-FFF2-40B4-BE49-F238E27FC236}">
                <a16:creationId xmlns:a16="http://schemas.microsoft.com/office/drawing/2014/main" id="{F4A5F84F-65E6-8FA9-813D-75D3989A7BBE}"/>
              </a:ext>
            </a:extLst>
          </p:cNvPr>
          <p:cNvSpPr/>
          <p:nvPr/>
        </p:nvSpPr>
        <p:spPr>
          <a:xfrm>
            <a:off x="6255868" y="896110"/>
            <a:ext cx="5432907" cy="530351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90000" tIns="45000" rIns="90000" bIns="45000" anchor="ctr">
            <a:noAutofit/>
          </a:bodyPr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V2 adds six macro and market features. </a:t>
            </a:r>
          </a:p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300" b="1" i="0" u="none" strike="noStrike" kern="1200" cap="none" spc="0" normalizeH="0" baseline="0" noProof="0" dirty="0">
                <a:ln>
                  <a:noFill/>
                </a:ln>
                <a:solidFill>
                  <a:prstClr val="black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Only VIX is retained; the others are shrunk to zero. </a:t>
            </a:r>
            <a:endParaRPr kumimoji="0" lang="en-US" sz="1300" b="1" i="0" u="none" strike="noStrike" kern="1200" cap="none" spc="0" normalizeH="0" baseline="0" noProof="0" dirty="0">
              <a:ln>
                <a:noFill/>
              </a:ln>
              <a:solidFill>
                <a:prstClr val="black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56" name="Text 3">
            <a:extLst>
              <a:ext uri="{FF2B5EF4-FFF2-40B4-BE49-F238E27FC236}">
                <a16:creationId xmlns:a16="http://schemas.microsoft.com/office/drawing/2014/main" id="{881F9AEE-4A6C-8B73-1042-3CBAAB706B31}"/>
              </a:ext>
            </a:extLst>
          </p:cNvPr>
          <p:cNvSpPr/>
          <p:nvPr/>
        </p:nvSpPr>
        <p:spPr>
          <a:xfrm>
            <a:off x="329184" y="6615684"/>
            <a:ext cx="6217920" cy="190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AAAACC"/>
                </a:solidFill>
              </a:rPr>
              <a:t>DATASCI 207  ·  Final Project: Forecasting Volatility In Stock Market  ·  March 2026</a:t>
            </a:r>
            <a:endParaRPr lang="en-US" sz="12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Shape 0"/>
          <p:cNvSpPr/>
          <p:nvPr/>
        </p:nvSpPr>
        <p:spPr>
          <a:xfrm>
            <a:off x="0" y="0"/>
            <a:ext cx="12191520" cy="633600"/>
          </a:xfrm>
          <a:prstGeom prst="rect">
            <a:avLst/>
          </a:prstGeom>
          <a:solidFill>
            <a:srgbClr val="0D234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2" name="Text 1"/>
          <p:cNvSpPr/>
          <p:nvPr/>
        </p:nvSpPr>
        <p:spPr>
          <a:xfrm>
            <a:off x="341280" y="48960"/>
            <a:ext cx="10606560" cy="56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933" b="1" i="0" u="none" strike="noStrike" kern="1200" cap="none" spc="0" normalizeH="0" baseline="0" noProof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Subgroup Breakdown: Market / Sector / Industry ETFs</a:t>
            </a:r>
            <a:endParaRPr kumimoji="0" lang="en-US" sz="2933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4" name="Shape 3"/>
          <p:cNvSpPr/>
          <p:nvPr/>
        </p:nvSpPr>
        <p:spPr>
          <a:xfrm>
            <a:off x="0" y="6559200"/>
            <a:ext cx="12191520" cy="298080"/>
          </a:xfrm>
          <a:prstGeom prst="rect">
            <a:avLst/>
          </a:prstGeom>
          <a:solidFill>
            <a:srgbClr val="0D234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46" name="Text 5"/>
          <p:cNvSpPr/>
          <p:nvPr/>
        </p:nvSpPr>
        <p:spPr>
          <a:xfrm>
            <a:off x="219360" y="914592"/>
            <a:ext cx="11752800" cy="46272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Performance by ETF subgroup. Industry ETFs are hardest to forecast because idiosyncratic risk is less well captured by aggregate volatility signals. V2’s clearest MAE improvement appears at the industry level.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aphicFrame>
        <p:nvGraphicFramePr>
          <p:cNvPr id="147" name="Table 0"/>
          <p:cNvGraphicFramePr/>
          <p:nvPr/>
        </p:nvGraphicFramePr>
        <p:xfrm>
          <a:off x="341281" y="1658304"/>
          <a:ext cx="9757184" cy="2926080"/>
        </p:xfrm>
        <a:graphic>
          <a:graphicData uri="http://schemas.openxmlformats.org/drawingml/2006/table">
            <a:tbl>
              <a:tblPr/>
              <a:tblGrid>
                <a:gridCol w="1256360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882136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122671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122671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1226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122671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04266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  <a:gridCol w="1042668">
                  <a:extLst>
                    <a:ext uri="{9D8B030D-6E8A-4147-A177-3AD203B41FA5}">
                      <a16:colId xmlns:a16="http://schemas.microsoft.com/office/drawing/2014/main" val="20007"/>
                    </a:ext>
                  </a:extLst>
                </a:gridCol>
                <a:gridCol w="1042668">
                  <a:extLst>
                    <a:ext uri="{9D8B030D-6E8A-4147-A177-3AD203B41FA5}">
                      <a16:colId xmlns:a16="http://schemas.microsoft.com/office/drawing/2014/main" val="20008"/>
                    </a:ext>
                  </a:extLst>
                </a:gridCol>
              </a:tblGrid>
              <a:tr h="731520"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Group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N Rows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V1 MAE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V2 MAE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V1 RMSE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V2 RMSE</a:t>
                      </a:r>
                      <a:endParaRPr lang="en-US" sz="1500" b="0" u="none" strike="noStrike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V1 R²</a:t>
                      </a:r>
                      <a:endParaRPr lang="en-US" sz="15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V2 R²</a:t>
                      </a:r>
                      <a:endParaRPr lang="en-US" sz="15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ΔMAE (V2 – V1)</a:t>
                      </a:r>
                      <a:endParaRPr lang="en-US" sz="15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Market ETF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245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0.0792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0.0802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0.1264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0.1225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0.1442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0.1973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+0.0010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Sector ETF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3,185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0.0737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0.0743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0.1148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0.1123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0.1410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0.1774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C0392B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+0.0006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73152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Industry ETF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5,390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0.0927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0.0910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0.1470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0.1433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0.1367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0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0.1796</a:t>
                      </a:r>
                      <a:endParaRPr lang="en-US" sz="1500" b="0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500" b="1" u="none" strike="noStrike" dirty="0">
                          <a:solidFill>
                            <a:srgbClr val="1E8449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−0.0017</a:t>
                      </a:r>
                      <a:endParaRPr lang="en-US" sz="15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</a:tbl>
          </a:graphicData>
        </a:graphic>
      </p:graphicFrame>
      <p:sp>
        <p:nvSpPr>
          <p:cNvPr id="5" name="Shape 6">
            <a:extLst>
              <a:ext uri="{FF2B5EF4-FFF2-40B4-BE49-F238E27FC236}">
                <a16:creationId xmlns:a16="http://schemas.microsoft.com/office/drawing/2014/main" id="{01849EE1-5C09-0D46-FCAF-E2F7074FBF94}"/>
              </a:ext>
            </a:extLst>
          </p:cNvPr>
          <p:cNvSpPr/>
          <p:nvPr/>
        </p:nvSpPr>
        <p:spPr>
          <a:xfrm>
            <a:off x="219360" y="5355485"/>
            <a:ext cx="11728320" cy="655076"/>
          </a:xfrm>
          <a:prstGeom prst="rect">
            <a:avLst/>
          </a:prstGeom>
          <a:solidFill>
            <a:srgbClr val="D5F5E3"/>
          </a:solidFill>
          <a:ln w="12700">
            <a:solidFill>
              <a:srgbClr val="1E8449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7" name="Text 8">
            <a:extLst>
              <a:ext uri="{FF2B5EF4-FFF2-40B4-BE49-F238E27FC236}">
                <a16:creationId xmlns:a16="http://schemas.microsoft.com/office/drawing/2014/main" id="{B21DDC88-7C04-F54C-3AE7-D745E4049CFC}"/>
              </a:ext>
            </a:extLst>
          </p:cNvPr>
          <p:cNvSpPr/>
          <p:nvPr/>
        </p:nvSpPr>
        <p:spPr>
          <a:xfrm>
            <a:off x="316800" y="5441602"/>
            <a:ext cx="11338080" cy="479164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Key takeaway: V2 improves R² in all subgroups, but lowers MAE only for industry ETFs. 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0496AA78-C1BE-A6FB-5D39-EE8CFBCC2CDA}"/>
              </a:ext>
            </a:extLst>
          </p:cNvPr>
          <p:cNvSpPr txBox="1"/>
          <p:nvPr/>
        </p:nvSpPr>
        <p:spPr>
          <a:xfrm>
            <a:off x="341280" y="4649474"/>
            <a:ext cx="3971205" cy="33855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Note: Negative </a:t>
            </a:r>
            <a:r>
              <a:rPr kumimoji="0" lang="el-GR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Δ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MAE is better.</a:t>
            </a:r>
          </a:p>
        </p:txBody>
      </p:sp>
      <p:sp>
        <p:nvSpPr>
          <p:cNvPr id="3" name="Text 3">
            <a:extLst>
              <a:ext uri="{FF2B5EF4-FFF2-40B4-BE49-F238E27FC236}">
                <a16:creationId xmlns:a16="http://schemas.microsoft.com/office/drawing/2014/main" id="{51C2CA67-4AB6-A231-FDA7-5786A43AA0C2}"/>
              </a:ext>
            </a:extLst>
          </p:cNvPr>
          <p:cNvSpPr/>
          <p:nvPr/>
        </p:nvSpPr>
        <p:spPr>
          <a:xfrm>
            <a:off x="329184" y="6615684"/>
            <a:ext cx="6217920" cy="190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AAAACC"/>
                </a:solidFill>
              </a:rPr>
              <a:t>DATASCI 207  ·  Final Project: Forecasting Volatility In Stock Market  ·  March 2026</a:t>
            </a:r>
            <a:endParaRPr lang="en-US" sz="125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0"/>
          <p:cNvSpPr/>
          <p:nvPr/>
        </p:nvSpPr>
        <p:spPr>
          <a:xfrm>
            <a:off x="0" y="0"/>
            <a:ext cx="12191520" cy="633600"/>
          </a:xfrm>
          <a:prstGeom prst="rect">
            <a:avLst/>
          </a:prstGeom>
          <a:solidFill>
            <a:srgbClr val="0D234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4" name="Text 1"/>
          <p:cNvSpPr/>
          <p:nvPr/>
        </p:nvSpPr>
        <p:spPr>
          <a:xfrm>
            <a:off x="341280" y="48960"/>
            <a:ext cx="11581920" cy="56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9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Conclusions</a:t>
            </a:r>
            <a:endParaRPr kumimoji="0" lang="en-US" sz="2933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5" name="Shape 2"/>
          <p:cNvSpPr/>
          <p:nvPr/>
        </p:nvSpPr>
        <p:spPr>
          <a:xfrm>
            <a:off x="0" y="6559200"/>
            <a:ext cx="12191520" cy="298080"/>
          </a:xfrm>
          <a:prstGeom prst="rect">
            <a:avLst/>
          </a:prstGeom>
          <a:solidFill>
            <a:srgbClr val="0D234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8" name="Shape 4"/>
          <p:cNvSpPr/>
          <p:nvPr/>
        </p:nvSpPr>
        <p:spPr>
          <a:xfrm>
            <a:off x="219600" y="1045032"/>
            <a:ext cx="11752800" cy="2339365"/>
          </a:xfrm>
          <a:prstGeom prst="rect">
            <a:avLst/>
          </a:prstGeom>
          <a:solidFill>
            <a:srgbClr val="D6F2FA"/>
          </a:solidFill>
          <a:ln w="19050">
            <a:solidFill>
              <a:srgbClr val="00A8C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9" name="Text 5"/>
          <p:cNvSpPr/>
          <p:nvPr/>
        </p:nvSpPr>
        <p:spPr>
          <a:xfrm>
            <a:off x="341520" y="1103040"/>
            <a:ext cx="3535200" cy="36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733" b="1" i="0" u="none" strike="noStrike" kern="1200" cap="none" spc="0" normalizeH="0" baseline="0" noProof="0" dirty="0">
                <a:ln>
                  <a:noFill/>
                </a:ln>
                <a:solidFill>
                  <a:srgbClr val="00A8CC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Key Conclusions</a:t>
            </a:r>
            <a:endParaRPr kumimoji="0" lang="en-US" sz="1733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0" name="Text 6"/>
          <p:cNvSpPr/>
          <p:nvPr/>
        </p:nvSpPr>
        <p:spPr>
          <a:xfrm>
            <a:off x="341520" y="1468321"/>
            <a:ext cx="11423520" cy="18255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65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Calibri" panose="020F0502020204030204"/>
                <a:ea typeface="Calibri"/>
                <a:cs typeface="+mn-cs"/>
              </a:rPr>
              <a:t>V1 showed that current-state volatility features carry real predictive signal.</a:t>
            </a: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65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V2 improved on V1 modestly, and most of that improvement came from VIX.</a:t>
            </a: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65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V2 was the best Elastic Net model, but XGBoost remained the strongest benchmark on test MAE.</a:t>
            </a: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65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All retained coefficients were positive, consistent with volatility clustering and persistence.</a:t>
            </a: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65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Overall, Elastic Net provided a transparent and interpretable benchmark for the project.</a:t>
            </a: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17A2A655-8549-7660-86C1-DDB5E5BE378B}"/>
              </a:ext>
            </a:extLst>
          </p:cNvPr>
          <p:cNvSpPr/>
          <p:nvPr/>
        </p:nvSpPr>
        <p:spPr>
          <a:xfrm>
            <a:off x="329184" y="6615684"/>
            <a:ext cx="6217920" cy="190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r>
              <a:rPr lang="en-US" sz="1400" dirty="0">
                <a:solidFill>
                  <a:srgbClr val="AAAACC"/>
                </a:solidFill>
              </a:rPr>
              <a:t>DATASCI 207  ·  Final Project: Forecasting Volatility In Stock Market  ·  March 2026</a:t>
            </a:r>
            <a:endParaRPr lang="en-US" sz="125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4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1404D75-18BC-D665-23F3-A867A7E049BA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DAA6D360-E1CA-306B-37C2-AC6AFA2269C8}"/>
              </a:ext>
            </a:extLst>
          </p:cNvPr>
          <p:cNvSpPr/>
          <p:nvPr/>
        </p:nvSpPr>
        <p:spPr>
          <a:xfrm>
            <a:off x="0" y="0"/>
            <a:ext cx="145920" cy="6857760"/>
          </a:xfrm>
          <a:prstGeom prst="rect">
            <a:avLst/>
          </a:prstGeom>
          <a:solidFill>
            <a:srgbClr val="00A8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F98C06AD-E53E-F165-88DB-3EAF6EFEC227}"/>
              </a:ext>
            </a:extLst>
          </p:cNvPr>
          <p:cNvSpPr/>
          <p:nvPr/>
        </p:nvSpPr>
        <p:spPr>
          <a:xfrm>
            <a:off x="426720" y="975360"/>
            <a:ext cx="11338080" cy="21009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6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Long Short-Term Memory (LSTM)</a:t>
            </a:r>
            <a:endParaRPr kumimoji="0" lang="en-US" sz="6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F311261F-24A4-01E6-D62D-0B0ABFFA3480}"/>
              </a:ext>
            </a:extLst>
          </p:cNvPr>
          <p:cNvSpPr/>
          <p:nvPr/>
        </p:nvSpPr>
        <p:spPr>
          <a:xfrm>
            <a:off x="426720" y="3596640"/>
            <a:ext cx="11460000" cy="48480"/>
          </a:xfrm>
          <a:prstGeom prst="rect">
            <a:avLst/>
          </a:prstGeom>
          <a:solidFill>
            <a:srgbClr val="00A8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-11040" rIns="120000" bIns="-1104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256D60BD-02FD-FD3C-5C21-8889B537CFBE}"/>
              </a:ext>
            </a:extLst>
          </p:cNvPr>
          <p:cNvSpPr/>
          <p:nvPr/>
        </p:nvSpPr>
        <p:spPr>
          <a:xfrm>
            <a:off x="426720" y="5608320"/>
            <a:ext cx="11338080" cy="36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733" b="0" i="0" u="none" strike="noStrike" kern="1200" cap="none" spc="0" normalizeH="0" baseline="0" noProof="0" dirty="0">
                <a:ln>
                  <a:noFill/>
                </a:ln>
                <a:solidFill>
                  <a:srgbClr val="AAAACC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DS 207 Final Project  ·  Team: Greed and Fear  ·  Author: Sid Sridhar ·  March 27, 2026</a:t>
            </a:r>
            <a:endParaRPr kumimoji="0" lang="en-US" sz="1733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567249143"/>
      </p:ext>
    </p:extLst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BD573920-0796-4D0E-E314-D193FD1B95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0">
            <a:extLst>
              <a:ext uri="{FF2B5EF4-FFF2-40B4-BE49-F238E27FC236}">
                <a16:creationId xmlns:a16="http://schemas.microsoft.com/office/drawing/2014/main" id="{C2A7CD50-FD36-2B25-DFB9-F0B9B5861D69}"/>
              </a:ext>
            </a:extLst>
          </p:cNvPr>
          <p:cNvSpPr/>
          <p:nvPr/>
        </p:nvSpPr>
        <p:spPr>
          <a:xfrm>
            <a:off x="0" y="0"/>
            <a:ext cx="12191520" cy="633600"/>
          </a:xfrm>
          <a:prstGeom prst="rect">
            <a:avLst/>
          </a:prstGeom>
          <a:solidFill>
            <a:srgbClr val="0D234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4" name="Text 1">
            <a:extLst>
              <a:ext uri="{FF2B5EF4-FFF2-40B4-BE49-F238E27FC236}">
                <a16:creationId xmlns:a16="http://schemas.microsoft.com/office/drawing/2014/main" id="{ACEB6AC8-DD0A-BDF5-9ADD-C28B8375FDCE}"/>
              </a:ext>
            </a:extLst>
          </p:cNvPr>
          <p:cNvSpPr/>
          <p:nvPr/>
        </p:nvSpPr>
        <p:spPr>
          <a:xfrm>
            <a:off x="341280" y="48960"/>
            <a:ext cx="11581920" cy="56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9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Title</a:t>
            </a:r>
            <a:endParaRPr kumimoji="0" lang="en-US" sz="2933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5" name="Shape 2">
            <a:extLst>
              <a:ext uri="{FF2B5EF4-FFF2-40B4-BE49-F238E27FC236}">
                <a16:creationId xmlns:a16="http://schemas.microsoft.com/office/drawing/2014/main" id="{771006B3-87BF-541B-1658-C8874A449F35}"/>
              </a:ext>
            </a:extLst>
          </p:cNvPr>
          <p:cNvSpPr/>
          <p:nvPr/>
        </p:nvSpPr>
        <p:spPr>
          <a:xfrm>
            <a:off x="0" y="6559200"/>
            <a:ext cx="12191520" cy="298080"/>
          </a:xfrm>
          <a:prstGeom prst="rect">
            <a:avLst/>
          </a:prstGeom>
          <a:solidFill>
            <a:srgbClr val="0D234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8" name="Shape 4">
            <a:extLst>
              <a:ext uri="{FF2B5EF4-FFF2-40B4-BE49-F238E27FC236}">
                <a16:creationId xmlns:a16="http://schemas.microsoft.com/office/drawing/2014/main" id="{2B525106-FB1D-BAAE-8361-C1B322F33ECE}"/>
              </a:ext>
            </a:extLst>
          </p:cNvPr>
          <p:cNvSpPr/>
          <p:nvPr/>
        </p:nvSpPr>
        <p:spPr>
          <a:xfrm>
            <a:off x="219600" y="1045032"/>
            <a:ext cx="11752800" cy="2339365"/>
          </a:xfrm>
          <a:prstGeom prst="rect">
            <a:avLst/>
          </a:prstGeom>
          <a:solidFill>
            <a:srgbClr val="D6F2FA"/>
          </a:solidFill>
          <a:ln w="19050">
            <a:solidFill>
              <a:srgbClr val="00A8C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9" name="Text 5">
            <a:extLst>
              <a:ext uri="{FF2B5EF4-FFF2-40B4-BE49-F238E27FC236}">
                <a16:creationId xmlns:a16="http://schemas.microsoft.com/office/drawing/2014/main" id="{390ED27C-DD6E-5715-89A6-FB036C8C74B2}"/>
              </a:ext>
            </a:extLst>
          </p:cNvPr>
          <p:cNvSpPr/>
          <p:nvPr/>
        </p:nvSpPr>
        <p:spPr>
          <a:xfrm>
            <a:off x="341520" y="1103040"/>
            <a:ext cx="3535200" cy="36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sz="1733" b="1" dirty="0">
                <a:solidFill>
                  <a:srgbClr val="00A8CC"/>
                </a:solidFill>
                <a:latin typeface="Calibri"/>
                <a:ea typeface="Calibri"/>
              </a:rPr>
              <a:t>Heading</a:t>
            </a:r>
            <a:endParaRPr kumimoji="0" lang="en-US" sz="1733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0" name="Text 6">
            <a:extLst>
              <a:ext uri="{FF2B5EF4-FFF2-40B4-BE49-F238E27FC236}">
                <a16:creationId xmlns:a16="http://schemas.microsoft.com/office/drawing/2014/main" id="{23E3E2C1-29EA-44B2-D2F4-F94FD5532FC7}"/>
              </a:ext>
            </a:extLst>
          </p:cNvPr>
          <p:cNvSpPr/>
          <p:nvPr/>
        </p:nvSpPr>
        <p:spPr>
          <a:xfrm>
            <a:off x="341520" y="1468321"/>
            <a:ext cx="11423520" cy="18255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65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Calibri" panose="020F0502020204030204"/>
                <a:ea typeface="Calibri"/>
                <a:cs typeface="+mn-cs"/>
              </a:rPr>
              <a:t>Bullet.</a:t>
            </a: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65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Bullet.</a:t>
            </a: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65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Bullet.</a:t>
            </a: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65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Bullet.</a:t>
            </a: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65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Bullet.</a:t>
            </a: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D2148B40-0170-B67B-6026-1C6C24BFD85B}"/>
              </a:ext>
            </a:extLst>
          </p:cNvPr>
          <p:cNvSpPr/>
          <p:nvPr/>
        </p:nvSpPr>
        <p:spPr>
          <a:xfrm>
            <a:off x="329184" y="6615684"/>
            <a:ext cx="6217920" cy="190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AAAACC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DATASCI 207  ·  Final Project: Forecasting Volatility In Stock Market  ·  March 2026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564305343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4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7F5F6A81-39C9-176D-3B90-2DA1F9EAD1E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B925745C-D981-0EC8-4CA9-21EA9B848430}"/>
              </a:ext>
            </a:extLst>
          </p:cNvPr>
          <p:cNvSpPr/>
          <p:nvPr/>
        </p:nvSpPr>
        <p:spPr>
          <a:xfrm>
            <a:off x="0" y="0"/>
            <a:ext cx="145920" cy="6857760"/>
          </a:xfrm>
          <a:prstGeom prst="rect">
            <a:avLst/>
          </a:prstGeom>
          <a:solidFill>
            <a:srgbClr val="00A8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" name="Text 1">
            <a:extLst>
              <a:ext uri="{FF2B5EF4-FFF2-40B4-BE49-F238E27FC236}">
                <a16:creationId xmlns:a16="http://schemas.microsoft.com/office/drawing/2014/main" id="{B931C609-86AB-9ED8-54C0-85A840AD3A70}"/>
              </a:ext>
            </a:extLst>
          </p:cNvPr>
          <p:cNvSpPr/>
          <p:nvPr/>
        </p:nvSpPr>
        <p:spPr>
          <a:xfrm>
            <a:off x="426720" y="975360"/>
            <a:ext cx="11338080" cy="2100943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6400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Transformer</a:t>
            </a:r>
            <a:endParaRPr kumimoji="0" lang="en-US" sz="6400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CD79616A-4A6B-D738-46A5-1F2E04FBF9CE}"/>
              </a:ext>
            </a:extLst>
          </p:cNvPr>
          <p:cNvSpPr/>
          <p:nvPr/>
        </p:nvSpPr>
        <p:spPr>
          <a:xfrm>
            <a:off x="426720" y="3596640"/>
            <a:ext cx="11460000" cy="48480"/>
          </a:xfrm>
          <a:prstGeom prst="rect">
            <a:avLst/>
          </a:prstGeom>
          <a:solidFill>
            <a:srgbClr val="00A8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-11040" rIns="120000" bIns="-1104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2" name="Text 4">
            <a:extLst>
              <a:ext uri="{FF2B5EF4-FFF2-40B4-BE49-F238E27FC236}">
                <a16:creationId xmlns:a16="http://schemas.microsoft.com/office/drawing/2014/main" id="{D8235E81-F496-11A0-4781-D3F73B4473D5}"/>
              </a:ext>
            </a:extLst>
          </p:cNvPr>
          <p:cNvSpPr/>
          <p:nvPr/>
        </p:nvSpPr>
        <p:spPr>
          <a:xfrm>
            <a:off x="426720" y="5608320"/>
            <a:ext cx="11338080" cy="36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lvl="0" defTabSz="1219170">
              <a:tabLst>
                <a:tab pos="0" algn="l"/>
              </a:tabLst>
              <a:defRPr/>
            </a:pPr>
            <a:r>
              <a:rPr kumimoji="0" lang="en-US" sz="1733" b="0" i="0" u="none" strike="noStrike" kern="1200" cap="none" spc="0" normalizeH="0" baseline="0" noProof="0" dirty="0">
                <a:ln>
                  <a:noFill/>
                </a:ln>
                <a:solidFill>
                  <a:srgbClr val="AAAACC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DS 207 Final Project  ·  Team: Greed and Fear  ·  Author: </a:t>
            </a:r>
            <a:r>
              <a:rPr lang="en-US" sz="1733" dirty="0">
                <a:solidFill>
                  <a:srgbClr val="AAAACC"/>
                </a:solidFill>
                <a:ea typeface="Calibri"/>
              </a:rPr>
              <a:t>Ronald Ho · </a:t>
            </a:r>
            <a:r>
              <a:rPr kumimoji="0" lang="en-US" sz="1733" b="0" i="0" u="none" strike="noStrike" kern="1200" cap="none" spc="0" normalizeH="0" baseline="0" noProof="0" dirty="0">
                <a:ln>
                  <a:noFill/>
                </a:ln>
                <a:solidFill>
                  <a:srgbClr val="AAAACC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March 27, 2026</a:t>
            </a:r>
            <a:endParaRPr kumimoji="0" lang="en-US" sz="1733" b="0" i="0" u="none" strike="noStrike" kern="1200" cap="none" spc="0" normalizeH="0" baseline="0" noProof="0" dirty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2501433347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28CD6A1-8A4F-BE7D-AF92-E471416998C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0">
            <a:extLst>
              <a:ext uri="{FF2B5EF4-FFF2-40B4-BE49-F238E27FC236}">
                <a16:creationId xmlns:a16="http://schemas.microsoft.com/office/drawing/2014/main" id="{B45B720F-0CB6-889A-AF1D-C9E3B9686A70}"/>
              </a:ext>
            </a:extLst>
          </p:cNvPr>
          <p:cNvSpPr/>
          <p:nvPr/>
        </p:nvSpPr>
        <p:spPr>
          <a:xfrm>
            <a:off x="0" y="0"/>
            <a:ext cx="12191520" cy="633600"/>
          </a:xfrm>
          <a:prstGeom prst="rect">
            <a:avLst/>
          </a:prstGeom>
          <a:solidFill>
            <a:srgbClr val="0D234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4" name="Text 1">
            <a:extLst>
              <a:ext uri="{FF2B5EF4-FFF2-40B4-BE49-F238E27FC236}">
                <a16:creationId xmlns:a16="http://schemas.microsoft.com/office/drawing/2014/main" id="{F4C35190-7AC0-738E-15B5-9B05E2CA211C}"/>
              </a:ext>
            </a:extLst>
          </p:cNvPr>
          <p:cNvSpPr/>
          <p:nvPr/>
        </p:nvSpPr>
        <p:spPr>
          <a:xfrm>
            <a:off x="341280" y="48960"/>
            <a:ext cx="11581920" cy="56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9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Title</a:t>
            </a:r>
            <a:endParaRPr kumimoji="0" lang="en-US" sz="2933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5" name="Shape 2">
            <a:extLst>
              <a:ext uri="{FF2B5EF4-FFF2-40B4-BE49-F238E27FC236}">
                <a16:creationId xmlns:a16="http://schemas.microsoft.com/office/drawing/2014/main" id="{6CE34A8A-0860-D4C5-11A3-01EE61AA4117}"/>
              </a:ext>
            </a:extLst>
          </p:cNvPr>
          <p:cNvSpPr/>
          <p:nvPr/>
        </p:nvSpPr>
        <p:spPr>
          <a:xfrm>
            <a:off x="0" y="6559200"/>
            <a:ext cx="12191520" cy="298080"/>
          </a:xfrm>
          <a:prstGeom prst="rect">
            <a:avLst/>
          </a:prstGeom>
          <a:solidFill>
            <a:srgbClr val="0D234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8" name="Shape 4">
            <a:extLst>
              <a:ext uri="{FF2B5EF4-FFF2-40B4-BE49-F238E27FC236}">
                <a16:creationId xmlns:a16="http://schemas.microsoft.com/office/drawing/2014/main" id="{BFDAAC3E-5810-35AC-EFB7-399B1CA90EB2}"/>
              </a:ext>
            </a:extLst>
          </p:cNvPr>
          <p:cNvSpPr/>
          <p:nvPr/>
        </p:nvSpPr>
        <p:spPr>
          <a:xfrm>
            <a:off x="219600" y="1045032"/>
            <a:ext cx="11752800" cy="2339365"/>
          </a:xfrm>
          <a:prstGeom prst="rect">
            <a:avLst/>
          </a:prstGeom>
          <a:solidFill>
            <a:srgbClr val="D6F2FA"/>
          </a:solidFill>
          <a:ln w="19050">
            <a:solidFill>
              <a:srgbClr val="00A8C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9" name="Text 5">
            <a:extLst>
              <a:ext uri="{FF2B5EF4-FFF2-40B4-BE49-F238E27FC236}">
                <a16:creationId xmlns:a16="http://schemas.microsoft.com/office/drawing/2014/main" id="{C41E6869-40EE-C680-2B1B-AB65F9C0ED84}"/>
              </a:ext>
            </a:extLst>
          </p:cNvPr>
          <p:cNvSpPr/>
          <p:nvPr/>
        </p:nvSpPr>
        <p:spPr>
          <a:xfrm>
            <a:off x="341520" y="1103040"/>
            <a:ext cx="3535200" cy="36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sz="1733" b="1" dirty="0">
                <a:solidFill>
                  <a:srgbClr val="00A8CC"/>
                </a:solidFill>
                <a:latin typeface="Calibri"/>
                <a:ea typeface="Calibri"/>
              </a:rPr>
              <a:t>Heading</a:t>
            </a:r>
            <a:endParaRPr kumimoji="0" lang="en-US" sz="1733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0" name="Text 6">
            <a:extLst>
              <a:ext uri="{FF2B5EF4-FFF2-40B4-BE49-F238E27FC236}">
                <a16:creationId xmlns:a16="http://schemas.microsoft.com/office/drawing/2014/main" id="{BB30473B-A6AF-1643-E846-BD5A3BCE8687}"/>
              </a:ext>
            </a:extLst>
          </p:cNvPr>
          <p:cNvSpPr/>
          <p:nvPr/>
        </p:nvSpPr>
        <p:spPr>
          <a:xfrm>
            <a:off x="341520" y="1468321"/>
            <a:ext cx="11423520" cy="18255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65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Calibri" panose="020F0502020204030204"/>
                <a:ea typeface="Calibri"/>
                <a:cs typeface="+mn-cs"/>
              </a:rPr>
              <a:t>Bullet.</a:t>
            </a: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65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Bullet.</a:t>
            </a: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65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Bullet.</a:t>
            </a: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65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Bullet.</a:t>
            </a: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65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Bullet.</a:t>
            </a: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3072A582-6281-0A9C-EC60-33323472EBE3}"/>
              </a:ext>
            </a:extLst>
          </p:cNvPr>
          <p:cNvSpPr/>
          <p:nvPr/>
        </p:nvSpPr>
        <p:spPr>
          <a:xfrm>
            <a:off x="329184" y="6615684"/>
            <a:ext cx="6217920" cy="190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AAAACC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DATASCI 207  ·  Final Project: Forecasting Volatility In Stock Market  ·  March 2026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772714182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6224B3A4-81DC-C437-9C3A-C6BE624B27F7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" name="Rectangle 28">
            <a:extLst>
              <a:ext uri="{FF2B5EF4-FFF2-40B4-BE49-F238E27FC236}">
                <a16:creationId xmlns:a16="http://schemas.microsoft.com/office/drawing/2014/main" id="{713B7816-D9D9-F558-8C77-50C0B70EC7B5}"/>
              </a:ext>
            </a:extLst>
          </p:cNvPr>
          <p:cNvSpPr/>
          <p:nvPr/>
        </p:nvSpPr>
        <p:spPr>
          <a:xfrm>
            <a:off x="5576637" y="733926"/>
            <a:ext cx="3001879" cy="5534527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193" name="Shape 0">
            <a:extLst>
              <a:ext uri="{FF2B5EF4-FFF2-40B4-BE49-F238E27FC236}">
                <a16:creationId xmlns:a16="http://schemas.microsoft.com/office/drawing/2014/main" id="{69F5ECB5-D50B-1D08-53F8-3CF9A6121EB6}"/>
              </a:ext>
            </a:extLst>
          </p:cNvPr>
          <p:cNvSpPr/>
          <p:nvPr/>
        </p:nvSpPr>
        <p:spPr>
          <a:xfrm>
            <a:off x="0" y="0"/>
            <a:ext cx="12191520" cy="633600"/>
          </a:xfrm>
          <a:prstGeom prst="rect">
            <a:avLst/>
          </a:prstGeom>
          <a:solidFill>
            <a:srgbClr val="0D234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4" name="Text 1">
            <a:extLst>
              <a:ext uri="{FF2B5EF4-FFF2-40B4-BE49-F238E27FC236}">
                <a16:creationId xmlns:a16="http://schemas.microsoft.com/office/drawing/2014/main" id="{1939BC8B-D1CC-7A00-F1A3-D8C92FCA72E7}"/>
              </a:ext>
            </a:extLst>
          </p:cNvPr>
          <p:cNvSpPr/>
          <p:nvPr/>
        </p:nvSpPr>
        <p:spPr>
          <a:xfrm>
            <a:off x="304800" y="18083"/>
            <a:ext cx="11581920" cy="56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9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Transformer Architecture</a:t>
            </a:r>
            <a:endParaRPr kumimoji="0" lang="en-US" sz="2933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5" name="Shape 2">
            <a:extLst>
              <a:ext uri="{FF2B5EF4-FFF2-40B4-BE49-F238E27FC236}">
                <a16:creationId xmlns:a16="http://schemas.microsoft.com/office/drawing/2014/main" id="{25EA78FC-2E3C-C65A-CE2F-A0FEDBAF034D}"/>
              </a:ext>
            </a:extLst>
          </p:cNvPr>
          <p:cNvSpPr/>
          <p:nvPr/>
        </p:nvSpPr>
        <p:spPr>
          <a:xfrm>
            <a:off x="0" y="6559200"/>
            <a:ext cx="12191520" cy="298080"/>
          </a:xfrm>
          <a:prstGeom prst="rect">
            <a:avLst/>
          </a:prstGeom>
          <a:solidFill>
            <a:srgbClr val="0D234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8A122B40-E040-F8D1-F9F8-DFB1B43039B4}"/>
              </a:ext>
            </a:extLst>
          </p:cNvPr>
          <p:cNvSpPr/>
          <p:nvPr/>
        </p:nvSpPr>
        <p:spPr>
          <a:xfrm>
            <a:off x="329184" y="6615684"/>
            <a:ext cx="6217920" cy="190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AAAACC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DATASCI 207  ·  Final Project: Forecasting Volatility In Stock Market  ·  March 2026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0870CFB9-4B26-2894-8661-BA6673A471DF}"/>
              </a:ext>
            </a:extLst>
          </p:cNvPr>
          <p:cNvSpPr txBox="1"/>
          <p:nvPr/>
        </p:nvSpPr>
        <p:spPr>
          <a:xfrm>
            <a:off x="749969" y="1455923"/>
            <a:ext cx="20412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Dropout</a:t>
            </a:r>
          </a:p>
        </p:txBody>
      </p:sp>
      <p:sp>
        <p:nvSpPr>
          <p:cNvPr id="3" name="TextBox 2">
            <a:extLst>
              <a:ext uri="{FF2B5EF4-FFF2-40B4-BE49-F238E27FC236}">
                <a16:creationId xmlns:a16="http://schemas.microsoft.com/office/drawing/2014/main" id="{DEB08ABF-949D-163A-587D-185E01E58033}"/>
              </a:ext>
            </a:extLst>
          </p:cNvPr>
          <p:cNvSpPr txBox="1"/>
          <p:nvPr/>
        </p:nvSpPr>
        <p:spPr>
          <a:xfrm>
            <a:off x="749969" y="3246812"/>
            <a:ext cx="2041278" cy="646331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Transformer Encoding Block</a:t>
            </a:r>
          </a:p>
        </p:txBody>
      </p:sp>
      <p:sp>
        <p:nvSpPr>
          <p:cNvPr id="5" name="TextBox 4">
            <a:extLst>
              <a:ext uri="{FF2B5EF4-FFF2-40B4-BE49-F238E27FC236}">
                <a16:creationId xmlns:a16="http://schemas.microsoft.com/office/drawing/2014/main" id="{CA528BCE-327B-1CB6-F87D-C54FA2B735AB}"/>
              </a:ext>
            </a:extLst>
          </p:cNvPr>
          <p:cNvSpPr txBox="1"/>
          <p:nvPr/>
        </p:nvSpPr>
        <p:spPr>
          <a:xfrm>
            <a:off x="749969" y="4204510"/>
            <a:ext cx="20412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Flatten</a:t>
            </a:r>
          </a:p>
        </p:txBody>
      </p:sp>
      <p:sp>
        <p:nvSpPr>
          <p:cNvPr id="6" name="TextBox 5">
            <a:extLst>
              <a:ext uri="{FF2B5EF4-FFF2-40B4-BE49-F238E27FC236}">
                <a16:creationId xmlns:a16="http://schemas.microsoft.com/office/drawing/2014/main" id="{438BC5EE-3ADB-33D9-5AE5-6E23971A2A3E}"/>
              </a:ext>
            </a:extLst>
          </p:cNvPr>
          <p:cNvSpPr txBox="1"/>
          <p:nvPr/>
        </p:nvSpPr>
        <p:spPr>
          <a:xfrm>
            <a:off x="749969" y="4859660"/>
            <a:ext cx="20412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Dropout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0D113A92-F124-84E5-EB81-D595C10FB129}"/>
              </a:ext>
            </a:extLst>
          </p:cNvPr>
          <p:cNvSpPr txBox="1"/>
          <p:nvPr/>
        </p:nvSpPr>
        <p:spPr>
          <a:xfrm>
            <a:off x="6003758" y="4166393"/>
            <a:ext cx="20412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Output (Dense)</a:t>
            </a:r>
          </a:p>
        </p:txBody>
      </p:sp>
      <p:sp>
        <p:nvSpPr>
          <p:cNvPr id="8" name="TextBox 7">
            <a:extLst>
              <a:ext uri="{FF2B5EF4-FFF2-40B4-BE49-F238E27FC236}">
                <a16:creationId xmlns:a16="http://schemas.microsoft.com/office/drawing/2014/main" id="{4564BE52-ED4C-6D14-7826-6418EB2361F0}"/>
              </a:ext>
            </a:extLst>
          </p:cNvPr>
          <p:cNvSpPr txBox="1"/>
          <p:nvPr/>
        </p:nvSpPr>
        <p:spPr>
          <a:xfrm>
            <a:off x="749969" y="950727"/>
            <a:ext cx="20412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Input</a:t>
            </a:r>
          </a:p>
        </p:txBody>
      </p:sp>
      <p:sp>
        <p:nvSpPr>
          <p:cNvPr id="19" name="TextBox 18">
            <a:extLst>
              <a:ext uri="{FF2B5EF4-FFF2-40B4-BE49-F238E27FC236}">
                <a16:creationId xmlns:a16="http://schemas.microsoft.com/office/drawing/2014/main" id="{D6D1258B-C130-0483-DD7A-B77E58D43034}"/>
              </a:ext>
            </a:extLst>
          </p:cNvPr>
          <p:cNvSpPr txBox="1"/>
          <p:nvPr/>
        </p:nvSpPr>
        <p:spPr>
          <a:xfrm>
            <a:off x="6003758" y="1527121"/>
            <a:ext cx="2041278" cy="646331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Multi-Head Attention</a:t>
            </a:r>
          </a:p>
        </p:txBody>
      </p:sp>
      <p:sp>
        <p:nvSpPr>
          <p:cNvPr id="20" name="TextBox 19">
            <a:extLst>
              <a:ext uri="{FF2B5EF4-FFF2-40B4-BE49-F238E27FC236}">
                <a16:creationId xmlns:a16="http://schemas.microsoft.com/office/drawing/2014/main" id="{F7B8377E-B092-3257-7DCD-CDD3302D8554}"/>
              </a:ext>
            </a:extLst>
          </p:cNvPr>
          <p:cNvSpPr txBox="1"/>
          <p:nvPr/>
        </p:nvSpPr>
        <p:spPr>
          <a:xfrm>
            <a:off x="770022" y="2683074"/>
            <a:ext cx="20412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(…) * </a:t>
            </a:r>
            <a:r>
              <a:rPr lang="en-US" dirty="0" err="1"/>
              <a:t>num_blocks</a:t>
            </a:r>
            <a:endParaRPr lang="en-US" dirty="0"/>
          </a:p>
        </p:txBody>
      </p:sp>
      <p:sp>
        <p:nvSpPr>
          <p:cNvPr id="21" name="TextBox 20">
            <a:extLst>
              <a:ext uri="{FF2B5EF4-FFF2-40B4-BE49-F238E27FC236}">
                <a16:creationId xmlns:a16="http://schemas.microsoft.com/office/drawing/2014/main" id="{36E37091-D872-BFFB-075A-329D839F96C4}"/>
              </a:ext>
            </a:extLst>
          </p:cNvPr>
          <p:cNvSpPr txBox="1"/>
          <p:nvPr/>
        </p:nvSpPr>
        <p:spPr>
          <a:xfrm>
            <a:off x="6003758" y="983010"/>
            <a:ext cx="20412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Input</a:t>
            </a:r>
          </a:p>
        </p:txBody>
      </p:sp>
      <p:sp>
        <p:nvSpPr>
          <p:cNvPr id="22" name="TextBox 21">
            <a:extLst>
              <a:ext uri="{FF2B5EF4-FFF2-40B4-BE49-F238E27FC236}">
                <a16:creationId xmlns:a16="http://schemas.microsoft.com/office/drawing/2014/main" id="{63403F21-289D-73F9-AA1A-C6DF43B9B34A}"/>
              </a:ext>
            </a:extLst>
          </p:cNvPr>
          <p:cNvSpPr txBox="1"/>
          <p:nvPr/>
        </p:nvSpPr>
        <p:spPr>
          <a:xfrm>
            <a:off x="770022" y="1916604"/>
            <a:ext cx="2041278" cy="646331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Transformer Encoding Block</a:t>
            </a:r>
          </a:p>
        </p:txBody>
      </p:sp>
      <p:sp>
        <p:nvSpPr>
          <p:cNvPr id="23" name="TextBox 22">
            <a:extLst>
              <a:ext uri="{FF2B5EF4-FFF2-40B4-BE49-F238E27FC236}">
                <a16:creationId xmlns:a16="http://schemas.microsoft.com/office/drawing/2014/main" id="{4B47D3AF-C9D3-FA35-1853-078438049BD2}"/>
              </a:ext>
            </a:extLst>
          </p:cNvPr>
          <p:cNvSpPr txBox="1"/>
          <p:nvPr/>
        </p:nvSpPr>
        <p:spPr>
          <a:xfrm>
            <a:off x="6003758" y="2344296"/>
            <a:ext cx="20412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Dropout</a:t>
            </a:r>
          </a:p>
        </p:txBody>
      </p:sp>
      <p:sp>
        <p:nvSpPr>
          <p:cNvPr id="24" name="TextBox 23">
            <a:extLst>
              <a:ext uri="{FF2B5EF4-FFF2-40B4-BE49-F238E27FC236}">
                <a16:creationId xmlns:a16="http://schemas.microsoft.com/office/drawing/2014/main" id="{D7591C0A-B87D-CCF0-3F46-63E4A9F6870B}"/>
              </a:ext>
            </a:extLst>
          </p:cNvPr>
          <p:cNvSpPr txBox="1"/>
          <p:nvPr/>
        </p:nvSpPr>
        <p:spPr>
          <a:xfrm>
            <a:off x="6003758" y="2857736"/>
            <a:ext cx="20412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Layer Normalization</a:t>
            </a:r>
          </a:p>
        </p:txBody>
      </p:sp>
      <p:sp>
        <p:nvSpPr>
          <p:cNvPr id="25" name="TextBox 24">
            <a:extLst>
              <a:ext uri="{FF2B5EF4-FFF2-40B4-BE49-F238E27FC236}">
                <a16:creationId xmlns:a16="http://schemas.microsoft.com/office/drawing/2014/main" id="{ED97A854-F98B-D02D-53EB-EB50400E59C2}"/>
              </a:ext>
            </a:extLst>
          </p:cNvPr>
          <p:cNvSpPr txBox="1"/>
          <p:nvPr/>
        </p:nvSpPr>
        <p:spPr>
          <a:xfrm>
            <a:off x="6003758" y="3372068"/>
            <a:ext cx="2041278" cy="646331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Residual Connection</a:t>
            </a:r>
          </a:p>
        </p:txBody>
      </p:sp>
      <p:sp>
        <p:nvSpPr>
          <p:cNvPr id="26" name="TextBox 25">
            <a:extLst>
              <a:ext uri="{FF2B5EF4-FFF2-40B4-BE49-F238E27FC236}">
                <a16:creationId xmlns:a16="http://schemas.microsoft.com/office/drawing/2014/main" id="{7CC1D007-DD36-5A0B-A6C1-2B762F74AE73}"/>
              </a:ext>
            </a:extLst>
          </p:cNvPr>
          <p:cNvSpPr txBox="1"/>
          <p:nvPr/>
        </p:nvSpPr>
        <p:spPr>
          <a:xfrm>
            <a:off x="770022" y="5519589"/>
            <a:ext cx="20412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Output (Dense)</a:t>
            </a:r>
          </a:p>
        </p:txBody>
      </p:sp>
      <p:sp>
        <p:nvSpPr>
          <p:cNvPr id="27" name="TextBox 26">
            <a:extLst>
              <a:ext uri="{FF2B5EF4-FFF2-40B4-BE49-F238E27FC236}">
                <a16:creationId xmlns:a16="http://schemas.microsoft.com/office/drawing/2014/main" id="{FEF92617-62B3-ADB4-A145-24AAC788AECB}"/>
              </a:ext>
            </a:extLst>
          </p:cNvPr>
          <p:cNvSpPr txBox="1"/>
          <p:nvPr/>
        </p:nvSpPr>
        <p:spPr>
          <a:xfrm>
            <a:off x="6003758" y="4659598"/>
            <a:ext cx="20412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Dropout</a:t>
            </a:r>
          </a:p>
        </p:txBody>
      </p:sp>
      <p:sp>
        <p:nvSpPr>
          <p:cNvPr id="28" name="TextBox 27">
            <a:extLst>
              <a:ext uri="{FF2B5EF4-FFF2-40B4-BE49-F238E27FC236}">
                <a16:creationId xmlns:a16="http://schemas.microsoft.com/office/drawing/2014/main" id="{0203846B-C309-2CF7-8142-203665518D2F}"/>
              </a:ext>
            </a:extLst>
          </p:cNvPr>
          <p:cNvSpPr txBox="1"/>
          <p:nvPr/>
        </p:nvSpPr>
        <p:spPr>
          <a:xfrm>
            <a:off x="6003758" y="5833844"/>
            <a:ext cx="2041278" cy="369332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Layer Normalization</a:t>
            </a:r>
          </a:p>
        </p:txBody>
      </p:sp>
      <p:cxnSp>
        <p:nvCxnSpPr>
          <p:cNvPr id="38" name="Straight Connector 37">
            <a:extLst>
              <a:ext uri="{FF2B5EF4-FFF2-40B4-BE49-F238E27FC236}">
                <a16:creationId xmlns:a16="http://schemas.microsoft.com/office/drawing/2014/main" id="{38991300-090C-E97E-B17D-BFE1A1138A39}"/>
              </a:ext>
            </a:extLst>
          </p:cNvPr>
          <p:cNvCxnSpPr>
            <a:stCxn id="22" idx="3"/>
          </p:cNvCxnSpPr>
          <p:nvPr/>
        </p:nvCxnSpPr>
        <p:spPr>
          <a:xfrm flipV="1">
            <a:off x="2811300" y="733926"/>
            <a:ext cx="2765337" cy="1505844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40" name="Straight Connector 39">
            <a:extLst>
              <a:ext uri="{FF2B5EF4-FFF2-40B4-BE49-F238E27FC236}">
                <a16:creationId xmlns:a16="http://schemas.microsoft.com/office/drawing/2014/main" id="{22A927AD-5B85-23FD-4E11-34CED8E90B09}"/>
              </a:ext>
            </a:extLst>
          </p:cNvPr>
          <p:cNvCxnSpPr>
            <a:stCxn id="22" idx="3"/>
          </p:cNvCxnSpPr>
          <p:nvPr/>
        </p:nvCxnSpPr>
        <p:spPr>
          <a:xfrm>
            <a:off x="2811300" y="2239770"/>
            <a:ext cx="2765337" cy="4028683"/>
          </a:xfrm>
          <a:prstGeom prst="line">
            <a:avLst/>
          </a:prstGeom>
          <a:ln>
            <a:solidFill>
              <a:schemeClr val="accent1">
                <a:lumMod val="75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41" name="TextBox 40">
            <a:extLst>
              <a:ext uri="{FF2B5EF4-FFF2-40B4-BE49-F238E27FC236}">
                <a16:creationId xmlns:a16="http://schemas.microsoft.com/office/drawing/2014/main" id="{40C4A20F-3671-E4EB-DB4C-166F58967F90}"/>
              </a:ext>
            </a:extLst>
          </p:cNvPr>
          <p:cNvSpPr txBox="1"/>
          <p:nvPr/>
        </p:nvSpPr>
        <p:spPr>
          <a:xfrm>
            <a:off x="6003758" y="5117491"/>
            <a:ext cx="2041278" cy="646331"/>
          </a:xfrm>
          <a:prstGeom prst="rect">
            <a:avLst/>
          </a:prstGeom>
          <a:noFill/>
          <a:ln>
            <a:solidFill>
              <a:schemeClr val="accent2">
                <a:lumMod val="75000"/>
              </a:schemeClr>
            </a:solidFill>
          </a:ln>
        </p:spPr>
        <p:txBody>
          <a:bodyPr wrap="square" rtlCol="0">
            <a:spAutoFit/>
          </a:bodyPr>
          <a:lstStyle/>
          <a:p>
            <a:pPr algn="ctr"/>
            <a:r>
              <a:rPr lang="en-US" dirty="0"/>
              <a:t>Residual Connection</a:t>
            </a:r>
          </a:p>
        </p:txBody>
      </p:sp>
    </p:spTree>
    <p:extLst>
      <p:ext uri="{BB962C8B-B14F-4D97-AF65-F5344CB8AC3E}">
        <p14:creationId xmlns:p14="http://schemas.microsoft.com/office/powerpoint/2010/main" val="2411045518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701DBFFE-0F17-BE17-C085-4D7CE7DB798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Shape 0">
            <a:extLst>
              <a:ext uri="{FF2B5EF4-FFF2-40B4-BE49-F238E27FC236}">
                <a16:creationId xmlns:a16="http://schemas.microsoft.com/office/drawing/2014/main" id="{BA5D1521-A975-62B4-7009-3ED44389C968}"/>
              </a:ext>
            </a:extLst>
          </p:cNvPr>
          <p:cNvSpPr/>
          <p:nvPr/>
        </p:nvSpPr>
        <p:spPr>
          <a:xfrm>
            <a:off x="0" y="0"/>
            <a:ext cx="12191520" cy="633600"/>
          </a:xfrm>
          <a:prstGeom prst="rect">
            <a:avLst/>
          </a:prstGeom>
          <a:solidFill>
            <a:srgbClr val="0D234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4" name="Text 1">
            <a:extLst>
              <a:ext uri="{FF2B5EF4-FFF2-40B4-BE49-F238E27FC236}">
                <a16:creationId xmlns:a16="http://schemas.microsoft.com/office/drawing/2014/main" id="{54A5A41F-1A68-349F-402B-831A8A2A3690}"/>
              </a:ext>
            </a:extLst>
          </p:cNvPr>
          <p:cNvSpPr/>
          <p:nvPr/>
        </p:nvSpPr>
        <p:spPr>
          <a:xfrm>
            <a:off x="341280" y="48960"/>
            <a:ext cx="11581920" cy="56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933" b="1" i="0" u="none" strike="noStrike" kern="1200" cap="none" spc="0" normalizeH="0" baseline="0" noProof="0" dirty="0" err="1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HyperParameter</a:t>
            </a:r>
            <a:r>
              <a:rPr kumimoji="0" lang="en-US" sz="29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 Considerations</a:t>
            </a:r>
            <a:endParaRPr kumimoji="0" lang="en-US" sz="2933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5" name="Shape 2">
            <a:extLst>
              <a:ext uri="{FF2B5EF4-FFF2-40B4-BE49-F238E27FC236}">
                <a16:creationId xmlns:a16="http://schemas.microsoft.com/office/drawing/2014/main" id="{FBC1FD78-FD30-0A72-C7CA-698F2495413F}"/>
              </a:ext>
            </a:extLst>
          </p:cNvPr>
          <p:cNvSpPr/>
          <p:nvPr/>
        </p:nvSpPr>
        <p:spPr>
          <a:xfrm>
            <a:off x="0" y="6559200"/>
            <a:ext cx="12191520" cy="298080"/>
          </a:xfrm>
          <a:prstGeom prst="rect">
            <a:avLst/>
          </a:prstGeom>
          <a:solidFill>
            <a:srgbClr val="0D234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8" name="Shape 4">
            <a:extLst>
              <a:ext uri="{FF2B5EF4-FFF2-40B4-BE49-F238E27FC236}">
                <a16:creationId xmlns:a16="http://schemas.microsoft.com/office/drawing/2014/main" id="{5AB5D28C-9A1F-C87A-8F3E-7AF3199BF489}"/>
              </a:ext>
            </a:extLst>
          </p:cNvPr>
          <p:cNvSpPr/>
          <p:nvPr/>
        </p:nvSpPr>
        <p:spPr>
          <a:xfrm>
            <a:off x="219600" y="1045032"/>
            <a:ext cx="11752800" cy="2339365"/>
          </a:xfrm>
          <a:prstGeom prst="rect">
            <a:avLst/>
          </a:prstGeom>
          <a:solidFill>
            <a:srgbClr val="D6F2FA"/>
          </a:solidFill>
          <a:ln w="19050">
            <a:solidFill>
              <a:srgbClr val="00A8CC"/>
            </a:solidFill>
            <a:round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99" name="Text 5">
            <a:extLst>
              <a:ext uri="{FF2B5EF4-FFF2-40B4-BE49-F238E27FC236}">
                <a16:creationId xmlns:a16="http://schemas.microsoft.com/office/drawing/2014/main" id="{A2C6D975-D190-8677-FC56-3088AB785B61}"/>
              </a:ext>
            </a:extLst>
          </p:cNvPr>
          <p:cNvSpPr/>
          <p:nvPr/>
        </p:nvSpPr>
        <p:spPr>
          <a:xfrm>
            <a:off x="341520" y="1103040"/>
            <a:ext cx="3535200" cy="36528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lang="en-US" sz="1733" b="1" dirty="0">
                <a:solidFill>
                  <a:srgbClr val="00A8CC"/>
                </a:solidFill>
                <a:latin typeface="Calibri"/>
                <a:ea typeface="Calibri"/>
              </a:rPr>
              <a:t>Heading</a:t>
            </a:r>
            <a:endParaRPr kumimoji="0" lang="en-US" sz="1733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200" name="Text 6">
            <a:extLst>
              <a:ext uri="{FF2B5EF4-FFF2-40B4-BE49-F238E27FC236}">
                <a16:creationId xmlns:a16="http://schemas.microsoft.com/office/drawing/2014/main" id="{C2FD3EE1-9CA4-1E58-4783-B1EE0963F7DF}"/>
              </a:ext>
            </a:extLst>
          </p:cNvPr>
          <p:cNvSpPr/>
          <p:nvPr/>
        </p:nvSpPr>
        <p:spPr>
          <a:xfrm>
            <a:off x="341520" y="1468321"/>
            <a:ext cx="11423520" cy="1825508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65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1A1A2E"/>
                </a:solidFill>
                <a:effectLst/>
                <a:uLnTx/>
                <a:uFillTx/>
                <a:latin typeface="Calibri" panose="020F0502020204030204"/>
                <a:ea typeface="Calibri"/>
                <a:cs typeface="+mn-cs"/>
              </a:rPr>
              <a:t>Number of Encoder Blocks: Keep it Simple</a:t>
            </a: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65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Head_Size</a:t>
            </a: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: Number of days remembered per </a:t>
            </a: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65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Dropout percentage: Needs considerable dropout layers</a:t>
            </a: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65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Feed-Forward Dimension</a:t>
            </a:r>
            <a:r>
              <a:rPr lang="en-US" sz="1600" b="1" dirty="0">
                <a:solidFill>
                  <a:srgbClr val="000000"/>
                </a:solidFill>
                <a:latin typeface="Calibri" panose="020F0502020204030204"/>
              </a:rPr>
              <a:t>: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  <a:p>
            <a:pPr marL="228594" marR="0" lvl="0" indent="-228594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665"/>
              </a:spcAft>
              <a:buClr>
                <a:srgbClr val="1A1A2E"/>
              </a:buClr>
              <a:buSzTx/>
              <a:buFont typeface="Arial" panose="020B0604020202020204" pitchFamily="34" charset="0"/>
              <a:buChar char="•"/>
              <a:tabLst/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Epochs: Never needs more than a few, but they run slow</a:t>
            </a:r>
          </a:p>
        </p:txBody>
      </p:sp>
      <p:sp>
        <p:nvSpPr>
          <p:cNvPr id="4" name="Text 3">
            <a:extLst>
              <a:ext uri="{FF2B5EF4-FFF2-40B4-BE49-F238E27FC236}">
                <a16:creationId xmlns:a16="http://schemas.microsoft.com/office/drawing/2014/main" id="{06444588-BB72-25C9-DEBA-0D3D5F03A725}"/>
              </a:ext>
            </a:extLst>
          </p:cNvPr>
          <p:cNvSpPr/>
          <p:nvPr/>
        </p:nvSpPr>
        <p:spPr>
          <a:xfrm>
            <a:off x="329184" y="6615684"/>
            <a:ext cx="6217920" cy="190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AAAACC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DATASCI 207  ·  Final Project: Forecasting Volatility In Stock Market  ·  March 2026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364739842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F5F6F8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52BF2DA8-1AD0-9284-41EA-77D34AEDBE2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4" name="Shape 0">
            <a:extLst>
              <a:ext uri="{FF2B5EF4-FFF2-40B4-BE49-F238E27FC236}">
                <a16:creationId xmlns:a16="http://schemas.microsoft.com/office/drawing/2014/main" id="{593FEA92-22B6-12B4-C9EF-BB27A6250068}"/>
              </a:ext>
            </a:extLst>
          </p:cNvPr>
          <p:cNvSpPr/>
          <p:nvPr/>
        </p:nvSpPr>
        <p:spPr>
          <a:xfrm>
            <a:off x="0" y="0"/>
            <a:ext cx="12191520" cy="633600"/>
          </a:xfrm>
          <a:prstGeom prst="rect">
            <a:avLst/>
          </a:prstGeom>
          <a:solidFill>
            <a:srgbClr val="0D234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5" name="Text 1">
            <a:extLst>
              <a:ext uri="{FF2B5EF4-FFF2-40B4-BE49-F238E27FC236}">
                <a16:creationId xmlns:a16="http://schemas.microsoft.com/office/drawing/2014/main" id="{534FD73E-2174-ED35-AAF3-8328C8082285}"/>
              </a:ext>
            </a:extLst>
          </p:cNvPr>
          <p:cNvSpPr/>
          <p:nvPr/>
        </p:nvSpPr>
        <p:spPr>
          <a:xfrm>
            <a:off x="341280" y="48960"/>
            <a:ext cx="10606560" cy="560160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2933" b="1" i="0" u="none" strike="noStrike" kern="1200" cap="none" spc="0" normalizeH="0" baseline="0" noProof="0" dirty="0">
                <a:ln>
                  <a:noFill/>
                </a:ln>
                <a:solidFill>
                  <a:srgbClr val="FFFFFF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Model Comparisons — 2025 Test Set (8,820 rows)</a:t>
            </a:r>
            <a:endParaRPr kumimoji="0" lang="en-US" sz="2933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97" name="Shape 3">
            <a:extLst>
              <a:ext uri="{FF2B5EF4-FFF2-40B4-BE49-F238E27FC236}">
                <a16:creationId xmlns:a16="http://schemas.microsoft.com/office/drawing/2014/main" id="{73340864-2159-E8C2-1228-C49C70516603}"/>
              </a:ext>
            </a:extLst>
          </p:cNvPr>
          <p:cNvSpPr/>
          <p:nvPr/>
        </p:nvSpPr>
        <p:spPr>
          <a:xfrm>
            <a:off x="0" y="6559200"/>
            <a:ext cx="12191520" cy="298080"/>
          </a:xfrm>
          <a:prstGeom prst="rect">
            <a:avLst/>
          </a:prstGeom>
          <a:solidFill>
            <a:srgbClr val="0D234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graphicFrame>
        <p:nvGraphicFramePr>
          <p:cNvPr id="100" name="Table 0">
            <a:extLst>
              <a:ext uri="{FF2B5EF4-FFF2-40B4-BE49-F238E27FC236}">
                <a16:creationId xmlns:a16="http://schemas.microsoft.com/office/drawing/2014/main" id="{36CD25CE-68ED-7064-731D-323C5E7F2357}"/>
              </a:ext>
            </a:extLst>
          </p:cNvPr>
          <p:cNvGraphicFramePr/>
          <p:nvPr>
            <p:custDataLst>
              <p:tags r:id="rId1"/>
            </p:custDataLst>
            <p:extLst>
              <p:ext uri="{D42A27DB-BD31-4B8C-83A1-F6EECF244321}">
                <p14:modId xmlns:p14="http://schemas.microsoft.com/office/powerpoint/2010/main" val="728612292"/>
              </p:ext>
            </p:extLst>
          </p:nvPr>
        </p:nvGraphicFramePr>
        <p:xfrm>
          <a:off x="1711234" y="1198189"/>
          <a:ext cx="8321040" cy="5298520"/>
        </p:xfrm>
        <a:graphic>
          <a:graphicData uri="http://schemas.openxmlformats.org/drawingml/2006/table">
            <a:tbl>
              <a:tblPr/>
              <a:tblGrid>
                <a:gridCol w="3449214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230179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1222371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209638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  <a:gridCol w="1209638">
                  <a:extLst>
                    <a:ext uri="{9D8B030D-6E8A-4147-A177-3AD203B41FA5}">
                      <a16:colId xmlns:a16="http://schemas.microsoft.com/office/drawing/2014/main" val="20006"/>
                    </a:ext>
                  </a:extLst>
                </a:gridCol>
              </a:tblGrid>
              <a:tr h="36576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Model / Baseline</a:t>
                      </a:r>
                      <a:endParaRPr lang="en-US" sz="14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Test MAE</a:t>
                      </a:r>
                      <a:endParaRPr lang="en-US" sz="14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Test RMSE</a:t>
                      </a:r>
                      <a:endParaRPr lang="en-US" sz="14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Test R²</a:t>
                      </a:r>
                      <a:endParaRPr lang="en-US" sz="14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FFFFFF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vs XGBoost</a:t>
                      </a:r>
                      <a:endParaRPr lang="en-US" sz="1400" b="0" u="none" strike="noStrike" dirty="0">
                        <a:solidFill>
                          <a:srgbClr val="FFFFFF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0D2340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523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Elastic Net</a:t>
                      </a: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 — V1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0.0855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0.1357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0.1794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+0.0032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  <a:tr h="3523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A8C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Elastic Net</a:t>
                      </a:r>
                      <a:r>
                        <a:rPr lang="en-US" sz="1400" b="1" u="none" strike="noStrike" dirty="0">
                          <a:solidFill>
                            <a:srgbClr val="00A8CC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 —</a:t>
                      </a: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 </a:t>
                      </a:r>
                      <a:r>
                        <a:rPr lang="en-US" sz="1400" b="1" u="none" strike="noStrike" dirty="0">
                          <a:solidFill>
                            <a:srgbClr val="00A8CC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V2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A8C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0.0846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A8C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0.1324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A8C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0.2188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A8C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+0.0024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2"/>
                  </a:ext>
                </a:extLst>
              </a:tr>
              <a:tr h="3523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LSTM</a:t>
                      </a: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— V1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903431423"/>
                  </a:ext>
                </a:extLst>
              </a:tr>
              <a:tr h="3523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A8CC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LSTM</a:t>
                      </a:r>
                      <a:r>
                        <a:rPr lang="en-US" sz="1400" b="1" u="none" strike="noStrike" dirty="0">
                          <a:solidFill>
                            <a:srgbClr val="00A8CC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—</a:t>
                      </a: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 </a:t>
                      </a:r>
                      <a:r>
                        <a:rPr lang="en-US" sz="1400" b="1" u="none" strike="noStrike" dirty="0">
                          <a:solidFill>
                            <a:srgbClr val="00A8CC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V2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76346831"/>
                  </a:ext>
                </a:extLst>
              </a:tr>
              <a:tr h="3523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Transformer-Encoder Only</a:t>
                      </a: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— V1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400" b="1" u="none" strike="noStrike" kern="1200" dirty="0">
                        <a:solidFill>
                          <a:srgbClr val="000000"/>
                        </a:solidFill>
                        <a:effectLst/>
                        <a:uFillTx/>
                        <a:latin typeface="Calibri"/>
                        <a:ea typeface="Calibri"/>
                        <a:cs typeface="+mn-cs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400" b="1" u="none" strike="noStrike" kern="1200" dirty="0">
                        <a:solidFill>
                          <a:srgbClr val="000000"/>
                        </a:solidFill>
                        <a:effectLst/>
                        <a:uFillTx/>
                        <a:latin typeface="Calibri"/>
                        <a:ea typeface="Calibri"/>
                        <a:cs typeface="+mn-cs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400" b="1" u="none" strike="noStrike" kern="1200" dirty="0">
                        <a:solidFill>
                          <a:srgbClr val="000000"/>
                        </a:solidFill>
                        <a:effectLst/>
                        <a:uFillTx/>
                        <a:latin typeface="Calibri"/>
                        <a:ea typeface="Calibri"/>
                        <a:cs typeface="+mn-cs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3783397590"/>
                  </a:ext>
                </a:extLst>
              </a:tr>
              <a:tr h="3523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A8CC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Transformer-Encoder Only—</a:t>
                      </a: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 </a:t>
                      </a:r>
                      <a:r>
                        <a:rPr lang="en-US" sz="1400" b="1" u="none" strike="noStrike" dirty="0">
                          <a:solidFill>
                            <a:srgbClr val="00A8CC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V2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400" b="1" u="none" strike="noStrike" kern="1200" dirty="0">
                        <a:solidFill>
                          <a:srgbClr val="000000"/>
                        </a:solidFill>
                        <a:effectLst/>
                        <a:uFillTx/>
                        <a:latin typeface="Calibri"/>
                        <a:ea typeface="Calibri"/>
                        <a:cs typeface="+mn-cs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400" b="1" u="none" strike="noStrike" kern="1200" dirty="0">
                        <a:solidFill>
                          <a:srgbClr val="000000"/>
                        </a:solidFill>
                        <a:effectLst/>
                        <a:uFillTx/>
                        <a:latin typeface="Calibri"/>
                        <a:ea typeface="Calibri"/>
                        <a:cs typeface="+mn-cs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400" b="1" u="none" strike="noStrike" kern="1200" dirty="0">
                        <a:solidFill>
                          <a:srgbClr val="000000"/>
                        </a:solidFill>
                        <a:effectLst/>
                        <a:uFillTx/>
                        <a:latin typeface="Calibri"/>
                        <a:ea typeface="Calibri"/>
                        <a:cs typeface="+mn-cs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346527065"/>
                  </a:ext>
                </a:extLst>
              </a:tr>
              <a:tr h="3523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Transformer-Encoder (Diogo) – V1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400" b="1" u="none" strike="noStrike" kern="1200" dirty="0">
                        <a:solidFill>
                          <a:srgbClr val="000000"/>
                        </a:solidFill>
                        <a:effectLst/>
                        <a:uFillTx/>
                        <a:latin typeface="Calibri"/>
                        <a:ea typeface="Calibri"/>
                        <a:cs typeface="+mn-cs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400" b="1" u="none" strike="noStrike" kern="1200" dirty="0">
                        <a:solidFill>
                          <a:srgbClr val="000000"/>
                        </a:solidFill>
                        <a:effectLst/>
                        <a:uFillTx/>
                        <a:latin typeface="Calibri"/>
                        <a:ea typeface="Calibri"/>
                        <a:cs typeface="+mn-cs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400" b="1" u="none" strike="noStrike" kern="1200" dirty="0">
                        <a:solidFill>
                          <a:srgbClr val="000000"/>
                        </a:solidFill>
                        <a:effectLst/>
                        <a:uFillTx/>
                        <a:latin typeface="Calibri"/>
                        <a:ea typeface="Calibri"/>
                        <a:cs typeface="+mn-cs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noFill/>
                  </a:tcPr>
                </a:tc>
                <a:extLst>
                  <a:ext uri="{0D108BD9-81ED-4DB2-BD59-A6C34878D82A}">
                    <a16:rowId xmlns:a16="http://schemas.microsoft.com/office/drawing/2014/main" val="2786650060"/>
                  </a:ext>
                </a:extLst>
              </a:tr>
              <a:tr h="3523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A8CC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Transformer-Encoder (Diogo) – V2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kern="1200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  <a:cs typeface="+mn-cs"/>
                        </a:rPr>
                        <a:t>0.1021 </a:t>
                      </a: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kern="1200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  <a:cs typeface="+mn-cs"/>
                        </a:rPr>
                        <a:t>0.1506</a:t>
                      </a: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kern="1200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  <a:cs typeface="+mn-cs"/>
                        </a:rPr>
                        <a:t>0.0383</a:t>
                      </a: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BF5FB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3249360"/>
                  </a:ext>
                </a:extLst>
              </a:tr>
              <a:tr h="3523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E8972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Baseline: </a:t>
                      </a:r>
                      <a:r>
                        <a:rPr lang="en-US" sz="1400" b="1" u="none" strike="noStrike" dirty="0" err="1">
                          <a:solidFill>
                            <a:srgbClr val="E8972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XGBoost</a:t>
                      </a:r>
                      <a:r>
                        <a:rPr lang="en-US" sz="1400" b="1" u="none" strike="noStrike" dirty="0">
                          <a:solidFill>
                            <a:srgbClr val="E8972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 walk-forward</a:t>
                      </a:r>
                      <a:endParaRPr lang="en-US" sz="1400" b="0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E8972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0.0823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0.1352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0.1856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E8972A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BEST ★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3"/>
                  </a:ext>
                </a:extLst>
              </a:tr>
              <a:tr h="3523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Baseline: Trailing 20 Day Average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0.0922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0.1491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0.0088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+0.0099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4"/>
                  </a:ext>
                </a:extLst>
              </a:tr>
              <a:tr h="3523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Baseline: Trailing 5 Day Average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0.1005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0.1625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−0.1773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+0.0182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5"/>
                  </a:ext>
                </a:extLst>
              </a:tr>
              <a:tr h="3523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Baseline: Current Volatility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0.1020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0.1619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−0.1680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+0.0197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6"/>
                  </a:ext>
                </a:extLst>
              </a:tr>
              <a:tr h="3523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Baseline: Trailing 20 Day OLS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0.1298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0.2091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−0.9498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+0.0475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7"/>
                  </a:ext>
                </a:extLst>
              </a:tr>
              <a:tr h="352340">
                <a:tc>
                  <a:txBody>
                    <a:bodyPr/>
                    <a:lstStyle/>
                    <a:p>
                      <a:pPr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+mn-lt"/>
                          <a:ea typeface="Calibri"/>
                        </a:rPr>
                        <a:t>Baseline: Trailing 5 Day OLS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0.1644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 cap="flat" cmpd="sng" algn="ctr">
                      <a:solidFill>
                        <a:srgbClr val="CCCCC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0.2478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−1.7383</a:t>
                      </a:r>
                      <a:endParaRPr lang="en-US" sz="1400" b="1" u="none" strike="noStrike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tc>
                  <a:txBody>
                    <a:bodyPr/>
                    <a:lstStyle/>
                    <a:p>
                      <a:pPr algn="ctr" defTabSz="914400">
                        <a:lnSpc>
                          <a:spcPct val="100000"/>
                        </a:lnSpc>
                        <a:tabLst>
                          <a:tab pos="0" algn="l"/>
                        </a:tabLst>
                      </a:pPr>
                      <a:r>
                        <a:rPr lang="en-US" sz="1400" b="1" u="none" strike="noStrike" dirty="0">
                          <a:solidFill>
                            <a:srgbClr val="000000"/>
                          </a:solidFill>
                          <a:effectLst/>
                          <a:uFillTx/>
                          <a:latin typeface="Calibri"/>
                          <a:ea typeface="Calibri"/>
                        </a:rPr>
                        <a:t>+0.0821</a:t>
                      </a:r>
                      <a:endParaRPr lang="en-US" sz="1400" b="1" u="none" strike="noStrike" dirty="0">
                        <a:solidFill>
                          <a:srgbClr val="000000"/>
                        </a:solidFill>
                        <a:effectLst/>
                        <a:uFillTx/>
                        <a:latin typeface="Arial"/>
                      </a:endParaRPr>
                    </a:p>
                  </a:txBody>
                  <a:tcPr marL="121920" marR="121920" marT="60960" marB="60960" anchor="ctr">
                    <a:lnL w="6480">
                      <a:solidFill>
                        <a:srgbClr val="CCCCCC"/>
                      </a:solidFill>
                      <a:prstDash val="solid"/>
                    </a:lnL>
                    <a:lnR w="6480">
                      <a:solidFill>
                        <a:srgbClr val="CCCCCC"/>
                      </a:solidFill>
                      <a:prstDash val="solid"/>
                    </a:lnR>
                    <a:lnT w="6480">
                      <a:solidFill>
                        <a:srgbClr val="CCCCCC"/>
                      </a:solidFill>
                      <a:prstDash val="solid"/>
                    </a:lnT>
                    <a:lnB w="6480">
                      <a:solidFill>
                        <a:srgbClr val="CCCCCC"/>
                      </a:solidFill>
                      <a:prstDash val="solid"/>
                    </a:lnB>
                    <a:solidFill>
                      <a:srgbClr val="FCF3CF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0008"/>
                  </a:ext>
                </a:extLst>
              </a:tr>
            </a:tbl>
          </a:graphicData>
        </a:graphic>
      </p:graphicFrame>
      <p:sp>
        <p:nvSpPr>
          <p:cNvPr id="4" name="Text 3">
            <a:extLst>
              <a:ext uri="{FF2B5EF4-FFF2-40B4-BE49-F238E27FC236}">
                <a16:creationId xmlns:a16="http://schemas.microsoft.com/office/drawing/2014/main" id="{39D6D745-8213-0B28-5A97-8CC6A63C972D}"/>
              </a:ext>
            </a:extLst>
          </p:cNvPr>
          <p:cNvSpPr/>
          <p:nvPr/>
        </p:nvSpPr>
        <p:spPr>
          <a:xfrm>
            <a:off x="329184" y="6615684"/>
            <a:ext cx="6217920" cy="190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AAAACC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DATASCI 207  ·  Final Project: Forecasting Volatility In Stock Market  ·  March 2026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  <p:sp>
        <p:nvSpPr>
          <p:cNvPr id="3" name="Text 5">
            <a:extLst>
              <a:ext uri="{FF2B5EF4-FFF2-40B4-BE49-F238E27FC236}">
                <a16:creationId xmlns:a16="http://schemas.microsoft.com/office/drawing/2014/main" id="{E2ED3607-8945-2BF1-B826-398C4C1CCFA4}"/>
              </a:ext>
            </a:extLst>
          </p:cNvPr>
          <p:cNvSpPr/>
          <p:nvPr/>
        </p:nvSpPr>
        <p:spPr>
          <a:xfrm>
            <a:off x="1711234" y="668022"/>
            <a:ext cx="8611228" cy="505687"/>
          </a:xfrm>
          <a:prstGeom prst="rect">
            <a:avLst/>
          </a:prstGeom>
          <a:noFill/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ctr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>
                <a:tab pos="0" algn="l"/>
              </a:tabLst>
              <a:defRPr/>
            </a:pPr>
            <a:r>
              <a:rPr kumimoji="0" lang="en-US" sz="1600" b="1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Calibri"/>
                <a:ea typeface="Calibri"/>
                <a:cs typeface="+mn-cs"/>
              </a:rPr>
              <a:t>All results use the same 8,820-row test set. Lower MAE and RMSE are better; higher R² is better.</a:t>
            </a:r>
            <a:endParaRPr kumimoji="0" lang="en-US" sz="1600" b="1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1969427292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rgbClr val="0D2340"/>
        </a:solidFill>
        <a:effectLst/>
      </p:bgPr>
    </p:bg>
    <p:spTree>
      <p:nvGrpSpPr>
        <p:cNvPr id="1" name="">
          <a:extLst>
            <a:ext uri="{FF2B5EF4-FFF2-40B4-BE49-F238E27FC236}">
              <a16:creationId xmlns:a16="http://schemas.microsoft.com/office/drawing/2014/main" id="{2154A49D-C027-369F-B7E6-79283D59151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Shape 0">
            <a:extLst>
              <a:ext uri="{FF2B5EF4-FFF2-40B4-BE49-F238E27FC236}">
                <a16:creationId xmlns:a16="http://schemas.microsoft.com/office/drawing/2014/main" id="{82EF9DDC-8D19-E009-5283-20BAC7A6A2DE}"/>
              </a:ext>
            </a:extLst>
          </p:cNvPr>
          <p:cNvSpPr/>
          <p:nvPr/>
        </p:nvSpPr>
        <p:spPr>
          <a:xfrm>
            <a:off x="0" y="0"/>
            <a:ext cx="145920" cy="6857760"/>
          </a:xfrm>
          <a:prstGeom prst="rect">
            <a:avLst/>
          </a:prstGeom>
          <a:solidFill>
            <a:srgbClr val="00A8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0" name="Shape 2">
            <a:extLst>
              <a:ext uri="{FF2B5EF4-FFF2-40B4-BE49-F238E27FC236}">
                <a16:creationId xmlns:a16="http://schemas.microsoft.com/office/drawing/2014/main" id="{31E2C028-6C8B-318B-1CEE-D4430066B74C}"/>
              </a:ext>
            </a:extLst>
          </p:cNvPr>
          <p:cNvSpPr/>
          <p:nvPr/>
        </p:nvSpPr>
        <p:spPr>
          <a:xfrm>
            <a:off x="426720" y="3596640"/>
            <a:ext cx="11460000" cy="48480"/>
          </a:xfrm>
          <a:prstGeom prst="rect">
            <a:avLst/>
          </a:prstGeom>
          <a:solidFill>
            <a:srgbClr val="00A8CC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-11040" rIns="120000" bIns="-1104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pic>
        <p:nvPicPr>
          <p:cNvPr id="7" name="Picture 6">
            <a:extLst>
              <a:ext uri="{FF2B5EF4-FFF2-40B4-BE49-F238E27FC236}">
                <a16:creationId xmlns:a16="http://schemas.microsoft.com/office/drawing/2014/main" id="{0C141618-C374-B494-41EE-B0A8BC9DF1F8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6797" y="330200"/>
            <a:ext cx="6676209" cy="4450806"/>
          </a:xfrm>
          <a:prstGeom prst="rect">
            <a:avLst/>
          </a:prstGeom>
        </p:spPr>
      </p:pic>
      <p:sp>
        <p:nvSpPr>
          <p:cNvPr id="11" name="Shape 3">
            <a:extLst>
              <a:ext uri="{FF2B5EF4-FFF2-40B4-BE49-F238E27FC236}">
                <a16:creationId xmlns:a16="http://schemas.microsoft.com/office/drawing/2014/main" id="{1137C331-FA45-9782-2EB5-4A0163AC98AA}"/>
              </a:ext>
            </a:extLst>
          </p:cNvPr>
          <p:cNvSpPr/>
          <p:nvPr/>
        </p:nvSpPr>
        <p:spPr>
          <a:xfrm>
            <a:off x="145920" y="6559200"/>
            <a:ext cx="12045600" cy="298080"/>
          </a:xfrm>
          <a:prstGeom prst="rect">
            <a:avLst/>
          </a:prstGeom>
          <a:solidFill>
            <a:srgbClr val="0D2340"/>
          </a:solidFill>
          <a:ln w="0">
            <a:noFill/>
          </a:ln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minor"/>
        </p:style>
        <p:txBody>
          <a:bodyPr lIns="120000" tIns="60000" rIns="120000" bIns="60000" anchor="t">
            <a:noAutofit/>
          </a:bodyPr>
          <a:lstStyle/>
          <a:p>
            <a:pPr marL="0" marR="0" lvl="0" indent="0" algn="l" defTabSz="121917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endParaRPr kumimoji="0" lang="en-US" sz="2400" b="0" i="0" u="none" strike="noStrike" kern="1200" cap="none" spc="0" normalizeH="0" baseline="0" noProof="0">
              <a:ln>
                <a:noFill/>
              </a:ln>
              <a:solidFill>
                <a:srgbClr val="FFFFFF"/>
              </a:solidFill>
              <a:effectLst/>
              <a:uLnTx/>
              <a:uFillTx/>
              <a:latin typeface="Arial"/>
              <a:ea typeface="+mn-ea"/>
              <a:cs typeface="+mn-cs"/>
            </a:endParaRPr>
          </a:p>
        </p:txBody>
      </p:sp>
      <p:sp>
        <p:nvSpPr>
          <p:cNvPr id="13" name="Text 3">
            <a:extLst>
              <a:ext uri="{FF2B5EF4-FFF2-40B4-BE49-F238E27FC236}">
                <a16:creationId xmlns:a16="http://schemas.microsoft.com/office/drawing/2014/main" id="{8F7065A9-0E13-67ED-52C0-2006B84512B7}"/>
              </a:ext>
            </a:extLst>
          </p:cNvPr>
          <p:cNvSpPr/>
          <p:nvPr/>
        </p:nvSpPr>
        <p:spPr>
          <a:xfrm>
            <a:off x="403606" y="6615684"/>
            <a:ext cx="6143498" cy="190065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marR="0" lvl="0" indent="0" algn="l" defTabSz="914400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/>
            </a:pPr>
            <a:r>
              <a:rPr kumimoji="0" lang="en-US" sz="1400" b="0" i="0" u="none" strike="noStrike" kern="1200" cap="none" spc="0" normalizeH="0" baseline="0" noProof="0" dirty="0">
                <a:ln>
                  <a:noFill/>
                </a:ln>
                <a:solidFill>
                  <a:srgbClr val="AAAACC"/>
                </a:solidFill>
                <a:effectLst/>
                <a:uLnTx/>
                <a:uFillTx/>
                <a:latin typeface="Calibri" panose="020F0502020204030204"/>
                <a:ea typeface="+mn-ea"/>
                <a:cs typeface="+mn-cs"/>
              </a:rPr>
              <a:t>DATASCI 207  ·  Final Project: Forecasting Volatility In Stock Market  ·  March 2026</a:t>
            </a:r>
            <a:endParaRPr kumimoji="0" lang="en-US" sz="125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Calibri" panose="020F0502020204030204"/>
              <a:ea typeface="+mn-ea"/>
              <a:cs typeface="+mn-cs"/>
            </a:endParaRPr>
          </a:p>
        </p:txBody>
      </p:sp>
    </p:spTree>
    <p:extLst>
      <p:ext uri="{BB962C8B-B14F-4D97-AF65-F5344CB8AC3E}">
        <p14:creationId xmlns:p14="http://schemas.microsoft.com/office/powerpoint/2010/main" val="3068750926"/>
      </p:ext>
    </p:extLst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ags/tag2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AFSPANMODE" val="span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1_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</a:majorFont>
      <a:minorFont>
        <a:latin typeface="Calibri" panose="020F0502020204030204"/>
        <a:ea typeface=""/>
        <a:cs typeface=""/>
      </a:minorFont>
    </a:fontScheme>
    <a:fmtScheme>
      <a:fillStyleLst>
        <a:solidFill>
          <a:schemeClr val="phClr"/>
        </a:solidFill>
        <a:gradFill>
          <a:gsLst>
            <a:gs pos="0">
              <a:schemeClr val="phClr">
                <a:lumMod val="110000"/>
                <a:tint val="67000"/>
              </a:schemeClr>
            </a:gs>
            <a:gs pos="50000">
              <a:schemeClr val="phClr">
                <a:lumMod val="105000"/>
                <a:tint val="73000"/>
              </a:schemeClr>
            </a:gs>
            <a:gs pos="100000">
              <a:schemeClr val="phClr">
                <a:lumMod val="105000"/>
                <a:tint val="81000"/>
              </a:schemeClr>
            </a:gs>
          </a:gsLst>
          <a:lin ang="5400000" scaled="0"/>
          <a:tileRect/>
        </a:gradFill>
        <a:gradFill>
          <a:gsLst>
            <a:gs pos="0">
              <a:schemeClr val="phClr">
                <a:lumMod val="102000"/>
                <a:tint val="94000"/>
              </a:schemeClr>
            </a:gs>
            <a:gs pos="50000">
              <a:schemeClr val="phClr">
                <a:lumMod val="100000"/>
                <a:shade val="100000"/>
              </a:schemeClr>
            </a:gs>
            <a:gs pos="100000">
              <a:schemeClr val="phClr">
                <a:lumMod val="99000"/>
                <a:shade val="78000"/>
              </a:schemeClr>
            </a:gs>
          </a:gsLst>
          <a:lin ang="5400000" scaled="0"/>
          <a:tileRect/>
        </a:gradFill>
      </a:fillStyleLst>
      <a:lnStyleLst>
        <a:ln w="6350" cap="flat" cmpd="sng" algn="ctr">
          <a:prstDash val="solid"/>
          <a:miter lim="800000"/>
        </a:ln>
        <a:ln w="12700" cap="flat" cmpd="sng" algn="ctr">
          <a:prstDash val="solid"/>
          <a:miter lim="800000"/>
        </a:ln>
        <a:ln w="19050" cap="flat" cmpd="sng" algn="ctr"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/>
        </a:effectStyle>
      </a:effectStyleLst>
      <a:bgFillStyleLst>
        <a:solidFill>
          <a:schemeClr val="phClr"/>
        </a:solidFill>
        <a:solidFill>
          <a:schemeClr val="phClr">
            <a:tint val="95000"/>
          </a:schemeClr>
        </a:solidFill>
        <a:gradFill>
          <a:gsLst>
            <a:gs pos="0">
              <a:schemeClr val="phClr">
                <a:tint val="93000"/>
                <a:shade val="98000"/>
                <a:lumMod val="102000"/>
              </a:schemeClr>
            </a:gs>
            <a:gs pos="50000">
              <a:schemeClr val="phClr">
                <a:tint val="98000"/>
                <a:shade val="90000"/>
                <a:lumMod val="103000"/>
              </a:schemeClr>
            </a:gs>
            <a:gs pos="100000">
              <a:schemeClr val="phClr">
                <a:shade val="63000"/>
              </a:schemeClr>
            </a:gs>
          </a:gsLst>
          <a:lin ang="5400000" scaled="0"/>
          <a:tileRect/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Metadata/LabelInfo.xml><?xml version="1.0" encoding="utf-8"?>
<clbl:labelList xmlns:clbl="http://schemas.microsoft.com/office/2020/mipLabelMetadata">
  <clbl:label id="{f42aa342-8706-4288-bd11-ebb85995028c}" enabled="1" method="Standard" siteId="{72f988bf-86f1-41af-91ab-2d7cd011db47}" contentBits="0" removed="0"/>
</clbl:labelList>
</file>

<file path=docProps/app.xml><?xml version="1.0" encoding="utf-8"?>
<Properties xmlns="http://schemas.openxmlformats.org/officeDocument/2006/extended-properties" xmlns:vt="http://schemas.openxmlformats.org/officeDocument/2006/docPropsVTypes">
  <TotalTime>2025</TotalTime>
  <Words>2590</Words>
  <Application>Microsoft Office PowerPoint</Application>
  <PresentationFormat>Widescreen</PresentationFormat>
  <Paragraphs>459</Paragraphs>
  <Slides>22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7</vt:i4>
      </vt:variant>
      <vt:variant>
        <vt:lpstr>Theme</vt:lpstr>
      </vt:variant>
      <vt:variant>
        <vt:i4>2</vt:i4>
      </vt:variant>
      <vt:variant>
        <vt:lpstr>Slide Titles</vt:lpstr>
      </vt:variant>
      <vt:variant>
        <vt:i4>22</vt:i4>
      </vt:variant>
    </vt:vector>
  </HeadingPairs>
  <TitlesOfParts>
    <vt:vector size="31" baseType="lpstr">
      <vt:lpstr>Calibri </vt:lpstr>
      <vt:lpstr>Aptos</vt:lpstr>
      <vt:lpstr>Arial</vt:lpstr>
      <vt:lpstr>Calibri</vt:lpstr>
      <vt:lpstr>Symbol</vt:lpstr>
      <vt:lpstr>Times New Roman</vt:lpstr>
      <vt:lpstr>Wingdings</vt:lpstr>
      <vt:lpstr>Office Theme</vt:lpstr>
      <vt:lpstr>1_Office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Diogo Viveiros</cp:lastModifiedBy>
  <cp:revision>39</cp:revision>
  <dcterms:created xsi:type="dcterms:W3CDTF">2026-03-31T21:53:36Z</dcterms:created>
  <dcterms:modified xsi:type="dcterms:W3CDTF">2026-04-10T03:33:33Z</dcterms:modified>
</cp:coreProperties>
</file>