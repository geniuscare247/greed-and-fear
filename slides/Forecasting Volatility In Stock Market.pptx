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1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ags/tag2.xml" ContentType="application/vnd.openxmlformats-officedocument.presentationml.tag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1" r:id="rId2"/>
  </p:sldMasterIdLst>
  <p:notesMasterIdLst>
    <p:notesMasterId r:id="rId25"/>
  </p:notesMasterIdLst>
  <p:sldIdLst>
    <p:sldId id="272" r:id="rId3"/>
    <p:sldId id="256" r:id="rId4"/>
    <p:sldId id="257" r:id="rId5"/>
    <p:sldId id="258" r:id="rId6"/>
    <p:sldId id="260" r:id="rId7"/>
    <p:sldId id="261" r:id="rId8"/>
    <p:sldId id="262" r:id="rId9"/>
    <p:sldId id="263" r:id="rId10"/>
    <p:sldId id="267" r:id="rId11"/>
    <p:sldId id="268" r:id="rId12"/>
    <p:sldId id="269" r:id="rId13"/>
    <p:sldId id="270" r:id="rId14"/>
    <p:sldId id="265" r:id="rId15"/>
    <p:sldId id="271" r:id="rId16"/>
    <p:sldId id="273" r:id="rId17"/>
    <p:sldId id="277" r:id="rId18"/>
    <p:sldId id="274" r:id="rId19"/>
    <p:sldId id="278" r:id="rId20"/>
    <p:sldId id="275" r:id="rId21"/>
    <p:sldId id="279" r:id="rId22"/>
    <p:sldId id="280" r:id="rId23"/>
    <p:sldId id="276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F3CF"/>
    <a:srgbClr val="EBF5FB"/>
    <a:srgbClr val="F5F6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53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8423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30E27-3341-8D58-EFE0-6D22A3F8B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>
            <a:extLst>
              <a:ext uri="{FF2B5EF4-FFF2-40B4-BE49-F238E27FC236}">
                <a16:creationId xmlns:a16="http://schemas.microsoft.com/office/drawing/2014/main" id="{D83479BE-F067-05E5-3FF8-E66FBFADB4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5" name="PlaceHolder 2">
            <a:extLst>
              <a:ext uri="{FF2B5EF4-FFF2-40B4-BE49-F238E27FC236}">
                <a16:creationId xmlns:a16="http://schemas.microsoft.com/office/drawing/2014/main" id="{AE9E29B2-8658-1A52-7E1D-9AC38CB66F3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PlaceHolder 3">
            <a:extLst>
              <a:ext uri="{FF2B5EF4-FFF2-40B4-BE49-F238E27FC236}">
                <a16:creationId xmlns:a16="http://schemas.microsoft.com/office/drawing/2014/main" id="{039CF368-DD7A-E67E-A06B-7563E9AD49E6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8E9D2C-E2AA-4A61-811E-44DD82E65BD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79186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description summarized from the team project proposal and milestone report.
[Sources]
- Project Proposal PDF (uploaded in this chat)
- Project Milestone Report PDF (uploaded in this chat)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62D1D-100A-9BF4-C08D-8DE1D559B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D3E7F2-6B5C-B694-D2CE-1FD0E11B3C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BA7ED3-720E-44B9-946C-EB13DEABD3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description summarized from the team project proposal and milestone report.
[Sources]
- Project Proposal PDF (uploaded in this chat)
- Project Milestone Report PDF (uploaded in this chat)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C2FB2B-BDB5-C4C6-EB3D-C266670124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367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Uploaded PDF: volatility_dataset_description_UPDATED_013026.pdf (dataset size, schema, key, target, macro storage, join strategy)
- Uploaded PPTX: project slide deck used as style reference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Uploaded PDF: DATASCI 207 — ETF Volatility Dataset: Time-Series EDA (EDA_ETF_Volatility_TimeSeries_vb_done_021126_VB_021026) — used for the checklist text and plot thumbnails.
- Uploaded PPTX: project slide deck (style reference for header/footer and typography).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8E9D2C-E2AA-4A61-811E-44DD82E65BD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B39F7-BA42-41FD-BC49-F42D7046AA93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801C66-0D28-445B-8BDC-B7CD68A3718D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1260DA-6912-4A9B-8AD9-FC04EB69A99D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Coefficient interpretation for V1 and V2 (Elastic Net).
[Sources]
- elastic_net_vol_v1v2_vb_done_032726.ipynb (user-provided notebook)
- elastic_net_vol_slides_wip_032726.pptx (user-provided deck)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718ACF-244A-47D4-894C-0AD4F4E01906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04CCE6-61FE-46B3-8996-5BF314FE3D04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DD616-2E0A-5CA5-FAD2-3E7652DDA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>
            <a:extLst>
              <a:ext uri="{FF2B5EF4-FFF2-40B4-BE49-F238E27FC236}">
                <a16:creationId xmlns:a16="http://schemas.microsoft.com/office/drawing/2014/main" id="{CD61C938-BD10-5839-4160-D3350AC5B8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5" name="PlaceHolder 2">
            <a:extLst>
              <a:ext uri="{FF2B5EF4-FFF2-40B4-BE49-F238E27FC236}">
                <a16:creationId xmlns:a16="http://schemas.microsoft.com/office/drawing/2014/main" id="{0F16ED71-5446-4139-8B84-900E3C7BBB3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PlaceHolder 3">
            <a:extLst>
              <a:ext uri="{FF2B5EF4-FFF2-40B4-BE49-F238E27FC236}">
                <a16:creationId xmlns:a16="http://schemas.microsoft.com/office/drawing/2014/main" id="{2D7F721B-2ECE-2160-B713-1B41E9F317F8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8E9D2C-E2AA-4A61-811E-44DD82E65BD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73146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8ADB9-F51F-B0A8-727E-4FF2BB505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>
            <a:extLst>
              <a:ext uri="{FF2B5EF4-FFF2-40B4-BE49-F238E27FC236}">
                <a16:creationId xmlns:a16="http://schemas.microsoft.com/office/drawing/2014/main" id="{FD1FB4C6-C5B2-D7A9-AD09-8F108BDFFC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8" name="PlaceHolder 2">
            <a:extLst>
              <a:ext uri="{FF2B5EF4-FFF2-40B4-BE49-F238E27FC236}">
                <a16:creationId xmlns:a16="http://schemas.microsoft.com/office/drawing/2014/main" id="{5499D948-5A7E-4EF2-0158-23D3696D098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PlaceHolder 3">
            <a:extLst>
              <a:ext uri="{FF2B5EF4-FFF2-40B4-BE49-F238E27FC236}">
                <a16:creationId xmlns:a16="http://schemas.microsoft.com/office/drawing/2014/main" id="{B40E8E55-9EFA-414B-171A-68C8A4B68183}"/>
              </a:ext>
            </a:extLst>
          </p:cNvPr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04CCE6-61FE-46B3-8996-5BF314FE3D04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21681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E657A-B680-1396-322F-FC663BB7F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>
            <a:extLst>
              <a:ext uri="{FF2B5EF4-FFF2-40B4-BE49-F238E27FC236}">
                <a16:creationId xmlns:a16="http://schemas.microsoft.com/office/drawing/2014/main" id="{9C4F7010-23FA-B7E2-5114-6D3F40BF45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5" name="PlaceHolder 2">
            <a:extLst>
              <a:ext uri="{FF2B5EF4-FFF2-40B4-BE49-F238E27FC236}">
                <a16:creationId xmlns:a16="http://schemas.microsoft.com/office/drawing/2014/main" id="{916653ED-2156-E169-CDB0-D49DCA6FA64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PlaceHolder 3">
            <a:extLst>
              <a:ext uri="{FF2B5EF4-FFF2-40B4-BE49-F238E27FC236}">
                <a16:creationId xmlns:a16="http://schemas.microsoft.com/office/drawing/2014/main" id="{22C9D295-0937-AB72-94AD-92DD6918EE3C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8E9D2C-E2AA-4A61-811E-44DD82E65BD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63225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60C88-F203-C61E-434A-DAF6EE8B1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>
            <a:extLst>
              <a:ext uri="{FF2B5EF4-FFF2-40B4-BE49-F238E27FC236}">
                <a16:creationId xmlns:a16="http://schemas.microsoft.com/office/drawing/2014/main" id="{0793056F-C67F-FB88-4B89-363B348E40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8" name="PlaceHolder 2">
            <a:extLst>
              <a:ext uri="{FF2B5EF4-FFF2-40B4-BE49-F238E27FC236}">
                <a16:creationId xmlns:a16="http://schemas.microsoft.com/office/drawing/2014/main" id="{5E423722-121B-5E07-6409-A6478965AC6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PlaceHolder 3">
            <a:extLst>
              <a:ext uri="{FF2B5EF4-FFF2-40B4-BE49-F238E27FC236}">
                <a16:creationId xmlns:a16="http://schemas.microsoft.com/office/drawing/2014/main" id="{91C59E53-F61C-23E0-75AF-198EDF5BD7EE}"/>
              </a:ext>
            </a:extLst>
          </p:cNvPr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04CCE6-61FE-46B3-8996-5BF314FE3D04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76490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3A3AC-4D4E-2472-3B3D-30D40C866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>
            <a:extLst>
              <a:ext uri="{FF2B5EF4-FFF2-40B4-BE49-F238E27FC236}">
                <a16:creationId xmlns:a16="http://schemas.microsoft.com/office/drawing/2014/main" id="{4B5500B3-A4FB-9680-E8F1-D87C95F855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5" name="PlaceHolder 2">
            <a:extLst>
              <a:ext uri="{FF2B5EF4-FFF2-40B4-BE49-F238E27FC236}">
                <a16:creationId xmlns:a16="http://schemas.microsoft.com/office/drawing/2014/main" id="{13B66C58-190E-1FA4-9B49-BB5423AA65F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PlaceHolder 3">
            <a:extLst>
              <a:ext uri="{FF2B5EF4-FFF2-40B4-BE49-F238E27FC236}">
                <a16:creationId xmlns:a16="http://schemas.microsoft.com/office/drawing/2014/main" id="{52783B92-A171-ADE8-1204-915299EF75B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8E9D2C-E2AA-4A61-811E-44DD82E65BD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78541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A1EA5-6FDE-6B52-8EF7-A076C8446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>
            <a:extLst>
              <a:ext uri="{FF2B5EF4-FFF2-40B4-BE49-F238E27FC236}">
                <a16:creationId xmlns:a16="http://schemas.microsoft.com/office/drawing/2014/main" id="{4205A6D1-743C-E6ED-71AA-86015EDFA9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8" name="PlaceHolder 2">
            <a:extLst>
              <a:ext uri="{FF2B5EF4-FFF2-40B4-BE49-F238E27FC236}">
                <a16:creationId xmlns:a16="http://schemas.microsoft.com/office/drawing/2014/main" id="{7ECDDF50-0499-A1F7-7C06-014844DC7668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PlaceHolder 3">
            <a:extLst>
              <a:ext uri="{FF2B5EF4-FFF2-40B4-BE49-F238E27FC236}">
                <a16:creationId xmlns:a16="http://schemas.microsoft.com/office/drawing/2014/main" id="{8F0FEECD-0966-A1E8-C01F-23DD953A46F1}"/>
              </a:ext>
            </a:extLst>
          </p:cNvPr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04CCE6-61FE-46B3-8996-5BF314FE3D04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10737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50FA0-3662-CBE5-E69D-0F20CB7A8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>
            <a:extLst>
              <a:ext uri="{FF2B5EF4-FFF2-40B4-BE49-F238E27FC236}">
                <a16:creationId xmlns:a16="http://schemas.microsoft.com/office/drawing/2014/main" id="{CBB2859C-963A-B26C-1362-9F2A50F1F5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0" name="PlaceHolder 2">
            <a:extLst>
              <a:ext uri="{FF2B5EF4-FFF2-40B4-BE49-F238E27FC236}">
                <a16:creationId xmlns:a16="http://schemas.microsoft.com/office/drawing/2014/main" id="{3E9184C3-936B-89D6-E609-5ADF5AE6128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PlaceHolder 3">
            <a:extLst>
              <a:ext uri="{FF2B5EF4-FFF2-40B4-BE49-F238E27FC236}">
                <a16:creationId xmlns:a16="http://schemas.microsoft.com/office/drawing/2014/main" id="{3FEC6C48-3DBE-93DE-D14A-767F3DB1B934}"/>
              </a:ext>
            </a:extLst>
          </p:cNvPr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1260DA-6912-4A9B-8AD9-FC04EB69A99D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8786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2810B-6E70-C868-17A4-62348C2C3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>
            <a:extLst>
              <a:ext uri="{FF2B5EF4-FFF2-40B4-BE49-F238E27FC236}">
                <a16:creationId xmlns:a16="http://schemas.microsoft.com/office/drawing/2014/main" id="{EF047777-8674-B6A7-162D-B935BA422C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5" name="PlaceHolder 2">
            <a:extLst>
              <a:ext uri="{FF2B5EF4-FFF2-40B4-BE49-F238E27FC236}">
                <a16:creationId xmlns:a16="http://schemas.microsoft.com/office/drawing/2014/main" id="{D8D668EC-FB43-A0F4-6543-EDBA074E35E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PlaceHolder 3">
            <a:extLst>
              <a:ext uri="{FF2B5EF4-FFF2-40B4-BE49-F238E27FC236}">
                <a16:creationId xmlns:a16="http://schemas.microsoft.com/office/drawing/2014/main" id="{87487499-DD1B-46AD-D013-BB05AC06009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8E9D2C-E2AA-4A61-811E-44DD82E65BD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99677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178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6076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600" y="1604640"/>
            <a:ext cx="109723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267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1151971" lvl="1" indent="-431989">
              <a:spcBef>
                <a:spcPts val="1512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727957" lvl="2" indent="-383990">
              <a:spcBef>
                <a:spcPts val="113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67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2303942" lvl="3" indent="-287993">
              <a:spcBef>
                <a:spcPts val="756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667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879928" lvl="4" indent="-287993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67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3455914" lvl="5" indent="-287993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67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4031899" lvl="6" indent="-287993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67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3358475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txStyles>
    <p:titleStyle>
      <a:lvl1pPr indent="0"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75986" indent="-431989" algn="l" defTabSz="1219170" rtl="0" eaLnBrk="1" latinLnBrk="0" hangingPunct="1">
        <a:lnSpc>
          <a:spcPct val="90000"/>
        </a:lnSpc>
        <a:spcBef>
          <a:spcPts val="1889"/>
        </a:spcBef>
        <a:buClr>
          <a:srgbClr val="000000"/>
        </a:buClr>
        <a:buSzPct val="45000"/>
        <a:buFont typeface="Wingdings" charset="2"/>
        <a:buChar char="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3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FBE54B-D2FB-7E9D-E8D9-9F7D24EDE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>
            <a:extLst>
              <a:ext uri="{FF2B5EF4-FFF2-40B4-BE49-F238E27FC236}">
                <a16:creationId xmlns:a16="http://schemas.microsoft.com/office/drawing/2014/main" id="{48DD7D0F-F9F5-5344-D1D7-41257D31C514}"/>
              </a:ext>
            </a:extLst>
          </p:cNvPr>
          <p:cNvSpPr/>
          <p:nvPr/>
        </p:nvSpPr>
        <p:spPr>
          <a:xfrm>
            <a:off x="0" y="0"/>
            <a:ext cx="145920" cy="6857760"/>
          </a:xfrm>
          <a:prstGeom prst="rect">
            <a:avLst/>
          </a:prstGeom>
          <a:solidFill>
            <a:srgbClr val="00A8C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t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B4BBEA62-81F5-2C55-7E9D-74F3B2A5E25A}"/>
              </a:ext>
            </a:extLst>
          </p:cNvPr>
          <p:cNvSpPr/>
          <p:nvPr/>
        </p:nvSpPr>
        <p:spPr>
          <a:xfrm>
            <a:off x="426720" y="975360"/>
            <a:ext cx="11338080" cy="243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t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6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Forecasting Volatility</a:t>
            </a:r>
            <a:endParaRPr kumimoji="0" lang="en-US" sz="6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6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In Stock Market</a:t>
            </a:r>
            <a:endParaRPr kumimoji="0" lang="en-US" sz="6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D0982A92-3E69-B2C5-C535-BF1C574922BD}"/>
              </a:ext>
            </a:extLst>
          </p:cNvPr>
          <p:cNvSpPr/>
          <p:nvPr/>
        </p:nvSpPr>
        <p:spPr>
          <a:xfrm>
            <a:off x="426720" y="3596640"/>
            <a:ext cx="11460000" cy="48480"/>
          </a:xfrm>
          <a:prstGeom prst="rect">
            <a:avLst/>
          </a:prstGeom>
          <a:solidFill>
            <a:srgbClr val="00A8C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-11040" rIns="120000" bIns="-11040" anchor="t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4F090630-7208-BEDC-AE80-E37EC36F6053}"/>
              </a:ext>
            </a:extLst>
          </p:cNvPr>
          <p:cNvSpPr/>
          <p:nvPr/>
        </p:nvSpPr>
        <p:spPr>
          <a:xfrm>
            <a:off x="426720" y="3892303"/>
            <a:ext cx="11338080" cy="129423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ctr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pt-BR" sz="1733" b="0" i="0" u="none" strike="noStrike" kern="1200" cap="none" spc="0" normalizeH="0" baseline="0" noProof="0" dirty="0">
                <a:ln>
                  <a:noFill/>
                </a:ln>
                <a:solidFill>
                  <a:srgbClr val="AAAACC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Sid Sridhar – siddharthen_sridhar@berkeley.edu </a:t>
            </a:r>
          </a:p>
          <a:p>
            <a:pPr lvl="0" defTabSz="1219170">
              <a:tabLst>
                <a:tab pos="0" algn="l"/>
              </a:tabLst>
              <a:defRPr/>
            </a:pPr>
            <a:r>
              <a:rPr kumimoji="0" lang="pt-BR" sz="1733" b="0" i="0" u="none" strike="noStrike" kern="1200" cap="none" spc="0" normalizeH="0" baseline="0" noProof="0" dirty="0">
                <a:ln>
                  <a:noFill/>
                </a:ln>
                <a:solidFill>
                  <a:srgbClr val="AAAACC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Diogo Viveiros </a:t>
            </a:r>
            <a:r>
              <a:rPr lang="pt-BR" sz="1733" dirty="0">
                <a:solidFill>
                  <a:srgbClr val="AAAACC"/>
                </a:solidFill>
                <a:ea typeface="Calibri"/>
              </a:rPr>
              <a:t>–</a:t>
            </a:r>
            <a:r>
              <a:rPr kumimoji="0" lang="pt-BR" sz="1733" b="0" i="0" u="none" strike="noStrike" kern="1200" cap="none" spc="0" normalizeH="0" baseline="0" noProof="0" dirty="0">
                <a:ln>
                  <a:noFill/>
                </a:ln>
                <a:solidFill>
                  <a:srgbClr val="AAAACC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 diogoviveiros@berkeley.edu 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pt-BR" sz="1733" b="0" i="0" u="none" strike="noStrike" kern="1200" cap="none" spc="0" normalizeH="0" baseline="0" noProof="0" dirty="0">
                <a:ln>
                  <a:noFill/>
                </a:ln>
                <a:solidFill>
                  <a:srgbClr val="AAAACC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Ronald Ho – ronald.ho@berkeley.edu </a:t>
            </a:r>
          </a:p>
          <a:p>
            <a:pPr lvl="0" defTabSz="1219170">
              <a:tabLst>
                <a:tab pos="0" algn="l"/>
              </a:tabLst>
              <a:defRPr/>
            </a:pPr>
            <a:r>
              <a:rPr kumimoji="0" lang="pt-BR" sz="1733" b="0" i="0" u="none" strike="noStrike" kern="1200" cap="none" spc="0" normalizeH="0" baseline="0" noProof="0" dirty="0">
                <a:ln>
                  <a:noFill/>
                </a:ln>
                <a:solidFill>
                  <a:srgbClr val="AAAACC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Vinit S. Bhatt </a:t>
            </a:r>
            <a:r>
              <a:rPr lang="pt-BR" sz="1733" dirty="0">
                <a:solidFill>
                  <a:srgbClr val="AAAACC"/>
                </a:solidFill>
                <a:ea typeface="Calibri"/>
              </a:rPr>
              <a:t>–</a:t>
            </a:r>
            <a:r>
              <a:rPr kumimoji="0" lang="pt-BR" sz="1733" b="0" i="0" u="none" strike="noStrike" kern="1200" cap="none" spc="0" normalizeH="0" baseline="0" noProof="0" dirty="0">
                <a:ln>
                  <a:noFill/>
                </a:ln>
                <a:solidFill>
                  <a:srgbClr val="AAAACC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 vbhatt@berkeley.edu </a:t>
            </a:r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0860C2B8-2065-2F74-37FA-0EE61988D638}"/>
              </a:ext>
            </a:extLst>
          </p:cNvPr>
          <p:cNvSpPr/>
          <p:nvPr/>
        </p:nvSpPr>
        <p:spPr>
          <a:xfrm>
            <a:off x="487680" y="2983166"/>
            <a:ext cx="11338080" cy="36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ctr">
            <a:noAutofit/>
          </a:bodyPr>
          <a:lstStyle/>
          <a:p>
            <a:pPr defTabSz="1219170">
              <a:tabLst>
                <a:tab pos="0" algn="l"/>
              </a:tabLst>
            </a:pPr>
            <a:r>
              <a:rPr lang="en-US" sz="1733" dirty="0">
                <a:solidFill>
                  <a:srgbClr val="AAAACC"/>
                </a:solidFill>
                <a:ea typeface="Calibri"/>
              </a:rPr>
              <a:t>DATASCI 207 Final Project, </a:t>
            </a:r>
            <a:r>
              <a:rPr kumimoji="0" lang="en-US" sz="1733" b="0" i="0" u="none" strike="noStrike" kern="1200" cap="none" spc="0" normalizeH="0" baseline="0" noProof="0" dirty="0">
                <a:ln>
                  <a:noFill/>
                </a:ln>
                <a:solidFill>
                  <a:srgbClr val="AAAACC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March 27, 2026</a:t>
            </a:r>
            <a:endParaRPr kumimoji="0" lang="en-US" sz="1733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2177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33679"/>
          </a:xfrm>
          <a:prstGeom prst="rect">
            <a:avLst/>
          </a:prstGeom>
          <a:solidFill>
            <a:srgbClr val="0D2340"/>
          </a:solidFill>
          <a:ln w="12700">
            <a:solidFill>
              <a:srgbClr val="0D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1071" y="49378"/>
            <a:ext cx="11581790" cy="5605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Forecasting Volatility In Stock Market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0" y="6558991"/>
            <a:ext cx="12191695" cy="298094"/>
          </a:xfrm>
          <a:prstGeom prst="rect">
            <a:avLst/>
          </a:prstGeom>
          <a:solidFill>
            <a:srgbClr val="0D2340"/>
          </a:solidFill>
          <a:ln w="12700">
            <a:solidFill>
              <a:srgbClr val="0D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1071" y="1389888"/>
            <a:ext cx="11423599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endParaRPr lang="en-US"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3081351" y="6128039"/>
            <a:ext cx="594303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1A1A2E"/>
                </a:solidFill>
                <a:latin typeface="Calibri"/>
              </a:rPr>
              <a:t>S&amp;P 500 chart highlighting major drawdowns and changing volatility regimes.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6514" y="4151321"/>
            <a:ext cx="184731" cy="3123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430" b="1" dirty="0">
              <a:solidFill>
                <a:srgbClr val="1A1A2E"/>
              </a:solidFill>
              <a:latin typeface="Calibri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84DE742-A634-5F95-CAAE-9A7B4C8620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886" y="1189318"/>
            <a:ext cx="11606784" cy="486393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C1E1F7B-8F5F-4DAE-AF18-3F253AF2F340}"/>
              </a:ext>
            </a:extLst>
          </p:cNvPr>
          <p:cNvSpPr txBox="1"/>
          <p:nvPr/>
        </p:nvSpPr>
        <p:spPr>
          <a:xfrm>
            <a:off x="5037224" y="730065"/>
            <a:ext cx="21172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A8CC"/>
                </a:solidFill>
              </a:rPr>
              <a:t>What is Volatility?</a:t>
            </a:r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01C70E8E-E084-C0AE-22BC-15F747F203D5}"/>
              </a:ext>
            </a:extLst>
          </p:cNvPr>
          <p:cNvSpPr/>
          <p:nvPr/>
        </p:nvSpPr>
        <p:spPr>
          <a:xfrm flipV="1">
            <a:off x="5166360" y="1112825"/>
            <a:ext cx="1848394" cy="0"/>
          </a:xfrm>
          <a:prstGeom prst="line">
            <a:avLst/>
          </a:prstGeom>
          <a:noFill/>
          <a:ln w="15240">
            <a:solidFill>
              <a:srgbClr val="08A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E62870E0-E75F-1918-96DE-CDE61EEC5EC4}"/>
              </a:ext>
            </a:extLst>
          </p:cNvPr>
          <p:cNvSpPr/>
          <p:nvPr/>
        </p:nvSpPr>
        <p:spPr>
          <a:xfrm>
            <a:off x="329184" y="6615684"/>
            <a:ext cx="6217920" cy="1900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AAAACC"/>
                </a:solidFill>
              </a:rPr>
              <a:t>DATASCI 207  ·  Final Project: Forecasting Volatility In Stock Market  ·  March 2026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D38F3-9CCD-288E-2F25-B5BEF5256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1CC733E-286B-DB4C-4C3D-26B1BA7D38C0}"/>
              </a:ext>
            </a:extLst>
          </p:cNvPr>
          <p:cNvSpPr/>
          <p:nvPr/>
        </p:nvSpPr>
        <p:spPr>
          <a:xfrm>
            <a:off x="0" y="0"/>
            <a:ext cx="12191695" cy="633679"/>
          </a:xfrm>
          <a:prstGeom prst="rect">
            <a:avLst/>
          </a:prstGeom>
          <a:solidFill>
            <a:srgbClr val="0D2340"/>
          </a:solidFill>
          <a:ln w="12700">
            <a:solidFill>
              <a:srgbClr val="0D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2142922-2786-A3D8-94C6-5218335D60BE}"/>
              </a:ext>
            </a:extLst>
          </p:cNvPr>
          <p:cNvSpPr/>
          <p:nvPr/>
        </p:nvSpPr>
        <p:spPr>
          <a:xfrm>
            <a:off x="341071" y="49378"/>
            <a:ext cx="11581790" cy="5605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Forecasting Volatility In Stock Market</a:t>
            </a:r>
            <a:endParaRPr lang="en-US" sz="29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BDBA904-3875-2D8B-B440-D4BB0858E2B5}"/>
              </a:ext>
            </a:extLst>
          </p:cNvPr>
          <p:cNvSpPr/>
          <p:nvPr/>
        </p:nvSpPr>
        <p:spPr>
          <a:xfrm>
            <a:off x="0" y="6558991"/>
            <a:ext cx="12191695" cy="298094"/>
          </a:xfrm>
          <a:prstGeom prst="rect">
            <a:avLst/>
          </a:prstGeom>
          <a:solidFill>
            <a:srgbClr val="0D2340"/>
          </a:solidFill>
          <a:ln w="12700">
            <a:solidFill>
              <a:srgbClr val="0D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6382F0A-05BB-1ED2-EFB3-4EC93A08AFBF}"/>
              </a:ext>
            </a:extLst>
          </p:cNvPr>
          <p:cNvSpPr/>
          <p:nvPr/>
        </p:nvSpPr>
        <p:spPr>
          <a:xfrm>
            <a:off x="341071" y="1389888"/>
            <a:ext cx="11423599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endParaRPr lang="en-US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433F22-3FAE-CC59-CFA3-ACC37CEB1C86}"/>
              </a:ext>
            </a:extLst>
          </p:cNvPr>
          <p:cNvSpPr txBox="1"/>
          <p:nvPr/>
        </p:nvSpPr>
        <p:spPr>
          <a:xfrm>
            <a:off x="405536" y="1152144"/>
            <a:ext cx="11380622" cy="5187445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>
              <a:spcAft>
                <a:spcPts val="200"/>
              </a:spcAft>
            </a:pPr>
            <a:r>
              <a:rPr sz="2200" b="1" dirty="0">
                <a:solidFill>
                  <a:srgbClr val="00A8CC"/>
                </a:solidFill>
                <a:latin typeface="Calibri"/>
              </a:rPr>
              <a:t>Forecasting Objective</a:t>
            </a:r>
          </a:p>
          <a:p>
            <a:pPr marL="285750" indent="-285750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sz="2200" b="1" dirty="0">
                <a:solidFill>
                  <a:srgbClr val="1A1A2E"/>
                </a:solidFill>
                <a:latin typeface="Calibri"/>
              </a:rPr>
              <a:t>Predict next-week (next 5 trading days) realized volatility </a:t>
            </a:r>
            <a:r>
              <a:rPr sz="2200" b="0" dirty="0">
                <a:solidFill>
                  <a:srgbClr val="1A1A2E"/>
                </a:solidFill>
                <a:latin typeface="Calibri"/>
              </a:rPr>
              <a:t>for S&amp;P 500-linked ETFs using only information known at the prediction date.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2200" b="1" dirty="0">
                <a:solidFill>
                  <a:srgbClr val="1A1A2E"/>
                </a:solidFill>
                <a:latin typeface="Calibri"/>
              </a:rPr>
              <a:t>Why it matters: </a:t>
            </a:r>
            <a:r>
              <a:rPr sz="2200" b="0" dirty="0">
                <a:solidFill>
                  <a:srgbClr val="1A1A2E"/>
                </a:solidFill>
                <a:latin typeface="Calibri"/>
              </a:rPr>
              <a:t>volatility drives position sizing, risk budgeting, drawdown control, and derivatives/risk-management pricing.</a:t>
            </a:r>
            <a:endParaRPr lang="en-US" sz="2200" b="1" dirty="0">
              <a:solidFill>
                <a:srgbClr val="00A8CC"/>
              </a:solidFill>
              <a:latin typeface="Calibri"/>
            </a:endParaRPr>
          </a:p>
          <a:p>
            <a:pPr>
              <a:spcAft>
                <a:spcPts val="200"/>
              </a:spcAft>
            </a:pPr>
            <a:endParaRPr lang="en-US" sz="2200" b="1" dirty="0">
              <a:solidFill>
                <a:srgbClr val="00A8CC"/>
              </a:solidFill>
              <a:latin typeface="Calibri"/>
            </a:endParaRPr>
          </a:p>
          <a:p>
            <a:pPr>
              <a:spcAft>
                <a:spcPts val="200"/>
              </a:spcAft>
            </a:pPr>
            <a:r>
              <a:rPr sz="2200" b="1" dirty="0">
                <a:solidFill>
                  <a:srgbClr val="00A8CC"/>
                </a:solidFill>
                <a:latin typeface="Calibri"/>
              </a:rPr>
              <a:t>Data Universe</a:t>
            </a:r>
          </a:p>
          <a:p>
            <a:pPr marL="285750" indent="-285750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sz="2200" b="1" dirty="0">
                <a:solidFill>
                  <a:srgbClr val="1A1A2E"/>
                </a:solidFill>
                <a:latin typeface="Calibri"/>
              </a:rPr>
              <a:t>36 ETF tickers</a:t>
            </a:r>
            <a:r>
              <a:rPr lang="en-US" sz="2200" b="1" dirty="0">
                <a:solidFill>
                  <a:srgbClr val="1A1A2E"/>
                </a:solidFill>
                <a:latin typeface="Calibri"/>
              </a:rPr>
              <a:t>:</a:t>
            </a:r>
            <a:r>
              <a:rPr sz="2200" b="1" dirty="0">
                <a:solidFill>
                  <a:srgbClr val="1A1A2E"/>
                </a:solidFill>
                <a:latin typeface="Calibri"/>
              </a:rPr>
              <a:t> </a:t>
            </a:r>
            <a:endParaRPr lang="en-US" sz="2200" b="1" dirty="0">
              <a:solidFill>
                <a:srgbClr val="1A1A2E"/>
              </a:solidFill>
              <a:latin typeface="Calibri"/>
            </a:endParaRPr>
          </a:p>
          <a:p>
            <a:pPr marL="742950" lvl="1" indent="-285750">
              <a:spcAft>
                <a:spcPts val="100"/>
              </a:spcAft>
              <a:buFont typeface="Wingdings" panose="05000000000000000000" pitchFamily="2" charset="2"/>
              <a:buChar char="Ø"/>
            </a:pPr>
            <a:r>
              <a:rPr sz="2200" b="0" dirty="0">
                <a:solidFill>
                  <a:srgbClr val="1A1A2E"/>
                </a:solidFill>
                <a:latin typeface="Calibri"/>
              </a:rPr>
              <a:t>S&amp;P 500 market proxy, </a:t>
            </a:r>
            <a:endParaRPr lang="en-US" sz="2200" dirty="0">
              <a:solidFill>
                <a:srgbClr val="1A1A2E"/>
              </a:solidFill>
              <a:latin typeface="Calibri"/>
            </a:endParaRPr>
          </a:p>
          <a:p>
            <a:pPr marL="742950" lvl="1" indent="-285750">
              <a:spcAft>
                <a:spcPts val="100"/>
              </a:spcAft>
              <a:buFont typeface="Wingdings" panose="05000000000000000000" pitchFamily="2" charset="2"/>
              <a:buChar char="Ø"/>
            </a:pPr>
            <a:r>
              <a:rPr sz="2200" b="0" dirty="0">
                <a:solidFill>
                  <a:srgbClr val="1A1A2E"/>
                </a:solidFill>
                <a:latin typeface="Calibri"/>
              </a:rPr>
              <a:t>sector ETFs, </a:t>
            </a:r>
            <a:endParaRPr lang="en-US" sz="2200" dirty="0">
              <a:solidFill>
                <a:srgbClr val="1A1A2E"/>
              </a:solidFill>
              <a:latin typeface="Calibri"/>
            </a:endParaRPr>
          </a:p>
          <a:p>
            <a:pPr marL="742950" lvl="1" indent="-285750">
              <a:spcAft>
                <a:spcPts val="100"/>
              </a:spcAft>
              <a:buFont typeface="Wingdings" panose="05000000000000000000" pitchFamily="2" charset="2"/>
              <a:buChar char="Ø"/>
            </a:pPr>
            <a:r>
              <a:rPr sz="2200" b="0" dirty="0">
                <a:solidFill>
                  <a:srgbClr val="1A1A2E"/>
                </a:solidFill>
                <a:latin typeface="Calibri"/>
              </a:rPr>
              <a:t>industry ETFs.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2200" b="1" dirty="0">
                <a:solidFill>
                  <a:srgbClr val="1A1A2E"/>
                </a:solidFill>
                <a:latin typeface="Calibri"/>
              </a:rPr>
              <a:t>6 macro/risk series for regime context: </a:t>
            </a:r>
            <a:endParaRPr lang="en-US" sz="2200" b="1" dirty="0">
              <a:solidFill>
                <a:srgbClr val="1A1A2E"/>
              </a:solidFill>
              <a:latin typeface="Calibri"/>
            </a:endParaRPr>
          </a:p>
          <a:p>
            <a:pPr marL="742950" lvl="1" indent="-285750"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en-US" sz="2200" b="0" dirty="0">
                <a:solidFill>
                  <a:srgbClr val="1A1A2E"/>
                </a:solidFill>
                <a:latin typeface="Calibri"/>
              </a:rPr>
              <a:t>3 month T-Bill yield</a:t>
            </a:r>
          </a:p>
          <a:p>
            <a:pPr marL="742950" lvl="1" indent="-285750"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en-US" sz="2200" b="0" dirty="0">
                <a:solidFill>
                  <a:srgbClr val="1A1A2E"/>
                </a:solidFill>
                <a:latin typeface="Calibri"/>
              </a:rPr>
              <a:t>10 year US bond yield</a:t>
            </a:r>
          </a:p>
          <a:p>
            <a:pPr marL="742950" lvl="1" indent="-285750"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sz="2200" b="0" dirty="0">
                <a:solidFill>
                  <a:srgbClr val="1A1A2E"/>
                </a:solidFill>
                <a:latin typeface="Calibri"/>
              </a:rPr>
              <a:t>US</a:t>
            </a:r>
            <a:r>
              <a:rPr lang="en-US" sz="2200" b="0" dirty="0">
                <a:solidFill>
                  <a:srgbClr val="1A1A2E"/>
                </a:solidFill>
                <a:latin typeface="Calibri"/>
              </a:rPr>
              <a:t> 10 year </a:t>
            </a:r>
            <a:r>
              <a:rPr lang="en-US" sz="2200" dirty="0">
                <a:solidFill>
                  <a:srgbClr val="1A1A2E"/>
                </a:solidFill>
                <a:latin typeface="Calibri"/>
              </a:rPr>
              <a:t>-</a:t>
            </a:r>
            <a:r>
              <a:rPr lang="en-US" sz="2200" b="0" dirty="0">
                <a:solidFill>
                  <a:srgbClr val="1A1A2E"/>
                </a:solidFill>
                <a:latin typeface="Calibri"/>
              </a:rPr>
              <a:t> month yield spread</a:t>
            </a:r>
          </a:p>
          <a:p>
            <a:pPr marL="742950" lvl="1" indent="-285750"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en-US" sz="2200" b="0" dirty="0">
                <a:solidFill>
                  <a:srgbClr val="1A1A2E"/>
                </a:solidFill>
                <a:latin typeface="Calibri"/>
              </a:rPr>
              <a:t>Gold spot price</a:t>
            </a:r>
          </a:p>
          <a:p>
            <a:pPr marL="742950" lvl="1" indent="-285750"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en-US" sz="2200" b="0" dirty="0">
                <a:solidFill>
                  <a:srgbClr val="1A1A2E"/>
                </a:solidFill>
                <a:latin typeface="Calibri"/>
              </a:rPr>
              <a:t>Oil spot price</a:t>
            </a:r>
            <a:endParaRPr lang="en-US" sz="2200" dirty="0">
              <a:solidFill>
                <a:srgbClr val="1A1A2E"/>
              </a:solidFill>
              <a:latin typeface="Calibri"/>
            </a:endParaRPr>
          </a:p>
          <a:p>
            <a:pPr marL="742950" lvl="1" indent="-285750"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sz="2200" b="0" dirty="0">
                <a:solidFill>
                  <a:srgbClr val="1A1A2E"/>
                </a:solidFill>
                <a:latin typeface="Calibri"/>
              </a:rPr>
              <a:t>VIX</a:t>
            </a:r>
          </a:p>
          <a:p>
            <a:pPr marL="285750" indent="-285750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sz="2200" b="1" dirty="0">
                <a:solidFill>
                  <a:srgbClr val="1A1A2E"/>
                </a:solidFill>
                <a:latin typeface="Calibri"/>
              </a:rPr>
              <a:t>Market (1): </a:t>
            </a:r>
            <a:r>
              <a:rPr sz="2200" b="0" dirty="0">
                <a:solidFill>
                  <a:srgbClr val="1A1A2E"/>
                </a:solidFill>
                <a:latin typeface="Calibri"/>
              </a:rPr>
              <a:t>SPY</a:t>
            </a:r>
          </a:p>
          <a:p>
            <a:pPr marL="285750" indent="-285750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sz="2200" b="1" dirty="0">
                <a:solidFill>
                  <a:srgbClr val="1A1A2E"/>
                </a:solidFill>
                <a:latin typeface="Calibri"/>
              </a:rPr>
              <a:t>Sector (13): </a:t>
            </a:r>
            <a:r>
              <a:rPr sz="2200" b="0" dirty="0">
                <a:solidFill>
                  <a:srgbClr val="1A1A2E"/>
                </a:solidFill>
                <a:latin typeface="Calibri"/>
              </a:rPr>
              <a:t>IYZ, VGT, XLB, XLC, XLE, XLF, XLI, XLK, XLP, XLRE, XLU, XLV, XLY</a:t>
            </a:r>
            <a:endParaRPr lang="en-US" sz="2200" b="0" dirty="0">
              <a:solidFill>
                <a:srgbClr val="1A1A2E"/>
              </a:solidFill>
              <a:latin typeface="Calibri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2200" b="1" dirty="0">
                <a:solidFill>
                  <a:srgbClr val="1A1A2E"/>
                </a:solidFill>
                <a:latin typeface="Calibri"/>
              </a:rPr>
              <a:t>Industry (22): </a:t>
            </a:r>
            <a:r>
              <a:rPr sz="2200" b="0" dirty="0">
                <a:solidFill>
                  <a:srgbClr val="1A1A2E"/>
                </a:solidFill>
                <a:latin typeface="Calibri"/>
              </a:rPr>
              <a:t>BEDZ, FTXG, KBE, KCE, KIE, KRE, PEJ, PNQI, PXQ, XAR, XBI, XES, XHB, XHE, XHS, XME, XOP, XPH, XSD, XSW, XTL, XTN</a:t>
            </a:r>
            <a:endParaRPr lang="en-US" sz="2200" b="1" dirty="0">
              <a:solidFill>
                <a:srgbClr val="00A8CC"/>
              </a:solidFill>
            </a:endParaRPr>
          </a:p>
          <a:p>
            <a:endParaRPr lang="en-US" sz="2200" b="1" dirty="0">
              <a:solidFill>
                <a:srgbClr val="00A8CC"/>
              </a:solidFill>
            </a:endParaRPr>
          </a:p>
          <a:p>
            <a:r>
              <a:rPr lang="en-US" sz="2200" b="1" dirty="0">
                <a:solidFill>
                  <a:srgbClr val="00A8CC"/>
                </a:solidFill>
              </a:rPr>
              <a:t>Prediction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1A1A2E"/>
                </a:solidFill>
              </a:rPr>
              <a:t>Transformer 1: </a:t>
            </a:r>
            <a:r>
              <a:rPr lang="en-US" sz="2200" dirty="0">
                <a:solidFill>
                  <a:srgbClr val="1A1A2E"/>
                </a:solidFill>
              </a:rPr>
              <a:t>Diogo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1A1A2E"/>
                </a:solidFill>
              </a:rPr>
              <a:t>Transformer 2: </a:t>
            </a:r>
            <a:r>
              <a:rPr lang="en-US" sz="2200" dirty="0">
                <a:solidFill>
                  <a:srgbClr val="1A1A2E"/>
                </a:solidFill>
              </a:rPr>
              <a:t>Ronald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1A1A2E"/>
                </a:solidFill>
              </a:rPr>
              <a:t>LSTM: </a:t>
            </a:r>
            <a:r>
              <a:rPr lang="en-US" sz="2200" dirty="0">
                <a:solidFill>
                  <a:srgbClr val="1A1A2E"/>
                </a:solidFill>
              </a:rPr>
              <a:t>Sid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1A1A2E"/>
                </a:solidFill>
              </a:rPr>
              <a:t>Elastic Net Regression: </a:t>
            </a:r>
            <a:r>
              <a:rPr lang="en-US" sz="2200" dirty="0">
                <a:solidFill>
                  <a:srgbClr val="1A1A2E"/>
                </a:solidFill>
              </a:rPr>
              <a:t>Vinit</a:t>
            </a:r>
            <a:endParaRPr sz="220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8A7C2B-6610-A068-F22A-20B8D98D043D}"/>
              </a:ext>
            </a:extLst>
          </p:cNvPr>
          <p:cNvSpPr txBox="1"/>
          <p:nvPr/>
        </p:nvSpPr>
        <p:spPr>
          <a:xfrm>
            <a:off x="7776514" y="4151321"/>
            <a:ext cx="184731" cy="3123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430" b="1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B58AC01-D69F-0961-3DB3-71446248FD7B}"/>
              </a:ext>
            </a:extLst>
          </p:cNvPr>
          <p:cNvSpPr/>
          <p:nvPr/>
        </p:nvSpPr>
        <p:spPr>
          <a:xfrm>
            <a:off x="3404375" y="835838"/>
            <a:ext cx="529698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800"/>
              </a:spcAft>
            </a:pPr>
            <a:r>
              <a:rPr lang="en-US" sz="2000" b="1" dirty="0">
                <a:solidFill>
                  <a:srgbClr val="00A8CC"/>
                </a:solidFill>
              </a:rPr>
              <a:t>Project Scope, Universe &amp; Model Lineup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5344706-2FDA-4EF5-FED1-46EE2344AF75}"/>
              </a:ext>
            </a:extLst>
          </p:cNvPr>
          <p:cNvSpPr/>
          <p:nvPr/>
        </p:nvSpPr>
        <p:spPr>
          <a:xfrm>
            <a:off x="3404376" y="1152144"/>
            <a:ext cx="4217802" cy="0"/>
          </a:xfrm>
          <a:prstGeom prst="line">
            <a:avLst/>
          </a:prstGeom>
          <a:noFill/>
          <a:ln w="15240">
            <a:solidFill>
              <a:srgbClr val="08A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69AACFBE-0627-E569-226C-EBF28D4C041A}"/>
              </a:ext>
            </a:extLst>
          </p:cNvPr>
          <p:cNvSpPr/>
          <p:nvPr/>
        </p:nvSpPr>
        <p:spPr>
          <a:xfrm>
            <a:off x="329184" y="6615684"/>
            <a:ext cx="6217920" cy="1900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AAAACC"/>
                </a:solidFill>
              </a:rPr>
              <a:t>DATASCI 207  ·  Final Project: Forecasting Volatility In Stock Market  ·  March 2026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520621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18">
            <a:extLst>
              <a:ext uri="{FF2B5EF4-FFF2-40B4-BE49-F238E27FC236}">
                <a16:creationId xmlns:a16="http://schemas.microsoft.com/office/drawing/2014/main" id="{FC7D3787-6746-4327-3D79-5236943008D3}"/>
              </a:ext>
            </a:extLst>
          </p:cNvPr>
          <p:cNvSpPr/>
          <p:nvPr/>
        </p:nvSpPr>
        <p:spPr>
          <a:xfrm>
            <a:off x="502920" y="5432488"/>
            <a:ext cx="11173968" cy="1014032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5875">
            <a:solidFill>
              <a:srgbClr val="C8D5E6"/>
            </a:solidFill>
            <a:prstDash val="solid"/>
          </a:ln>
          <a:effectLst>
            <a:outerShdw blurRad="12700" dist="50800" dir="2700000" algn="bl" rotWithShape="0">
              <a:srgbClr val="D9E3F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2445"/>
          </a:solidFill>
          <a:ln w="12700">
            <a:solidFill>
              <a:srgbClr val="0B24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20624" y="15544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Dataset Description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445"/>
          </a:solidFill>
          <a:ln w="12700">
            <a:solidFill>
              <a:srgbClr val="0B24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9184" y="6615684"/>
            <a:ext cx="6217920" cy="1900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AAAACC"/>
                </a:solidFill>
              </a:rPr>
              <a:t>DATASCI 207  ·  Final Project: Forecasting Volatility In Stock Market  ·  March 2026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093682" y="728907"/>
            <a:ext cx="40655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A3C7"/>
                </a:solidFill>
                <a:ea typeface="Arial" pitchFamily="34" charset="-122"/>
                <a:cs typeface="Arial" pitchFamily="34" charset="-120"/>
              </a:rPr>
              <a:t>Data Source: Downloads from FactSet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 flipV="1">
            <a:off x="4114799" y="1003881"/>
            <a:ext cx="3968495" cy="45720"/>
          </a:xfrm>
          <a:prstGeom prst="line">
            <a:avLst/>
          </a:prstGeom>
          <a:noFill/>
          <a:ln w="15240">
            <a:solidFill>
              <a:srgbClr val="08A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1284732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5875">
            <a:solidFill>
              <a:srgbClr val="C8D5E6"/>
            </a:solidFill>
            <a:prstDash val="solid"/>
          </a:ln>
          <a:effectLst>
            <a:outerShdw blurRad="12700" dist="50800" dir="2700000" algn="bl" rotWithShape="0">
              <a:srgbClr val="D9E3F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9224" y="1374213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E9F8FC"/>
          </a:solidFill>
          <a:ln w="12700">
            <a:solidFill>
              <a:srgbClr val="E9F8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13232" y="1465802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445"/>
                </a:solidFill>
                <a:ea typeface="Arial" pitchFamily="34" charset="-122"/>
                <a:cs typeface="Arial" pitchFamily="34" charset="-120"/>
              </a:rPr>
              <a:t>Observation &amp; files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04088" y="1815084"/>
            <a:ext cx="3273552" cy="1307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2445"/>
                </a:solidFill>
                <a:ea typeface="Arial" pitchFamily="34" charset="-122"/>
                <a:cs typeface="Arial" pitchFamily="34" charset="-120"/>
              </a:rPr>
              <a:t>• </a:t>
            </a:r>
            <a:r>
              <a:rPr lang="en-US" sz="1400" dirty="0">
                <a:solidFill>
                  <a:srgbClr val="1F2A44"/>
                </a:solidFill>
                <a:ea typeface="Arial" pitchFamily="34" charset="-122"/>
                <a:cs typeface="Arial" pitchFamily="34" charset="-120"/>
              </a:rPr>
              <a:t>1 row = 1 instrument on 1 trading date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B2445"/>
                </a:solidFill>
                <a:ea typeface="Arial" pitchFamily="34" charset="-122"/>
                <a:cs typeface="Arial" pitchFamily="34" charset="-120"/>
              </a:rPr>
              <a:t>• </a:t>
            </a:r>
            <a:r>
              <a:rPr lang="en-US" sz="1400" dirty="0">
                <a:solidFill>
                  <a:srgbClr val="1F2A44"/>
                </a:solidFill>
                <a:ea typeface="Arial" pitchFamily="34" charset="-122"/>
                <a:cs typeface="Arial" pitchFamily="34" charset="-120"/>
              </a:rPr>
              <a:t>Natural primary key: (ticker, date)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B2445"/>
                </a:solidFill>
                <a:ea typeface="Arial" pitchFamily="34" charset="-122"/>
                <a:cs typeface="Arial" pitchFamily="34" charset="-120"/>
              </a:rPr>
              <a:t>• </a:t>
            </a:r>
            <a:r>
              <a:rPr lang="en-US" sz="1400" dirty="0">
                <a:solidFill>
                  <a:srgbClr val="1F2A44"/>
                </a:solidFill>
                <a:ea typeface="Arial" pitchFamily="34" charset="-122"/>
                <a:cs typeface="Arial" pitchFamily="34" charset="-120"/>
              </a:rPr>
              <a:t>Dates are trading dates, not calendar dates</a:t>
            </a:r>
            <a:endParaRPr lang="en-US" sz="1400" dirty="0"/>
          </a:p>
          <a:p>
            <a:r>
              <a:rPr lang="en-US" sz="1400" b="1" dirty="0">
                <a:solidFill>
                  <a:srgbClr val="0B2445"/>
                </a:solidFill>
                <a:ea typeface="Arial" pitchFamily="34" charset="-122"/>
                <a:cs typeface="Arial" pitchFamily="34" charset="-120"/>
              </a:rPr>
              <a:t>• </a:t>
            </a:r>
            <a:r>
              <a:rPr lang="en-US" sz="1400" dirty="0">
                <a:solidFill>
                  <a:srgbClr val="1F2A44"/>
                </a:solidFill>
                <a:ea typeface="Arial" pitchFamily="34" charset="-122"/>
                <a:cs typeface="Arial" pitchFamily="34" charset="-120"/>
              </a:rPr>
              <a:t>XLSX for review</a:t>
            </a:r>
          </a:p>
          <a:p>
            <a:r>
              <a:rPr lang="en-US" sz="1400" b="1" dirty="0">
                <a:solidFill>
                  <a:srgbClr val="0B2445"/>
                </a:solidFill>
                <a:ea typeface="Arial" pitchFamily="34" charset="-122"/>
                <a:cs typeface="Arial" pitchFamily="34" charset="-120"/>
              </a:rPr>
              <a:t>• </a:t>
            </a:r>
            <a:r>
              <a:rPr lang="en-US" sz="1400" dirty="0">
                <a:solidFill>
                  <a:srgbClr val="1F2A44"/>
                </a:solidFill>
                <a:ea typeface="Arial" pitchFamily="34" charset="-122"/>
                <a:cs typeface="Arial" pitchFamily="34" charset="-120"/>
              </a:rPr>
              <a:t>Convert XLSX to CSV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61103" y="1287345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5875">
            <a:solidFill>
              <a:srgbClr val="C8D5E6"/>
            </a:solidFill>
            <a:prstDash val="solid"/>
          </a:ln>
          <a:effectLst>
            <a:outerShdw blurRad="12700" dist="50800" dir="2700000" algn="bl" rotWithShape="0">
              <a:srgbClr val="D9E3F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389119" y="1376172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E9F8FC"/>
          </a:solidFill>
          <a:ln w="12700">
            <a:solidFill>
              <a:srgbClr val="E9F8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462271" y="1474797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445"/>
                </a:solidFill>
                <a:ea typeface="Arial" pitchFamily="34" charset="-122"/>
                <a:cs typeface="Arial" pitchFamily="34" charset="-120"/>
              </a:rPr>
              <a:t>Coverage &amp; universe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62271" y="1817697"/>
            <a:ext cx="3273552" cy="1307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2445"/>
                </a:solidFill>
                <a:ea typeface="Arial" pitchFamily="34" charset="-122"/>
                <a:cs typeface="Arial" pitchFamily="34" charset="-120"/>
              </a:rPr>
              <a:t>• </a:t>
            </a:r>
            <a:r>
              <a:rPr lang="en-US" sz="1400" dirty="0">
                <a:solidFill>
                  <a:srgbClr val="1F2A44"/>
                </a:solidFill>
                <a:ea typeface="Arial" pitchFamily="34" charset="-122"/>
                <a:cs typeface="Arial" pitchFamily="34" charset="-120"/>
              </a:rPr>
              <a:t>116,525 rows × 18 columns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B2445"/>
                </a:solidFill>
                <a:ea typeface="Arial" pitchFamily="34" charset="-122"/>
                <a:cs typeface="Arial" pitchFamily="34" charset="-120"/>
              </a:rPr>
              <a:t>• </a:t>
            </a:r>
            <a:r>
              <a:rPr lang="en-US" sz="1400" dirty="0">
                <a:solidFill>
                  <a:srgbClr val="1F2A44"/>
                </a:solidFill>
                <a:ea typeface="Arial" pitchFamily="34" charset="-122"/>
                <a:cs typeface="Arial" pitchFamily="34" charset="-120"/>
              </a:rPr>
              <a:t>Date range: 2014-12-31 to 2025-12-31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B2445"/>
                </a:solidFill>
                <a:ea typeface="Arial" pitchFamily="34" charset="-122"/>
                <a:cs typeface="Arial" pitchFamily="34" charset="-120"/>
              </a:rPr>
              <a:t>• </a:t>
            </a:r>
            <a:r>
              <a:rPr lang="en-US" sz="1400" dirty="0">
                <a:solidFill>
                  <a:srgbClr val="1F2A44"/>
                </a:solidFill>
                <a:ea typeface="Arial" pitchFamily="34" charset="-122"/>
                <a:cs typeface="Arial" pitchFamily="34" charset="-120"/>
              </a:rPr>
              <a:t>42 total tickers = 36 ETFs + 6 macro/risk series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B2445"/>
                </a:solidFill>
                <a:ea typeface="Arial" pitchFamily="34" charset="-122"/>
                <a:cs typeface="Arial" pitchFamily="34" charset="-120"/>
              </a:rPr>
              <a:t>• </a:t>
            </a:r>
            <a:r>
              <a:rPr lang="en-US" sz="1400" dirty="0">
                <a:solidFill>
                  <a:srgbClr val="1F2A44"/>
                </a:solidFill>
                <a:ea typeface="Arial" pitchFamily="34" charset="-122"/>
                <a:cs typeface="Arial" pitchFamily="34" charset="-120"/>
              </a:rPr>
              <a:t>ETF labels support market / sector / industry subgroup analysis</a:t>
            </a:r>
            <a:endParaRPr lang="en-US" sz="1400" dirty="0"/>
          </a:p>
          <a:p>
            <a:pPr marL="0" indent="0">
              <a:buNone/>
            </a:pPr>
            <a:endParaRPr lang="en-US" sz="1160" dirty="0"/>
          </a:p>
        </p:txBody>
      </p:sp>
      <p:sp>
        <p:nvSpPr>
          <p:cNvPr id="16" name="Shape 14"/>
          <p:cNvSpPr/>
          <p:nvPr/>
        </p:nvSpPr>
        <p:spPr>
          <a:xfrm>
            <a:off x="8019286" y="1287345"/>
            <a:ext cx="363931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5875">
            <a:solidFill>
              <a:srgbClr val="C8D5E6"/>
            </a:solidFill>
            <a:prstDash val="solid"/>
          </a:ln>
          <a:effectLst>
            <a:outerShdw blurRad="12700" dist="50800" dir="2700000" algn="bl" rotWithShape="0">
              <a:srgbClr val="D9E3F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092438" y="1376172"/>
            <a:ext cx="2057400" cy="347472"/>
          </a:xfrm>
          <a:prstGeom prst="roundRect">
            <a:avLst>
              <a:gd name="adj" fmla="val 13158"/>
            </a:avLst>
          </a:prstGeom>
          <a:solidFill>
            <a:srgbClr val="E9F8FC"/>
          </a:solidFill>
          <a:ln w="12700">
            <a:solidFill>
              <a:srgbClr val="E9F8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38742" y="1474797"/>
            <a:ext cx="1911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445"/>
                </a:solidFill>
                <a:ea typeface="Arial" pitchFamily="34" charset="-122"/>
                <a:cs typeface="Arial" pitchFamily="34" charset="-120"/>
              </a:rPr>
              <a:t>Core modeling fields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19869" y="1817697"/>
            <a:ext cx="3438145" cy="1362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2445"/>
                </a:solidFill>
                <a:ea typeface="Arial" pitchFamily="34" charset="-122"/>
                <a:cs typeface="Arial" pitchFamily="34" charset="-120"/>
              </a:rPr>
              <a:t>• </a:t>
            </a:r>
            <a:r>
              <a:rPr lang="en-US" sz="1400" dirty="0">
                <a:solidFill>
                  <a:srgbClr val="1F2A44"/>
                </a:solidFill>
                <a:ea typeface="Arial" pitchFamily="34" charset="-122"/>
                <a:cs typeface="Arial" pitchFamily="34" charset="-120"/>
              </a:rPr>
              <a:t>Price/volume: adjusted close, volume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B2445"/>
                </a:solidFill>
                <a:ea typeface="Arial" pitchFamily="34" charset="-122"/>
                <a:cs typeface="Arial" pitchFamily="34" charset="-120"/>
              </a:rPr>
              <a:t>• </a:t>
            </a:r>
            <a:r>
              <a:rPr lang="en-US" sz="1400" dirty="0">
                <a:solidFill>
                  <a:srgbClr val="1F2A44"/>
                </a:solidFill>
                <a:ea typeface="Arial" pitchFamily="34" charset="-122"/>
                <a:cs typeface="Arial" pitchFamily="34" charset="-120"/>
              </a:rPr>
              <a:t>Volatility: trailing 5 day and 20 day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B2445"/>
                </a:solidFill>
                <a:ea typeface="Arial" pitchFamily="34" charset="-122"/>
                <a:cs typeface="Arial" pitchFamily="34" charset="-120"/>
              </a:rPr>
              <a:t>• </a:t>
            </a:r>
            <a:r>
              <a:rPr lang="en-US" sz="1400" dirty="0">
                <a:solidFill>
                  <a:srgbClr val="1F2A44"/>
                </a:solidFill>
                <a:ea typeface="Arial" pitchFamily="34" charset="-122"/>
                <a:cs typeface="Arial" pitchFamily="34" charset="-120"/>
              </a:rPr>
              <a:t>Target: forward 5 day volatility 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0B2445"/>
                </a:solidFill>
                <a:ea typeface="Arial" pitchFamily="34" charset="-122"/>
                <a:cs typeface="Arial" pitchFamily="34" charset="-120"/>
              </a:rPr>
              <a:t>• </a:t>
            </a:r>
            <a:r>
              <a:rPr lang="en-US" sz="1400" dirty="0">
                <a:solidFill>
                  <a:srgbClr val="1F2A44"/>
                </a:solidFill>
                <a:ea typeface="Arial" pitchFamily="34" charset="-122"/>
                <a:cs typeface="Arial" pitchFamily="34" charset="-120"/>
              </a:rPr>
              <a:t>Groups:  market, sector, industry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9016" y="3346704"/>
            <a:ext cx="11173968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5875">
            <a:solidFill>
              <a:srgbClr val="C8D5E6"/>
            </a:solidFill>
            <a:prstDash val="solid"/>
          </a:ln>
          <a:effectLst>
            <a:outerShdw blurRad="12700" dist="50800" dir="2700000" algn="bl" rotWithShape="0">
              <a:srgbClr val="D9E3F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55320" y="3465576"/>
            <a:ext cx="2359152" cy="347472"/>
          </a:xfrm>
          <a:prstGeom prst="roundRect">
            <a:avLst>
              <a:gd name="adj" fmla="val 13158"/>
            </a:avLst>
          </a:prstGeom>
          <a:solidFill>
            <a:srgbClr val="E9F8FC"/>
          </a:solidFill>
          <a:ln w="12700">
            <a:solidFill>
              <a:srgbClr val="E9F8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7616" y="352501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445"/>
                </a:solidFill>
                <a:ea typeface="Arial" pitchFamily="34" charset="-122"/>
                <a:cs typeface="Arial" pitchFamily="34" charset="-120"/>
              </a:rPr>
              <a:t>How the data is stored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4192" y="3895344"/>
            <a:ext cx="10424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445"/>
                </a:solidFill>
                <a:ea typeface="Arial" pitchFamily="34" charset="-122"/>
                <a:cs typeface="Arial" pitchFamily="34" charset="-120"/>
              </a:rPr>
              <a:t>Long-format source table: </a:t>
            </a:r>
            <a:r>
              <a:rPr lang="en-US" sz="1400" dirty="0">
                <a:solidFill>
                  <a:srgbClr val="1F2A44"/>
                </a:solidFill>
                <a:ea typeface="Arial" pitchFamily="34" charset="-122"/>
                <a:cs typeface="Arial" pitchFamily="34" charset="-120"/>
              </a:rPr>
              <a:t>all ETFs and the 6 macro/risk series are stacked in one table keyed by </a:t>
            </a:r>
            <a:r>
              <a:rPr lang="en-US" sz="1400" i="1" dirty="0">
                <a:solidFill>
                  <a:srgbClr val="1F2A44"/>
                </a:solidFill>
                <a:ea typeface="Arial" pitchFamily="34" charset="-122"/>
                <a:cs typeface="Arial" pitchFamily="34" charset="-120"/>
              </a:rPr>
              <a:t>(ticker, date).</a:t>
            </a:r>
            <a:r>
              <a:rPr lang="en-US" sz="1400" dirty="0">
                <a:solidFill>
                  <a:srgbClr val="1F2A44"/>
                </a:solidFill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085088" y="4645152"/>
            <a:ext cx="2331720" cy="566928"/>
          </a:xfrm>
          <a:prstGeom prst="roundRect">
            <a:avLst>
              <a:gd name="adj" fmla="val 6452"/>
            </a:avLst>
          </a:prstGeom>
          <a:solidFill>
            <a:srgbClr val="F6F9FD"/>
          </a:solidFill>
          <a:ln w="14605">
            <a:solidFill>
              <a:srgbClr val="C8D5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158240" y="4809744"/>
            <a:ext cx="2185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A44"/>
                </a:solidFill>
                <a:ea typeface="Arial" pitchFamily="34" charset="-122"/>
                <a:cs typeface="Arial" pitchFamily="34" charset="-120"/>
              </a:rPr>
              <a:t>1. Filter 6 macro tickers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480816" y="4901184"/>
            <a:ext cx="146304" cy="201168"/>
          </a:xfrm>
          <a:prstGeom prst="chevron">
            <a:avLst/>
          </a:prstGeom>
          <a:solidFill>
            <a:srgbClr val="08A3C7"/>
          </a:solidFill>
          <a:ln w="12700">
            <a:solidFill>
              <a:srgbClr val="08A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736848" y="4645152"/>
            <a:ext cx="2331720" cy="566928"/>
          </a:xfrm>
          <a:prstGeom prst="roundRect">
            <a:avLst>
              <a:gd name="adj" fmla="val 6452"/>
            </a:avLst>
          </a:prstGeom>
          <a:solidFill>
            <a:srgbClr val="F6F9FD"/>
          </a:solidFill>
          <a:ln w="14605">
            <a:solidFill>
              <a:srgbClr val="C8D5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810000" y="4809744"/>
            <a:ext cx="2185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A44"/>
                </a:solidFill>
                <a:ea typeface="Arial" pitchFamily="34" charset="-122"/>
                <a:cs typeface="Arial" pitchFamily="34" charset="-120"/>
              </a:rPr>
              <a:t>2. Pivot long → wide by date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126480" y="5047488"/>
            <a:ext cx="146304" cy="201168"/>
          </a:xfrm>
          <a:prstGeom prst="chevron">
            <a:avLst/>
          </a:prstGeom>
          <a:solidFill>
            <a:srgbClr val="08A3C7"/>
          </a:solidFill>
          <a:ln w="12700">
            <a:solidFill>
              <a:srgbClr val="08A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388608" y="4645152"/>
            <a:ext cx="2331720" cy="566928"/>
          </a:xfrm>
          <a:prstGeom prst="roundRect">
            <a:avLst>
              <a:gd name="adj" fmla="val 6452"/>
            </a:avLst>
          </a:prstGeom>
          <a:solidFill>
            <a:srgbClr val="F6F9FD"/>
          </a:solidFill>
          <a:ln w="14605">
            <a:solidFill>
              <a:srgbClr val="C8D5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61760" y="4809744"/>
            <a:ext cx="2185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A44"/>
                </a:solidFill>
                <a:ea typeface="Arial" pitchFamily="34" charset="-122"/>
                <a:cs typeface="Arial" pitchFamily="34" charset="-120"/>
              </a:rPr>
              <a:t>3. Left-join onto ETF panel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784336" y="4901184"/>
            <a:ext cx="146304" cy="201168"/>
          </a:xfrm>
          <a:prstGeom prst="chevron">
            <a:avLst/>
          </a:prstGeom>
          <a:solidFill>
            <a:srgbClr val="08A3C7"/>
          </a:solidFill>
          <a:ln w="12700">
            <a:solidFill>
              <a:srgbClr val="08A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9040368" y="4645152"/>
            <a:ext cx="2331720" cy="566928"/>
          </a:xfrm>
          <a:prstGeom prst="roundRect">
            <a:avLst>
              <a:gd name="adj" fmla="val 6452"/>
            </a:avLst>
          </a:prstGeom>
          <a:solidFill>
            <a:srgbClr val="DFF3FA"/>
          </a:solidFill>
          <a:ln w="14605">
            <a:solidFill>
              <a:srgbClr val="08A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113520" y="4809744"/>
            <a:ext cx="2185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A44"/>
                </a:solidFill>
                <a:ea typeface="Arial" pitchFamily="34" charset="-122"/>
                <a:cs typeface="Arial" pitchFamily="34" charset="-120"/>
              </a:rPr>
              <a:t>4. Modeling-ready panel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49224" y="5673335"/>
            <a:ext cx="10735056" cy="661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ea typeface="Arial" pitchFamily="34" charset="-122"/>
              <a:cs typeface="Arial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ea typeface="Arial" pitchFamily="34" charset="-122"/>
                <a:cs typeface="Arial" pitchFamily="34" charset="-120"/>
              </a:rPr>
              <a:t>trailing features end at time t, while the prediction target is next-week realized volatility over t+1 to t+5.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ea typeface="Arial" pitchFamily="34" charset="-122"/>
                <a:cs typeface="Arial" pitchFamily="34" charset="-120"/>
              </a:rPr>
              <a:t>This preserves a strict no-look-ahead design.</a:t>
            </a:r>
            <a:endParaRPr lang="en-US" sz="1400" dirty="0"/>
          </a:p>
        </p:txBody>
      </p:sp>
      <p:sp>
        <p:nvSpPr>
          <p:cNvPr id="38" name="Shape 19">
            <a:extLst>
              <a:ext uri="{FF2B5EF4-FFF2-40B4-BE49-F238E27FC236}">
                <a16:creationId xmlns:a16="http://schemas.microsoft.com/office/drawing/2014/main" id="{CB86D98C-0980-79FA-92CF-BDD0E780C443}"/>
              </a:ext>
            </a:extLst>
          </p:cNvPr>
          <p:cNvSpPr/>
          <p:nvPr/>
        </p:nvSpPr>
        <p:spPr>
          <a:xfrm>
            <a:off x="649224" y="5517887"/>
            <a:ext cx="2359152" cy="347472"/>
          </a:xfrm>
          <a:prstGeom prst="roundRect">
            <a:avLst>
              <a:gd name="adj" fmla="val 13158"/>
            </a:avLst>
          </a:prstGeom>
          <a:solidFill>
            <a:srgbClr val="E9F8FC"/>
          </a:solidFill>
          <a:ln w="12700">
            <a:solidFill>
              <a:srgbClr val="E9F8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20">
            <a:extLst>
              <a:ext uri="{FF2B5EF4-FFF2-40B4-BE49-F238E27FC236}">
                <a16:creationId xmlns:a16="http://schemas.microsoft.com/office/drawing/2014/main" id="{981FE59C-ACDE-9CDE-6C03-632FB9B479DB}"/>
              </a:ext>
            </a:extLst>
          </p:cNvPr>
          <p:cNvSpPr/>
          <p:nvPr/>
        </p:nvSpPr>
        <p:spPr>
          <a:xfrm>
            <a:off x="704088" y="5599231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445"/>
                </a:solidFill>
                <a:ea typeface="Arial" pitchFamily="34" charset="-122"/>
                <a:cs typeface="Arial" pitchFamily="34" charset="-120"/>
              </a:rPr>
              <a:t>Key modeling convention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2445"/>
          </a:solidFill>
          <a:ln w="12700">
            <a:solidFill>
              <a:srgbClr val="0B24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20624" y="155448"/>
            <a:ext cx="11338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EDA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445"/>
          </a:solidFill>
          <a:ln w="12700">
            <a:solidFill>
              <a:srgbClr val="0B24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559040" y="822960"/>
            <a:ext cx="23382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A3C7"/>
                </a:solidFill>
                <a:ea typeface="Arial" pitchFamily="34" charset="-122"/>
                <a:cs typeface="Arial" pitchFamily="34" charset="-120"/>
              </a:rPr>
              <a:t>Outputs &amp; Plots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905445" y="1152144"/>
            <a:ext cx="1643637" cy="0"/>
          </a:xfrm>
          <a:prstGeom prst="line">
            <a:avLst/>
          </a:prstGeom>
          <a:noFill/>
          <a:ln w="15240">
            <a:solidFill>
              <a:srgbClr val="08A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1417320"/>
            <a:ext cx="4709160" cy="498348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5875">
            <a:solidFill>
              <a:srgbClr val="C8D5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67512" y="1563624"/>
            <a:ext cx="4379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A3C7"/>
                </a:solidFill>
                <a:ea typeface="Arial" pitchFamily="34" charset="-122"/>
                <a:cs typeface="Arial" pitchFamily="34" charset="-120"/>
              </a:rPr>
              <a:t>All EDA tests/checks performed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7512" y="1837944"/>
            <a:ext cx="2098548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SzPct val="100000"/>
            </a:pPr>
            <a:r>
              <a:rPr lang="en-US" sz="1200" dirty="0">
                <a:solidFill>
                  <a:srgbClr val="1F2A44"/>
                </a:solidFill>
                <a:ea typeface="Arial" pitchFamily="34" charset="-122"/>
                <a:cs typeface="Arial" pitchFamily="34" charset="-120"/>
              </a:rPr>
              <a:t>1) </a:t>
            </a:r>
            <a:r>
              <a:rPr lang="en-US" sz="1200" b="1" dirty="0">
                <a:solidFill>
                  <a:srgbClr val="1F2A44"/>
                </a:solidFill>
                <a:ea typeface="Arial" pitchFamily="34" charset="-122"/>
                <a:cs typeface="Arial" pitchFamily="34" charset="-120"/>
              </a:rPr>
              <a:t>Load + robust date parse </a:t>
            </a:r>
            <a:r>
              <a:rPr lang="en-US" sz="1200" dirty="0">
                <a:solidFill>
                  <a:srgbClr val="1F2A44"/>
                </a:solidFill>
                <a:ea typeface="Arial" pitchFamily="34" charset="-122"/>
                <a:cs typeface="Arial" pitchFamily="34" charset="-120"/>
              </a:rPr>
              <a:t>+ canonical (ticker, date) sort</a:t>
            </a:r>
          </a:p>
          <a:p>
            <a:pPr>
              <a:buSzPct val="100000"/>
            </a:pPr>
            <a:endParaRPr lang="en-US" sz="1200" dirty="0"/>
          </a:p>
          <a:p>
            <a:pPr>
              <a:buSzPct val="100000"/>
            </a:pPr>
            <a:r>
              <a:rPr lang="en-US" sz="1200" dirty="0">
                <a:solidFill>
                  <a:srgbClr val="1F2A44"/>
                </a:solidFill>
                <a:ea typeface="Arial" pitchFamily="34" charset="-122"/>
                <a:cs typeface="Arial" pitchFamily="34" charset="-120"/>
              </a:rPr>
              <a:t>2) </a:t>
            </a:r>
            <a:r>
              <a:rPr lang="en-US" sz="1200" b="1" dirty="0">
                <a:solidFill>
                  <a:srgbClr val="1F2A44"/>
                </a:solidFill>
                <a:ea typeface="Arial" pitchFamily="34" charset="-122"/>
                <a:cs typeface="Arial" pitchFamily="34" charset="-120"/>
              </a:rPr>
              <a:t>Panel integrity</a:t>
            </a:r>
            <a:r>
              <a:rPr lang="en-US" sz="1200" dirty="0">
                <a:solidFill>
                  <a:srgbClr val="1F2A44"/>
                </a:solidFill>
                <a:ea typeface="Arial" pitchFamily="34" charset="-122"/>
                <a:cs typeface="Arial" pitchFamily="34" charset="-120"/>
              </a:rPr>
              <a:t>: duplicate key check; per-ticker monotone dates</a:t>
            </a:r>
          </a:p>
          <a:p>
            <a:pPr marL="228600" indent="-228600">
              <a:buSzPct val="100000"/>
              <a:buChar char="•"/>
            </a:pPr>
            <a:endParaRPr lang="en-US" sz="1200" dirty="0"/>
          </a:p>
          <a:p>
            <a:pPr>
              <a:buSzPct val="100000"/>
            </a:pPr>
            <a:r>
              <a:rPr lang="en-US" sz="1200" dirty="0">
                <a:solidFill>
                  <a:srgbClr val="1F2A44"/>
                </a:solidFill>
                <a:ea typeface="Arial" pitchFamily="34" charset="-122"/>
                <a:cs typeface="Arial" pitchFamily="34" charset="-120"/>
              </a:rPr>
              <a:t>3) </a:t>
            </a:r>
            <a:r>
              <a:rPr lang="en-US" sz="1200" b="1" dirty="0">
                <a:solidFill>
                  <a:srgbClr val="1F2A44"/>
                </a:solidFill>
                <a:ea typeface="Arial" pitchFamily="34" charset="-122"/>
                <a:cs typeface="Arial" pitchFamily="34" charset="-120"/>
              </a:rPr>
              <a:t>Coverage</a:t>
            </a:r>
            <a:r>
              <a:rPr lang="en-US" sz="1200" b="1" dirty="0">
                <a:ea typeface="Arial" pitchFamily="34" charset="-122"/>
                <a:cs typeface="Arial" pitchFamily="34" charset="-120"/>
              </a:rPr>
              <a:t>: </a:t>
            </a:r>
            <a:r>
              <a:rPr lang="en-US" sz="1200" dirty="0">
                <a:ea typeface="Arial" pitchFamily="34" charset="-122"/>
                <a:cs typeface="Arial" pitchFamily="34" charset="-120"/>
              </a:rPr>
              <a:t>per-ticker </a:t>
            </a:r>
            <a:r>
              <a:rPr lang="en-US" sz="1200" dirty="0">
                <a:solidFill>
                  <a:srgbClr val="1F2A44"/>
                </a:solidFill>
                <a:ea typeface="Arial" pitchFamily="34" charset="-122"/>
                <a:cs typeface="Arial" pitchFamily="34" charset="-120"/>
              </a:rPr>
              <a:t>start/end and n_days table</a:t>
            </a:r>
          </a:p>
          <a:p>
            <a:pPr marL="228600" indent="-228600">
              <a:buSzPct val="100000"/>
              <a:buChar char="•"/>
            </a:pPr>
            <a:endParaRPr lang="en-US" sz="1200" dirty="0"/>
          </a:p>
          <a:p>
            <a:pPr>
              <a:buSzPct val="100000"/>
            </a:pPr>
            <a:r>
              <a:rPr lang="en-US" sz="1200" dirty="0">
                <a:solidFill>
                  <a:srgbClr val="1F2A44"/>
                </a:solidFill>
                <a:ea typeface="Arial" pitchFamily="34" charset="-122"/>
                <a:cs typeface="Arial" pitchFamily="34" charset="-120"/>
              </a:rPr>
              <a:t>4) </a:t>
            </a:r>
            <a:r>
              <a:rPr lang="en-US" sz="1200" b="1" dirty="0">
                <a:solidFill>
                  <a:srgbClr val="1F2A44"/>
                </a:solidFill>
                <a:ea typeface="Arial" pitchFamily="34" charset="-122"/>
                <a:cs typeface="Arial" pitchFamily="34" charset="-120"/>
              </a:rPr>
              <a:t>Gaps: </a:t>
            </a:r>
            <a:r>
              <a:rPr lang="en-US" sz="1200" dirty="0">
                <a:solidFill>
                  <a:srgbClr val="1F2A44"/>
                </a:solidFill>
                <a:ea typeface="Arial" pitchFamily="34" charset="-122"/>
                <a:cs typeface="Arial" pitchFamily="34" charset="-120"/>
              </a:rPr>
              <a:t>flag calendar gaps &gt; 10 days within ticker</a:t>
            </a:r>
          </a:p>
          <a:p>
            <a:pPr marL="228600" indent="-228600">
              <a:buSzPct val="100000"/>
              <a:buChar char="•"/>
            </a:pPr>
            <a:endParaRPr lang="en-US" sz="1200" dirty="0"/>
          </a:p>
          <a:p>
            <a:pPr>
              <a:buSzPct val="100000"/>
            </a:pPr>
            <a:r>
              <a:rPr lang="en-US" sz="1200" dirty="0">
                <a:solidFill>
                  <a:srgbClr val="1F2A44"/>
                </a:solidFill>
                <a:ea typeface="Arial" pitchFamily="34" charset="-122"/>
                <a:cs typeface="Arial" pitchFamily="34" charset="-120"/>
              </a:rPr>
              <a:t>5) </a:t>
            </a:r>
            <a:r>
              <a:rPr lang="en-US" sz="1200" b="1" dirty="0">
                <a:solidFill>
                  <a:srgbClr val="1F2A44"/>
                </a:solidFill>
                <a:ea typeface="Arial" pitchFamily="34" charset="-122"/>
                <a:cs typeface="Arial" pitchFamily="34" charset="-120"/>
              </a:rPr>
              <a:t>Missingness: </a:t>
            </a:r>
            <a:r>
              <a:rPr lang="en-US" sz="1200" dirty="0">
                <a:solidFill>
                  <a:srgbClr val="1F2A44"/>
                </a:solidFill>
                <a:ea typeface="Arial" pitchFamily="34" charset="-122"/>
                <a:cs typeface="Arial" pitchFamily="34" charset="-120"/>
              </a:rPr>
              <a:t>by-column rates + target missingness by ticker</a:t>
            </a:r>
          </a:p>
          <a:p>
            <a:pPr marL="228600" indent="-228600">
              <a:buSzPct val="100000"/>
              <a:buChar char="•"/>
            </a:pPr>
            <a:endParaRPr lang="en-US" sz="1200" dirty="0">
              <a:solidFill>
                <a:srgbClr val="1F2A44"/>
              </a:solidFill>
              <a:ea typeface="Arial" pitchFamily="34" charset="-122"/>
              <a:cs typeface="Arial" pitchFamily="34" charset="-120"/>
            </a:endParaRPr>
          </a:p>
          <a:p>
            <a:pPr>
              <a:buSzPct val="100000"/>
            </a:pPr>
            <a:r>
              <a:rPr lang="en-US" sz="1200" dirty="0">
                <a:solidFill>
                  <a:srgbClr val="1F2A44"/>
                </a:solidFill>
                <a:ea typeface="Arial" pitchFamily="34" charset="-122"/>
                <a:cs typeface="Arial" pitchFamily="34" charset="-120"/>
              </a:rPr>
              <a:t>6) </a:t>
            </a:r>
            <a:r>
              <a:rPr lang="en-US" sz="1200" b="1" dirty="0">
                <a:solidFill>
                  <a:srgbClr val="1F2A44"/>
                </a:solidFill>
                <a:ea typeface="Arial" pitchFamily="34" charset="-122"/>
                <a:cs typeface="Arial" pitchFamily="34" charset="-120"/>
              </a:rPr>
              <a:t>Macro sanity: </a:t>
            </a:r>
            <a:r>
              <a:rPr lang="en-US" sz="1200" dirty="0">
                <a:solidFill>
                  <a:srgbClr val="1F2A44"/>
                </a:solidFill>
                <a:ea typeface="Arial" pitchFamily="34" charset="-122"/>
                <a:cs typeface="Arial" pitchFamily="34" charset="-120"/>
              </a:rPr>
              <a:t>macro columns constant across tickers per date (</a:t>
            </a:r>
            <a:r>
              <a:rPr lang="en-US" sz="1200" dirty="0" err="1">
                <a:solidFill>
                  <a:srgbClr val="1F2A44"/>
                </a:solidFill>
                <a:ea typeface="Arial" pitchFamily="34" charset="-122"/>
                <a:cs typeface="Arial" pitchFamily="34" charset="-120"/>
              </a:rPr>
              <a:t>nunique</a:t>
            </a:r>
            <a:r>
              <a:rPr lang="en-US" sz="1200" dirty="0">
                <a:solidFill>
                  <a:srgbClr val="1F2A44"/>
                </a:solidFill>
                <a:ea typeface="Arial" pitchFamily="34" charset="-122"/>
                <a:cs typeface="Arial" pitchFamily="34" charset="-120"/>
              </a:rPr>
              <a:t>)</a:t>
            </a:r>
          </a:p>
          <a:p>
            <a:pPr marL="228600" indent="-228600">
              <a:buSzPct val="100000"/>
              <a:buChar char="•"/>
            </a:pPr>
            <a:endParaRPr lang="en-US" sz="1200" dirty="0"/>
          </a:p>
          <a:p>
            <a:pPr>
              <a:buSzPct val="100000"/>
            </a:pPr>
            <a:r>
              <a:rPr lang="en-US" sz="1200" dirty="0">
                <a:solidFill>
                  <a:srgbClr val="1F2A44"/>
                </a:solidFill>
                <a:ea typeface="Arial" pitchFamily="34" charset="-122"/>
                <a:cs typeface="Arial" pitchFamily="34" charset="-120"/>
              </a:rPr>
              <a:t>7) </a:t>
            </a:r>
            <a:r>
              <a:rPr lang="en-US" sz="1200" b="1" dirty="0">
                <a:solidFill>
                  <a:srgbClr val="1F2A44"/>
                </a:solidFill>
                <a:ea typeface="Arial" pitchFamily="34" charset="-122"/>
                <a:cs typeface="Arial" pitchFamily="34" charset="-120"/>
              </a:rPr>
              <a:t>Distribution EDA: </a:t>
            </a:r>
            <a:r>
              <a:rPr lang="en-US" sz="1200" dirty="0">
                <a:solidFill>
                  <a:srgbClr val="1F2A44"/>
                </a:solidFill>
                <a:ea typeface="Arial" pitchFamily="34" charset="-122"/>
                <a:cs typeface="Arial" pitchFamily="34" charset="-120"/>
              </a:rPr>
              <a:t>returns, log(volume), trailing vol (calc + FactSet), target</a:t>
            </a:r>
            <a:endParaRPr lang="en-US" sz="1200" dirty="0"/>
          </a:p>
          <a:p>
            <a:pPr>
              <a:buSzPct val="100000"/>
            </a:pP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48940" y="1837944"/>
            <a:ext cx="2098548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SzPct val="100000"/>
            </a:pPr>
            <a:r>
              <a:rPr lang="en-US" sz="1200" dirty="0">
                <a:solidFill>
                  <a:srgbClr val="1F2A44"/>
                </a:solidFill>
                <a:ea typeface="Arial" pitchFamily="34" charset="-122"/>
                <a:cs typeface="Arial" pitchFamily="34" charset="-120"/>
              </a:rPr>
              <a:t>8) </a:t>
            </a:r>
            <a:r>
              <a:rPr lang="en-US" sz="1200" b="1" dirty="0">
                <a:solidFill>
                  <a:srgbClr val="1F2A44"/>
                </a:solidFill>
                <a:ea typeface="Arial" pitchFamily="34" charset="-122"/>
                <a:cs typeface="Arial" pitchFamily="34" charset="-120"/>
              </a:rPr>
              <a:t>Single-ticker series</a:t>
            </a:r>
            <a:r>
              <a:rPr lang="en-US" sz="1200" dirty="0">
                <a:solidFill>
                  <a:srgbClr val="1F2A44"/>
                </a:solidFill>
                <a:ea typeface="Arial" pitchFamily="34" charset="-122"/>
                <a:cs typeface="Arial" pitchFamily="34" charset="-120"/>
              </a:rPr>
              <a:t>: price, returns, trailing vol, target + macro overlays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endParaRPr lang="en-US" sz="1200" dirty="0">
              <a:solidFill>
                <a:srgbClr val="1F2A44"/>
              </a:solidFill>
              <a:ea typeface="Arial" pitchFamily="34" charset="-122"/>
              <a:cs typeface="Arial" pitchFamily="34" charset="-120"/>
            </a:endParaRPr>
          </a:p>
          <a:p>
            <a:pPr>
              <a:buSzPct val="100000"/>
            </a:pPr>
            <a:r>
              <a:rPr lang="en-US" sz="1200" dirty="0">
                <a:solidFill>
                  <a:srgbClr val="1F2A44"/>
                </a:solidFill>
                <a:ea typeface="Arial" pitchFamily="34" charset="-122"/>
                <a:cs typeface="Arial" pitchFamily="34" charset="-120"/>
              </a:rPr>
              <a:t>9) </a:t>
            </a:r>
            <a:r>
              <a:rPr lang="en-US" sz="1200" b="1" dirty="0">
                <a:solidFill>
                  <a:srgbClr val="1F2A44"/>
                </a:solidFill>
                <a:ea typeface="Arial" pitchFamily="34" charset="-122"/>
                <a:cs typeface="Arial" pitchFamily="34" charset="-120"/>
              </a:rPr>
              <a:t>ACF diagnostics: </a:t>
            </a:r>
            <a:r>
              <a:rPr lang="en-US" sz="1200" dirty="0">
                <a:solidFill>
                  <a:srgbClr val="1F2A44"/>
                </a:solidFill>
                <a:ea typeface="Arial" pitchFamily="34" charset="-122"/>
                <a:cs typeface="Arial" pitchFamily="34" charset="-120"/>
              </a:rPr>
              <a:t>returns vs squared returns vs target forward vol</a:t>
            </a:r>
          </a:p>
          <a:p>
            <a:pPr marL="228600" indent="-228600">
              <a:buSzPct val="100000"/>
              <a:buChar char="•"/>
            </a:pPr>
            <a:endParaRPr lang="en-US" sz="1200" dirty="0"/>
          </a:p>
          <a:p>
            <a:pPr>
              <a:buSzPct val="100000"/>
            </a:pPr>
            <a:r>
              <a:rPr lang="en-US" sz="1200" dirty="0">
                <a:solidFill>
                  <a:srgbClr val="1F2A44"/>
                </a:solidFill>
                <a:ea typeface="Arial" pitchFamily="34" charset="-122"/>
                <a:cs typeface="Arial" pitchFamily="34" charset="-120"/>
              </a:rPr>
              <a:t>10) </a:t>
            </a:r>
            <a:r>
              <a:rPr lang="en-US" sz="1200" b="1" dirty="0">
                <a:solidFill>
                  <a:srgbClr val="1F2A44"/>
                </a:solidFill>
                <a:ea typeface="Arial" pitchFamily="34" charset="-122"/>
                <a:cs typeface="Arial" pitchFamily="34" charset="-120"/>
              </a:rPr>
              <a:t>Feature–target checks: </a:t>
            </a:r>
            <a:r>
              <a:rPr lang="en-US" sz="1200" dirty="0">
                <a:solidFill>
                  <a:srgbClr val="1F2A44"/>
                </a:solidFill>
                <a:ea typeface="Arial" pitchFamily="34" charset="-122"/>
                <a:cs typeface="Arial" pitchFamily="34" charset="-120"/>
              </a:rPr>
              <a:t>train-only corr table + scatter plots</a:t>
            </a:r>
          </a:p>
          <a:p>
            <a:pPr marL="228600" indent="-228600">
              <a:buSzPct val="100000"/>
              <a:buChar char="•"/>
            </a:pPr>
            <a:endParaRPr lang="en-US" sz="1200" dirty="0"/>
          </a:p>
          <a:p>
            <a:pPr>
              <a:buSzPct val="100000"/>
            </a:pPr>
            <a:r>
              <a:rPr lang="en-US" sz="1200" dirty="0">
                <a:solidFill>
                  <a:srgbClr val="1F2A44"/>
                </a:solidFill>
                <a:ea typeface="Arial" pitchFamily="34" charset="-122"/>
                <a:cs typeface="Arial" pitchFamily="34" charset="-120"/>
              </a:rPr>
              <a:t>11) </a:t>
            </a:r>
            <a:r>
              <a:rPr lang="en-US" sz="1200" b="1" dirty="0">
                <a:solidFill>
                  <a:srgbClr val="1F2A44"/>
                </a:solidFill>
                <a:ea typeface="Arial" pitchFamily="34" charset="-122"/>
                <a:cs typeface="Arial" pitchFamily="34" charset="-120"/>
              </a:rPr>
              <a:t>Leakage/alignment: </a:t>
            </a:r>
            <a:r>
              <a:rPr lang="en-US" sz="1200" dirty="0">
                <a:solidFill>
                  <a:srgbClr val="1F2A44"/>
                </a:solidFill>
                <a:ea typeface="Arial" pitchFamily="34" charset="-122"/>
                <a:cs typeface="Arial" pitchFamily="34" charset="-120"/>
              </a:rPr>
              <a:t>recompute returns, trailing vol, forward vol; compare</a:t>
            </a:r>
          </a:p>
          <a:p>
            <a:pPr marL="228600" indent="-228600">
              <a:buSzPct val="100000"/>
              <a:buChar char="•"/>
            </a:pPr>
            <a:endParaRPr lang="en-US" sz="1200" dirty="0"/>
          </a:p>
          <a:p>
            <a:pPr>
              <a:buSzPct val="100000"/>
            </a:pPr>
            <a:r>
              <a:rPr lang="en-US" sz="1200" dirty="0">
                <a:solidFill>
                  <a:srgbClr val="1F2A44"/>
                </a:solidFill>
                <a:ea typeface="Arial" pitchFamily="34" charset="-122"/>
                <a:cs typeface="Arial" pitchFamily="34" charset="-120"/>
              </a:rPr>
              <a:t>12) </a:t>
            </a:r>
            <a:r>
              <a:rPr lang="en-US" sz="1200" b="1" dirty="0">
                <a:solidFill>
                  <a:srgbClr val="1F2A44"/>
                </a:solidFill>
                <a:ea typeface="Arial" pitchFamily="34" charset="-122"/>
                <a:cs typeface="Arial" pitchFamily="34" charset="-120"/>
              </a:rPr>
              <a:t>Baselines: </a:t>
            </a:r>
            <a:r>
              <a:rPr lang="en-US" sz="1200" dirty="0">
                <a:solidFill>
                  <a:srgbClr val="1F2A44"/>
                </a:solidFill>
                <a:ea typeface="Arial" pitchFamily="34" charset="-122"/>
                <a:cs typeface="Arial" pitchFamily="34" charset="-120"/>
              </a:rPr>
              <a:t>persistence using trailing 5d/20d vol (RMSE/MAE on train/val/test)</a:t>
            </a:r>
          </a:p>
          <a:p>
            <a:pPr marL="228600" indent="-228600">
              <a:buSzPct val="100000"/>
              <a:buChar char="•"/>
            </a:pPr>
            <a:endParaRPr lang="en-US" sz="1200" dirty="0"/>
          </a:p>
          <a:p>
            <a:pPr>
              <a:buSzPct val="100000"/>
            </a:pPr>
            <a:r>
              <a:rPr lang="en-US" sz="1200" dirty="0">
                <a:solidFill>
                  <a:srgbClr val="1F2A44"/>
                </a:solidFill>
                <a:ea typeface="Arial" pitchFamily="34" charset="-122"/>
                <a:cs typeface="Arial" pitchFamily="34" charset="-120"/>
              </a:rPr>
              <a:t>13) </a:t>
            </a:r>
            <a:r>
              <a:rPr lang="en-US" sz="1200" b="1" dirty="0">
                <a:solidFill>
                  <a:srgbClr val="1F2A44"/>
                </a:solidFill>
                <a:ea typeface="Arial" pitchFamily="34" charset="-122"/>
                <a:cs typeface="Arial" pitchFamily="34" charset="-120"/>
              </a:rPr>
              <a:t>Save artifacts: </a:t>
            </a:r>
            <a:r>
              <a:rPr lang="en-US" sz="1200" dirty="0">
                <a:solidFill>
                  <a:srgbClr val="1F2A44"/>
                </a:solidFill>
                <a:ea typeface="Arial" pitchFamily="34" charset="-122"/>
                <a:cs typeface="Arial" pitchFamily="34" charset="-120"/>
              </a:rPr>
              <a:t>coverage/missingness/macro-check tables to disk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49240" y="1417320"/>
            <a:ext cx="6793992" cy="4983480"/>
          </a:xfrm>
          <a:prstGeom prst="roundRect">
            <a:avLst>
              <a:gd name="adj" fmla="val 1468"/>
            </a:avLst>
          </a:prstGeom>
          <a:solidFill>
            <a:srgbClr val="FFFFFF"/>
          </a:solidFill>
          <a:ln w="15875">
            <a:solidFill>
              <a:srgbClr val="C8D5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513832" y="1563624"/>
            <a:ext cx="6464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A3C7"/>
                </a:solidFill>
                <a:ea typeface="Arial" pitchFamily="34" charset="-122"/>
                <a:cs typeface="Arial" pitchFamily="34" charset="-120"/>
              </a:rPr>
              <a:t>Representative plots produced by the notebook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513832" y="1764792"/>
            <a:ext cx="6464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ea typeface="Arial" pitchFamily="34" charset="-122"/>
                <a:cs typeface="Arial" pitchFamily="34" charset="-120"/>
              </a:rPr>
              <a:t>Data quality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513832" y="3328416"/>
            <a:ext cx="6464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ea typeface="Arial" pitchFamily="34" charset="-122"/>
                <a:cs typeface="Arial" pitchFamily="34" charset="-120"/>
              </a:rPr>
              <a:t>Time-series structure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513832" y="4892040"/>
            <a:ext cx="6464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ea typeface="Arial" pitchFamily="34" charset="-122"/>
                <a:cs typeface="Arial" pitchFamily="34" charset="-120"/>
              </a:rPr>
              <a:t>Signal, leakage checks, baselines</a:t>
            </a:r>
            <a:endParaRPr lang="en-US" sz="1200" b="1" dirty="0"/>
          </a:p>
        </p:txBody>
      </p:sp>
      <p:sp>
        <p:nvSpPr>
          <p:cNvPr id="17" name="Shape 15"/>
          <p:cNvSpPr/>
          <p:nvPr/>
        </p:nvSpPr>
        <p:spPr>
          <a:xfrm>
            <a:off x="5513832" y="1975104"/>
            <a:ext cx="2045208" cy="1188720"/>
          </a:xfrm>
          <a:prstGeom prst="rect">
            <a:avLst/>
          </a:prstGeom>
          <a:solidFill>
            <a:srgbClr val="FFFFFF"/>
          </a:solidFill>
          <a:ln w="11430">
            <a:solidFill>
              <a:srgbClr val="C8D5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0" descr="/mnt/data/eda_thumbs/coverage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1884" y="1988820"/>
            <a:ext cx="1136107" cy="109728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7723632" y="1975104"/>
            <a:ext cx="2045208" cy="1188720"/>
          </a:xfrm>
          <a:prstGeom prst="rect">
            <a:avLst/>
          </a:prstGeom>
          <a:solidFill>
            <a:srgbClr val="FFFFFF"/>
          </a:solidFill>
          <a:ln w="11430">
            <a:solidFill>
              <a:srgbClr val="C8D5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1" descr="/mnt/data/eda_thumbs/missingness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2605" y="2020824"/>
            <a:ext cx="1681582" cy="109728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9933432" y="1975104"/>
            <a:ext cx="2045208" cy="1188720"/>
          </a:xfrm>
          <a:prstGeom prst="rect">
            <a:avLst/>
          </a:prstGeom>
          <a:solidFill>
            <a:srgbClr val="FFFFFF"/>
          </a:solidFill>
          <a:ln w="11430">
            <a:solidFill>
              <a:srgbClr val="C8D5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2" descr="/mnt/data/eda_thumbs/macro_cr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51719" y="2079783"/>
            <a:ext cx="1900646" cy="745713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5513832" y="3538728"/>
            <a:ext cx="2045208" cy="1188720"/>
          </a:xfrm>
          <a:prstGeom prst="rect">
            <a:avLst/>
          </a:prstGeom>
          <a:solidFill>
            <a:srgbClr val="FFFFFF"/>
          </a:solidFill>
          <a:ln w="11430">
            <a:solidFill>
              <a:srgbClr val="C8D5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3" descr="/mnt/data/eda_thumbs/di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30015" y="3584448"/>
            <a:ext cx="812841" cy="109728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7723632" y="3538728"/>
            <a:ext cx="2045208" cy="1188720"/>
          </a:xfrm>
          <a:prstGeom prst="rect">
            <a:avLst/>
          </a:prstGeom>
          <a:solidFill>
            <a:srgbClr val="FFFFFF"/>
          </a:solidFill>
          <a:ln w="11430">
            <a:solidFill>
              <a:srgbClr val="C8D5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4" descr="/mnt/data/eda_thumbs/t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2573" y="3563548"/>
            <a:ext cx="812841" cy="1097280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9933432" y="3538728"/>
            <a:ext cx="2045208" cy="1188720"/>
          </a:xfrm>
          <a:prstGeom prst="rect">
            <a:avLst/>
          </a:prstGeom>
          <a:solidFill>
            <a:srgbClr val="FFFFFF"/>
          </a:solidFill>
          <a:ln w="11430">
            <a:solidFill>
              <a:srgbClr val="C8D5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5" descr="/mnt/data/eda_thumbs/acf_combo_fin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65453" y="3584448"/>
            <a:ext cx="781166" cy="1097280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5513832" y="5102352"/>
            <a:ext cx="2045208" cy="1188720"/>
          </a:xfrm>
          <a:prstGeom prst="rect">
            <a:avLst/>
          </a:prstGeom>
          <a:solidFill>
            <a:srgbClr val="FFFFFF"/>
          </a:solidFill>
          <a:ln w="11430">
            <a:solidFill>
              <a:srgbClr val="C8D5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6" descr="/mnt/data/eda_thumbs/scatte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30015" y="5148072"/>
            <a:ext cx="812841" cy="1097280"/>
          </a:xfrm>
          <a:prstGeom prst="rect">
            <a:avLst/>
          </a:prstGeom>
        </p:spPr>
      </p:pic>
      <p:sp>
        <p:nvSpPr>
          <p:cNvPr id="31" name="Shape 22"/>
          <p:cNvSpPr/>
          <p:nvPr/>
        </p:nvSpPr>
        <p:spPr>
          <a:xfrm>
            <a:off x="7723632" y="5102352"/>
            <a:ext cx="2045208" cy="1188720"/>
          </a:xfrm>
          <a:prstGeom prst="rect">
            <a:avLst/>
          </a:prstGeom>
          <a:solidFill>
            <a:srgbClr val="FFFFFF"/>
          </a:solidFill>
          <a:ln w="11430">
            <a:solidFill>
              <a:srgbClr val="C8D5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7" descr="/mnt/data/eda_thumbs/lea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39815" y="5148072"/>
            <a:ext cx="812841" cy="1097280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9933432" y="5102352"/>
            <a:ext cx="2045208" cy="1188720"/>
          </a:xfrm>
          <a:prstGeom prst="rect">
            <a:avLst/>
          </a:prstGeom>
          <a:solidFill>
            <a:srgbClr val="FFFFFF"/>
          </a:solidFill>
          <a:ln w="11430">
            <a:solidFill>
              <a:srgbClr val="C8D5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8" descr="/mnt/data/eda_thumbs/baseline_crop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92435" y="5257133"/>
            <a:ext cx="1953768" cy="458839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FD897550-A202-3B81-3CAF-EF872806DCBC}"/>
              </a:ext>
            </a:extLst>
          </p:cNvPr>
          <p:cNvSpPr/>
          <p:nvPr/>
        </p:nvSpPr>
        <p:spPr>
          <a:xfrm>
            <a:off x="5968383" y="2916936"/>
            <a:ext cx="1136107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8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000" tIns="4000" rIns="12000" bIns="2000" rtlCol="0" anchor="ctr"/>
          <a:lstStyle/>
          <a:p>
            <a:pPr algn="ctr"/>
            <a:r>
              <a:rPr sz="850" b="1" dirty="0">
                <a:solidFill>
                  <a:schemeClr val="tx1"/>
                </a:solidFill>
                <a:latin typeface="Arial"/>
              </a:rPr>
              <a:t>Coverage by ticker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79420DD-5BF9-3E50-8418-BD3B4D5F7B51}"/>
              </a:ext>
            </a:extLst>
          </p:cNvPr>
          <p:cNvSpPr/>
          <p:nvPr/>
        </p:nvSpPr>
        <p:spPr>
          <a:xfrm>
            <a:off x="7905445" y="2916936"/>
            <a:ext cx="1681582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8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000" tIns="4000" rIns="12000" bIns="2000" rtlCol="0" anchor="ctr"/>
          <a:lstStyle/>
          <a:p>
            <a:pPr algn="ctr"/>
            <a:r>
              <a:rPr sz="850" b="1" dirty="0">
                <a:solidFill>
                  <a:schemeClr val="tx1"/>
                </a:solidFill>
                <a:latin typeface="Arial"/>
              </a:rPr>
              <a:t>Gaps &amp; missingness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A8FC696-DFE6-43CA-5B3B-C47D0567F302}"/>
              </a:ext>
            </a:extLst>
          </p:cNvPr>
          <p:cNvSpPr/>
          <p:nvPr/>
        </p:nvSpPr>
        <p:spPr>
          <a:xfrm>
            <a:off x="9979152" y="2935224"/>
            <a:ext cx="19537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8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000" tIns="4000" rIns="12000" bIns="2000" rtlCol="0" anchor="ctr"/>
          <a:lstStyle/>
          <a:p>
            <a:pPr algn="ctr"/>
            <a:r>
              <a:rPr sz="850" b="1" dirty="0">
                <a:solidFill>
                  <a:schemeClr val="tx1"/>
                </a:solidFill>
                <a:latin typeface="Arial"/>
              </a:rPr>
              <a:t>Macro constancy check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026C52B-3CBD-39DE-84EC-42C809BDBDFF}"/>
              </a:ext>
            </a:extLst>
          </p:cNvPr>
          <p:cNvSpPr/>
          <p:nvPr/>
        </p:nvSpPr>
        <p:spPr>
          <a:xfrm>
            <a:off x="6043968" y="4432881"/>
            <a:ext cx="1101714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8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000" tIns="4000" rIns="12000" bIns="2000" rtlCol="0" anchor="ctr"/>
          <a:lstStyle/>
          <a:p>
            <a:pPr algn="ctr"/>
            <a:r>
              <a:rPr sz="850" b="1" dirty="0">
                <a:solidFill>
                  <a:schemeClr val="tx1"/>
                </a:solidFill>
                <a:latin typeface="Arial"/>
              </a:rPr>
              <a:t>Pooled distributions
(returns/volume/vol)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29D3D25-8A0D-71C9-FA33-26C761269473}"/>
              </a:ext>
            </a:extLst>
          </p:cNvPr>
          <p:cNvSpPr/>
          <p:nvPr/>
        </p:nvSpPr>
        <p:spPr>
          <a:xfrm>
            <a:off x="8339815" y="4493623"/>
            <a:ext cx="903245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8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000" tIns="4000" rIns="12000" bIns="2000" rtlCol="0" anchor="ctr"/>
          <a:lstStyle/>
          <a:p>
            <a:pPr algn="ctr"/>
            <a:r>
              <a:rPr sz="850" b="1" dirty="0">
                <a:solidFill>
                  <a:schemeClr val="tx1"/>
                </a:solidFill>
                <a:latin typeface="Arial"/>
              </a:rPr>
              <a:t>Single-ticker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89BF1CC-4B4F-BB49-CC51-836CC243F754}"/>
              </a:ext>
            </a:extLst>
          </p:cNvPr>
          <p:cNvSpPr/>
          <p:nvPr/>
        </p:nvSpPr>
        <p:spPr>
          <a:xfrm>
            <a:off x="10497990" y="4455741"/>
            <a:ext cx="1123627" cy="233172"/>
          </a:xfrm>
          <a:prstGeom prst="rect">
            <a:avLst/>
          </a:prstGeom>
          <a:solidFill>
            <a:srgbClr val="FFFFFF"/>
          </a:solidFill>
          <a:ln w="6350">
            <a:solidFill>
              <a:srgbClr val="C8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000" tIns="4000" rIns="12000" bIns="2000" rtlCol="0" anchor="ctr"/>
          <a:lstStyle/>
          <a:p>
            <a:pPr algn="ctr"/>
            <a:r>
              <a:rPr sz="850" b="1" dirty="0">
                <a:solidFill>
                  <a:schemeClr val="tx1"/>
                </a:solidFill>
                <a:latin typeface="Arial"/>
              </a:rPr>
              <a:t>ACF diagnostics 
returns, sq. returns, 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209993F-2B4F-0510-66E4-5F62070DEE45}"/>
              </a:ext>
            </a:extLst>
          </p:cNvPr>
          <p:cNvSpPr/>
          <p:nvPr/>
        </p:nvSpPr>
        <p:spPr>
          <a:xfrm>
            <a:off x="5828263" y="6038957"/>
            <a:ext cx="1519728" cy="219457"/>
          </a:xfrm>
          <a:prstGeom prst="rect">
            <a:avLst/>
          </a:prstGeom>
          <a:solidFill>
            <a:srgbClr val="FFFFFF"/>
          </a:solidFill>
          <a:ln w="6350">
            <a:solidFill>
              <a:srgbClr val="C8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000" tIns="4000" rIns="12000" bIns="2000" rtlCol="0" anchor="ctr"/>
          <a:lstStyle/>
          <a:p>
            <a:pPr algn="ctr"/>
            <a:r>
              <a:rPr sz="850" b="1" dirty="0">
                <a:solidFill>
                  <a:schemeClr val="tx1"/>
                </a:solidFill>
                <a:latin typeface="Arial"/>
              </a:rPr>
              <a:t>Feature–target relationships
(</a:t>
            </a:r>
            <a:r>
              <a:rPr sz="850" b="1" dirty="0" err="1">
                <a:solidFill>
                  <a:schemeClr val="tx1"/>
                </a:solidFill>
                <a:latin typeface="Arial"/>
              </a:rPr>
              <a:t>corr</a:t>
            </a:r>
            <a:r>
              <a:rPr sz="850" b="1" dirty="0">
                <a:solidFill>
                  <a:schemeClr val="tx1"/>
                </a:solidFill>
                <a:latin typeface="Arial"/>
              </a:rPr>
              <a:t> + scatter)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88D3FBE-ED9B-049D-694C-6C0BD1AC17E0}"/>
              </a:ext>
            </a:extLst>
          </p:cNvPr>
          <p:cNvSpPr/>
          <p:nvPr/>
        </p:nvSpPr>
        <p:spPr>
          <a:xfrm>
            <a:off x="8033791" y="6050716"/>
            <a:ext cx="1515291" cy="210311"/>
          </a:xfrm>
          <a:prstGeom prst="rect">
            <a:avLst/>
          </a:prstGeom>
          <a:solidFill>
            <a:srgbClr val="FFFFFF"/>
          </a:solidFill>
          <a:ln w="6350">
            <a:solidFill>
              <a:srgbClr val="C8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000" tIns="4000" rIns="12000" bIns="2000" rtlCol="0" anchor="ctr"/>
          <a:lstStyle/>
          <a:p>
            <a:pPr algn="ctr"/>
            <a:r>
              <a:rPr sz="850" b="1" dirty="0">
                <a:solidFill>
                  <a:schemeClr val="tx1"/>
                </a:solidFill>
                <a:latin typeface="Arial"/>
              </a:rPr>
              <a:t>Leakage/alignment checks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56C1AB5-ED87-50D6-3046-593844A64EFB}"/>
              </a:ext>
            </a:extLst>
          </p:cNvPr>
          <p:cNvSpPr/>
          <p:nvPr/>
        </p:nvSpPr>
        <p:spPr>
          <a:xfrm>
            <a:off x="10142437" y="6059207"/>
            <a:ext cx="1709928" cy="171121"/>
          </a:xfrm>
          <a:prstGeom prst="rect">
            <a:avLst/>
          </a:prstGeom>
          <a:solidFill>
            <a:srgbClr val="FFFFFF"/>
          </a:solidFill>
          <a:ln w="6350">
            <a:solidFill>
              <a:srgbClr val="C8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000" tIns="4000" rIns="12000" bIns="2000" rtlCol="0" anchor="ctr"/>
          <a:lstStyle/>
          <a:p>
            <a:pPr algn="ctr"/>
            <a:r>
              <a:rPr sz="850" b="1" dirty="0">
                <a:solidFill>
                  <a:schemeClr val="tx1"/>
                </a:solidFill>
                <a:latin typeface="Arial"/>
              </a:rPr>
              <a:t>Baselines to beat</a:t>
            </a:r>
          </a:p>
        </p:txBody>
      </p:sp>
      <p:sp>
        <p:nvSpPr>
          <p:cNvPr id="45" name="Text 4">
            <a:extLst>
              <a:ext uri="{FF2B5EF4-FFF2-40B4-BE49-F238E27FC236}">
                <a16:creationId xmlns:a16="http://schemas.microsoft.com/office/drawing/2014/main" id="{E5345DA6-C830-2CF4-453D-19E2ABE68BC6}"/>
              </a:ext>
            </a:extLst>
          </p:cNvPr>
          <p:cNvSpPr/>
          <p:nvPr/>
        </p:nvSpPr>
        <p:spPr>
          <a:xfrm>
            <a:off x="1896291" y="847344"/>
            <a:ext cx="23382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A3C7"/>
                </a:solidFill>
                <a:ea typeface="Arial" pitchFamily="34" charset="-122"/>
                <a:cs typeface="Arial" pitchFamily="34" charset="-120"/>
              </a:rPr>
              <a:t>EDA Tests</a:t>
            </a:r>
            <a:endParaRPr lang="en-US" sz="2000" dirty="0"/>
          </a:p>
        </p:txBody>
      </p:sp>
      <p:sp>
        <p:nvSpPr>
          <p:cNvPr id="46" name="Shape 5">
            <a:extLst>
              <a:ext uri="{FF2B5EF4-FFF2-40B4-BE49-F238E27FC236}">
                <a16:creationId xmlns:a16="http://schemas.microsoft.com/office/drawing/2014/main" id="{093B9FA4-F5C8-06E5-E026-A7E3FFF94532}"/>
              </a:ext>
            </a:extLst>
          </p:cNvPr>
          <p:cNvSpPr/>
          <p:nvPr/>
        </p:nvSpPr>
        <p:spPr>
          <a:xfrm flipV="1">
            <a:off x="2599508" y="1152144"/>
            <a:ext cx="979715" cy="0"/>
          </a:xfrm>
          <a:prstGeom prst="line">
            <a:avLst/>
          </a:prstGeom>
          <a:noFill/>
          <a:ln w="15240">
            <a:solidFill>
              <a:srgbClr val="08A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">
            <a:extLst>
              <a:ext uri="{FF2B5EF4-FFF2-40B4-BE49-F238E27FC236}">
                <a16:creationId xmlns:a16="http://schemas.microsoft.com/office/drawing/2014/main" id="{5FCC1BC8-5AEE-0C4A-72D1-04569D7295A9}"/>
              </a:ext>
            </a:extLst>
          </p:cNvPr>
          <p:cNvSpPr/>
          <p:nvPr/>
        </p:nvSpPr>
        <p:spPr>
          <a:xfrm>
            <a:off x="329184" y="6615684"/>
            <a:ext cx="6217920" cy="1900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AAAACC"/>
                </a:solidFill>
              </a:rPr>
              <a:t>DATASCI 207  ·  Final Project: Forecasting Volatility In Stock Market  ·  March 2026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0B2445"/>
          </a:solidFill>
          <a:ln>
            <a:solidFill>
              <a:srgbClr val="0B2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0B2445"/>
          </a:solidFill>
          <a:ln>
            <a:solidFill>
              <a:srgbClr val="0B2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0000" y="60736"/>
            <a:ext cx="2541800" cy="53860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lang="en-US" sz="2900" b="1" dirty="0">
                <a:solidFill>
                  <a:srgbClr val="FFFFFF"/>
                </a:solidFill>
              </a:rPr>
              <a:t>D</a:t>
            </a:r>
            <a:r>
              <a:rPr lang="en-US" sz="2900" b="1" i="0" dirty="0">
                <a:solidFill>
                  <a:srgbClr val="FFFFFF"/>
                </a:solidFill>
              </a:rPr>
              <a:t>ata Splitting</a:t>
            </a:r>
            <a:endParaRPr sz="2900" b="1" i="0" dirty="0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04148" y="789355"/>
            <a:ext cx="11491703" cy="40011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2000" b="1" dirty="0">
                <a:solidFill>
                  <a:srgbClr val="169EC5"/>
                </a:solidFill>
              </a:rPr>
              <a:t>S</a:t>
            </a:r>
            <a:r>
              <a:rPr lang="en-US" sz="2000" b="1" i="0" dirty="0">
                <a:solidFill>
                  <a:srgbClr val="169EC5"/>
                </a:solidFill>
              </a:rPr>
              <a:t>plit is Chronological, Leakage-Aware, and Standardized </a:t>
            </a:r>
            <a:r>
              <a:rPr lang="en-US" sz="2000" b="1" dirty="0">
                <a:solidFill>
                  <a:srgbClr val="169EC5"/>
                </a:solidFill>
              </a:rPr>
              <a:t>A</a:t>
            </a:r>
            <a:r>
              <a:rPr lang="en-US" sz="2000" b="1" i="0" dirty="0">
                <a:solidFill>
                  <a:srgbClr val="169EC5"/>
                </a:solidFill>
              </a:rPr>
              <a:t>cross </a:t>
            </a:r>
            <a:r>
              <a:rPr lang="en-US" sz="2000" b="1" dirty="0">
                <a:solidFill>
                  <a:srgbClr val="169EC5"/>
                </a:solidFill>
              </a:rPr>
              <a:t>A</a:t>
            </a:r>
            <a:r>
              <a:rPr lang="en-US" sz="2000" b="1" i="0" dirty="0">
                <a:solidFill>
                  <a:srgbClr val="169EC5"/>
                </a:solidFill>
              </a:rPr>
              <a:t>ll </a:t>
            </a:r>
            <a:r>
              <a:rPr lang="en-US" sz="2000" b="1" dirty="0">
                <a:solidFill>
                  <a:srgbClr val="169EC5"/>
                </a:solidFill>
              </a:rPr>
              <a:t>T</a:t>
            </a:r>
            <a:r>
              <a:rPr lang="en-US" sz="2000" b="1" i="0" dirty="0">
                <a:solidFill>
                  <a:srgbClr val="169EC5"/>
                </a:solidFill>
              </a:rPr>
              <a:t>eam </a:t>
            </a:r>
            <a:r>
              <a:rPr lang="en-US" sz="2000" b="1" dirty="0">
                <a:solidFill>
                  <a:srgbClr val="169EC5"/>
                </a:solidFill>
              </a:rPr>
              <a:t>M</a:t>
            </a:r>
            <a:r>
              <a:rPr lang="en-US" sz="2000" b="1" i="0" dirty="0">
                <a:solidFill>
                  <a:srgbClr val="169EC5"/>
                </a:solidFill>
              </a:rPr>
              <a:t>odels</a:t>
            </a:r>
            <a:endParaRPr sz="2000" b="1" i="0" dirty="0">
              <a:solidFill>
                <a:srgbClr val="169EC5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0000" y="1400000"/>
            <a:ext cx="2720000" cy="14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B8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0000" y="1510000"/>
            <a:ext cx="1750000" cy="360000"/>
          </a:xfrm>
          <a:prstGeom prst="roundRect">
            <a:avLst>
              <a:gd name="adj" fmla="val 8000"/>
            </a:avLst>
          </a:prstGeom>
          <a:solidFill>
            <a:srgbClr val="E9F8FC"/>
          </a:solidFill>
          <a:ln>
            <a:solidFill>
              <a:srgbClr val="E9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0000" y="1565000"/>
            <a:ext cx="155000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 i="0" dirty="0">
                <a:solidFill>
                  <a:srgbClr val="0B2445"/>
                </a:solidFill>
              </a:rPr>
              <a:t>Training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000" y="2000000"/>
            <a:ext cx="2320000" cy="82484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 i="0" dirty="0">
                <a:solidFill>
                  <a:srgbClr val="2C3A50"/>
                </a:solidFill>
                <a:latin typeface="Calibri "/>
              </a:rPr>
              <a:t>2015-01-02 → 2022-12-30
69,453 rows  |  71.95%
Long historical window for model fitting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40000" y="1400000"/>
            <a:ext cx="2720000" cy="14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B8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580000" y="1510000"/>
            <a:ext cx="1750000" cy="360000"/>
          </a:xfrm>
          <a:prstGeom prst="roundRect">
            <a:avLst>
              <a:gd name="adj" fmla="val 8000"/>
            </a:avLst>
          </a:prstGeom>
          <a:solidFill>
            <a:srgbClr val="E9F8FC"/>
          </a:solidFill>
          <a:ln>
            <a:solidFill>
              <a:srgbClr val="E9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50000" y="1565000"/>
            <a:ext cx="155000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 i="0">
                <a:solidFill>
                  <a:srgbClr val="0B2445"/>
                </a:solidFill>
              </a:rPr>
              <a:t>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0000" y="2000000"/>
            <a:ext cx="2320000" cy="82484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 i="0" dirty="0">
                <a:solidFill>
                  <a:srgbClr val="2C3A50"/>
                </a:solidFill>
                <a:latin typeface="Calibri "/>
              </a:rPr>
              <a:t>2023-01-03 → 2024-12-31
18,072 rows  |  18.72%
Recent window for tuning and model selection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80000" y="1400000"/>
            <a:ext cx="2720000" cy="14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B8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520000" y="1510000"/>
            <a:ext cx="1750000" cy="360000"/>
          </a:xfrm>
          <a:prstGeom prst="roundRect">
            <a:avLst>
              <a:gd name="adj" fmla="val 8000"/>
            </a:avLst>
          </a:prstGeom>
          <a:solidFill>
            <a:srgbClr val="E9F8FC"/>
          </a:solidFill>
          <a:ln>
            <a:solidFill>
              <a:srgbClr val="E9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90000" y="1565000"/>
            <a:ext cx="155000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 i="0">
                <a:solidFill>
                  <a:srgbClr val="0B2445"/>
                </a:solidFill>
              </a:rPr>
              <a:t>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0000" y="2000000"/>
            <a:ext cx="2320000" cy="82484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 i="0" dirty="0">
                <a:solidFill>
                  <a:srgbClr val="2C3A50"/>
                </a:solidFill>
                <a:latin typeface="Calibri "/>
              </a:rPr>
              <a:t>2025-01-02 → 2025-12-31
9,000 rows  |  9.32%
Fully held-out year for final evaluation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0000" y="1400000"/>
            <a:ext cx="2720000" cy="14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B8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460000" y="1510000"/>
            <a:ext cx="1900000" cy="360000"/>
          </a:xfrm>
          <a:prstGeom prst="roundRect">
            <a:avLst>
              <a:gd name="adj" fmla="val 8000"/>
            </a:avLst>
          </a:prstGeom>
          <a:solidFill>
            <a:srgbClr val="E9F8FC"/>
          </a:solidFill>
          <a:ln>
            <a:solidFill>
              <a:srgbClr val="E9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30000" y="1565000"/>
            <a:ext cx="170000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 i="0" dirty="0">
                <a:solidFill>
                  <a:srgbClr val="0B2445"/>
                </a:solidFill>
              </a:rPr>
              <a:t>Leakage</a:t>
            </a:r>
            <a:r>
              <a:rPr lang="en-US" sz="1400" b="1" i="0" dirty="0">
                <a:solidFill>
                  <a:srgbClr val="0B2445"/>
                </a:solidFill>
              </a:rPr>
              <a:t> </a:t>
            </a:r>
            <a:r>
              <a:rPr sz="1400" b="1" i="0" dirty="0">
                <a:solidFill>
                  <a:srgbClr val="0B2445"/>
                </a:solidFill>
              </a:rP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20000" y="2000000"/>
            <a:ext cx="2320000" cy="82484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 i="0" dirty="0">
                <a:solidFill>
                  <a:srgbClr val="2C3A50"/>
                </a:solidFill>
                <a:latin typeface="Calibri "/>
              </a:rPr>
              <a:t>5-trading-day purge gap at each boundary
Remove rows whose target window crosses partitions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0000" y="3000000"/>
            <a:ext cx="4200000" cy="23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B8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6" name="Rounded Rectangle 25"/>
          <p:cNvSpPr/>
          <p:nvPr/>
        </p:nvSpPr>
        <p:spPr>
          <a:xfrm>
            <a:off x="639999" y="3110000"/>
            <a:ext cx="2181577" cy="360000"/>
          </a:xfrm>
          <a:prstGeom prst="roundRect">
            <a:avLst>
              <a:gd name="adj" fmla="val 8000"/>
            </a:avLst>
          </a:prstGeom>
          <a:solidFill>
            <a:srgbClr val="E9F8FC"/>
          </a:solidFill>
          <a:ln>
            <a:solidFill>
              <a:srgbClr val="E9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0000" y="3160000"/>
            <a:ext cx="200000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 i="0" dirty="0">
                <a:solidFill>
                  <a:srgbClr val="0B2445"/>
                </a:solidFill>
              </a:rPr>
              <a:t>Methodology &amp;</a:t>
            </a:r>
            <a:r>
              <a:rPr lang="en-US" sz="1400" b="1" i="0" dirty="0">
                <a:solidFill>
                  <a:srgbClr val="0B2445"/>
                </a:solidFill>
              </a:rPr>
              <a:t> </a:t>
            </a:r>
            <a:r>
              <a:rPr sz="1400" b="1" i="0" dirty="0">
                <a:solidFill>
                  <a:srgbClr val="0B2445"/>
                </a:solidFill>
              </a:rPr>
              <a:t>guardrails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0000" y="3560000"/>
            <a:ext cx="3840000" cy="1608133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"/>
              </a:spcAft>
              <a:defRPr sz="1160">
                <a:solidFill>
                  <a:srgbClr val="2C3A50"/>
                </a:solidFill>
                <a:latin typeface="Aptos"/>
              </a:defRPr>
            </a:pPr>
            <a:r>
              <a:rPr sz="1200" dirty="0">
                <a:latin typeface="Calibri "/>
              </a:rPr>
              <a:t>• Split by date across all ETFs simultaneously; no random shuffling.</a:t>
            </a:r>
          </a:p>
          <a:p>
            <a:pPr>
              <a:spcAft>
                <a:spcPts val="100"/>
              </a:spcAft>
              <a:defRPr sz="1160">
                <a:solidFill>
                  <a:srgbClr val="2C3A50"/>
                </a:solidFill>
                <a:latin typeface="Aptos"/>
              </a:defRPr>
            </a:pPr>
            <a:r>
              <a:rPr sz="1200" dirty="0">
                <a:latin typeface="Calibri "/>
              </a:rPr>
              <a:t>• Forward 5-day target uses future returns, so chronology must be preserved.</a:t>
            </a:r>
          </a:p>
          <a:p>
            <a:pPr>
              <a:spcAft>
                <a:spcPts val="100"/>
              </a:spcAft>
              <a:defRPr sz="1160">
                <a:solidFill>
                  <a:srgbClr val="2C3A50"/>
                </a:solidFill>
                <a:latin typeface="Aptos"/>
              </a:defRPr>
            </a:pPr>
            <a:r>
              <a:rPr sz="1200" dirty="0">
                <a:latin typeface="Calibri "/>
              </a:rPr>
              <a:t>• Same train / validation / test rows used for every team model.</a:t>
            </a:r>
          </a:p>
          <a:p>
            <a:pPr>
              <a:spcAft>
                <a:spcPts val="100"/>
              </a:spcAft>
              <a:defRPr sz="1160">
                <a:solidFill>
                  <a:srgbClr val="2C3A50"/>
                </a:solidFill>
                <a:latin typeface="Aptos"/>
              </a:defRPr>
            </a:pPr>
            <a:r>
              <a:rPr sz="1200" dirty="0">
                <a:latin typeface="Calibri "/>
              </a:rPr>
              <a:t>• Natural year boundaries create realistic validation and unseen test periods.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0000" y="4759999"/>
            <a:ext cx="3860000" cy="485857"/>
          </a:xfrm>
          <a:prstGeom prst="roundRect">
            <a:avLst>
              <a:gd name="adj" fmla="val 8000"/>
            </a:avLst>
          </a:prstGeom>
          <a:solidFill>
            <a:srgbClr val="F6F9FD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0810" y="4759999"/>
            <a:ext cx="3700000" cy="46166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 i="0" dirty="0">
                <a:solidFill>
                  <a:srgbClr val="2C3A50"/>
                </a:solidFill>
                <a:latin typeface="Calibri "/>
              </a:rPr>
              <a:t>Checks passed: train max &lt; validation min, validation max &lt; test min, no overlap, all rows accounted for.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80000" y="2999999"/>
            <a:ext cx="7160000" cy="339426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B8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5030000" y="3110000"/>
            <a:ext cx="2600000" cy="360000"/>
          </a:xfrm>
          <a:prstGeom prst="roundRect">
            <a:avLst>
              <a:gd name="adj" fmla="val 8000"/>
            </a:avLst>
          </a:prstGeom>
          <a:solidFill>
            <a:srgbClr val="E9F8FC"/>
          </a:solidFill>
          <a:ln>
            <a:solidFill>
              <a:srgbClr val="E9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150000" y="3165000"/>
            <a:ext cx="2400000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 i="0" dirty="0">
                <a:solidFill>
                  <a:srgbClr val="0B2445"/>
                </a:solidFill>
              </a:rPr>
              <a:t>Chronological split</a:t>
            </a:r>
            <a:r>
              <a:rPr lang="en-US" sz="1400" b="1" i="0" dirty="0">
                <a:solidFill>
                  <a:srgbClr val="0B2445"/>
                </a:solidFill>
              </a:rPr>
              <a:t> </a:t>
            </a:r>
            <a:r>
              <a:rPr sz="1400" b="1" i="0" dirty="0">
                <a:solidFill>
                  <a:srgbClr val="0B2445"/>
                </a:solidFill>
              </a:rPr>
              <a:t>visualization</a:t>
            </a:r>
          </a:p>
        </p:txBody>
      </p:sp>
      <p:pic>
        <p:nvPicPr>
          <p:cNvPr id="34" name="Picture 33" descr="split_chart_cro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0000" y="3520337"/>
            <a:ext cx="6870942" cy="2764494"/>
          </a:xfrm>
          <a:prstGeom prst="rect">
            <a:avLst/>
          </a:prstGeom>
        </p:spPr>
      </p:pic>
      <p:sp>
        <p:nvSpPr>
          <p:cNvPr id="38" name="Shape 5">
            <a:extLst>
              <a:ext uri="{FF2B5EF4-FFF2-40B4-BE49-F238E27FC236}">
                <a16:creationId xmlns:a16="http://schemas.microsoft.com/office/drawing/2014/main" id="{A9B774C7-6D28-DAD6-8C9F-74E4DA89048B}"/>
              </a:ext>
            </a:extLst>
          </p:cNvPr>
          <p:cNvSpPr/>
          <p:nvPr/>
        </p:nvSpPr>
        <p:spPr>
          <a:xfrm>
            <a:off x="1848394" y="1170000"/>
            <a:ext cx="8392886" cy="0"/>
          </a:xfrm>
          <a:prstGeom prst="line">
            <a:avLst/>
          </a:prstGeom>
          <a:noFill/>
          <a:ln w="15240">
            <a:solidFill>
              <a:srgbClr val="08A3C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2B7A3644-7E18-3125-0F2A-7C12F5CA1B8E}"/>
              </a:ext>
            </a:extLst>
          </p:cNvPr>
          <p:cNvSpPr/>
          <p:nvPr/>
        </p:nvSpPr>
        <p:spPr>
          <a:xfrm>
            <a:off x="329184" y="6615684"/>
            <a:ext cx="6217920" cy="1900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AAAACC"/>
                </a:solidFill>
              </a:rPr>
              <a:t>DATASCI 207  ·  Final Project: Forecasting Volatility In Stock Market  ·  March 2026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ounded Rectangle 8">
            <a:extLst>
              <a:ext uri="{FF2B5EF4-FFF2-40B4-BE49-F238E27FC236}">
                <a16:creationId xmlns:a16="http://schemas.microsoft.com/office/drawing/2014/main" id="{60761F46-314F-BA2E-A447-C25A2E591134}"/>
              </a:ext>
            </a:extLst>
          </p:cNvPr>
          <p:cNvSpPr/>
          <p:nvPr/>
        </p:nvSpPr>
        <p:spPr>
          <a:xfrm>
            <a:off x="220000" y="1311665"/>
            <a:ext cx="5560313" cy="50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B8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0B2445"/>
          </a:solidFill>
          <a:ln>
            <a:solidFill>
              <a:srgbClr val="0B2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0B2445"/>
          </a:solidFill>
          <a:ln>
            <a:solidFill>
              <a:srgbClr val="0B2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0000" y="73245"/>
            <a:ext cx="9000000" cy="53860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lang="en-US" sz="2900" b="1" i="0" dirty="0">
                <a:solidFill>
                  <a:srgbClr val="FFFFFF"/>
                </a:solidFill>
              </a:rPr>
              <a:t>Baselines</a:t>
            </a:r>
            <a:endParaRPr sz="2900" b="1" i="0" dirty="0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38743" y="769825"/>
            <a:ext cx="3400000" cy="40011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2000" b="1" dirty="0">
                <a:solidFill>
                  <a:srgbClr val="169EC5"/>
                </a:solidFill>
              </a:rPr>
              <a:t>6 </a:t>
            </a:r>
            <a:r>
              <a:rPr sz="2000" b="1" i="0" dirty="0">
                <a:solidFill>
                  <a:srgbClr val="169EC5"/>
                </a:solidFill>
              </a:rPr>
              <a:t>Baseline</a:t>
            </a:r>
            <a:r>
              <a:rPr lang="en-US" sz="2000" b="1" i="0" dirty="0">
                <a:solidFill>
                  <a:srgbClr val="169EC5"/>
                </a:solidFill>
              </a:rPr>
              <a:t> Leakage-Safe</a:t>
            </a:r>
            <a:endParaRPr sz="2000" b="1" i="0" dirty="0">
              <a:solidFill>
                <a:srgbClr val="169EC5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89184" y="1422864"/>
            <a:ext cx="2000000" cy="330000"/>
          </a:xfrm>
          <a:prstGeom prst="roundRect">
            <a:avLst>
              <a:gd name="adj" fmla="val 8000"/>
            </a:avLst>
          </a:prstGeom>
          <a:solidFill>
            <a:srgbClr val="E9F8FC"/>
          </a:solidFill>
          <a:ln>
            <a:solidFill>
              <a:srgbClr val="E9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9184" y="1463507"/>
            <a:ext cx="1900000" cy="3108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 i="0" dirty="0">
                <a:solidFill>
                  <a:srgbClr val="0B2445"/>
                </a:solidFill>
              </a:rPr>
              <a:t>Six baseline models</a:t>
            </a:r>
          </a:p>
        </p:txBody>
      </p:sp>
      <p:pic>
        <p:nvPicPr>
          <p:cNvPr id="22" name="Picture 21" descr="baseline_summary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970303"/>
            <a:ext cx="5327184" cy="3692446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5900000" y="1311665"/>
            <a:ext cx="6072000" cy="50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B8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050000" y="1422935"/>
            <a:ext cx="3185440" cy="360000"/>
          </a:xfrm>
          <a:prstGeom prst="roundRect">
            <a:avLst>
              <a:gd name="adj" fmla="val 8000"/>
            </a:avLst>
          </a:prstGeom>
          <a:solidFill>
            <a:srgbClr val="E9F8FC"/>
          </a:solidFill>
          <a:ln>
            <a:solidFill>
              <a:srgbClr val="E9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69999" y="1463507"/>
            <a:ext cx="3692457" cy="30777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 i="0" dirty="0">
                <a:solidFill>
                  <a:srgbClr val="0B2445"/>
                </a:solidFill>
              </a:rPr>
              <a:t>Example: SPY baselines vs target (2025)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52300" y="4306917"/>
            <a:ext cx="5440000" cy="2646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20" b="1" dirty="0"/>
              <a:t>Note: plot overlays 6 baseline predictions with the target forward 5-day volatility.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5B272BEA-BFD3-D734-EB98-FFA9D889F4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299" y="1978878"/>
            <a:ext cx="5756524" cy="2208899"/>
          </a:xfrm>
          <a:prstGeom prst="rect">
            <a:avLst/>
          </a:prstGeom>
        </p:spPr>
      </p:pic>
      <p:sp>
        <p:nvSpPr>
          <p:cNvPr id="33" name="Shape 5">
            <a:extLst>
              <a:ext uri="{FF2B5EF4-FFF2-40B4-BE49-F238E27FC236}">
                <a16:creationId xmlns:a16="http://schemas.microsoft.com/office/drawing/2014/main" id="{323F93E3-8AB8-FFF0-BE7E-9FDE4A533785}"/>
              </a:ext>
            </a:extLst>
          </p:cNvPr>
          <p:cNvSpPr/>
          <p:nvPr/>
        </p:nvSpPr>
        <p:spPr>
          <a:xfrm>
            <a:off x="4598125" y="1115722"/>
            <a:ext cx="2495005" cy="0"/>
          </a:xfrm>
          <a:prstGeom prst="line">
            <a:avLst/>
          </a:prstGeom>
          <a:noFill/>
          <a:ln w="15240">
            <a:solidFill>
              <a:srgbClr val="08A3C7"/>
            </a:solidFill>
            <a:prstDash val="solid"/>
          </a:ln>
        </p:spPr>
        <p:txBody>
          <a:bodyPr/>
          <a:lstStyle/>
          <a:p>
            <a:endParaRPr lang="en-US" b="1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E94C59CC-4C05-0B14-CC11-0C7D4CB6E89B}"/>
              </a:ext>
            </a:extLst>
          </p:cNvPr>
          <p:cNvSpPr/>
          <p:nvPr/>
        </p:nvSpPr>
        <p:spPr>
          <a:xfrm>
            <a:off x="329184" y="6615684"/>
            <a:ext cx="6217920" cy="1900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AAAACC"/>
                </a:solidFill>
              </a:rPr>
              <a:t>DATASCI 207  ·  Final Project: Forecasting Volatility In Stock Market  ·  March 2026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145920" cy="6857760"/>
          </a:xfrm>
          <a:prstGeom prst="rect">
            <a:avLst/>
          </a:prstGeom>
          <a:solidFill>
            <a:srgbClr val="00A8C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t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 1"/>
          <p:cNvSpPr/>
          <p:nvPr/>
        </p:nvSpPr>
        <p:spPr>
          <a:xfrm>
            <a:off x="426720" y="975360"/>
            <a:ext cx="11338080" cy="10860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t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6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Elastic Net Regression</a:t>
            </a:r>
            <a:endParaRPr kumimoji="0" lang="en-US" sz="6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426720" y="3596640"/>
            <a:ext cx="11460000" cy="48480"/>
          </a:xfrm>
          <a:prstGeom prst="rect">
            <a:avLst/>
          </a:prstGeom>
          <a:solidFill>
            <a:srgbClr val="00A8C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-11040" rIns="120000" bIns="-11040" anchor="t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Text 4"/>
          <p:cNvSpPr/>
          <p:nvPr/>
        </p:nvSpPr>
        <p:spPr>
          <a:xfrm>
            <a:off x="426720" y="5608320"/>
            <a:ext cx="11338080" cy="36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ctr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733" b="0" i="0" u="none" strike="noStrike" kern="1200" cap="none" spc="0" normalizeH="0" baseline="0" noProof="0" dirty="0">
                <a:ln>
                  <a:noFill/>
                </a:ln>
                <a:solidFill>
                  <a:srgbClr val="AAAACC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DS 207 Final Project  ·  Team: Greed and Fear  ·  Author: Vinit Bhatt  ·  March 27, 2026</a:t>
            </a:r>
            <a:endParaRPr kumimoji="0" lang="en-US" sz="1733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0"/>
          <p:cNvSpPr/>
          <p:nvPr/>
        </p:nvSpPr>
        <p:spPr>
          <a:xfrm>
            <a:off x="0" y="0"/>
            <a:ext cx="12191520" cy="633600"/>
          </a:xfrm>
          <a:prstGeom prst="rect">
            <a:avLst/>
          </a:prstGeom>
          <a:solidFill>
            <a:srgbClr val="0D234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t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3" name="Text 1"/>
          <p:cNvSpPr/>
          <p:nvPr/>
        </p:nvSpPr>
        <p:spPr>
          <a:xfrm>
            <a:off x="341280" y="48960"/>
            <a:ext cx="10606560" cy="56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ctr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2933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What Is Elastic Net?</a:t>
            </a:r>
            <a:endParaRPr kumimoji="0" lang="en-US" sz="2933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5" name="Shape 3"/>
          <p:cNvSpPr/>
          <p:nvPr/>
        </p:nvSpPr>
        <p:spPr>
          <a:xfrm>
            <a:off x="0" y="6559200"/>
            <a:ext cx="12191520" cy="298080"/>
          </a:xfrm>
          <a:prstGeom prst="rect">
            <a:avLst/>
          </a:prstGeom>
          <a:solidFill>
            <a:srgbClr val="0D234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t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7" name="Text 5"/>
          <p:cNvSpPr/>
          <p:nvPr/>
        </p:nvSpPr>
        <p:spPr>
          <a:xfrm>
            <a:off x="219360" y="731520"/>
            <a:ext cx="5851680" cy="36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ctr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en-US" sz="1733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9" name="Shape 7"/>
          <p:cNvSpPr/>
          <p:nvPr/>
        </p:nvSpPr>
        <p:spPr>
          <a:xfrm>
            <a:off x="219360" y="3887896"/>
            <a:ext cx="5510400" cy="1950331"/>
          </a:xfrm>
          <a:prstGeom prst="rect">
            <a:avLst/>
          </a:prstGeom>
          <a:solidFill>
            <a:srgbClr val="D6F2FA"/>
          </a:solidFill>
          <a:ln w="19050">
            <a:solidFill>
              <a:srgbClr val="00A8C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t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1" name="Text 9"/>
          <p:cNvSpPr/>
          <p:nvPr/>
        </p:nvSpPr>
        <p:spPr>
          <a:xfrm>
            <a:off x="243840" y="3985826"/>
            <a:ext cx="5242080" cy="1237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t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rgbClr val="1A1A2E"/>
              </a:buClr>
              <a:buSzTx/>
              <a:buFontTx/>
              <a:buNone/>
              <a:tabLst/>
              <a:defRPr/>
            </a:pPr>
            <a:r>
              <a:rPr kumimoji="0" lang="en-US" sz="1733" b="1" i="0" u="none" strike="noStrike" kern="1200" cap="none" spc="0" normalizeH="0" baseline="0" noProof="0" dirty="0">
                <a:ln>
                  <a:noFill/>
                </a:ln>
                <a:solidFill>
                  <a:srgbClr val="00A8CC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Bottom Line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rgbClr val="1A1A2E"/>
              </a:buClr>
              <a:buSzTx/>
              <a:buFontTx/>
              <a:buNone/>
              <a:tabLst/>
              <a:defRPr/>
            </a:pPr>
            <a:r>
              <a:rPr kumimoji="0" lang="en-US" sz="1467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Elastic Net is a strong, interpretable benchmark that helps us identify which features matter and which do not</a:t>
            </a:r>
            <a:r>
              <a:rPr kumimoji="0" lang="en-US" sz="1533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.</a:t>
            </a:r>
          </a:p>
        </p:txBody>
      </p:sp>
      <p:sp>
        <p:nvSpPr>
          <p:cNvPr id="43" name="Shape 11"/>
          <p:cNvSpPr/>
          <p:nvPr/>
        </p:nvSpPr>
        <p:spPr>
          <a:xfrm>
            <a:off x="6096000" y="1121760"/>
            <a:ext cx="5876160" cy="2584608"/>
          </a:xfrm>
          <a:prstGeom prst="rect">
            <a:avLst/>
          </a:prstGeom>
          <a:solidFill>
            <a:srgbClr val="D5F5E3"/>
          </a:solidFill>
          <a:ln w="19050">
            <a:solidFill>
              <a:srgbClr val="1E844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t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5" name="Text 13"/>
          <p:cNvSpPr/>
          <p:nvPr/>
        </p:nvSpPr>
        <p:spPr>
          <a:xfrm>
            <a:off x="6136745" y="1174542"/>
            <a:ext cx="5607840" cy="17517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t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rgbClr val="1A1A2E"/>
              </a:buClr>
              <a:buSzTx/>
              <a:buFontTx/>
              <a:buNone/>
              <a:tabLst/>
              <a:defRPr/>
            </a:pPr>
            <a:r>
              <a:rPr kumimoji="0" lang="en-US" sz="1733" b="1" i="0" u="none" strike="noStrike" kern="1200" cap="none" spc="0" normalizeH="0" baseline="0" noProof="0" dirty="0">
                <a:ln>
                  <a:noFill/>
                </a:ln>
                <a:solidFill>
                  <a:srgbClr val="00A8CC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Why We Use It Here</a:t>
            </a:r>
          </a:p>
          <a:p>
            <a:pPr marL="228594" marR="0" lvl="0" indent="-228594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rgbClr val="1A1A2E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67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Our volatility features overlap</a:t>
            </a:r>
          </a:p>
          <a:p>
            <a:pPr marL="228594" marR="0" lvl="0" indent="-228594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rgbClr val="1A1A2E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67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Some macro variables may add little value</a:t>
            </a:r>
          </a:p>
          <a:p>
            <a:pPr marL="228594" marR="0" lvl="0" indent="-228594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rgbClr val="1A1A2E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67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 want a model that is still easy to interpret</a:t>
            </a:r>
          </a:p>
        </p:txBody>
      </p:sp>
      <p:sp>
        <p:nvSpPr>
          <p:cNvPr id="46" name="Shape 14"/>
          <p:cNvSpPr/>
          <p:nvPr/>
        </p:nvSpPr>
        <p:spPr>
          <a:xfrm>
            <a:off x="6096000" y="3863416"/>
            <a:ext cx="5876160" cy="1974808"/>
          </a:xfrm>
          <a:prstGeom prst="rect">
            <a:avLst/>
          </a:prstGeom>
          <a:solidFill>
            <a:srgbClr val="FADBD8"/>
          </a:solidFill>
          <a:ln w="19050">
            <a:solidFill>
              <a:srgbClr val="C039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t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8" name="Text 16"/>
          <p:cNvSpPr/>
          <p:nvPr/>
        </p:nvSpPr>
        <p:spPr>
          <a:xfrm>
            <a:off x="6071040" y="3985826"/>
            <a:ext cx="5607840" cy="10366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t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rgbClr val="1A1A2E"/>
              </a:buClr>
              <a:buSzTx/>
              <a:buFontTx/>
              <a:buNone/>
              <a:tabLst/>
              <a:defRPr/>
            </a:pPr>
            <a:r>
              <a:rPr kumimoji="0" lang="en-US" sz="1733" b="1" i="0" u="none" strike="noStrike" kern="1200" cap="none" spc="0" normalizeH="0" baseline="0" noProof="0" dirty="0">
                <a:ln>
                  <a:noFill/>
                </a:ln>
                <a:solidFill>
                  <a:srgbClr val="00A8CC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Main Tradeoff</a:t>
            </a:r>
            <a:endParaRPr kumimoji="0" lang="en-US" sz="1467" b="0" i="0" u="none" strike="noStrike" kern="1200" cap="none" spc="0" normalizeH="0" baseline="0" noProof="0" dirty="0">
              <a:ln>
                <a:noFill/>
              </a:ln>
              <a:solidFill>
                <a:srgbClr val="1A1A2E"/>
              </a:solidFill>
              <a:effectLst/>
              <a:uLnTx/>
              <a:uFillTx/>
              <a:latin typeface="Calibri"/>
              <a:ea typeface="Calibri"/>
              <a:cs typeface="+mn-cs"/>
            </a:endParaRPr>
          </a:p>
          <a:p>
            <a:pPr marL="228594" marR="0" lvl="0" indent="-228594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rgbClr val="1A1A2E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67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Elastic Net is transparent and disciplined</a:t>
            </a:r>
          </a:p>
          <a:p>
            <a:pPr marL="228594" marR="0" lvl="0" indent="-228594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rgbClr val="1A1A2E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67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But it is still linear, so it may miss nonlinear volatility patterns</a:t>
            </a:r>
            <a:endParaRPr kumimoji="0" lang="en-US" sz="1467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3">
            <a:extLst>
              <a:ext uri="{FF2B5EF4-FFF2-40B4-BE49-F238E27FC236}">
                <a16:creationId xmlns:a16="http://schemas.microsoft.com/office/drawing/2014/main" id="{C8B8F06B-FD16-7B16-3190-45285D1E9BE4}"/>
              </a:ext>
            </a:extLst>
          </p:cNvPr>
          <p:cNvSpPr/>
          <p:nvPr/>
        </p:nvSpPr>
        <p:spPr>
          <a:xfrm>
            <a:off x="243840" y="1109280"/>
            <a:ext cx="5485920" cy="2597088"/>
          </a:xfrm>
          <a:prstGeom prst="rect">
            <a:avLst/>
          </a:prstGeom>
          <a:solidFill>
            <a:srgbClr val="FCF3CF"/>
          </a:solidFill>
          <a:ln w="25400">
            <a:solidFill>
              <a:srgbClr val="E8972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t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33" b="1" i="0" u="none" strike="noStrike" kern="1200" cap="none" spc="0" normalizeH="0" baseline="0" noProof="0" dirty="0">
                <a:ln>
                  <a:noFill/>
                </a:ln>
                <a:solidFill>
                  <a:srgbClr val="00A8CC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How It Works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467" b="1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anose="020F0502020204030204"/>
                <a:ea typeface="Calibri"/>
                <a:cs typeface="+mn-cs"/>
              </a:rPr>
              <a:t>Elastic Net is a linear regression model with built-in regularization.  </a:t>
            </a:r>
            <a:r>
              <a:rPr kumimoji="0" lang="en-US" sz="1467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anose="020F0502020204030204"/>
                <a:ea typeface="Calibri"/>
                <a:cs typeface="+mn-cs"/>
              </a:rPr>
              <a:t>It helps the model fit the data while avoiding noisy or unstable coefficients.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467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Think of it as a combination of two ideas:</a:t>
            </a:r>
          </a:p>
          <a:p>
            <a:pPr marL="228594" marR="0" lvl="0" indent="-228594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Tx/>
              <a:buSzTx/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kumimoji="0" lang="en-US" sz="1467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Lasso (L1): </a:t>
            </a:r>
            <a:r>
              <a:rPr kumimoji="0" lang="en-US" sz="1467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removes weak or redundant features</a:t>
            </a:r>
          </a:p>
          <a:p>
            <a:pPr marL="228594" marR="0" lvl="0" indent="-228594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Tx/>
              <a:buSzTx/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kumimoji="0" lang="en-US" sz="1467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Ridge (L2): </a:t>
            </a:r>
            <a:r>
              <a:rPr kumimoji="0" lang="en-US" sz="1467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shrinks and stabilizes correlated features</a:t>
            </a:r>
          </a:p>
          <a:p>
            <a:pPr marL="228594" marR="0" lvl="0" indent="-228594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Tx/>
              <a:buSzTx/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kumimoji="0" lang="en-US" sz="1467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Elastic Net: </a:t>
            </a:r>
            <a:r>
              <a:rPr kumimoji="0" lang="en-US" sz="1467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does both at the same time</a:t>
            </a:r>
            <a:endParaRPr kumimoji="0" lang="en-US" sz="1533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36DD4909-E9CD-657C-677A-54C3E4B100FA}"/>
              </a:ext>
            </a:extLst>
          </p:cNvPr>
          <p:cNvSpPr/>
          <p:nvPr/>
        </p:nvSpPr>
        <p:spPr>
          <a:xfrm>
            <a:off x="329184" y="6615684"/>
            <a:ext cx="6217920" cy="1900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AAAACC"/>
                </a:solidFill>
              </a:rPr>
              <a:t>DATASCI 207  ·  Final Project: Forecasting Volatility In Stock Market  ·  March 2026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0"/>
          <p:cNvSpPr/>
          <p:nvPr/>
        </p:nvSpPr>
        <p:spPr>
          <a:xfrm>
            <a:off x="0" y="0"/>
            <a:ext cx="12191520" cy="633600"/>
          </a:xfrm>
          <a:prstGeom prst="rect">
            <a:avLst/>
          </a:prstGeom>
          <a:solidFill>
            <a:srgbClr val="0D234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t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8" name="Text 1"/>
          <p:cNvSpPr/>
          <p:nvPr/>
        </p:nvSpPr>
        <p:spPr>
          <a:xfrm>
            <a:off x="341280" y="48960"/>
            <a:ext cx="10606560" cy="56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ctr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2933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Elastic Net Setup: V1 vs. V2</a:t>
            </a:r>
            <a:endParaRPr kumimoji="0" lang="en-US" sz="2933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0" name="Shape 3"/>
          <p:cNvSpPr/>
          <p:nvPr/>
        </p:nvSpPr>
        <p:spPr>
          <a:xfrm>
            <a:off x="0" y="6559200"/>
            <a:ext cx="12191520" cy="298080"/>
          </a:xfrm>
          <a:prstGeom prst="rect">
            <a:avLst/>
          </a:prstGeom>
          <a:solidFill>
            <a:srgbClr val="0D234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t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93" name="Table 0"/>
          <p:cNvGraphicFramePr/>
          <p:nvPr>
            <p:custDataLst>
              <p:tags r:id="rId1"/>
            </p:custDataLst>
          </p:nvPr>
        </p:nvGraphicFramePr>
        <p:xfrm>
          <a:off x="231600" y="1833441"/>
          <a:ext cx="11752800" cy="3312747"/>
        </p:xfrm>
        <a:graphic>
          <a:graphicData uri="http://schemas.openxmlformats.org/drawingml/2006/table">
            <a:tbl>
              <a:tblPr/>
              <a:tblGrid>
                <a:gridCol w="2535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718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270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555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Model Tier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0D234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 dirty="0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Features</a:t>
                      </a:r>
                      <a:endParaRPr lang="en-US" sz="1600" b="0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0D234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 dirty="0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Count</a:t>
                      </a:r>
                      <a:endParaRPr lang="en-US" sz="1600" b="0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0D234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 dirty="0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Role / Notes</a:t>
                      </a:r>
                      <a:endParaRPr lang="en-US" sz="1600" b="0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0D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55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V1 — Current-State Volatility</a:t>
                      </a:r>
                      <a:endParaRPr lang="en-US" sz="15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Aft>
                          <a:spcPts val="400"/>
                        </a:spcAft>
                        <a:tabLst>
                          <a:tab pos="0" algn="l"/>
                        </a:tabLst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+mn-lt"/>
                          <a:ea typeface="Calibri"/>
                        </a:rPr>
                        <a:t>Current realized volatility (most recent observation)</a:t>
                      </a:r>
                    </a:p>
                    <a:p>
                      <a:pPr defTabSz="914400">
                        <a:lnSpc>
                          <a:spcPct val="100000"/>
                        </a:lnSpc>
                        <a:spcAft>
                          <a:spcPts val="400"/>
                        </a:spcAft>
                        <a:tabLst>
                          <a:tab pos="0" algn="l"/>
                        </a:tabLst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+mn-lt"/>
                          <a:ea typeface="Calibri"/>
                        </a:rPr>
                        <a:t>20-day trailing realized volatility</a:t>
                      </a: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900" b="1" u="none" strike="noStrike" dirty="0">
                          <a:solidFill>
                            <a:srgbClr val="1E844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</a:t>
                      </a:r>
                      <a:endParaRPr lang="en-US" sz="19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Aft>
                          <a:spcPts val="400"/>
                        </a:spcAft>
                        <a:tabLst>
                          <a:tab pos="0" algn="l"/>
                        </a:tabLst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Pure vol-persistence model. </a:t>
                      </a:r>
                    </a:p>
                    <a:p>
                      <a:pPr defTabSz="914400">
                        <a:lnSpc>
                          <a:spcPct val="100000"/>
                        </a:lnSpc>
                        <a:spcAft>
                          <a:spcPts val="400"/>
                        </a:spcAft>
                        <a:tabLst>
                          <a:tab pos="0" algn="l"/>
                        </a:tabLst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Both features genuinely retained by Lasso.</a:t>
                      </a:r>
                      <a:endParaRPr lang="en-US" sz="15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1707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V2 — Added Macro/Market</a:t>
                      </a:r>
                      <a:endParaRPr lang="en-US" sz="15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Aft>
                          <a:spcPts val="400"/>
                        </a:spcAft>
                        <a:tabLst>
                          <a:tab pos="0" algn="l"/>
                        </a:tabLst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+ Volume</a:t>
                      </a:r>
                      <a:endParaRPr lang="en-US" sz="15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spcAft>
                          <a:spcPts val="400"/>
                        </a:spcAft>
                        <a:tabLst>
                          <a:tab pos="0" algn="l"/>
                        </a:tabLst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+ NYGOLDS</a:t>
                      </a:r>
                      <a:endParaRPr lang="en-US" sz="15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spcAft>
                          <a:spcPts val="400"/>
                        </a:spcAft>
                        <a:tabLst>
                          <a:tab pos="0" algn="l"/>
                        </a:tabLst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+ OIL_WTI_S</a:t>
                      </a:r>
                      <a:endParaRPr lang="en-US" sz="15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spcAft>
                          <a:spcPts val="400"/>
                        </a:spcAft>
                        <a:tabLst>
                          <a:tab pos="0" algn="l"/>
                        </a:tabLst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+ US_10Y_BOND_YLD</a:t>
                      </a:r>
                      <a:endParaRPr lang="en-US" sz="15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spcAft>
                          <a:spcPts val="400"/>
                        </a:spcAft>
                        <a:tabLst>
                          <a:tab pos="0" algn="l"/>
                        </a:tabLst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+ US_3M_TB_YLD</a:t>
                      </a:r>
                      <a:endParaRPr lang="en-US" sz="15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spcAft>
                          <a:spcPts val="400"/>
                        </a:spcAft>
                        <a:tabLst>
                          <a:tab pos="0" algn="l"/>
                        </a:tabLst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+ VIX</a:t>
                      </a:r>
                      <a:endParaRPr lang="en-US" sz="15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1" u="none" strike="noStrike" dirty="0">
                          <a:solidFill>
                            <a:srgbClr val="00A8CC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8</a:t>
                      </a:r>
                      <a:endParaRPr lang="en-US" sz="17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spcAft>
                          <a:spcPts val="400"/>
                        </a:spcAft>
                        <a:tabLst>
                          <a:tab pos="0" algn="l"/>
                        </a:tabLst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Current-state macro context. </a:t>
                      </a:r>
                    </a:p>
                    <a:p>
                      <a:pPr defTabSz="914400">
                        <a:lnSpc>
                          <a:spcPct val="100000"/>
                        </a:lnSpc>
                        <a:spcAft>
                          <a:spcPts val="400"/>
                        </a:spcAft>
                        <a:tabLst>
                          <a:tab pos="0" algn="l"/>
                        </a:tabLst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Only VIX survives Lasso regularization. </a:t>
                      </a:r>
                    </a:p>
                    <a:p>
                      <a:pPr defTabSz="914400">
                        <a:lnSpc>
                          <a:spcPct val="100000"/>
                        </a:lnSpc>
                        <a:spcAft>
                          <a:spcPts val="400"/>
                        </a:spcAft>
                        <a:tabLst>
                          <a:tab pos="0" algn="l"/>
                        </a:tabLst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Other 5 macro features zeroed out.</a:t>
                      </a:r>
                      <a:endParaRPr lang="en-US" sz="15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59A7459-E959-0EFB-A0FB-33A4AD2C3694}"/>
              </a:ext>
            </a:extLst>
          </p:cNvPr>
          <p:cNvSpPr txBox="1"/>
          <p:nvPr/>
        </p:nvSpPr>
        <p:spPr>
          <a:xfrm>
            <a:off x="231600" y="1038595"/>
            <a:ext cx="11728320" cy="3590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33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V2 tests whether macro and market context improves on the simple volatility-only V1 model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3A2D322F-BCCC-7D67-B5C2-0E37FB5F266A}"/>
              </a:ext>
            </a:extLst>
          </p:cNvPr>
          <p:cNvSpPr/>
          <p:nvPr/>
        </p:nvSpPr>
        <p:spPr>
          <a:xfrm>
            <a:off x="329184" y="6615684"/>
            <a:ext cx="6217920" cy="1900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AAAACC"/>
                </a:solidFill>
              </a:rPr>
              <a:t>DATASCI 207  ·  Final Project: Forecasting Volatility In Stock Market  ·  March 2026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0"/>
          <p:cNvSpPr/>
          <p:nvPr/>
        </p:nvSpPr>
        <p:spPr>
          <a:xfrm>
            <a:off x="0" y="0"/>
            <a:ext cx="12191520" cy="633600"/>
          </a:xfrm>
          <a:prstGeom prst="rect">
            <a:avLst/>
          </a:prstGeom>
          <a:solidFill>
            <a:srgbClr val="0D234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t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5" name="Text 1"/>
          <p:cNvSpPr/>
          <p:nvPr/>
        </p:nvSpPr>
        <p:spPr>
          <a:xfrm>
            <a:off x="341280" y="48960"/>
            <a:ext cx="10606560" cy="56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ctr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2933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Model Performance Results — 2025 Test Set (8,820 rows)</a:t>
            </a:r>
            <a:endParaRPr kumimoji="0" lang="en-US" sz="2933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7" name="Shape 3"/>
          <p:cNvSpPr/>
          <p:nvPr/>
        </p:nvSpPr>
        <p:spPr>
          <a:xfrm>
            <a:off x="0" y="6559200"/>
            <a:ext cx="12191520" cy="298080"/>
          </a:xfrm>
          <a:prstGeom prst="rect">
            <a:avLst/>
          </a:prstGeom>
          <a:solidFill>
            <a:srgbClr val="0D234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t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9" name="Text 5"/>
          <p:cNvSpPr/>
          <p:nvPr/>
        </p:nvSpPr>
        <p:spPr>
          <a:xfrm>
            <a:off x="1372473" y="824585"/>
            <a:ext cx="8611228" cy="50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ctr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All results use the same 8,820-row test set. Lower MAE and RMSE are better; higher R² is better.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100" name="Table 0"/>
          <p:cNvGraphicFramePr/>
          <p:nvPr>
            <p:extLst>
              <p:ext uri="{D42A27DB-BD31-4B8C-83A1-F6EECF244321}">
                <p14:modId xmlns:p14="http://schemas.microsoft.com/office/powerpoint/2010/main" val="1313192674"/>
              </p:ext>
            </p:extLst>
          </p:nvPr>
        </p:nvGraphicFramePr>
        <p:xfrm>
          <a:off x="1450560" y="2061292"/>
          <a:ext cx="9290400" cy="3515360"/>
        </p:xfrm>
        <a:graphic>
          <a:graphicData uri="http://schemas.openxmlformats.org/drawingml/2006/table">
            <a:tbl>
              <a:tblPr/>
              <a:tblGrid>
                <a:gridCol w="2892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2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32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23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3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40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892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Model / Baseline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0D234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 dirty="0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Candidate Features</a:t>
                      </a:r>
                      <a:endParaRPr lang="en-US" sz="1400" b="0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0D234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 dirty="0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Retained</a:t>
                      </a:r>
                      <a:endParaRPr lang="en-US" sz="1400" b="0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0D234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 dirty="0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Test MAE</a:t>
                      </a:r>
                      <a:endParaRPr lang="en-US" sz="1400" b="0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0D234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 dirty="0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Test RMSE</a:t>
                      </a:r>
                      <a:endParaRPr lang="en-US" sz="1400" b="0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0D234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Test R²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0D234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 dirty="0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vs XGBoost</a:t>
                      </a:r>
                      <a:endParaRPr lang="en-US" sz="1400" b="0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0D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+mn-lt"/>
                          <a:ea typeface="Calibri"/>
                        </a:rPr>
                        <a:t>V1 — Elastic Net</a:t>
                      </a:r>
                      <a:endParaRPr lang="en-US" sz="14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+mn-lt"/>
                          <a:ea typeface="Calibri"/>
                        </a:rPr>
                        <a:t>2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+mn-lt"/>
                          <a:ea typeface="Calibri"/>
                        </a:rPr>
                        <a:t>2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+mn-lt"/>
                          <a:ea typeface="Calibri"/>
                        </a:rPr>
                        <a:t>0.0855</a:t>
                      </a:r>
                      <a:endParaRPr lang="en-US" sz="14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+mn-lt"/>
                          <a:ea typeface="Calibri"/>
                        </a:rPr>
                        <a:t>0.1357</a:t>
                      </a:r>
                      <a:endParaRPr lang="en-US" sz="14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+mn-lt"/>
                          <a:ea typeface="Calibri"/>
                        </a:rPr>
                        <a:t>0.1794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+mn-lt"/>
                          <a:ea typeface="Calibri"/>
                        </a:rPr>
                        <a:t>+0.0032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00A8CC"/>
                          </a:solidFill>
                          <a:effectLst/>
                          <a:uFillTx/>
                          <a:latin typeface="+mn-lt"/>
                          <a:ea typeface="Calibri"/>
                        </a:rPr>
                        <a:t>V2 — Elastic Net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00A8CC"/>
                          </a:solidFill>
                          <a:effectLst/>
                          <a:uFillTx/>
                          <a:latin typeface="+mn-lt"/>
                          <a:ea typeface="Calibri"/>
                        </a:rPr>
                        <a:t>8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00A8CC"/>
                          </a:solidFill>
                          <a:effectLst/>
                          <a:uFillTx/>
                          <a:latin typeface="+mn-lt"/>
                          <a:ea typeface="Calibri"/>
                        </a:rPr>
                        <a:t>3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00A8CC"/>
                          </a:solidFill>
                          <a:effectLst/>
                          <a:uFillTx/>
                          <a:latin typeface="+mn-lt"/>
                          <a:ea typeface="Calibri"/>
                        </a:rPr>
                        <a:t>0.0846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00A8CC"/>
                          </a:solidFill>
                          <a:effectLst/>
                          <a:uFillTx/>
                          <a:latin typeface="+mn-lt"/>
                          <a:ea typeface="Calibri"/>
                        </a:rPr>
                        <a:t>0.1324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00A8CC"/>
                          </a:solidFill>
                          <a:effectLst/>
                          <a:uFillTx/>
                          <a:latin typeface="+mn-lt"/>
                          <a:ea typeface="Calibri"/>
                        </a:rPr>
                        <a:t>0.2188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00A8CC"/>
                          </a:solidFill>
                          <a:effectLst/>
                          <a:uFillTx/>
                          <a:latin typeface="+mn-lt"/>
                          <a:ea typeface="Calibri"/>
                        </a:rPr>
                        <a:t>+0.0024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 dirty="0">
                          <a:solidFill>
                            <a:srgbClr val="E8972A"/>
                          </a:solidFill>
                          <a:effectLst/>
                          <a:uFillTx/>
                          <a:latin typeface="+mn-lt"/>
                          <a:ea typeface="Calibri"/>
                        </a:rPr>
                        <a:t>Baseline: </a:t>
                      </a:r>
                      <a:r>
                        <a:rPr lang="en-US" sz="1400" b="1" u="none" strike="noStrike" dirty="0" err="1">
                          <a:solidFill>
                            <a:srgbClr val="E8972A"/>
                          </a:solidFill>
                          <a:effectLst/>
                          <a:uFillTx/>
                          <a:latin typeface="+mn-lt"/>
                          <a:ea typeface="Calibri"/>
                        </a:rPr>
                        <a:t>XGBoost</a:t>
                      </a:r>
                      <a:r>
                        <a:rPr lang="en-US" sz="1400" b="1" u="none" strike="noStrike" dirty="0">
                          <a:solidFill>
                            <a:srgbClr val="E8972A"/>
                          </a:solidFill>
                          <a:effectLst/>
                          <a:uFillTx/>
                          <a:latin typeface="+mn-lt"/>
                          <a:ea typeface="Calibri"/>
                        </a:rPr>
                        <a:t> walk-forward</a:t>
                      </a:r>
                      <a:endParaRPr lang="en-US" sz="14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CF3C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+mn-lt"/>
                          <a:ea typeface="Calibri"/>
                        </a:rPr>
                        <a:t>—</a:t>
                      </a:r>
                      <a:endParaRPr lang="en-US" sz="14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121920" marR="121920" marT="60960" marB="60960" anchor="ctr">
                    <a:lnL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CF3C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+mn-lt"/>
                          <a:ea typeface="Calibri"/>
                        </a:rPr>
                        <a:t>—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CF3C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E8972A"/>
                          </a:solidFill>
                          <a:effectLst/>
                          <a:uFillTx/>
                          <a:latin typeface="+mn-lt"/>
                          <a:ea typeface="Calibri"/>
                        </a:rPr>
                        <a:t>0.0823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CF3C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+mn-lt"/>
                          <a:ea typeface="Calibri"/>
                        </a:rPr>
                        <a:t>0.1352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CF3C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+mn-lt"/>
                          <a:ea typeface="Calibri"/>
                        </a:rPr>
                        <a:t>0.1856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CF3C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E8972A"/>
                          </a:solidFill>
                          <a:effectLst/>
                          <a:uFillTx/>
                          <a:latin typeface="+mn-lt"/>
                          <a:ea typeface="Calibri"/>
                        </a:rPr>
                        <a:t>BEST ★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CF3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+mn-lt"/>
                          <a:ea typeface="Calibri"/>
                        </a:rPr>
                        <a:t>Baseline: Trailing 20 Day Average</a:t>
                      </a:r>
                      <a:endParaRPr lang="en-US" sz="1400" b="1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CF3C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+mn-lt"/>
                          <a:ea typeface="Calibri"/>
                        </a:rPr>
                        <a:t>—</a:t>
                      </a:r>
                      <a:endParaRPr lang="en-US" sz="1400" b="1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121920" marR="121920" marT="60960" marB="60960" anchor="ctr">
                    <a:lnL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CF3C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+mn-lt"/>
                          <a:ea typeface="Calibri"/>
                        </a:rPr>
                        <a:t>—</a:t>
                      </a:r>
                      <a:endParaRPr lang="en-US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CF3C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+mn-lt"/>
                          <a:ea typeface="Calibri"/>
                        </a:rPr>
                        <a:t>0.0922</a:t>
                      </a:r>
                      <a:endParaRPr lang="en-US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CF3C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+mn-lt"/>
                          <a:ea typeface="Calibri"/>
                        </a:rPr>
                        <a:t>0.1491</a:t>
                      </a:r>
                      <a:endParaRPr lang="en-US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CF3C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+mn-lt"/>
                          <a:ea typeface="Calibri"/>
                        </a:rPr>
                        <a:t>0.0088</a:t>
                      </a:r>
                      <a:endParaRPr lang="en-US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CF3C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+mn-lt"/>
                          <a:ea typeface="Calibri"/>
                        </a:rPr>
                        <a:t>+0.0099</a:t>
                      </a:r>
                      <a:endParaRPr lang="en-US" sz="1400" b="1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CF3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+mn-lt"/>
                          <a:ea typeface="Calibri"/>
                        </a:rPr>
                        <a:t>Baseline: Trailing 5 Day Average</a:t>
                      </a:r>
                      <a:endParaRPr lang="en-US" sz="1400" b="1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CF3C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+mn-lt"/>
                          <a:ea typeface="Calibri"/>
                        </a:rPr>
                        <a:t>—</a:t>
                      </a:r>
                      <a:endParaRPr lang="en-US" sz="1400" b="1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121920" marR="121920" marT="60960" marB="60960" anchor="ctr">
                    <a:lnL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CF3C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+mn-lt"/>
                          <a:ea typeface="Calibri"/>
                        </a:rPr>
                        <a:t>—</a:t>
                      </a:r>
                      <a:endParaRPr lang="en-US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CF3C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+mn-lt"/>
                          <a:ea typeface="Calibri"/>
                        </a:rPr>
                        <a:t>0.1005</a:t>
                      </a:r>
                      <a:endParaRPr lang="en-US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CF3C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+mn-lt"/>
                          <a:ea typeface="Calibri"/>
                        </a:rPr>
                        <a:t>0.1625</a:t>
                      </a:r>
                      <a:endParaRPr lang="en-US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CF3C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+mn-lt"/>
                          <a:ea typeface="Calibri"/>
                        </a:rPr>
                        <a:t>−0.1773</a:t>
                      </a:r>
                      <a:endParaRPr lang="en-US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CF3C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+mn-lt"/>
                          <a:ea typeface="Calibri"/>
                        </a:rPr>
                        <a:t>+0.0182</a:t>
                      </a:r>
                      <a:endParaRPr lang="en-US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CF3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+mn-lt"/>
                          <a:ea typeface="Calibri"/>
                        </a:rPr>
                        <a:t>Baseline: Current Volatility</a:t>
                      </a:r>
                      <a:endParaRPr lang="en-US" sz="1400" b="1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CF3C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+mn-lt"/>
                          <a:ea typeface="Calibri"/>
                        </a:rPr>
                        <a:t>—</a:t>
                      </a:r>
                      <a:endParaRPr lang="en-US" sz="1400" b="1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121920" marR="121920" marT="60960" marB="60960" anchor="ctr">
                    <a:lnL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CF3C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+mn-lt"/>
                          <a:ea typeface="Calibri"/>
                        </a:rPr>
                        <a:t>—</a:t>
                      </a:r>
                      <a:endParaRPr lang="en-US" sz="1400" b="1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CF3C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+mn-lt"/>
                          <a:ea typeface="Calibri"/>
                        </a:rPr>
                        <a:t>0.1020</a:t>
                      </a:r>
                      <a:endParaRPr lang="en-US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CF3C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+mn-lt"/>
                          <a:ea typeface="Calibri"/>
                        </a:rPr>
                        <a:t>0.1619</a:t>
                      </a:r>
                      <a:endParaRPr lang="en-US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CF3C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+mn-lt"/>
                          <a:ea typeface="Calibri"/>
                        </a:rPr>
                        <a:t>−0.1680</a:t>
                      </a:r>
                      <a:endParaRPr lang="en-US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CF3C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+mn-lt"/>
                          <a:ea typeface="Calibri"/>
                        </a:rPr>
                        <a:t>+0.0197</a:t>
                      </a:r>
                      <a:endParaRPr lang="en-US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CF3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+mn-lt"/>
                          <a:ea typeface="Calibri"/>
                        </a:rPr>
                        <a:t>Baseline: Trailing 20 Day OLS</a:t>
                      </a:r>
                      <a:endParaRPr lang="en-US" sz="1400" b="1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CF3C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+mn-lt"/>
                          <a:ea typeface="Calibri"/>
                        </a:rPr>
                        <a:t>—</a:t>
                      </a:r>
                      <a:endParaRPr lang="en-US" sz="1400" b="1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121920" marR="121920" marT="60960" marB="60960" anchor="ctr">
                    <a:lnL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CF3C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+mn-lt"/>
                          <a:ea typeface="Calibri"/>
                        </a:rPr>
                        <a:t>—</a:t>
                      </a:r>
                      <a:endParaRPr lang="en-US" sz="1400" b="1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CF3C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+mn-lt"/>
                          <a:ea typeface="Calibri"/>
                        </a:rPr>
                        <a:t>0.1298</a:t>
                      </a:r>
                      <a:endParaRPr lang="en-US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CF3C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+mn-lt"/>
                          <a:ea typeface="Calibri"/>
                        </a:rPr>
                        <a:t>0.2091</a:t>
                      </a:r>
                      <a:endParaRPr lang="en-US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CF3C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+mn-lt"/>
                          <a:ea typeface="Calibri"/>
                        </a:rPr>
                        <a:t>−0.9498</a:t>
                      </a:r>
                      <a:endParaRPr lang="en-US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CF3C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+mn-lt"/>
                          <a:ea typeface="Calibri"/>
                        </a:rPr>
                        <a:t>+0.0475</a:t>
                      </a:r>
                      <a:endParaRPr lang="en-US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CF3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+mn-lt"/>
                          <a:ea typeface="Calibri"/>
                        </a:rPr>
                        <a:t>Baseline: Trailing 5 Day OLS</a:t>
                      </a:r>
                      <a:endParaRPr lang="en-US" sz="1400" b="1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CF3C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+mn-lt"/>
                          <a:ea typeface="Calibri"/>
                        </a:rPr>
                        <a:t>—</a:t>
                      </a:r>
                      <a:endParaRPr lang="en-US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121920" marR="121920" marT="60960" marB="60960" anchor="ctr">
                    <a:lnL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CF3C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+mn-lt"/>
                          <a:ea typeface="Calibri"/>
                        </a:rPr>
                        <a:t>—</a:t>
                      </a:r>
                      <a:endParaRPr lang="en-US" sz="1400" b="1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CF3C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+mn-lt"/>
                          <a:ea typeface="Calibri"/>
                        </a:rPr>
                        <a:t>0.1644</a:t>
                      </a:r>
                      <a:endParaRPr lang="en-US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CF3C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+mn-lt"/>
                          <a:ea typeface="Calibri"/>
                        </a:rPr>
                        <a:t>0.2478</a:t>
                      </a:r>
                      <a:endParaRPr lang="en-US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CF3C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+mn-lt"/>
                          <a:ea typeface="Calibri"/>
                        </a:rPr>
                        <a:t>−1.7383</a:t>
                      </a:r>
                      <a:endParaRPr lang="en-US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CF3C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+mn-lt"/>
                          <a:ea typeface="Calibri"/>
                        </a:rPr>
                        <a:t>+0.0821</a:t>
                      </a:r>
                      <a:endParaRPr lang="en-US" sz="1400" b="1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CF3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Text 5">
            <a:extLst>
              <a:ext uri="{FF2B5EF4-FFF2-40B4-BE49-F238E27FC236}">
                <a16:creationId xmlns:a16="http://schemas.microsoft.com/office/drawing/2014/main" id="{BD13B0C6-9175-E647-AE88-37C81EC4F178}"/>
              </a:ext>
            </a:extLst>
          </p:cNvPr>
          <p:cNvSpPr/>
          <p:nvPr/>
        </p:nvSpPr>
        <p:spPr>
          <a:xfrm>
            <a:off x="1372473" y="1296746"/>
            <a:ext cx="9774500" cy="3844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ctr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Key takeaway: V2 is the strongest Elastic Net model, but XGBoost remains the benchmark to beat on test MAE.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30B3A69D-C720-A455-AF5B-23B845D8DDAC}"/>
              </a:ext>
            </a:extLst>
          </p:cNvPr>
          <p:cNvSpPr/>
          <p:nvPr/>
        </p:nvSpPr>
        <p:spPr>
          <a:xfrm>
            <a:off x="329184" y="6615684"/>
            <a:ext cx="6217920" cy="1900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AAAACC"/>
                </a:solidFill>
              </a:rPr>
              <a:t>DATASCI 207  ·  Final Project: Forecasting Volatility In Stock Market  ·  March 2026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6">
            <a:extLst>
              <a:ext uri="{FF2B5EF4-FFF2-40B4-BE49-F238E27FC236}">
                <a16:creationId xmlns:a16="http://schemas.microsoft.com/office/drawing/2014/main" id="{D3C723B6-84B5-A592-FFF5-03C0407F2AA6}"/>
              </a:ext>
            </a:extLst>
          </p:cNvPr>
          <p:cNvSpPr/>
          <p:nvPr/>
        </p:nvSpPr>
        <p:spPr>
          <a:xfrm>
            <a:off x="504161" y="4804523"/>
            <a:ext cx="5449629" cy="1255773"/>
          </a:xfrm>
          <a:prstGeom prst="rect">
            <a:avLst/>
          </a:prstGeom>
          <a:solidFill>
            <a:srgbClr val="D5F5E3"/>
          </a:solidFill>
          <a:ln w="12700">
            <a:solidFill>
              <a:srgbClr val="1E844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A45"/>
          </a:solidFill>
          <a:ln w="12700">
            <a:solidFill>
              <a:srgbClr val="0B2A4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100885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What Elastic Net Retained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A45"/>
          </a:solidFill>
          <a:ln w="12700">
            <a:solidFill>
              <a:srgbClr val="0B2A4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10692" y="1536192"/>
            <a:ext cx="5432908" cy="2971800"/>
          </a:xfrm>
          <a:prstGeom prst="rect">
            <a:avLst/>
          </a:prstGeom>
          <a:solidFill>
            <a:srgbClr val="DFF5E6"/>
          </a:solidFill>
          <a:ln w="15875">
            <a:solidFill>
              <a:srgbClr val="2E7D3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731520" y="1719072"/>
            <a:ext cx="49757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E7D3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V1 retained features (2/2)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31520" y="2130552"/>
            <a:ext cx="4892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31520" y="2148840"/>
            <a:ext cx="1965960" cy="457200"/>
          </a:xfrm>
          <a:prstGeom prst="rect">
            <a:avLst/>
          </a:prstGeom>
          <a:solidFill>
            <a:srgbClr val="0B2A4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41248" y="2221992"/>
            <a:ext cx="17465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697480" y="2148840"/>
            <a:ext cx="1097280" cy="457200"/>
          </a:xfrm>
          <a:prstGeom prst="rect">
            <a:avLst/>
          </a:prstGeom>
          <a:solidFill>
            <a:srgbClr val="0B2A4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807208" y="2221992"/>
            <a:ext cx="8778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Coeff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794760" y="2148840"/>
            <a:ext cx="1828800" cy="457200"/>
          </a:xfrm>
          <a:prstGeom prst="rect">
            <a:avLst/>
          </a:prstGeom>
          <a:solidFill>
            <a:srgbClr val="0B2A4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904488" y="2221992"/>
            <a:ext cx="16093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41248" y="2651759"/>
            <a:ext cx="1755648" cy="5577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41248" y="2679192"/>
            <a:ext cx="174650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20-day trailing vol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679192" y="2642616"/>
            <a:ext cx="1069848" cy="5577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807208" y="2679192"/>
            <a:ext cx="87782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E7D3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+0.0487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822192" y="2640002"/>
            <a:ext cx="1755648" cy="560397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794760" y="2606041"/>
            <a:ext cx="178308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Dominant, smoother persistence signal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841248" y="3264409"/>
            <a:ext cx="1746504" cy="563008"/>
          </a:xfrm>
          <a:prstGeom prst="rect">
            <a:avLst/>
          </a:prstGeom>
          <a:solidFill>
            <a:srgbClr val="F7FAFC"/>
          </a:solidFill>
          <a:ln w="12700">
            <a:solidFill>
              <a:srgbClr val="D0D6D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41248" y="3319272"/>
            <a:ext cx="174650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Current vol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697480" y="3278777"/>
            <a:ext cx="1033272" cy="548640"/>
          </a:xfrm>
          <a:prstGeom prst="rect">
            <a:avLst/>
          </a:prstGeom>
          <a:solidFill>
            <a:srgbClr val="F7FAFC"/>
          </a:solidFill>
          <a:ln w="12700">
            <a:solidFill>
              <a:srgbClr val="D0D6D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2807208" y="3319272"/>
            <a:ext cx="87782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E7D3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+0.0377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794760" y="3246120"/>
            <a:ext cx="1783080" cy="581297"/>
          </a:xfrm>
          <a:prstGeom prst="rect">
            <a:avLst/>
          </a:prstGeom>
          <a:solidFill>
            <a:srgbClr val="F7FAFC"/>
          </a:solidFill>
          <a:ln w="12700">
            <a:solidFill>
              <a:srgbClr val="D0D6D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850996" y="3280083"/>
            <a:ext cx="1726844" cy="5473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Recency beyond the 20-day average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255868" y="1536192"/>
            <a:ext cx="5432908" cy="2971800"/>
          </a:xfrm>
          <a:prstGeom prst="rect">
            <a:avLst/>
          </a:prstGeom>
          <a:solidFill>
            <a:srgbClr val="DFF4FB"/>
          </a:solidFill>
          <a:ln w="15875">
            <a:solidFill>
              <a:srgbClr val="00A3C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484468" y="1719072"/>
            <a:ext cx="49757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A3C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V2 retained features (3/8)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484468" y="2148840"/>
            <a:ext cx="48920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484468" y="2148840"/>
            <a:ext cx="1965960" cy="457200"/>
          </a:xfrm>
          <a:prstGeom prst="rect">
            <a:avLst/>
          </a:prstGeom>
          <a:solidFill>
            <a:srgbClr val="0B2A4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594196" y="2221992"/>
            <a:ext cx="17465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8450428" y="2148840"/>
            <a:ext cx="1097280" cy="457200"/>
          </a:xfrm>
          <a:prstGeom prst="rect">
            <a:avLst/>
          </a:prstGeom>
          <a:solidFill>
            <a:srgbClr val="0B2A4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8560156" y="2221992"/>
            <a:ext cx="8778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Coeff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9547708" y="2148840"/>
            <a:ext cx="1828800" cy="457200"/>
          </a:xfrm>
          <a:prstGeom prst="rect">
            <a:avLst/>
          </a:prstGeom>
          <a:solidFill>
            <a:srgbClr val="0B2A4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9657436" y="2221992"/>
            <a:ext cx="16093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484468" y="2606040"/>
            <a:ext cx="19659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594196" y="2679192"/>
            <a:ext cx="1746504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20-day trailing vol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8450428" y="2606040"/>
            <a:ext cx="10972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8560156" y="2679192"/>
            <a:ext cx="877824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A3C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+0.0405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9547708" y="2606040"/>
            <a:ext cx="1828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9657436" y="2679192"/>
            <a:ext cx="1609344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Still dominant; slightly smaller with VIX added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6484468" y="3200400"/>
            <a:ext cx="1965960" cy="594360"/>
          </a:xfrm>
          <a:prstGeom prst="rect">
            <a:avLst/>
          </a:prstGeom>
          <a:solidFill>
            <a:srgbClr val="F7FAFC"/>
          </a:solidFill>
          <a:ln w="12700">
            <a:solidFill>
              <a:srgbClr val="D0D6D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6594196" y="3273552"/>
            <a:ext cx="1746504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Current vol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8450428" y="3200400"/>
            <a:ext cx="1097280" cy="594360"/>
          </a:xfrm>
          <a:prstGeom prst="rect">
            <a:avLst/>
          </a:prstGeom>
          <a:solidFill>
            <a:srgbClr val="F7FAFC"/>
          </a:solidFill>
          <a:ln w="12700">
            <a:solidFill>
              <a:srgbClr val="D0D6D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8560156" y="3273552"/>
            <a:ext cx="877824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A3C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+0.0323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9547708" y="3200400"/>
            <a:ext cx="1828800" cy="594360"/>
          </a:xfrm>
          <a:prstGeom prst="rect">
            <a:avLst/>
          </a:prstGeom>
          <a:solidFill>
            <a:srgbClr val="F7FAFC"/>
          </a:solidFill>
          <a:ln w="12700">
            <a:solidFill>
              <a:srgbClr val="D0D6D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9657436" y="3273552"/>
            <a:ext cx="1609344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Recency remains informative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6484468" y="3794760"/>
            <a:ext cx="19659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6594196" y="3867912"/>
            <a:ext cx="1746504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VIX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8450428" y="3794760"/>
            <a:ext cx="10972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8560156" y="3867912"/>
            <a:ext cx="877824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A3C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+0.0293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9547708" y="3794760"/>
            <a:ext cx="1828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9657436" y="3867912"/>
            <a:ext cx="1609344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Forward-looking implied volatility signal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Shape 7">
            <a:extLst>
              <a:ext uri="{FF2B5EF4-FFF2-40B4-BE49-F238E27FC236}">
                <a16:creationId xmlns:a16="http://schemas.microsoft.com/office/drawing/2014/main" id="{FD349E88-F102-AB6B-4A74-3AA11753C701}"/>
              </a:ext>
            </a:extLst>
          </p:cNvPr>
          <p:cNvSpPr/>
          <p:nvPr/>
        </p:nvSpPr>
        <p:spPr>
          <a:xfrm>
            <a:off x="6269791" y="4804524"/>
            <a:ext cx="5432908" cy="1255772"/>
          </a:xfrm>
          <a:prstGeom prst="rect">
            <a:avLst/>
          </a:prstGeom>
          <a:solidFill>
            <a:srgbClr val="D6F2FA"/>
          </a:solidFill>
          <a:ln w="12700">
            <a:solidFill>
              <a:srgbClr val="00A8C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6B13C97D-3A48-96FF-998F-CE8C71F1BDC5}"/>
              </a:ext>
            </a:extLst>
          </p:cNvPr>
          <p:cNvSpPr/>
          <p:nvPr/>
        </p:nvSpPr>
        <p:spPr>
          <a:xfrm>
            <a:off x="582152" y="4853724"/>
            <a:ext cx="5289987" cy="115736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1A1A2E"/>
              </a:buClr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2E7D32"/>
                </a:solidFill>
                <a:effectLst/>
                <a:uLnTx/>
                <a:uFillTx/>
                <a:latin typeface="Calibri" panose="020F0502020204030204"/>
                <a:ea typeface="Calibri" pitchFamily="34" charset="-122"/>
                <a:cs typeface="Calibri" pitchFamily="34" charset="-120"/>
              </a:rPr>
              <a:t>V1 Economic Meaning: Volatility</a:t>
            </a:r>
            <a:endParaRPr kumimoji="0" lang="en-US" sz="1300" b="1" i="0" u="none" strike="noStrike" kern="1200" cap="none" spc="0" normalizeH="0" baseline="0" noProof="0" dirty="0">
              <a:ln>
                <a:noFill/>
              </a:ln>
              <a:solidFill>
                <a:srgbClr val="1A1A2E"/>
              </a:solidFill>
              <a:effectLst/>
              <a:uLnTx/>
              <a:uFillTx/>
              <a:latin typeface="Calibri" panose="020F0502020204030204"/>
              <a:ea typeface="Calibri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A1A2E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anose="020F0502020204030204"/>
                <a:ea typeface="Calibri"/>
                <a:cs typeface="+mn-cs"/>
              </a:rPr>
              <a:t>Both coefficients are positive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A1A2E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anose="020F0502020204030204"/>
                <a:ea typeface="Calibri"/>
                <a:cs typeface="+mn-cs"/>
              </a:rPr>
              <a:t>20-day trailing volatility is the stronger signal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A1A2E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Current volatility recency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1"/>
              </a:spcAft>
              <a:buClr>
                <a:srgbClr val="1A1A2E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" name="Text 8">
            <a:extLst>
              <a:ext uri="{FF2B5EF4-FFF2-40B4-BE49-F238E27FC236}">
                <a16:creationId xmlns:a16="http://schemas.microsoft.com/office/drawing/2014/main" id="{CCF61E46-DCB3-164B-99B6-3C57DF654206}"/>
              </a:ext>
            </a:extLst>
          </p:cNvPr>
          <p:cNvSpPr/>
          <p:nvPr/>
        </p:nvSpPr>
        <p:spPr>
          <a:xfrm>
            <a:off x="6338571" y="4853725"/>
            <a:ext cx="5295347" cy="99843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A3C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V2: Why VIX Survives</a:t>
            </a:r>
            <a:endParaRPr kumimoji="0" lang="en-US" sz="1300" b="1" i="0" u="none" strike="noStrike" kern="1200" cap="none" spc="0" normalizeH="0" baseline="0" noProof="0" dirty="0">
              <a:ln>
                <a:noFill/>
              </a:ln>
              <a:solidFill>
                <a:srgbClr val="1A1A2E"/>
              </a:solidFill>
              <a:effectLst/>
              <a:uLnTx/>
              <a:uFillTx/>
              <a:latin typeface="Calibri" panose="020F0502020204030204"/>
              <a:ea typeface="Calibri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anose="020F0502020204030204"/>
                <a:ea typeface="Calibri"/>
                <a:cs typeface="+mn-cs"/>
              </a:rPr>
              <a:t>VIX forward-looking, while the other retained volatility measures are backward-looking.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That gives VIX unique predictive value in V2.</a:t>
            </a:r>
          </a:p>
        </p:txBody>
      </p:sp>
      <p:sp>
        <p:nvSpPr>
          <p:cNvPr id="101" name="Text 5">
            <a:extLst>
              <a:ext uri="{FF2B5EF4-FFF2-40B4-BE49-F238E27FC236}">
                <a16:creationId xmlns:a16="http://schemas.microsoft.com/office/drawing/2014/main" id="{93BDD627-9A92-B266-94CA-7154B61271BB}"/>
              </a:ext>
            </a:extLst>
          </p:cNvPr>
          <p:cNvSpPr/>
          <p:nvPr/>
        </p:nvSpPr>
        <p:spPr>
          <a:xfrm>
            <a:off x="520882" y="896111"/>
            <a:ext cx="5432908" cy="53035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V1 retains two current-state volatility features.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20-day trailing volatility term is the stronger predictor.</a:t>
            </a:r>
            <a:endParaRPr kumimoji="0" lang="en-US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2" name="Text 5">
            <a:extLst>
              <a:ext uri="{FF2B5EF4-FFF2-40B4-BE49-F238E27FC236}">
                <a16:creationId xmlns:a16="http://schemas.microsoft.com/office/drawing/2014/main" id="{F4A5F84F-65E6-8FA9-813D-75D3989A7BBE}"/>
              </a:ext>
            </a:extLst>
          </p:cNvPr>
          <p:cNvSpPr/>
          <p:nvPr/>
        </p:nvSpPr>
        <p:spPr>
          <a:xfrm>
            <a:off x="6255868" y="896110"/>
            <a:ext cx="5432907" cy="53035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V2 adds six macro and market features.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Only VIX is retained; the others are shrunk to zero. </a:t>
            </a:r>
            <a:endParaRPr kumimoji="0" lang="en-US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6" name="Text 3">
            <a:extLst>
              <a:ext uri="{FF2B5EF4-FFF2-40B4-BE49-F238E27FC236}">
                <a16:creationId xmlns:a16="http://schemas.microsoft.com/office/drawing/2014/main" id="{881F9AEE-4A6C-8B73-1042-3CBAAB706B31}"/>
              </a:ext>
            </a:extLst>
          </p:cNvPr>
          <p:cNvSpPr/>
          <p:nvPr/>
        </p:nvSpPr>
        <p:spPr>
          <a:xfrm>
            <a:off x="329184" y="6615684"/>
            <a:ext cx="6217920" cy="1900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AAAACC"/>
                </a:solidFill>
              </a:rPr>
              <a:t>DATASCI 207  ·  Final Project: Forecasting Volatility In Stock Market  ·  March 2026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0"/>
          <p:cNvSpPr/>
          <p:nvPr/>
        </p:nvSpPr>
        <p:spPr>
          <a:xfrm>
            <a:off x="0" y="0"/>
            <a:ext cx="12191520" cy="633600"/>
          </a:xfrm>
          <a:prstGeom prst="rect">
            <a:avLst/>
          </a:prstGeom>
          <a:solidFill>
            <a:srgbClr val="0D234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t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2" name="Text 1"/>
          <p:cNvSpPr/>
          <p:nvPr/>
        </p:nvSpPr>
        <p:spPr>
          <a:xfrm>
            <a:off x="341280" y="48960"/>
            <a:ext cx="10606560" cy="56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ctr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2933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Subgroup Breakdown: Market / Sector / Industry ETFs</a:t>
            </a:r>
            <a:endParaRPr kumimoji="0" lang="en-US" sz="2933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4" name="Shape 3"/>
          <p:cNvSpPr/>
          <p:nvPr/>
        </p:nvSpPr>
        <p:spPr>
          <a:xfrm>
            <a:off x="0" y="6559200"/>
            <a:ext cx="12191520" cy="298080"/>
          </a:xfrm>
          <a:prstGeom prst="rect">
            <a:avLst/>
          </a:prstGeom>
          <a:solidFill>
            <a:srgbClr val="0D234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t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6" name="Text 5"/>
          <p:cNvSpPr/>
          <p:nvPr/>
        </p:nvSpPr>
        <p:spPr>
          <a:xfrm>
            <a:off x="219360" y="914592"/>
            <a:ext cx="11752800" cy="46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ctr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Performance by ETF subgroup. Industry ETFs are hardest to forecast because idiosyncratic risk is less well captured by aggregate volatility signals. V2’s clearest MAE improvement appears at the industry level.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147" name="Table 0"/>
          <p:cNvGraphicFramePr/>
          <p:nvPr/>
        </p:nvGraphicFramePr>
        <p:xfrm>
          <a:off x="341281" y="1658304"/>
          <a:ext cx="9757184" cy="2926080"/>
        </p:xfrm>
        <a:graphic>
          <a:graphicData uri="http://schemas.openxmlformats.org/drawingml/2006/table">
            <a:tbl>
              <a:tblPr/>
              <a:tblGrid>
                <a:gridCol w="1256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2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26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26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26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26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426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4266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4266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Group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0D234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 Rows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0D234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V1 MAE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0D234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V2 MAE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0D234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V1 RMSE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0D234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V2 RMSE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0D234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 dirty="0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V1 R²</a:t>
                      </a:r>
                      <a:endParaRPr lang="en-US" sz="1500" b="0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0D234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 dirty="0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V2 R²</a:t>
                      </a:r>
                      <a:endParaRPr lang="en-US" sz="1500" b="0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0D234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 dirty="0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ΔMAE (V2 – V1)</a:t>
                      </a:r>
                      <a:endParaRPr lang="en-US" sz="1500" b="0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0D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Market ETF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245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0.0792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0.0802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0.1264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0.1225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0.1442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0.1973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C0392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+0.0010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Sector ETF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3,185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0.0737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0.0743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0.1148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0.1123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0.1410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0.1774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C0392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+0.0006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Industry ETF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5,390</a:t>
                      </a:r>
                      <a:endParaRPr lang="en-US" sz="15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0.0927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0.0910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0.1470</a:t>
                      </a:r>
                      <a:endParaRPr lang="en-US" sz="15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0.1433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0.1367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0.1796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 dirty="0">
                          <a:solidFill>
                            <a:srgbClr val="1E844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−0.0017</a:t>
                      </a:r>
                      <a:endParaRPr lang="en-US" sz="15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6">
            <a:extLst>
              <a:ext uri="{FF2B5EF4-FFF2-40B4-BE49-F238E27FC236}">
                <a16:creationId xmlns:a16="http://schemas.microsoft.com/office/drawing/2014/main" id="{01849EE1-5C09-0D46-FCAF-E2F7074FBF94}"/>
              </a:ext>
            </a:extLst>
          </p:cNvPr>
          <p:cNvSpPr/>
          <p:nvPr/>
        </p:nvSpPr>
        <p:spPr>
          <a:xfrm>
            <a:off x="219360" y="5355485"/>
            <a:ext cx="11728320" cy="655076"/>
          </a:xfrm>
          <a:prstGeom prst="rect">
            <a:avLst/>
          </a:prstGeom>
          <a:solidFill>
            <a:srgbClr val="D5F5E3"/>
          </a:solidFill>
          <a:ln w="12700">
            <a:solidFill>
              <a:srgbClr val="1E844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t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B21DDC88-7C04-F54C-3AE7-D745E4049CFC}"/>
              </a:ext>
            </a:extLst>
          </p:cNvPr>
          <p:cNvSpPr/>
          <p:nvPr/>
        </p:nvSpPr>
        <p:spPr>
          <a:xfrm>
            <a:off x="316800" y="5441602"/>
            <a:ext cx="11338080" cy="47916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ctr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Key takeaway: V2 improves R² in all subgroups, but lowers MAE only for industry ETFs.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96AA78-C1BE-A6FB-5D39-EE8CFBCC2CDA}"/>
              </a:ext>
            </a:extLst>
          </p:cNvPr>
          <p:cNvSpPr txBox="1"/>
          <p:nvPr/>
        </p:nvSpPr>
        <p:spPr>
          <a:xfrm>
            <a:off x="341280" y="4649474"/>
            <a:ext cx="39712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Note: Negative </a:t>
            </a:r>
            <a:r>
              <a:rPr kumimoji="0" lang="el-GR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Δ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MAE is better.</a:t>
            </a: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51C2CA67-4AB6-A231-FDA7-5786A43AA0C2}"/>
              </a:ext>
            </a:extLst>
          </p:cNvPr>
          <p:cNvSpPr/>
          <p:nvPr/>
        </p:nvSpPr>
        <p:spPr>
          <a:xfrm>
            <a:off x="329184" y="6615684"/>
            <a:ext cx="6217920" cy="1900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AAAACC"/>
                </a:solidFill>
              </a:rPr>
              <a:t>DATASCI 207  ·  Final Project: Forecasting Volatility In Stock Market  ·  March 2026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Shape 0"/>
          <p:cNvSpPr/>
          <p:nvPr/>
        </p:nvSpPr>
        <p:spPr>
          <a:xfrm>
            <a:off x="0" y="0"/>
            <a:ext cx="12191520" cy="633600"/>
          </a:xfrm>
          <a:prstGeom prst="rect">
            <a:avLst/>
          </a:prstGeom>
          <a:solidFill>
            <a:srgbClr val="0D234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t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4" name="Text 1"/>
          <p:cNvSpPr/>
          <p:nvPr/>
        </p:nvSpPr>
        <p:spPr>
          <a:xfrm>
            <a:off x="341280" y="48960"/>
            <a:ext cx="11581920" cy="56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ctr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2933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Conclusions</a:t>
            </a:r>
            <a:endParaRPr kumimoji="0" lang="en-US" sz="2933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5" name="Shape 2"/>
          <p:cNvSpPr/>
          <p:nvPr/>
        </p:nvSpPr>
        <p:spPr>
          <a:xfrm>
            <a:off x="0" y="6559200"/>
            <a:ext cx="12191520" cy="298080"/>
          </a:xfrm>
          <a:prstGeom prst="rect">
            <a:avLst/>
          </a:prstGeom>
          <a:solidFill>
            <a:srgbClr val="0D234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t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8" name="Shape 4"/>
          <p:cNvSpPr/>
          <p:nvPr/>
        </p:nvSpPr>
        <p:spPr>
          <a:xfrm>
            <a:off x="219600" y="1045032"/>
            <a:ext cx="11752800" cy="2339365"/>
          </a:xfrm>
          <a:prstGeom prst="rect">
            <a:avLst/>
          </a:prstGeom>
          <a:solidFill>
            <a:srgbClr val="D6F2FA"/>
          </a:solidFill>
          <a:ln w="19050">
            <a:solidFill>
              <a:srgbClr val="00A8C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t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9" name="Text 5"/>
          <p:cNvSpPr/>
          <p:nvPr/>
        </p:nvSpPr>
        <p:spPr>
          <a:xfrm>
            <a:off x="341520" y="1103040"/>
            <a:ext cx="3535200" cy="36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ctr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733" b="1" i="0" u="none" strike="noStrike" kern="1200" cap="none" spc="0" normalizeH="0" baseline="0" noProof="0" dirty="0">
                <a:ln>
                  <a:noFill/>
                </a:ln>
                <a:solidFill>
                  <a:srgbClr val="00A8CC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Key Conclusions</a:t>
            </a:r>
            <a:endParaRPr kumimoji="0" lang="en-US" sz="1733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0" name="Text 6"/>
          <p:cNvSpPr/>
          <p:nvPr/>
        </p:nvSpPr>
        <p:spPr>
          <a:xfrm>
            <a:off x="341520" y="1468321"/>
            <a:ext cx="11423520" cy="182550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t">
            <a:noAutofit/>
          </a:bodyPr>
          <a:lstStyle/>
          <a:p>
            <a:pPr marL="228594" marR="0" lvl="0" indent="-228594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65"/>
              </a:spcAft>
              <a:buClr>
                <a:srgbClr val="1A1A2E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anose="020F0502020204030204"/>
                <a:ea typeface="Calibri"/>
                <a:cs typeface="+mn-cs"/>
              </a:rPr>
              <a:t>V1 showed that current-state volatility features carry real predictive signal.</a:t>
            </a:r>
          </a:p>
          <a:p>
            <a:pPr marL="228594" marR="0" lvl="0" indent="-228594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65"/>
              </a:spcAft>
              <a:buClr>
                <a:srgbClr val="1A1A2E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V2 improved on V1 modestly, and most of that improvement came from VIX.</a:t>
            </a:r>
          </a:p>
          <a:p>
            <a:pPr marL="228594" marR="0" lvl="0" indent="-228594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65"/>
              </a:spcAft>
              <a:buClr>
                <a:srgbClr val="1A1A2E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V2 was the best Elastic Net model, but XGBoost remained the strongest benchmark on test MAE.</a:t>
            </a:r>
          </a:p>
          <a:p>
            <a:pPr marL="228594" marR="0" lvl="0" indent="-228594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65"/>
              </a:spcAft>
              <a:buClr>
                <a:srgbClr val="1A1A2E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 retained coefficients were positive, consistent with volatility clustering and persistence.</a:t>
            </a:r>
          </a:p>
          <a:p>
            <a:pPr marL="228594" marR="0" lvl="0" indent="-228594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65"/>
              </a:spcAft>
              <a:buClr>
                <a:srgbClr val="1A1A2E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Overall, Elastic Net provided a transparent and interpretable benchmark for the project.</a:t>
            </a: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17A2A655-8549-7660-86C1-DDB5E5BE378B}"/>
              </a:ext>
            </a:extLst>
          </p:cNvPr>
          <p:cNvSpPr/>
          <p:nvPr/>
        </p:nvSpPr>
        <p:spPr>
          <a:xfrm>
            <a:off x="329184" y="6615684"/>
            <a:ext cx="6217920" cy="1900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AAAACC"/>
                </a:solidFill>
              </a:rPr>
              <a:t>DATASCI 207  ·  Final Project: Forecasting Volatility In Stock Market  ·  March 2026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3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404D75-18BC-D665-23F3-A867A7E04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>
            <a:extLst>
              <a:ext uri="{FF2B5EF4-FFF2-40B4-BE49-F238E27FC236}">
                <a16:creationId xmlns:a16="http://schemas.microsoft.com/office/drawing/2014/main" id="{DAA6D360-E1CA-306B-37C2-AC6AFA2269C8}"/>
              </a:ext>
            </a:extLst>
          </p:cNvPr>
          <p:cNvSpPr/>
          <p:nvPr/>
        </p:nvSpPr>
        <p:spPr>
          <a:xfrm>
            <a:off x="0" y="0"/>
            <a:ext cx="145920" cy="6857760"/>
          </a:xfrm>
          <a:prstGeom prst="rect">
            <a:avLst/>
          </a:prstGeom>
          <a:solidFill>
            <a:srgbClr val="00A8C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t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F98C06AD-E53E-F165-88DB-3EAF6EFEC227}"/>
              </a:ext>
            </a:extLst>
          </p:cNvPr>
          <p:cNvSpPr/>
          <p:nvPr/>
        </p:nvSpPr>
        <p:spPr>
          <a:xfrm>
            <a:off x="426720" y="975360"/>
            <a:ext cx="11338080" cy="21009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t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6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Long Short-Term Memory (LSTM)</a:t>
            </a:r>
            <a:endParaRPr kumimoji="0" lang="en-US" sz="6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F311261F-24A4-01E6-D62D-0B0ABFFA3480}"/>
              </a:ext>
            </a:extLst>
          </p:cNvPr>
          <p:cNvSpPr/>
          <p:nvPr/>
        </p:nvSpPr>
        <p:spPr>
          <a:xfrm>
            <a:off x="426720" y="3596640"/>
            <a:ext cx="11460000" cy="48480"/>
          </a:xfrm>
          <a:prstGeom prst="rect">
            <a:avLst/>
          </a:prstGeom>
          <a:solidFill>
            <a:srgbClr val="00A8C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-11040" rIns="120000" bIns="-11040" anchor="t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256D60BD-02FD-FD3C-5C21-8889B537CFBE}"/>
              </a:ext>
            </a:extLst>
          </p:cNvPr>
          <p:cNvSpPr/>
          <p:nvPr/>
        </p:nvSpPr>
        <p:spPr>
          <a:xfrm>
            <a:off x="426720" y="5608320"/>
            <a:ext cx="11338080" cy="36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ctr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733" b="0" i="0" u="none" strike="noStrike" kern="1200" cap="none" spc="0" normalizeH="0" baseline="0" noProof="0" dirty="0">
                <a:ln>
                  <a:noFill/>
                </a:ln>
                <a:solidFill>
                  <a:srgbClr val="AAAACC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DS 207 Final Project  ·  Team: Greed and Fear  ·  Author: Sid Sridhar ·  March 27, 2026</a:t>
            </a:r>
            <a:endParaRPr kumimoji="0" lang="en-US" sz="1733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72491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573920-0796-4D0E-E314-D193FD1B9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Shape 0">
            <a:extLst>
              <a:ext uri="{FF2B5EF4-FFF2-40B4-BE49-F238E27FC236}">
                <a16:creationId xmlns:a16="http://schemas.microsoft.com/office/drawing/2014/main" id="{C2A7CD50-FD36-2B25-DFB9-F0B9B5861D69}"/>
              </a:ext>
            </a:extLst>
          </p:cNvPr>
          <p:cNvSpPr/>
          <p:nvPr/>
        </p:nvSpPr>
        <p:spPr>
          <a:xfrm>
            <a:off x="0" y="0"/>
            <a:ext cx="12191520" cy="633600"/>
          </a:xfrm>
          <a:prstGeom prst="rect">
            <a:avLst/>
          </a:prstGeom>
          <a:solidFill>
            <a:srgbClr val="0D234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t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4" name="Text 1">
            <a:extLst>
              <a:ext uri="{FF2B5EF4-FFF2-40B4-BE49-F238E27FC236}">
                <a16:creationId xmlns:a16="http://schemas.microsoft.com/office/drawing/2014/main" id="{ACEB6AC8-DD0A-BDF5-9ADD-C28B8375FDCE}"/>
              </a:ext>
            </a:extLst>
          </p:cNvPr>
          <p:cNvSpPr/>
          <p:nvPr/>
        </p:nvSpPr>
        <p:spPr>
          <a:xfrm>
            <a:off x="341280" y="48960"/>
            <a:ext cx="11581920" cy="56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ctr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2933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Title</a:t>
            </a:r>
            <a:endParaRPr kumimoji="0" lang="en-US" sz="2933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5" name="Shape 2">
            <a:extLst>
              <a:ext uri="{FF2B5EF4-FFF2-40B4-BE49-F238E27FC236}">
                <a16:creationId xmlns:a16="http://schemas.microsoft.com/office/drawing/2014/main" id="{771006B3-87BF-541B-1658-C8874A449F35}"/>
              </a:ext>
            </a:extLst>
          </p:cNvPr>
          <p:cNvSpPr/>
          <p:nvPr/>
        </p:nvSpPr>
        <p:spPr>
          <a:xfrm>
            <a:off x="0" y="6559200"/>
            <a:ext cx="12191520" cy="298080"/>
          </a:xfrm>
          <a:prstGeom prst="rect">
            <a:avLst/>
          </a:prstGeom>
          <a:solidFill>
            <a:srgbClr val="0D234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t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8" name="Shape 4">
            <a:extLst>
              <a:ext uri="{FF2B5EF4-FFF2-40B4-BE49-F238E27FC236}">
                <a16:creationId xmlns:a16="http://schemas.microsoft.com/office/drawing/2014/main" id="{2B525106-FB1D-BAAE-8361-C1B322F33ECE}"/>
              </a:ext>
            </a:extLst>
          </p:cNvPr>
          <p:cNvSpPr/>
          <p:nvPr/>
        </p:nvSpPr>
        <p:spPr>
          <a:xfrm>
            <a:off x="219600" y="1045032"/>
            <a:ext cx="11752800" cy="2339365"/>
          </a:xfrm>
          <a:prstGeom prst="rect">
            <a:avLst/>
          </a:prstGeom>
          <a:solidFill>
            <a:srgbClr val="D6F2FA"/>
          </a:solidFill>
          <a:ln w="19050">
            <a:solidFill>
              <a:srgbClr val="00A8C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t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9" name="Text 5">
            <a:extLst>
              <a:ext uri="{FF2B5EF4-FFF2-40B4-BE49-F238E27FC236}">
                <a16:creationId xmlns:a16="http://schemas.microsoft.com/office/drawing/2014/main" id="{390ED27C-DD6E-5715-89A6-FB036C8C74B2}"/>
              </a:ext>
            </a:extLst>
          </p:cNvPr>
          <p:cNvSpPr/>
          <p:nvPr/>
        </p:nvSpPr>
        <p:spPr>
          <a:xfrm>
            <a:off x="341520" y="1103040"/>
            <a:ext cx="3535200" cy="36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ctr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lang="en-US" sz="1733" b="1" dirty="0">
                <a:solidFill>
                  <a:srgbClr val="00A8CC"/>
                </a:solidFill>
                <a:latin typeface="Calibri"/>
                <a:ea typeface="Calibri"/>
              </a:rPr>
              <a:t>Heading</a:t>
            </a:r>
            <a:endParaRPr kumimoji="0" lang="en-US" sz="1733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0" name="Text 6">
            <a:extLst>
              <a:ext uri="{FF2B5EF4-FFF2-40B4-BE49-F238E27FC236}">
                <a16:creationId xmlns:a16="http://schemas.microsoft.com/office/drawing/2014/main" id="{23E3E2C1-29EA-44B2-D2F4-F94FD5532FC7}"/>
              </a:ext>
            </a:extLst>
          </p:cNvPr>
          <p:cNvSpPr/>
          <p:nvPr/>
        </p:nvSpPr>
        <p:spPr>
          <a:xfrm>
            <a:off x="341520" y="1468321"/>
            <a:ext cx="11423520" cy="182550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t">
            <a:noAutofit/>
          </a:bodyPr>
          <a:lstStyle/>
          <a:p>
            <a:pPr marL="228594" marR="0" lvl="0" indent="-228594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65"/>
              </a:spcAft>
              <a:buClr>
                <a:srgbClr val="1A1A2E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anose="020F0502020204030204"/>
                <a:ea typeface="Calibri"/>
                <a:cs typeface="+mn-cs"/>
              </a:rPr>
              <a:t>Bullet.</a:t>
            </a:r>
          </a:p>
          <a:p>
            <a:pPr marL="228594" marR="0" lvl="0" indent="-228594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65"/>
              </a:spcAft>
              <a:buClr>
                <a:srgbClr val="1A1A2E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Bullet.</a:t>
            </a:r>
          </a:p>
          <a:p>
            <a:pPr marL="228594" marR="0" lvl="0" indent="-228594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65"/>
              </a:spcAft>
              <a:buClr>
                <a:srgbClr val="1A1A2E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Bullet.</a:t>
            </a:r>
          </a:p>
          <a:p>
            <a:pPr marL="228594" marR="0" lvl="0" indent="-228594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65"/>
              </a:spcAft>
              <a:buClr>
                <a:srgbClr val="1A1A2E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Bullet.</a:t>
            </a:r>
          </a:p>
          <a:p>
            <a:pPr marL="228594" marR="0" lvl="0" indent="-228594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65"/>
              </a:spcAft>
              <a:buClr>
                <a:srgbClr val="1A1A2E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Bullet.</a:t>
            </a: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D2148B40-0170-B67B-6026-1C6C24BFD85B}"/>
              </a:ext>
            </a:extLst>
          </p:cNvPr>
          <p:cNvSpPr/>
          <p:nvPr/>
        </p:nvSpPr>
        <p:spPr>
          <a:xfrm>
            <a:off x="329184" y="6615684"/>
            <a:ext cx="6217920" cy="1900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AAAC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DATASCI 207  ·  Final Project: Forecasting Volatility In Stock Market  ·  March 2026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43053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3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5F6A81-39C9-176D-3B90-2DA1F9EAD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>
            <a:extLst>
              <a:ext uri="{FF2B5EF4-FFF2-40B4-BE49-F238E27FC236}">
                <a16:creationId xmlns:a16="http://schemas.microsoft.com/office/drawing/2014/main" id="{B925745C-D981-0EC8-4CA9-21EA9B848430}"/>
              </a:ext>
            </a:extLst>
          </p:cNvPr>
          <p:cNvSpPr/>
          <p:nvPr/>
        </p:nvSpPr>
        <p:spPr>
          <a:xfrm>
            <a:off x="0" y="0"/>
            <a:ext cx="145920" cy="6857760"/>
          </a:xfrm>
          <a:prstGeom prst="rect">
            <a:avLst/>
          </a:prstGeom>
          <a:solidFill>
            <a:srgbClr val="00A8C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t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B931C609-86AB-9ED8-54C0-85A840AD3A70}"/>
              </a:ext>
            </a:extLst>
          </p:cNvPr>
          <p:cNvSpPr/>
          <p:nvPr/>
        </p:nvSpPr>
        <p:spPr>
          <a:xfrm>
            <a:off x="426720" y="975360"/>
            <a:ext cx="11338080" cy="21009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t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6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Transformer – Encoder Only</a:t>
            </a:r>
            <a:endParaRPr kumimoji="0" lang="en-US" sz="6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CD79616A-4A6B-D738-46A5-1F2E04FBF9CE}"/>
              </a:ext>
            </a:extLst>
          </p:cNvPr>
          <p:cNvSpPr/>
          <p:nvPr/>
        </p:nvSpPr>
        <p:spPr>
          <a:xfrm>
            <a:off x="426720" y="3596640"/>
            <a:ext cx="11460000" cy="48480"/>
          </a:xfrm>
          <a:prstGeom prst="rect">
            <a:avLst/>
          </a:prstGeom>
          <a:solidFill>
            <a:srgbClr val="00A8C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-11040" rIns="120000" bIns="-11040" anchor="t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D8235E81-F496-11A0-4781-D3F73B4473D5}"/>
              </a:ext>
            </a:extLst>
          </p:cNvPr>
          <p:cNvSpPr/>
          <p:nvPr/>
        </p:nvSpPr>
        <p:spPr>
          <a:xfrm>
            <a:off x="426720" y="5608320"/>
            <a:ext cx="11338080" cy="36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ctr">
            <a:noAutofit/>
          </a:bodyPr>
          <a:lstStyle/>
          <a:p>
            <a:pPr lvl="0" defTabSz="1219170">
              <a:tabLst>
                <a:tab pos="0" algn="l"/>
              </a:tabLst>
              <a:defRPr/>
            </a:pPr>
            <a:r>
              <a:rPr kumimoji="0" lang="en-US" sz="1733" b="0" i="0" u="none" strike="noStrike" kern="1200" cap="none" spc="0" normalizeH="0" baseline="0" noProof="0" dirty="0">
                <a:ln>
                  <a:noFill/>
                </a:ln>
                <a:solidFill>
                  <a:srgbClr val="AAAACC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DS 207 Final Project  ·  Team: Greed and Fear  ·  Author: </a:t>
            </a:r>
            <a:r>
              <a:rPr lang="en-US" sz="1733" dirty="0">
                <a:solidFill>
                  <a:srgbClr val="AAAACC"/>
                </a:solidFill>
                <a:ea typeface="Calibri"/>
              </a:rPr>
              <a:t>Ronald Ho · </a:t>
            </a:r>
            <a:r>
              <a:rPr kumimoji="0" lang="en-US" sz="1733" b="0" i="0" u="none" strike="noStrike" kern="1200" cap="none" spc="0" normalizeH="0" baseline="0" noProof="0" dirty="0">
                <a:ln>
                  <a:noFill/>
                </a:ln>
                <a:solidFill>
                  <a:srgbClr val="AAAACC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March 27, 2026</a:t>
            </a:r>
            <a:endParaRPr kumimoji="0" lang="en-US" sz="1733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14333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B94F3E-30B7-93FE-E3B0-EB4C73445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Shape 0">
            <a:extLst>
              <a:ext uri="{FF2B5EF4-FFF2-40B4-BE49-F238E27FC236}">
                <a16:creationId xmlns:a16="http://schemas.microsoft.com/office/drawing/2014/main" id="{90790CE6-B0E1-86DB-FE90-CAE7CEBEA980}"/>
              </a:ext>
            </a:extLst>
          </p:cNvPr>
          <p:cNvSpPr/>
          <p:nvPr/>
        </p:nvSpPr>
        <p:spPr>
          <a:xfrm>
            <a:off x="0" y="0"/>
            <a:ext cx="12191520" cy="633600"/>
          </a:xfrm>
          <a:prstGeom prst="rect">
            <a:avLst/>
          </a:prstGeom>
          <a:solidFill>
            <a:srgbClr val="0D234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t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4" name="Text 1">
            <a:extLst>
              <a:ext uri="{FF2B5EF4-FFF2-40B4-BE49-F238E27FC236}">
                <a16:creationId xmlns:a16="http://schemas.microsoft.com/office/drawing/2014/main" id="{91BCE229-81F7-9187-8F69-159E4EB72AAD}"/>
              </a:ext>
            </a:extLst>
          </p:cNvPr>
          <p:cNvSpPr/>
          <p:nvPr/>
        </p:nvSpPr>
        <p:spPr>
          <a:xfrm>
            <a:off x="341280" y="48960"/>
            <a:ext cx="11581920" cy="56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ctr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2933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Title</a:t>
            </a:r>
            <a:endParaRPr kumimoji="0" lang="en-US" sz="2933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5" name="Shape 2">
            <a:extLst>
              <a:ext uri="{FF2B5EF4-FFF2-40B4-BE49-F238E27FC236}">
                <a16:creationId xmlns:a16="http://schemas.microsoft.com/office/drawing/2014/main" id="{F010CC11-7492-AA17-2195-B2668255EF53}"/>
              </a:ext>
            </a:extLst>
          </p:cNvPr>
          <p:cNvSpPr/>
          <p:nvPr/>
        </p:nvSpPr>
        <p:spPr>
          <a:xfrm>
            <a:off x="0" y="6559200"/>
            <a:ext cx="12191520" cy="298080"/>
          </a:xfrm>
          <a:prstGeom prst="rect">
            <a:avLst/>
          </a:prstGeom>
          <a:solidFill>
            <a:srgbClr val="0D234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t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8" name="Shape 4">
            <a:extLst>
              <a:ext uri="{FF2B5EF4-FFF2-40B4-BE49-F238E27FC236}">
                <a16:creationId xmlns:a16="http://schemas.microsoft.com/office/drawing/2014/main" id="{36306C58-F9C7-C9F0-B2C7-4B7F2FC4D948}"/>
              </a:ext>
            </a:extLst>
          </p:cNvPr>
          <p:cNvSpPr/>
          <p:nvPr/>
        </p:nvSpPr>
        <p:spPr>
          <a:xfrm>
            <a:off x="219600" y="1045032"/>
            <a:ext cx="11752800" cy="2339365"/>
          </a:xfrm>
          <a:prstGeom prst="rect">
            <a:avLst/>
          </a:prstGeom>
          <a:solidFill>
            <a:srgbClr val="D6F2FA"/>
          </a:solidFill>
          <a:ln w="19050">
            <a:solidFill>
              <a:srgbClr val="00A8C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t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9" name="Text 5">
            <a:extLst>
              <a:ext uri="{FF2B5EF4-FFF2-40B4-BE49-F238E27FC236}">
                <a16:creationId xmlns:a16="http://schemas.microsoft.com/office/drawing/2014/main" id="{E63F8986-8780-6F86-F79D-88C25131E6E2}"/>
              </a:ext>
            </a:extLst>
          </p:cNvPr>
          <p:cNvSpPr/>
          <p:nvPr/>
        </p:nvSpPr>
        <p:spPr>
          <a:xfrm>
            <a:off x="341520" y="1103040"/>
            <a:ext cx="3535200" cy="36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ctr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733" b="1" i="0" u="none" strike="noStrike" kern="1200" cap="none" spc="0" normalizeH="0" baseline="0" noProof="0" dirty="0">
                <a:ln>
                  <a:noFill/>
                </a:ln>
                <a:solidFill>
                  <a:srgbClr val="00A8CC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Heading</a:t>
            </a:r>
            <a:endParaRPr kumimoji="0" lang="en-US" sz="1733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0" name="Text 6">
            <a:extLst>
              <a:ext uri="{FF2B5EF4-FFF2-40B4-BE49-F238E27FC236}">
                <a16:creationId xmlns:a16="http://schemas.microsoft.com/office/drawing/2014/main" id="{44CD2CE5-7E2E-E2FF-01F1-67737D96687D}"/>
              </a:ext>
            </a:extLst>
          </p:cNvPr>
          <p:cNvSpPr/>
          <p:nvPr/>
        </p:nvSpPr>
        <p:spPr>
          <a:xfrm>
            <a:off x="341520" y="1468321"/>
            <a:ext cx="11423520" cy="182550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t">
            <a:noAutofit/>
          </a:bodyPr>
          <a:lstStyle/>
          <a:p>
            <a:pPr marL="228594" marR="0" lvl="0" indent="-228594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65"/>
              </a:spcAft>
              <a:buClr>
                <a:srgbClr val="1A1A2E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anose="020F0502020204030204"/>
                <a:ea typeface="Calibri"/>
                <a:cs typeface="+mn-cs"/>
              </a:rPr>
              <a:t>Bullet.</a:t>
            </a:r>
          </a:p>
          <a:p>
            <a:pPr marL="228594" marR="0" lvl="0" indent="-228594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65"/>
              </a:spcAft>
              <a:buClr>
                <a:srgbClr val="1A1A2E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Bullet.</a:t>
            </a:r>
          </a:p>
          <a:p>
            <a:pPr marL="228594" marR="0" lvl="0" indent="-228594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65"/>
              </a:spcAft>
              <a:buClr>
                <a:srgbClr val="1A1A2E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Bullet.</a:t>
            </a:r>
          </a:p>
          <a:p>
            <a:pPr marL="228594" marR="0" lvl="0" indent="-228594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65"/>
              </a:spcAft>
              <a:buClr>
                <a:srgbClr val="1A1A2E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Bullet.</a:t>
            </a:r>
          </a:p>
          <a:p>
            <a:pPr marL="228594" marR="0" lvl="0" indent="-228594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65"/>
              </a:spcAft>
              <a:buClr>
                <a:srgbClr val="1A1A2E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Bullet.</a:t>
            </a: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DABD32C7-5E89-4B0E-4EA6-524E1C84C494}"/>
              </a:ext>
            </a:extLst>
          </p:cNvPr>
          <p:cNvSpPr/>
          <p:nvPr/>
        </p:nvSpPr>
        <p:spPr>
          <a:xfrm>
            <a:off x="329184" y="6615684"/>
            <a:ext cx="6217920" cy="1900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AAAC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DATASCI 207  ·  Final Project: Forecasting Volatility In Stock Market  ·  March 2026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25226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3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AC4A9B-9DAB-D698-1BA4-B8B039AB4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>
            <a:extLst>
              <a:ext uri="{FF2B5EF4-FFF2-40B4-BE49-F238E27FC236}">
                <a16:creationId xmlns:a16="http://schemas.microsoft.com/office/drawing/2014/main" id="{EDFC5CF6-BC1B-FCB1-B955-C8CC6421B968}"/>
              </a:ext>
            </a:extLst>
          </p:cNvPr>
          <p:cNvSpPr/>
          <p:nvPr/>
        </p:nvSpPr>
        <p:spPr>
          <a:xfrm>
            <a:off x="0" y="0"/>
            <a:ext cx="145920" cy="6857760"/>
          </a:xfrm>
          <a:prstGeom prst="rect">
            <a:avLst/>
          </a:prstGeom>
          <a:solidFill>
            <a:srgbClr val="00A8C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t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DE0349E3-E83F-C299-563A-4231C7D3EF5B}"/>
              </a:ext>
            </a:extLst>
          </p:cNvPr>
          <p:cNvSpPr/>
          <p:nvPr/>
        </p:nvSpPr>
        <p:spPr>
          <a:xfrm>
            <a:off x="426720" y="975360"/>
            <a:ext cx="11338080" cy="21009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t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6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Transformer – Encoder Decoder</a:t>
            </a:r>
            <a:endParaRPr kumimoji="0" lang="en-US" sz="6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F16397B7-8C20-F937-B132-C3ACE2E663EA}"/>
              </a:ext>
            </a:extLst>
          </p:cNvPr>
          <p:cNvSpPr/>
          <p:nvPr/>
        </p:nvSpPr>
        <p:spPr>
          <a:xfrm>
            <a:off x="426720" y="3596640"/>
            <a:ext cx="11460000" cy="48480"/>
          </a:xfrm>
          <a:prstGeom prst="rect">
            <a:avLst/>
          </a:prstGeom>
          <a:solidFill>
            <a:srgbClr val="00A8C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-11040" rIns="120000" bIns="-11040" anchor="t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BC7F60AA-27A9-A494-1459-F3288FF28C56}"/>
              </a:ext>
            </a:extLst>
          </p:cNvPr>
          <p:cNvSpPr/>
          <p:nvPr/>
        </p:nvSpPr>
        <p:spPr>
          <a:xfrm>
            <a:off x="426720" y="5608320"/>
            <a:ext cx="11338080" cy="36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ctr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733" b="0" i="0" u="none" strike="noStrike" kern="1200" cap="none" spc="0" normalizeH="0" baseline="0" noProof="0" dirty="0">
                <a:ln>
                  <a:noFill/>
                </a:ln>
                <a:solidFill>
                  <a:srgbClr val="AAAACC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DS 207 Final Project  ·  Team: Greed and Fear  ·  Author: Diogo Viveiros ·  March 27, 2026</a:t>
            </a:r>
            <a:endParaRPr kumimoji="0" lang="en-US" sz="1733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07486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1D813E-DC0D-3B45-E96E-CAFA3CD09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Shape 0">
            <a:extLst>
              <a:ext uri="{FF2B5EF4-FFF2-40B4-BE49-F238E27FC236}">
                <a16:creationId xmlns:a16="http://schemas.microsoft.com/office/drawing/2014/main" id="{C6C2E10A-9B75-B261-FB8F-D8E7B9FFC6C3}"/>
              </a:ext>
            </a:extLst>
          </p:cNvPr>
          <p:cNvSpPr/>
          <p:nvPr/>
        </p:nvSpPr>
        <p:spPr>
          <a:xfrm>
            <a:off x="0" y="0"/>
            <a:ext cx="12191520" cy="633600"/>
          </a:xfrm>
          <a:prstGeom prst="rect">
            <a:avLst/>
          </a:prstGeom>
          <a:solidFill>
            <a:srgbClr val="0D234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t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4" name="Text 1">
            <a:extLst>
              <a:ext uri="{FF2B5EF4-FFF2-40B4-BE49-F238E27FC236}">
                <a16:creationId xmlns:a16="http://schemas.microsoft.com/office/drawing/2014/main" id="{90CC156E-CB02-D9E6-1ED9-071A7A098FC2}"/>
              </a:ext>
            </a:extLst>
          </p:cNvPr>
          <p:cNvSpPr/>
          <p:nvPr/>
        </p:nvSpPr>
        <p:spPr>
          <a:xfrm>
            <a:off x="341280" y="48960"/>
            <a:ext cx="11581920" cy="56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ctr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2933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Title</a:t>
            </a:r>
            <a:endParaRPr kumimoji="0" lang="en-US" sz="2933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5" name="Shape 2">
            <a:extLst>
              <a:ext uri="{FF2B5EF4-FFF2-40B4-BE49-F238E27FC236}">
                <a16:creationId xmlns:a16="http://schemas.microsoft.com/office/drawing/2014/main" id="{7456C7B9-DA81-2A24-F2A4-299E2121EC58}"/>
              </a:ext>
            </a:extLst>
          </p:cNvPr>
          <p:cNvSpPr/>
          <p:nvPr/>
        </p:nvSpPr>
        <p:spPr>
          <a:xfrm>
            <a:off x="0" y="6559200"/>
            <a:ext cx="12191520" cy="298080"/>
          </a:xfrm>
          <a:prstGeom prst="rect">
            <a:avLst/>
          </a:prstGeom>
          <a:solidFill>
            <a:srgbClr val="0D234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t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8" name="Shape 4">
            <a:extLst>
              <a:ext uri="{FF2B5EF4-FFF2-40B4-BE49-F238E27FC236}">
                <a16:creationId xmlns:a16="http://schemas.microsoft.com/office/drawing/2014/main" id="{4F5358EF-10A5-F85B-BBDF-BD9C762EC02B}"/>
              </a:ext>
            </a:extLst>
          </p:cNvPr>
          <p:cNvSpPr/>
          <p:nvPr/>
        </p:nvSpPr>
        <p:spPr>
          <a:xfrm>
            <a:off x="219600" y="1045032"/>
            <a:ext cx="11752800" cy="2339365"/>
          </a:xfrm>
          <a:prstGeom prst="rect">
            <a:avLst/>
          </a:prstGeom>
          <a:solidFill>
            <a:srgbClr val="D6F2FA"/>
          </a:solidFill>
          <a:ln w="19050">
            <a:solidFill>
              <a:srgbClr val="00A8C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t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9" name="Text 5">
            <a:extLst>
              <a:ext uri="{FF2B5EF4-FFF2-40B4-BE49-F238E27FC236}">
                <a16:creationId xmlns:a16="http://schemas.microsoft.com/office/drawing/2014/main" id="{61A5CB75-9AEB-D196-53C3-E861747D099F}"/>
              </a:ext>
            </a:extLst>
          </p:cNvPr>
          <p:cNvSpPr/>
          <p:nvPr/>
        </p:nvSpPr>
        <p:spPr>
          <a:xfrm>
            <a:off x="341520" y="1103040"/>
            <a:ext cx="3535200" cy="36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ctr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733" b="1" i="0" u="none" strike="noStrike" kern="1200" cap="none" spc="0" normalizeH="0" baseline="0" noProof="0" dirty="0">
                <a:ln>
                  <a:noFill/>
                </a:ln>
                <a:solidFill>
                  <a:srgbClr val="00A8CC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Heading</a:t>
            </a:r>
            <a:endParaRPr kumimoji="0" lang="en-US" sz="1733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0" name="Text 6">
            <a:extLst>
              <a:ext uri="{FF2B5EF4-FFF2-40B4-BE49-F238E27FC236}">
                <a16:creationId xmlns:a16="http://schemas.microsoft.com/office/drawing/2014/main" id="{E0844E72-B496-845F-223F-6DD454A8B180}"/>
              </a:ext>
            </a:extLst>
          </p:cNvPr>
          <p:cNvSpPr/>
          <p:nvPr/>
        </p:nvSpPr>
        <p:spPr>
          <a:xfrm>
            <a:off x="341520" y="1468321"/>
            <a:ext cx="11423520" cy="182550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t">
            <a:noAutofit/>
          </a:bodyPr>
          <a:lstStyle/>
          <a:p>
            <a:pPr marL="228594" marR="0" lvl="0" indent="-228594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65"/>
              </a:spcAft>
              <a:buClr>
                <a:srgbClr val="1A1A2E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anose="020F0502020204030204"/>
                <a:ea typeface="Calibri"/>
                <a:cs typeface="+mn-cs"/>
              </a:rPr>
              <a:t>Bullet.</a:t>
            </a:r>
          </a:p>
          <a:p>
            <a:pPr marL="228594" marR="0" lvl="0" indent="-228594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65"/>
              </a:spcAft>
              <a:buClr>
                <a:srgbClr val="1A1A2E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Bullet.</a:t>
            </a:r>
          </a:p>
          <a:p>
            <a:pPr marL="228594" marR="0" lvl="0" indent="-228594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65"/>
              </a:spcAft>
              <a:buClr>
                <a:srgbClr val="1A1A2E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Bullet.</a:t>
            </a:r>
          </a:p>
          <a:p>
            <a:pPr marL="228594" marR="0" lvl="0" indent="-228594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65"/>
              </a:spcAft>
              <a:buClr>
                <a:srgbClr val="1A1A2E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Bullet.</a:t>
            </a:r>
          </a:p>
          <a:p>
            <a:pPr marL="228594" marR="0" lvl="0" indent="-228594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65"/>
              </a:spcAft>
              <a:buClr>
                <a:srgbClr val="1A1A2E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Bullet.</a:t>
            </a: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0EEDB539-78F0-1724-28E9-D08494646B32}"/>
              </a:ext>
            </a:extLst>
          </p:cNvPr>
          <p:cNvSpPr/>
          <p:nvPr/>
        </p:nvSpPr>
        <p:spPr>
          <a:xfrm>
            <a:off x="329184" y="6615684"/>
            <a:ext cx="6217920" cy="1900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AAAC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DATASCI 207  ·  Final Project: Forecasting Volatility In Stock Market  ·  March 2026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47458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BF2DA8-1AD0-9284-41EA-77D34AEDB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0">
            <a:extLst>
              <a:ext uri="{FF2B5EF4-FFF2-40B4-BE49-F238E27FC236}">
                <a16:creationId xmlns:a16="http://schemas.microsoft.com/office/drawing/2014/main" id="{593FEA92-22B6-12B4-C9EF-BB27A6250068}"/>
              </a:ext>
            </a:extLst>
          </p:cNvPr>
          <p:cNvSpPr/>
          <p:nvPr/>
        </p:nvSpPr>
        <p:spPr>
          <a:xfrm>
            <a:off x="0" y="0"/>
            <a:ext cx="12191520" cy="633600"/>
          </a:xfrm>
          <a:prstGeom prst="rect">
            <a:avLst/>
          </a:prstGeom>
          <a:solidFill>
            <a:srgbClr val="0D234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t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5" name="Text 1">
            <a:extLst>
              <a:ext uri="{FF2B5EF4-FFF2-40B4-BE49-F238E27FC236}">
                <a16:creationId xmlns:a16="http://schemas.microsoft.com/office/drawing/2014/main" id="{534FD73E-2174-ED35-AAF3-8328C8082285}"/>
              </a:ext>
            </a:extLst>
          </p:cNvPr>
          <p:cNvSpPr/>
          <p:nvPr/>
        </p:nvSpPr>
        <p:spPr>
          <a:xfrm>
            <a:off x="341280" y="48960"/>
            <a:ext cx="10606560" cy="56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ctr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2933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Model Comparisons — 2025 Test Set (8,820 rows)</a:t>
            </a:r>
            <a:endParaRPr kumimoji="0" lang="en-US" sz="2933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7" name="Shape 3">
            <a:extLst>
              <a:ext uri="{FF2B5EF4-FFF2-40B4-BE49-F238E27FC236}">
                <a16:creationId xmlns:a16="http://schemas.microsoft.com/office/drawing/2014/main" id="{73340864-2159-E8C2-1228-C49C70516603}"/>
              </a:ext>
            </a:extLst>
          </p:cNvPr>
          <p:cNvSpPr/>
          <p:nvPr/>
        </p:nvSpPr>
        <p:spPr>
          <a:xfrm>
            <a:off x="0" y="6559200"/>
            <a:ext cx="12191520" cy="298080"/>
          </a:xfrm>
          <a:prstGeom prst="rect">
            <a:avLst/>
          </a:prstGeom>
          <a:solidFill>
            <a:srgbClr val="0D234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t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100" name="Table 0">
            <a:extLst>
              <a:ext uri="{FF2B5EF4-FFF2-40B4-BE49-F238E27FC236}">
                <a16:creationId xmlns:a16="http://schemas.microsoft.com/office/drawing/2014/main" id="{36CD25CE-68ED-7064-731D-323C5E7F2357}"/>
              </a:ext>
            </a:extLst>
          </p:cNvPr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50384220"/>
              </p:ext>
            </p:extLst>
          </p:nvPr>
        </p:nvGraphicFramePr>
        <p:xfrm>
          <a:off x="1711234" y="1198189"/>
          <a:ext cx="8321040" cy="5298520"/>
        </p:xfrm>
        <a:graphic>
          <a:graphicData uri="http://schemas.openxmlformats.org/drawingml/2006/table">
            <a:tbl>
              <a:tblPr/>
              <a:tblGrid>
                <a:gridCol w="34492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01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23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96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096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 dirty="0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Model / Baseline</a:t>
                      </a:r>
                      <a:endParaRPr lang="en-US" sz="1400" b="0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0D234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 dirty="0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Test MAE</a:t>
                      </a:r>
                      <a:endParaRPr lang="en-US" sz="1400" b="0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34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 dirty="0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Test RMSE</a:t>
                      </a:r>
                      <a:endParaRPr lang="en-US" sz="1400" b="0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0D234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 dirty="0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Test R²</a:t>
                      </a:r>
                      <a:endParaRPr lang="en-US" sz="1400" b="0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0D234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 dirty="0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vs XGBoost</a:t>
                      </a:r>
                      <a:endParaRPr lang="en-US" sz="1400" b="0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0D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3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Elastic Net</a:t>
                      </a:r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+mn-lt"/>
                          <a:ea typeface="Calibri"/>
                        </a:rPr>
                        <a:t> — V1</a:t>
                      </a:r>
                      <a:endParaRPr lang="en-US" sz="14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0.0855</a:t>
                      </a:r>
                      <a:endParaRPr lang="en-US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0.1357</a:t>
                      </a:r>
                      <a:endParaRPr lang="en-US" sz="1400" b="1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0.1794</a:t>
                      </a:r>
                      <a:endParaRPr lang="en-US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+0.0032</a:t>
                      </a:r>
                      <a:endParaRPr lang="en-US" sz="1400" b="1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3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 dirty="0">
                          <a:solidFill>
                            <a:srgbClr val="00A8CC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Elastic Net</a:t>
                      </a:r>
                      <a:r>
                        <a:rPr lang="en-US" sz="1400" b="1" u="none" strike="noStrike" dirty="0">
                          <a:solidFill>
                            <a:srgbClr val="00A8CC"/>
                          </a:solidFill>
                          <a:effectLst/>
                          <a:uFillTx/>
                          <a:latin typeface="+mn-lt"/>
                          <a:ea typeface="Calibri"/>
                        </a:rPr>
                        <a:t> —</a:t>
                      </a:r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+mn-lt"/>
                          <a:ea typeface="Calibri"/>
                        </a:rPr>
                        <a:t> </a:t>
                      </a:r>
                      <a:r>
                        <a:rPr lang="en-US" sz="1400" b="1" u="none" strike="noStrike" dirty="0">
                          <a:solidFill>
                            <a:srgbClr val="00A8CC"/>
                          </a:solidFill>
                          <a:effectLst/>
                          <a:uFillTx/>
                          <a:latin typeface="+mn-lt"/>
                          <a:ea typeface="Calibri"/>
                        </a:rPr>
                        <a:t>V2</a:t>
                      </a:r>
                      <a:endParaRPr lang="en-US" sz="14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 dirty="0">
                          <a:solidFill>
                            <a:srgbClr val="00A8CC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0.0846</a:t>
                      </a:r>
                      <a:endParaRPr lang="en-US" sz="14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 dirty="0">
                          <a:solidFill>
                            <a:srgbClr val="00A8CC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0.1324</a:t>
                      </a:r>
                      <a:endParaRPr lang="en-US" sz="14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 dirty="0">
                          <a:solidFill>
                            <a:srgbClr val="00A8CC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0.2188</a:t>
                      </a:r>
                      <a:endParaRPr lang="en-US" sz="14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 dirty="0">
                          <a:solidFill>
                            <a:srgbClr val="00A8CC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+0.0024</a:t>
                      </a:r>
                      <a:endParaRPr lang="en-US" sz="14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3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LSTM</a:t>
                      </a:r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+mn-lt"/>
                          <a:ea typeface="Calibri"/>
                        </a:rPr>
                        <a:t>— V1</a:t>
                      </a:r>
                      <a:endParaRPr lang="en-US" sz="14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400" b="1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400" b="1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431423"/>
                  </a:ext>
                </a:extLst>
              </a:tr>
              <a:tr h="3523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 dirty="0">
                          <a:solidFill>
                            <a:srgbClr val="00A8CC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LSTM</a:t>
                      </a:r>
                      <a:r>
                        <a:rPr lang="en-US" sz="1400" b="1" u="none" strike="noStrike" dirty="0">
                          <a:solidFill>
                            <a:srgbClr val="00A8CC"/>
                          </a:solidFill>
                          <a:effectLst/>
                          <a:uFillTx/>
                          <a:latin typeface="+mn-lt"/>
                          <a:ea typeface="Calibri"/>
                        </a:rPr>
                        <a:t>—</a:t>
                      </a:r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+mn-lt"/>
                          <a:ea typeface="Calibri"/>
                        </a:rPr>
                        <a:t> </a:t>
                      </a:r>
                      <a:r>
                        <a:rPr lang="en-US" sz="1400" b="1" u="none" strike="noStrike" dirty="0">
                          <a:solidFill>
                            <a:srgbClr val="00A8CC"/>
                          </a:solidFill>
                          <a:effectLst/>
                          <a:uFillTx/>
                          <a:latin typeface="+mn-lt"/>
                          <a:ea typeface="Calibri"/>
                        </a:rPr>
                        <a:t>V2</a:t>
                      </a:r>
                      <a:endParaRPr lang="en-US" sz="14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4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4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4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4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6346831"/>
                  </a:ext>
                </a:extLst>
              </a:tr>
              <a:tr h="3523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Transformer-Encoder Only</a:t>
                      </a:r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+mn-lt"/>
                          <a:ea typeface="Calibri"/>
                        </a:rPr>
                        <a:t>— V1</a:t>
                      </a:r>
                      <a:endParaRPr lang="en-US" sz="14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400" b="1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400" b="1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3397590"/>
                  </a:ext>
                </a:extLst>
              </a:tr>
              <a:tr h="3523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 dirty="0">
                          <a:solidFill>
                            <a:srgbClr val="00A8CC"/>
                          </a:solidFill>
                          <a:effectLst/>
                          <a:uFillTx/>
                          <a:latin typeface="+mn-lt"/>
                          <a:ea typeface="Calibri"/>
                        </a:rPr>
                        <a:t>Transformer-Encoder Only—</a:t>
                      </a:r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+mn-lt"/>
                          <a:ea typeface="Calibri"/>
                        </a:rPr>
                        <a:t> </a:t>
                      </a:r>
                      <a:r>
                        <a:rPr lang="en-US" sz="1400" b="1" u="none" strike="noStrike" dirty="0">
                          <a:solidFill>
                            <a:srgbClr val="00A8CC"/>
                          </a:solidFill>
                          <a:effectLst/>
                          <a:uFillTx/>
                          <a:latin typeface="+mn-lt"/>
                          <a:ea typeface="Calibri"/>
                        </a:rPr>
                        <a:t>V2</a:t>
                      </a:r>
                      <a:endParaRPr lang="en-US" sz="14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4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4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4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4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6527065"/>
                  </a:ext>
                </a:extLst>
              </a:tr>
              <a:tr h="3523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Transformer-Encoder Decoder</a:t>
                      </a:r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+mn-lt"/>
                          <a:ea typeface="Calibri"/>
                        </a:rPr>
                        <a:t>— V1</a:t>
                      </a:r>
                      <a:endParaRPr lang="en-US" sz="14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400" b="1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400" b="1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650060"/>
                  </a:ext>
                </a:extLst>
              </a:tr>
              <a:tr h="3523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 dirty="0">
                          <a:solidFill>
                            <a:srgbClr val="00A8CC"/>
                          </a:solidFill>
                          <a:effectLst/>
                          <a:uFillTx/>
                          <a:latin typeface="+mn-lt"/>
                          <a:ea typeface="Calibri"/>
                        </a:rPr>
                        <a:t>Transformer-Encoder Decoder—</a:t>
                      </a:r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+mn-lt"/>
                          <a:ea typeface="Calibri"/>
                        </a:rPr>
                        <a:t> </a:t>
                      </a:r>
                      <a:r>
                        <a:rPr lang="en-US" sz="1400" b="1" u="none" strike="noStrike" dirty="0">
                          <a:solidFill>
                            <a:srgbClr val="00A8CC"/>
                          </a:solidFill>
                          <a:effectLst/>
                          <a:uFillTx/>
                          <a:latin typeface="+mn-lt"/>
                          <a:ea typeface="Calibri"/>
                        </a:rPr>
                        <a:t>V2</a:t>
                      </a:r>
                      <a:endParaRPr lang="en-US" sz="14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4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4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4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en-US" sz="14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3249360"/>
                  </a:ext>
                </a:extLst>
              </a:tr>
              <a:tr h="3523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 dirty="0">
                          <a:solidFill>
                            <a:srgbClr val="E8972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Baseline: </a:t>
                      </a:r>
                      <a:r>
                        <a:rPr lang="en-US" sz="1400" b="1" u="none" strike="noStrike" dirty="0" err="1">
                          <a:solidFill>
                            <a:srgbClr val="E8972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XGBoost</a:t>
                      </a:r>
                      <a:r>
                        <a:rPr lang="en-US" sz="1400" b="1" u="none" strike="noStrike" dirty="0">
                          <a:solidFill>
                            <a:srgbClr val="E8972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 walk-forward</a:t>
                      </a:r>
                      <a:endParaRPr lang="en-US" sz="14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CF3C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 dirty="0">
                          <a:solidFill>
                            <a:srgbClr val="E8972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0.0823</a:t>
                      </a:r>
                      <a:endParaRPr lang="en-US" sz="1400" b="1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3C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0.1352</a:t>
                      </a:r>
                      <a:endParaRPr lang="en-US" sz="1400" b="1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CF3C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0.1856</a:t>
                      </a:r>
                      <a:endParaRPr lang="en-US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CF3C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 dirty="0">
                          <a:solidFill>
                            <a:srgbClr val="E8972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BEST ★</a:t>
                      </a:r>
                      <a:endParaRPr lang="en-US" sz="1400" b="1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CF3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3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Baseline: Trailing 20 Day Average</a:t>
                      </a:r>
                      <a:endParaRPr lang="en-US" sz="1400" b="1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CF3C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0.0922</a:t>
                      </a:r>
                      <a:endParaRPr lang="en-US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3C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0.1491</a:t>
                      </a:r>
                      <a:endParaRPr lang="en-US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CF3C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0.0088</a:t>
                      </a:r>
                      <a:endParaRPr lang="en-US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CF3C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+0.0099</a:t>
                      </a:r>
                      <a:endParaRPr lang="en-US" sz="1400" b="1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CF3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3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+mn-lt"/>
                          <a:ea typeface="Calibri"/>
                        </a:rPr>
                        <a:t>Baseline: Trailing 5 Day Average</a:t>
                      </a:r>
                      <a:endParaRPr lang="en-US" sz="1400" b="1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CF3C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0.1005</a:t>
                      </a:r>
                      <a:endParaRPr lang="en-US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3C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0.1625</a:t>
                      </a:r>
                      <a:endParaRPr lang="en-US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CF3C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−0.1773</a:t>
                      </a:r>
                      <a:endParaRPr lang="en-US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CF3C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+0.0182</a:t>
                      </a:r>
                      <a:endParaRPr lang="en-US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CF3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23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+mn-lt"/>
                          <a:ea typeface="Calibri"/>
                        </a:rPr>
                        <a:t>Baseline: Current Volatility</a:t>
                      </a:r>
                      <a:endParaRPr lang="en-US" sz="1400" b="1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CF3C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0.1020</a:t>
                      </a:r>
                      <a:endParaRPr lang="en-US" sz="1400" b="1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3C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0.1619</a:t>
                      </a:r>
                      <a:endParaRPr lang="en-US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CF3C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−0.1680</a:t>
                      </a:r>
                      <a:endParaRPr lang="en-US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CF3C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+0.0197</a:t>
                      </a:r>
                      <a:endParaRPr lang="en-US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CF3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23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+mn-lt"/>
                          <a:ea typeface="Calibri"/>
                        </a:rPr>
                        <a:t>Baseline: Trailing 20 Day OLS</a:t>
                      </a:r>
                      <a:endParaRPr lang="en-US" sz="1400" b="1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CF3C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0.1298</a:t>
                      </a:r>
                      <a:endParaRPr lang="en-US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3C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0.2091</a:t>
                      </a:r>
                      <a:endParaRPr lang="en-US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CF3C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−0.9498</a:t>
                      </a:r>
                      <a:endParaRPr lang="en-US" sz="1400" b="1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CF3C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+0.0475</a:t>
                      </a:r>
                      <a:endParaRPr lang="en-US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CF3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23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+mn-lt"/>
                          <a:ea typeface="Calibri"/>
                        </a:rPr>
                        <a:t>Baseline: Trailing 5 Day OLS</a:t>
                      </a:r>
                      <a:endParaRPr lang="en-US" sz="1400" b="1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CF3C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0.1644</a:t>
                      </a:r>
                      <a:endParaRPr lang="en-US" sz="1400" b="1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CF3C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0.2478</a:t>
                      </a:r>
                      <a:endParaRPr lang="en-US" sz="1400" b="1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CF3C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−1.7383</a:t>
                      </a:r>
                      <a:endParaRPr lang="en-US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CF3C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+0.0821</a:t>
                      </a:r>
                      <a:endParaRPr lang="en-US" sz="1400" b="1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1920" marR="121920" marT="60960" marB="60960" anchor="ctr">
                    <a:lnL w="6480">
                      <a:solidFill>
                        <a:srgbClr val="CCCCCC"/>
                      </a:solidFill>
                      <a:prstDash val="solid"/>
                    </a:lnL>
                    <a:lnR w="6480">
                      <a:solidFill>
                        <a:srgbClr val="CCCCCC"/>
                      </a:solidFill>
                      <a:prstDash val="solid"/>
                    </a:lnR>
                    <a:lnT w="6480">
                      <a:solidFill>
                        <a:srgbClr val="CCCCCC"/>
                      </a:solidFill>
                      <a:prstDash val="solid"/>
                    </a:lnT>
                    <a:lnB w="6480">
                      <a:solidFill>
                        <a:srgbClr val="CCCCCC"/>
                      </a:solidFill>
                      <a:prstDash val="solid"/>
                    </a:lnB>
                    <a:solidFill>
                      <a:srgbClr val="FCF3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 3">
            <a:extLst>
              <a:ext uri="{FF2B5EF4-FFF2-40B4-BE49-F238E27FC236}">
                <a16:creationId xmlns:a16="http://schemas.microsoft.com/office/drawing/2014/main" id="{39D6D745-8213-0B28-5A97-8CC6A63C972D}"/>
              </a:ext>
            </a:extLst>
          </p:cNvPr>
          <p:cNvSpPr/>
          <p:nvPr/>
        </p:nvSpPr>
        <p:spPr>
          <a:xfrm>
            <a:off x="329184" y="6615684"/>
            <a:ext cx="6217920" cy="1900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AAAC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DATASCI 207  ·  Final Project: Forecasting Volatility In Stock Market  ·  March 2026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5">
            <a:extLst>
              <a:ext uri="{FF2B5EF4-FFF2-40B4-BE49-F238E27FC236}">
                <a16:creationId xmlns:a16="http://schemas.microsoft.com/office/drawing/2014/main" id="{E2ED3607-8945-2BF1-B826-398C4C1CCFA4}"/>
              </a:ext>
            </a:extLst>
          </p:cNvPr>
          <p:cNvSpPr/>
          <p:nvPr/>
        </p:nvSpPr>
        <p:spPr>
          <a:xfrm>
            <a:off x="1711234" y="668022"/>
            <a:ext cx="8611228" cy="50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ctr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All results use the same 8,820-row test set. Lower MAE and RMSE are better; higher R² is better.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94272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3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54A49D-C027-369F-B7E6-79283D591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>
            <a:extLst>
              <a:ext uri="{FF2B5EF4-FFF2-40B4-BE49-F238E27FC236}">
                <a16:creationId xmlns:a16="http://schemas.microsoft.com/office/drawing/2014/main" id="{82EF9DDC-8D19-E009-5283-20BAC7A6A2DE}"/>
              </a:ext>
            </a:extLst>
          </p:cNvPr>
          <p:cNvSpPr/>
          <p:nvPr/>
        </p:nvSpPr>
        <p:spPr>
          <a:xfrm>
            <a:off x="0" y="0"/>
            <a:ext cx="145920" cy="6857760"/>
          </a:xfrm>
          <a:prstGeom prst="rect">
            <a:avLst/>
          </a:prstGeom>
          <a:solidFill>
            <a:srgbClr val="00A8C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t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31E2C028-6C8B-318B-1CEE-D4430066B74C}"/>
              </a:ext>
            </a:extLst>
          </p:cNvPr>
          <p:cNvSpPr/>
          <p:nvPr/>
        </p:nvSpPr>
        <p:spPr>
          <a:xfrm>
            <a:off x="426720" y="3596640"/>
            <a:ext cx="11460000" cy="48480"/>
          </a:xfrm>
          <a:prstGeom prst="rect">
            <a:avLst/>
          </a:prstGeom>
          <a:solidFill>
            <a:srgbClr val="00A8C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-11040" rIns="120000" bIns="-11040" anchor="t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141618-C374-B494-41EE-B0A8BC9DF1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6797" y="330200"/>
            <a:ext cx="6676209" cy="4450806"/>
          </a:xfrm>
          <a:prstGeom prst="rect">
            <a:avLst/>
          </a:prstGeom>
        </p:spPr>
      </p:pic>
      <p:sp>
        <p:nvSpPr>
          <p:cNvPr id="11" name="Shape 3">
            <a:extLst>
              <a:ext uri="{FF2B5EF4-FFF2-40B4-BE49-F238E27FC236}">
                <a16:creationId xmlns:a16="http://schemas.microsoft.com/office/drawing/2014/main" id="{1137C331-FA45-9782-2EB5-4A0163AC98AA}"/>
              </a:ext>
            </a:extLst>
          </p:cNvPr>
          <p:cNvSpPr/>
          <p:nvPr/>
        </p:nvSpPr>
        <p:spPr>
          <a:xfrm>
            <a:off x="145920" y="6559200"/>
            <a:ext cx="12045600" cy="298080"/>
          </a:xfrm>
          <a:prstGeom prst="rect">
            <a:avLst/>
          </a:prstGeom>
          <a:solidFill>
            <a:srgbClr val="0D234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60000" rIns="120000" bIns="60000" anchor="t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8F7065A9-0E13-67ED-52C0-2006B84512B7}"/>
              </a:ext>
            </a:extLst>
          </p:cNvPr>
          <p:cNvSpPr/>
          <p:nvPr/>
        </p:nvSpPr>
        <p:spPr>
          <a:xfrm>
            <a:off x="403606" y="6615684"/>
            <a:ext cx="6143498" cy="1900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AAAC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DATASCI 207  ·  Final Project: Forecasting Volatility In Stock Market  ·  March 2026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875092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FSPANMODE" val="span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FSPANMODE" val="span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399</TotalTime>
  <Words>2527</Words>
  <Application>Microsoft Office PowerPoint</Application>
  <PresentationFormat>Widescreen</PresentationFormat>
  <Paragraphs>439</Paragraphs>
  <Slides>22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Aptos</vt:lpstr>
      <vt:lpstr>Arial</vt:lpstr>
      <vt:lpstr>Calibri</vt:lpstr>
      <vt:lpstr>Calibri </vt:lpstr>
      <vt:lpstr>Symbol</vt:lpstr>
      <vt:lpstr>Times New Roman</vt:lpstr>
      <vt:lpstr>Wingdings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Vinit Bhatt</cp:lastModifiedBy>
  <cp:revision>38</cp:revision>
  <dcterms:created xsi:type="dcterms:W3CDTF">2026-03-31T21:53:36Z</dcterms:created>
  <dcterms:modified xsi:type="dcterms:W3CDTF">2026-04-01T20:59:24Z</dcterms:modified>
</cp:coreProperties>
</file>