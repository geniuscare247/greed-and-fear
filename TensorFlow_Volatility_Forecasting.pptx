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780" y="2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1" i="0">
                <a:solidFill>
                  <a:srgbClr val="081C4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1" i="0">
                <a:solidFill>
                  <a:srgbClr val="B84F1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081C4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550" b="1" i="0">
                <a:solidFill>
                  <a:srgbClr val="B84F1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081C4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9937" y="2265554"/>
            <a:ext cx="7051675" cy="60585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51C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151766" y="2265554"/>
            <a:ext cx="7303134" cy="5598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51C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081C4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0581" y="3217332"/>
            <a:ext cx="6674145" cy="444261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72091" y="5081189"/>
            <a:ext cx="764215" cy="76596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609550" y="7672716"/>
            <a:ext cx="662940" cy="0"/>
          </a:xfrm>
          <a:custGeom>
            <a:avLst/>
            <a:gdLst/>
            <a:ahLst/>
            <a:cxnLst/>
            <a:rect l="l" t="t" r="r" b="b"/>
            <a:pathLst>
              <a:path w="662940">
                <a:moveTo>
                  <a:pt x="0" y="0"/>
                </a:moveTo>
                <a:lnTo>
                  <a:pt x="66231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1571" y="287569"/>
            <a:ext cx="16103593" cy="1908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1" i="0">
                <a:solidFill>
                  <a:srgbClr val="081C4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6986" y="2215257"/>
            <a:ext cx="15393035" cy="6410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1" i="0">
                <a:solidFill>
                  <a:srgbClr val="B84F1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10" Type="http://schemas.openxmlformats.org/officeDocument/2006/relationships/image" Target="../media/image21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7" Type="http://schemas.openxmlformats.org/officeDocument/2006/relationships/image" Target="../media/image39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3FDE3C-7D87-FBB1-D1AB-0B9401973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1895379"/>
            <a:ext cx="8298210" cy="6183192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269818" y="1366308"/>
            <a:ext cx="8759190" cy="35083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5080">
              <a:lnSpc>
                <a:spcPct val="95600"/>
              </a:lnSpc>
              <a:spcBef>
                <a:spcPts val="440"/>
              </a:spcBef>
              <a:tabLst>
                <a:tab pos="3400425" algn="l"/>
              </a:tabLst>
            </a:pPr>
            <a:r>
              <a:rPr sz="5900" b="1" spc="80" dirty="0">
                <a:solidFill>
                  <a:srgbClr val="051A49"/>
                </a:solidFill>
                <a:latin typeface="Arial"/>
                <a:cs typeface="Arial"/>
              </a:rPr>
              <a:t>Forecasting</a:t>
            </a:r>
            <a:r>
              <a:rPr sz="5900" b="1" spc="-5" dirty="0">
                <a:solidFill>
                  <a:srgbClr val="051A49"/>
                </a:solidFill>
                <a:latin typeface="Arial"/>
                <a:cs typeface="Arial"/>
              </a:rPr>
              <a:t> </a:t>
            </a:r>
            <a:r>
              <a:rPr sz="5900" b="1" spc="229" dirty="0">
                <a:solidFill>
                  <a:srgbClr val="051A49"/>
                </a:solidFill>
                <a:latin typeface="Arial"/>
                <a:cs typeface="Arial"/>
              </a:rPr>
              <a:t>Next-</a:t>
            </a:r>
            <a:r>
              <a:rPr sz="5900" b="1" spc="280" dirty="0">
                <a:solidFill>
                  <a:srgbClr val="051A49"/>
                </a:solidFill>
                <a:latin typeface="Arial"/>
                <a:cs typeface="Arial"/>
              </a:rPr>
              <a:t>Week </a:t>
            </a:r>
            <a:r>
              <a:rPr sz="5900" b="1" spc="80" dirty="0">
                <a:solidFill>
                  <a:srgbClr val="051A49"/>
                </a:solidFill>
                <a:latin typeface="Arial"/>
                <a:cs typeface="Arial"/>
              </a:rPr>
              <a:t>Realized</a:t>
            </a:r>
            <a:r>
              <a:rPr sz="5900" b="1" spc="200" dirty="0">
                <a:solidFill>
                  <a:srgbClr val="051A49"/>
                </a:solidFill>
                <a:latin typeface="Arial"/>
                <a:cs typeface="Arial"/>
              </a:rPr>
              <a:t> </a:t>
            </a:r>
            <a:r>
              <a:rPr sz="5900" b="1" spc="65" dirty="0">
                <a:solidFill>
                  <a:srgbClr val="051A49"/>
                </a:solidFill>
                <a:latin typeface="Arial"/>
                <a:cs typeface="Arial"/>
              </a:rPr>
              <a:t>Volatility</a:t>
            </a:r>
            <a:r>
              <a:rPr sz="5900" b="1" spc="200" dirty="0">
                <a:solidFill>
                  <a:srgbClr val="051A49"/>
                </a:solidFill>
                <a:latin typeface="Arial"/>
                <a:cs typeface="Arial"/>
              </a:rPr>
              <a:t> </a:t>
            </a:r>
            <a:r>
              <a:rPr sz="5900" b="1" spc="70" dirty="0">
                <a:solidFill>
                  <a:srgbClr val="051A49"/>
                </a:solidFill>
                <a:latin typeface="Arial"/>
                <a:cs typeface="Arial"/>
              </a:rPr>
              <a:t>for </a:t>
            </a:r>
            <a:r>
              <a:rPr sz="5900" b="1" spc="-70" dirty="0">
                <a:solidFill>
                  <a:srgbClr val="051A49"/>
                </a:solidFill>
                <a:latin typeface="Arial"/>
                <a:cs typeface="Arial"/>
              </a:rPr>
              <a:t>S&amp;P</a:t>
            </a:r>
            <a:r>
              <a:rPr sz="5900" b="1" spc="-325" dirty="0">
                <a:solidFill>
                  <a:srgbClr val="051A49"/>
                </a:solidFill>
                <a:latin typeface="Arial"/>
                <a:cs typeface="Arial"/>
              </a:rPr>
              <a:t> </a:t>
            </a:r>
            <a:r>
              <a:rPr sz="5900" b="1" spc="-25" dirty="0">
                <a:solidFill>
                  <a:srgbClr val="051A49"/>
                </a:solidFill>
                <a:latin typeface="Arial"/>
                <a:cs typeface="Arial"/>
              </a:rPr>
              <a:t>500</a:t>
            </a:r>
            <a:r>
              <a:rPr sz="5900" b="1" dirty="0">
                <a:solidFill>
                  <a:srgbClr val="051A49"/>
                </a:solidFill>
                <a:latin typeface="Arial"/>
                <a:cs typeface="Arial"/>
              </a:rPr>
              <a:t>	</a:t>
            </a:r>
            <a:r>
              <a:rPr sz="5900" b="1" spc="85" dirty="0">
                <a:solidFill>
                  <a:srgbClr val="051A49"/>
                </a:solidFill>
                <a:latin typeface="Arial"/>
                <a:cs typeface="Arial"/>
              </a:rPr>
              <a:t>Sector</a:t>
            </a:r>
            <a:r>
              <a:rPr sz="5900" b="1" spc="165" dirty="0">
                <a:solidFill>
                  <a:srgbClr val="051A49"/>
                </a:solidFill>
                <a:latin typeface="Arial"/>
                <a:cs typeface="Arial"/>
              </a:rPr>
              <a:t> </a:t>
            </a:r>
            <a:r>
              <a:rPr sz="5900" b="1" spc="135" dirty="0">
                <a:solidFill>
                  <a:srgbClr val="051A49"/>
                </a:solidFill>
                <a:latin typeface="Arial"/>
                <a:cs typeface="Arial"/>
              </a:rPr>
              <a:t>and </a:t>
            </a:r>
            <a:r>
              <a:rPr sz="5900" b="1" spc="140" dirty="0">
                <a:solidFill>
                  <a:srgbClr val="051A49"/>
                </a:solidFill>
                <a:latin typeface="Arial"/>
                <a:cs typeface="Arial"/>
              </a:rPr>
              <a:t>Industry</a:t>
            </a:r>
            <a:r>
              <a:rPr sz="5900" b="1" spc="-95" dirty="0">
                <a:solidFill>
                  <a:srgbClr val="051A49"/>
                </a:solidFill>
                <a:latin typeface="Arial"/>
                <a:cs typeface="Arial"/>
              </a:rPr>
              <a:t> </a:t>
            </a:r>
            <a:r>
              <a:rPr sz="5900" b="1" spc="-20" dirty="0">
                <a:solidFill>
                  <a:srgbClr val="051A49"/>
                </a:solidFill>
                <a:latin typeface="Arial"/>
                <a:cs typeface="Arial"/>
              </a:rPr>
              <a:t>ETFs</a:t>
            </a:r>
            <a:endParaRPr sz="59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9458" y="5055724"/>
            <a:ext cx="6998334" cy="16084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10160">
              <a:lnSpc>
                <a:spcPts val="4120"/>
              </a:lnSpc>
              <a:spcBef>
                <a:spcPts val="305"/>
              </a:spcBef>
            </a:pPr>
            <a:r>
              <a:rPr sz="3500" dirty="0">
                <a:solidFill>
                  <a:srgbClr val="414F64"/>
                </a:solidFill>
                <a:latin typeface="Arial"/>
                <a:cs typeface="Arial"/>
              </a:rPr>
              <a:t>A</a:t>
            </a:r>
            <a:r>
              <a:rPr sz="3500" spc="210" dirty="0">
                <a:solidFill>
                  <a:srgbClr val="414F64"/>
                </a:solidFill>
                <a:latin typeface="Arial"/>
                <a:cs typeface="Arial"/>
              </a:rPr>
              <a:t> </a:t>
            </a:r>
            <a:r>
              <a:rPr sz="3500" dirty="0">
                <a:solidFill>
                  <a:srgbClr val="414F64"/>
                </a:solidFill>
                <a:latin typeface="Arial"/>
                <a:cs typeface="Arial"/>
              </a:rPr>
              <a:t>TensorFlow-</a:t>
            </a:r>
            <a:r>
              <a:rPr sz="3500" spc="55" dirty="0">
                <a:solidFill>
                  <a:srgbClr val="414F64"/>
                </a:solidFill>
                <a:latin typeface="Arial"/>
                <a:cs typeface="Arial"/>
              </a:rPr>
              <a:t>Based</a:t>
            </a:r>
            <a:r>
              <a:rPr sz="3500" spc="295" dirty="0">
                <a:solidFill>
                  <a:srgbClr val="414F64"/>
                </a:solidFill>
                <a:latin typeface="Arial"/>
                <a:cs typeface="Arial"/>
              </a:rPr>
              <a:t> </a:t>
            </a:r>
            <a:r>
              <a:rPr sz="3500" spc="40" dirty="0">
                <a:solidFill>
                  <a:srgbClr val="414F64"/>
                </a:solidFill>
                <a:latin typeface="Arial"/>
                <a:cs typeface="Arial"/>
              </a:rPr>
              <a:t>Approach </a:t>
            </a:r>
            <a:r>
              <a:rPr sz="3500" dirty="0">
                <a:solidFill>
                  <a:srgbClr val="414F64"/>
                </a:solidFill>
                <a:latin typeface="Arial"/>
                <a:cs typeface="Arial"/>
              </a:rPr>
              <a:t>Using</a:t>
            </a:r>
            <a:r>
              <a:rPr sz="3500" spc="30" dirty="0">
                <a:solidFill>
                  <a:srgbClr val="414F64"/>
                </a:solidFill>
                <a:latin typeface="Arial"/>
                <a:cs typeface="Arial"/>
              </a:rPr>
              <a:t> </a:t>
            </a:r>
            <a:r>
              <a:rPr sz="3500" spc="45" dirty="0">
                <a:solidFill>
                  <a:srgbClr val="414F64"/>
                </a:solidFill>
                <a:latin typeface="Arial"/>
                <a:cs typeface="Arial"/>
              </a:rPr>
              <a:t>FactSet</a:t>
            </a:r>
            <a:r>
              <a:rPr sz="3500" spc="185" dirty="0">
                <a:solidFill>
                  <a:srgbClr val="414F64"/>
                </a:solidFill>
                <a:latin typeface="Arial"/>
                <a:cs typeface="Arial"/>
              </a:rPr>
              <a:t> </a:t>
            </a:r>
            <a:r>
              <a:rPr sz="3500" dirty="0">
                <a:solidFill>
                  <a:srgbClr val="414F64"/>
                </a:solidFill>
                <a:latin typeface="Arial"/>
                <a:cs typeface="Arial"/>
              </a:rPr>
              <a:t>Data</a:t>
            </a:r>
            <a:r>
              <a:rPr sz="3500" spc="229" dirty="0">
                <a:solidFill>
                  <a:srgbClr val="414F64"/>
                </a:solidFill>
                <a:latin typeface="Arial"/>
                <a:cs typeface="Arial"/>
              </a:rPr>
              <a:t> </a:t>
            </a:r>
            <a:r>
              <a:rPr sz="3500" spc="70" dirty="0">
                <a:solidFill>
                  <a:srgbClr val="414F64"/>
                </a:solidFill>
                <a:latin typeface="Arial"/>
                <a:cs typeface="Arial"/>
              </a:rPr>
              <a:t>and</a:t>
            </a:r>
            <a:r>
              <a:rPr sz="3500" spc="-40" dirty="0">
                <a:solidFill>
                  <a:srgbClr val="414F64"/>
                </a:solidFill>
                <a:latin typeface="Arial"/>
                <a:cs typeface="Arial"/>
              </a:rPr>
              <a:t> </a:t>
            </a:r>
            <a:r>
              <a:rPr sz="3500" spc="40" dirty="0">
                <a:solidFill>
                  <a:srgbClr val="414F64"/>
                </a:solidFill>
                <a:latin typeface="Arial"/>
                <a:cs typeface="Arial"/>
              </a:rPr>
              <a:t>Subgroup </a:t>
            </a:r>
            <a:r>
              <a:rPr sz="3500" spc="-10" dirty="0">
                <a:solidFill>
                  <a:srgbClr val="414F64"/>
                </a:solidFill>
                <a:latin typeface="Arial"/>
                <a:cs typeface="Arial"/>
              </a:rPr>
              <a:t>Evaluation</a:t>
            </a:r>
            <a:endParaRPr sz="35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2392" y="7257884"/>
            <a:ext cx="10066008" cy="103361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1115">
              <a:lnSpc>
                <a:spcPts val="2465"/>
              </a:lnSpc>
            </a:pPr>
            <a:r>
              <a:rPr sz="2250" spc="-330" dirty="0">
                <a:solidFill>
                  <a:srgbClr val="2B2B2A"/>
                </a:solidFill>
                <a:latin typeface="Courier New"/>
                <a:cs typeface="Courier New"/>
              </a:rPr>
              <a:t>COURSE:</a:t>
            </a:r>
            <a:r>
              <a:rPr sz="2250" spc="-250" dirty="0">
                <a:solidFill>
                  <a:srgbClr val="2B2B2A"/>
                </a:solidFill>
                <a:latin typeface="Courier New"/>
                <a:cs typeface="Courier New"/>
              </a:rPr>
              <a:t> </a:t>
            </a:r>
            <a:r>
              <a:rPr sz="2250" spc="-315" dirty="0">
                <a:solidFill>
                  <a:srgbClr val="2B2B2A"/>
                </a:solidFill>
                <a:latin typeface="Courier New"/>
                <a:cs typeface="Courier New"/>
              </a:rPr>
              <a:t>DATASCI</a:t>
            </a:r>
            <a:r>
              <a:rPr sz="2250" spc="-434" dirty="0">
                <a:solidFill>
                  <a:srgbClr val="2B2B2A"/>
                </a:solidFill>
                <a:latin typeface="Courier New"/>
                <a:cs typeface="Courier New"/>
              </a:rPr>
              <a:t> </a:t>
            </a:r>
            <a:r>
              <a:rPr sz="2250" spc="-254" dirty="0">
                <a:solidFill>
                  <a:srgbClr val="2B2B2A"/>
                </a:solidFill>
                <a:latin typeface="Courier New"/>
                <a:cs typeface="Courier New"/>
              </a:rPr>
              <a:t>207</a:t>
            </a:r>
            <a:r>
              <a:rPr sz="2250" spc="-440" dirty="0">
                <a:solidFill>
                  <a:srgbClr val="2B2B2A"/>
                </a:solidFill>
                <a:latin typeface="Courier New"/>
                <a:cs typeface="Courier New"/>
              </a:rPr>
              <a:t> </a:t>
            </a:r>
            <a:r>
              <a:rPr sz="2250" spc="-330" dirty="0">
                <a:solidFill>
                  <a:srgbClr val="2B2B2A"/>
                </a:solidFill>
                <a:latin typeface="Courier New"/>
                <a:cs typeface="Courier New"/>
              </a:rPr>
              <a:t>Final</a:t>
            </a:r>
            <a:r>
              <a:rPr sz="2250" spc="-395" dirty="0">
                <a:solidFill>
                  <a:srgbClr val="2B2B2A"/>
                </a:solidFill>
                <a:latin typeface="Courier New"/>
                <a:cs typeface="Courier New"/>
              </a:rPr>
              <a:t> </a:t>
            </a:r>
            <a:r>
              <a:rPr sz="2250" spc="-330" dirty="0">
                <a:solidFill>
                  <a:srgbClr val="2B2B2A"/>
                </a:solidFill>
                <a:latin typeface="Courier New"/>
                <a:cs typeface="Courier New"/>
              </a:rPr>
              <a:t>Project</a:t>
            </a:r>
            <a:r>
              <a:rPr sz="2250" spc="-215" dirty="0">
                <a:solidFill>
                  <a:srgbClr val="2B2B2A"/>
                </a:solidFill>
                <a:latin typeface="Courier New"/>
                <a:cs typeface="Courier New"/>
              </a:rPr>
              <a:t> </a:t>
            </a:r>
            <a:r>
              <a:rPr sz="2250" spc="-330" dirty="0">
                <a:solidFill>
                  <a:srgbClr val="2B2B2A"/>
                </a:solidFill>
                <a:latin typeface="Courier New"/>
                <a:cs typeface="Courier New"/>
              </a:rPr>
              <a:t>Proposal</a:t>
            </a:r>
            <a:endParaRPr sz="2250" dirty="0">
              <a:latin typeface="Courier New"/>
              <a:cs typeface="Courier New"/>
            </a:endParaRPr>
          </a:p>
          <a:p>
            <a:pPr marL="23495" marR="5080" indent="5715">
              <a:lnSpc>
                <a:spcPts val="2510"/>
              </a:lnSpc>
              <a:spcBef>
                <a:spcPts val="150"/>
              </a:spcBef>
              <a:tabLst>
                <a:tab pos="1089025" algn="l"/>
              </a:tabLst>
            </a:pPr>
            <a:r>
              <a:rPr sz="2250" spc="-325" dirty="0">
                <a:solidFill>
                  <a:srgbClr val="2B2B2A"/>
                </a:solidFill>
                <a:latin typeface="Courier New"/>
                <a:cs typeface="Courier New"/>
              </a:rPr>
              <a:t>TEAM:</a:t>
            </a:r>
            <a:r>
              <a:rPr sz="2250" dirty="0">
                <a:solidFill>
                  <a:srgbClr val="2B2B2A"/>
                </a:solidFill>
                <a:latin typeface="Courier New"/>
                <a:cs typeface="Courier New"/>
              </a:rPr>
              <a:t>	</a:t>
            </a:r>
            <a:r>
              <a:rPr sz="2250" spc="-330" dirty="0">
                <a:solidFill>
                  <a:srgbClr val="2B2B2A"/>
                </a:solidFill>
                <a:latin typeface="Courier New"/>
                <a:cs typeface="Courier New"/>
              </a:rPr>
              <a:t>Vinit</a:t>
            </a:r>
            <a:r>
              <a:rPr sz="2250" spc="-440" dirty="0">
                <a:solidFill>
                  <a:srgbClr val="2B2B2A"/>
                </a:solidFill>
                <a:latin typeface="Courier New"/>
                <a:cs typeface="Courier New"/>
              </a:rPr>
              <a:t> </a:t>
            </a:r>
            <a:r>
              <a:rPr sz="2250" spc="-330" dirty="0">
                <a:solidFill>
                  <a:srgbClr val="2B2B2A"/>
                </a:solidFill>
                <a:latin typeface="Courier New"/>
                <a:cs typeface="Courier New"/>
              </a:rPr>
              <a:t>Bhatt,</a:t>
            </a:r>
            <a:r>
              <a:rPr sz="2250" spc="-405" dirty="0">
                <a:solidFill>
                  <a:srgbClr val="2B2B2A"/>
                </a:solidFill>
                <a:latin typeface="Courier New"/>
                <a:cs typeface="Courier New"/>
              </a:rPr>
              <a:t> </a:t>
            </a:r>
            <a:r>
              <a:rPr sz="2250" spc="-345" dirty="0">
                <a:solidFill>
                  <a:srgbClr val="2B2B2A"/>
                </a:solidFill>
                <a:latin typeface="Courier New"/>
                <a:cs typeface="Courier New"/>
              </a:rPr>
              <a:t>Siddharthen</a:t>
            </a:r>
            <a:r>
              <a:rPr sz="2250" spc="-165" dirty="0">
                <a:solidFill>
                  <a:srgbClr val="2B2B2A"/>
                </a:solidFill>
                <a:latin typeface="Courier New"/>
                <a:cs typeface="Courier New"/>
              </a:rPr>
              <a:t> </a:t>
            </a:r>
            <a:r>
              <a:rPr sz="2250" spc="-315" dirty="0">
                <a:solidFill>
                  <a:srgbClr val="2B2B2A"/>
                </a:solidFill>
                <a:latin typeface="Courier New"/>
                <a:cs typeface="Courier New"/>
              </a:rPr>
              <a:t>Sridhar,</a:t>
            </a:r>
            <a:r>
              <a:rPr sz="2250" spc="-245" dirty="0">
                <a:solidFill>
                  <a:srgbClr val="2B2B2A"/>
                </a:solidFill>
                <a:latin typeface="Courier New"/>
                <a:cs typeface="Courier New"/>
              </a:rPr>
              <a:t> </a:t>
            </a:r>
            <a:r>
              <a:rPr sz="2250" spc="-345" dirty="0">
                <a:solidFill>
                  <a:srgbClr val="2B2B2A"/>
                </a:solidFill>
                <a:latin typeface="Courier New"/>
                <a:cs typeface="Courier New"/>
              </a:rPr>
              <a:t>Ronald</a:t>
            </a:r>
            <a:r>
              <a:rPr sz="2250" spc="-229" dirty="0">
                <a:solidFill>
                  <a:srgbClr val="2B2B2A"/>
                </a:solidFill>
                <a:latin typeface="Courier New"/>
                <a:cs typeface="Courier New"/>
              </a:rPr>
              <a:t> </a:t>
            </a:r>
            <a:r>
              <a:rPr sz="2250" spc="-300" dirty="0">
                <a:solidFill>
                  <a:srgbClr val="2B2B2A"/>
                </a:solidFill>
                <a:latin typeface="Courier New"/>
                <a:cs typeface="Courier New"/>
              </a:rPr>
              <a:t>Ho</a:t>
            </a:r>
            <a:r>
              <a:rPr lang="en-US" sz="2250" spc="-300" dirty="0">
                <a:solidFill>
                  <a:srgbClr val="2B2B2A"/>
                </a:solidFill>
                <a:latin typeface="Courier New"/>
                <a:cs typeface="Courier New"/>
              </a:rPr>
              <a:t>, Diogo Viveiros</a:t>
            </a:r>
          </a:p>
          <a:p>
            <a:pPr marL="23495" marR="5080" indent="5715">
              <a:lnSpc>
                <a:spcPts val="2510"/>
              </a:lnSpc>
              <a:spcBef>
                <a:spcPts val="150"/>
              </a:spcBef>
              <a:tabLst>
                <a:tab pos="1089025" algn="l"/>
              </a:tabLst>
            </a:pPr>
            <a:r>
              <a:rPr sz="2250" spc="-315" dirty="0">
                <a:solidFill>
                  <a:srgbClr val="2B2B2A"/>
                </a:solidFill>
                <a:latin typeface="Courier New"/>
                <a:cs typeface="Courier New"/>
              </a:rPr>
              <a:t>STATUS:</a:t>
            </a:r>
            <a:r>
              <a:rPr sz="2250" spc="-325" dirty="0">
                <a:solidFill>
                  <a:srgbClr val="2B2B2A"/>
                </a:solidFill>
                <a:latin typeface="Courier New"/>
                <a:cs typeface="Courier New"/>
              </a:rPr>
              <a:t> </a:t>
            </a:r>
            <a:r>
              <a:rPr sz="2250" spc="-330" dirty="0">
                <a:solidFill>
                  <a:srgbClr val="2B2B2A"/>
                </a:solidFill>
                <a:latin typeface="Courier New"/>
                <a:cs typeface="Courier New"/>
              </a:rPr>
              <a:t>Project</a:t>
            </a:r>
            <a:r>
              <a:rPr sz="2250" spc="-320" dirty="0">
                <a:solidFill>
                  <a:srgbClr val="2B2B2A"/>
                </a:solidFill>
                <a:latin typeface="Courier New"/>
                <a:cs typeface="Courier New"/>
              </a:rPr>
              <a:t> </a:t>
            </a:r>
            <a:r>
              <a:rPr sz="2250" spc="-330" dirty="0">
                <a:solidFill>
                  <a:srgbClr val="2B2B2A"/>
                </a:solidFill>
                <a:latin typeface="Courier New"/>
                <a:cs typeface="Courier New"/>
              </a:rPr>
              <a:t>Proposal</a:t>
            </a:r>
            <a:endParaRPr sz="225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2008" y="5285449"/>
            <a:ext cx="1757695" cy="7915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2547" y="4366286"/>
            <a:ext cx="2190750" cy="14808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8982" y="1506669"/>
            <a:ext cx="7794994" cy="34213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66563" y="5157787"/>
            <a:ext cx="662319" cy="6638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80057" y="5157787"/>
            <a:ext cx="662319" cy="6638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137983" y="1608799"/>
            <a:ext cx="2802121" cy="16851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89763" y="5157787"/>
            <a:ext cx="662319" cy="66383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490219" y="1532201"/>
            <a:ext cx="0" cy="3753485"/>
          </a:xfrm>
          <a:custGeom>
            <a:avLst/>
            <a:gdLst/>
            <a:ahLst/>
            <a:cxnLst/>
            <a:rect l="l" t="t" r="r" b="b"/>
            <a:pathLst>
              <a:path h="3753485">
                <a:moveTo>
                  <a:pt x="0" y="37532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77936" y="5821625"/>
            <a:ext cx="0" cy="715010"/>
          </a:xfrm>
          <a:custGeom>
            <a:avLst/>
            <a:gdLst/>
            <a:ahLst/>
            <a:cxnLst/>
            <a:rect l="l" t="t" r="r" b="b"/>
            <a:pathLst>
              <a:path h="715009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98254" y="5081189"/>
            <a:ext cx="0" cy="1455420"/>
          </a:xfrm>
          <a:custGeom>
            <a:avLst/>
            <a:gdLst/>
            <a:ahLst/>
            <a:cxnLst/>
            <a:rect l="l" t="t" r="r" b="b"/>
            <a:pathLst>
              <a:path h="1455420">
                <a:moveTo>
                  <a:pt x="0" y="145534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558905" y="5770560"/>
            <a:ext cx="0" cy="434340"/>
          </a:xfrm>
          <a:custGeom>
            <a:avLst/>
            <a:gdLst/>
            <a:ahLst/>
            <a:cxnLst/>
            <a:rect l="l" t="t" r="r" b="b"/>
            <a:pathLst>
              <a:path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310384" y="4979060"/>
            <a:ext cx="0" cy="1557655"/>
          </a:xfrm>
          <a:custGeom>
            <a:avLst/>
            <a:gdLst/>
            <a:ahLst/>
            <a:cxnLst/>
            <a:rect l="l" t="t" r="r" b="b"/>
            <a:pathLst>
              <a:path h="1557654">
                <a:moveTo>
                  <a:pt x="0" y="155746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653977" y="1276878"/>
            <a:ext cx="560705" cy="561975"/>
          </a:xfrm>
          <a:custGeom>
            <a:avLst/>
            <a:gdLst/>
            <a:ahLst/>
            <a:cxnLst/>
            <a:rect l="l" t="t" r="r" b="b"/>
            <a:pathLst>
              <a:path w="560705" h="561975">
                <a:moveTo>
                  <a:pt x="0" y="0"/>
                </a:moveTo>
                <a:lnTo>
                  <a:pt x="560424" y="0"/>
                </a:lnTo>
                <a:lnTo>
                  <a:pt x="560424" y="561710"/>
                </a:lnTo>
                <a:lnTo>
                  <a:pt x="0" y="5617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736615" y="3293929"/>
            <a:ext cx="0" cy="3242945"/>
          </a:xfrm>
          <a:custGeom>
            <a:avLst/>
            <a:gdLst/>
            <a:ahLst/>
            <a:cxnLst/>
            <a:rect l="l" t="t" r="r" b="b"/>
            <a:pathLst>
              <a:path h="3242945">
                <a:moveTo>
                  <a:pt x="0" y="324260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653977" y="1557734"/>
            <a:ext cx="1121410" cy="0"/>
          </a:xfrm>
          <a:custGeom>
            <a:avLst/>
            <a:gdLst/>
            <a:ahLst/>
            <a:cxnLst/>
            <a:rect l="l" t="t" r="r" b="b"/>
            <a:pathLst>
              <a:path w="1121409">
                <a:moveTo>
                  <a:pt x="0" y="0"/>
                </a:moveTo>
                <a:lnTo>
                  <a:pt x="112084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551571" y="383314"/>
            <a:ext cx="15828010" cy="607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00" spc="90" dirty="0">
                <a:solidFill>
                  <a:srgbClr val="03163F"/>
                </a:solidFill>
              </a:rPr>
              <a:t>Motivation:</a:t>
            </a:r>
            <a:r>
              <a:rPr sz="3800" dirty="0">
                <a:solidFill>
                  <a:srgbClr val="03163F"/>
                </a:solidFill>
              </a:rPr>
              <a:t> </a:t>
            </a:r>
            <a:r>
              <a:rPr sz="3800" spc="55" dirty="0">
                <a:solidFill>
                  <a:srgbClr val="03163F"/>
                </a:solidFill>
              </a:rPr>
              <a:t>Volatility</a:t>
            </a:r>
            <a:r>
              <a:rPr sz="3800" spc="-35" dirty="0">
                <a:solidFill>
                  <a:srgbClr val="03163F"/>
                </a:solidFill>
              </a:rPr>
              <a:t> </a:t>
            </a:r>
            <a:r>
              <a:rPr sz="3800" spc="135" dirty="0">
                <a:solidFill>
                  <a:srgbClr val="03163F"/>
                </a:solidFill>
              </a:rPr>
              <a:t>is</a:t>
            </a:r>
            <a:r>
              <a:rPr sz="3800" spc="-355" dirty="0">
                <a:solidFill>
                  <a:srgbClr val="03163F"/>
                </a:solidFill>
              </a:rPr>
              <a:t> </a:t>
            </a:r>
            <a:r>
              <a:rPr sz="3800" spc="165" dirty="0">
                <a:solidFill>
                  <a:srgbClr val="03163F"/>
                </a:solidFill>
              </a:rPr>
              <a:t>the</a:t>
            </a:r>
            <a:r>
              <a:rPr sz="3800" spc="-135" dirty="0">
                <a:solidFill>
                  <a:srgbClr val="03163F"/>
                </a:solidFill>
              </a:rPr>
              <a:t> </a:t>
            </a:r>
            <a:r>
              <a:rPr sz="3800" spc="50" dirty="0">
                <a:solidFill>
                  <a:srgbClr val="03163F"/>
                </a:solidFill>
              </a:rPr>
              <a:t>Driver</a:t>
            </a:r>
            <a:r>
              <a:rPr sz="3800" spc="25" dirty="0">
                <a:solidFill>
                  <a:srgbClr val="03163F"/>
                </a:solidFill>
              </a:rPr>
              <a:t> </a:t>
            </a:r>
            <a:r>
              <a:rPr sz="3800" spc="140" dirty="0">
                <a:solidFill>
                  <a:srgbClr val="03163F"/>
                </a:solidFill>
              </a:rPr>
              <a:t>of</a:t>
            </a:r>
            <a:r>
              <a:rPr sz="3800" spc="-95" dirty="0">
                <a:solidFill>
                  <a:srgbClr val="03163F"/>
                </a:solidFill>
              </a:rPr>
              <a:t> </a:t>
            </a:r>
            <a:r>
              <a:rPr sz="3800" dirty="0">
                <a:solidFill>
                  <a:srgbClr val="03163F"/>
                </a:solidFill>
              </a:rPr>
              <a:t>Portfolio</a:t>
            </a:r>
            <a:r>
              <a:rPr sz="3800" spc="50" dirty="0">
                <a:solidFill>
                  <a:srgbClr val="03163F"/>
                </a:solidFill>
              </a:rPr>
              <a:t> </a:t>
            </a:r>
            <a:r>
              <a:rPr sz="3800" dirty="0">
                <a:solidFill>
                  <a:srgbClr val="03163F"/>
                </a:solidFill>
              </a:rPr>
              <a:t>Risk</a:t>
            </a:r>
            <a:r>
              <a:rPr sz="3800" spc="-190" dirty="0">
                <a:solidFill>
                  <a:srgbClr val="03163F"/>
                </a:solidFill>
              </a:rPr>
              <a:t> </a:t>
            </a:r>
            <a:r>
              <a:rPr sz="3800" spc="130" dirty="0">
                <a:solidFill>
                  <a:srgbClr val="03163F"/>
                </a:solidFill>
              </a:rPr>
              <a:t>and</a:t>
            </a:r>
            <a:r>
              <a:rPr sz="3800" spc="-200" dirty="0">
                <a:solidFill>
                  <a:srgbClr val="03163F"/>
                </a:solidFill>
              </a:rPr>
              <a:t> </a:t>
            </a:r>
            <a:r>
              <a:rPr sz="3800" spc="75" dirty="0">
                <a:solidFill>
                  <a:srgbClr val="03163F"/>
                </a:solidFill>
              </a:rPr>
              <a:t>Drawdowns</a:t>
            </a:r>
            <a:endParaRPr sz="3800"/>
          </a:p>
        </p:txBody>
      </p:sp>
      <p:sp>
        <p:nvSpPr>
          <p:cNvPr id="18" name="object 18"/>
          <p:cNvSpPr txBox="1"/>
          <p:nvPr/>
        </p:nvSpPr>
        <p:spPr>
          <a:xfrm>
            <a:off x="843513" y="1385457"/>
            <a:ext cx="1183005" cy="525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989"/>
              </a:lnSpc>
              <a:spcBef>
                <a:spcPts val="110"/>
              </a:spcBef>
            </a:pPr>
            <a:r>
              <a:rPr sz="1850" spc="-20" dirty="0">
                <a:solidFill>
                  <a:srgbClr val="626E7C"/>
                </a:solidFill>
                <a:latin typeface="Arial"/>
                <a:cs typeface="Arial"/>
              </a:rPr>
              <a:t>5000</a:t>
            </a:r>
            <a:endParaRPr sz="1850">
              <a:latin typeface="Arial"/>
              <a:cs typeface="Arial"/>
            </a:endParaRPr>
          </a:p>
          <a:p>
            <a:pPr marL="775970">
              <a:lnSpc>
                <a:spcPts val="1930"/>
              </a:lnSpc>
            </a:pPr>
            <a:r>
              <a:rPr sz="1800" spc="-155" dirty="0">
                <a:solidFill>
                  <a:srgbClr val="626E7C"/>
                </a:solidFill>
                <a:latin typeface="Arial"/>
                <a:cs typeface="Arial"/>
              </a:rPr>
              <a:t>SPX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0582" y="2202490"/>
            <a:ext cx="54991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-20" dirty="0">
                <a:solidFill>
                  <a:srgbClr val="4D5B6D"/>
                </a:solidFill>
                <a:latin typeface="Arial"/>
                <a:cs typeface="Arial"/>
              </a:rPr>
              <a:t>4500</a:t>
            </a:r>
            <a:endParaRPr sz="1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1989" y="3019524"/>
            <a:ext cx="841375" cy="550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685">
              <a:lnSpc>
                <a:spcPts val="2190"/>
              </a:lnSpc>
              <a:spcBef>
                <a:spcPts val="110"/>
              </a:spcBef>
            </a:pPr>
            <a:r>
              <a:rPr sz="1850" dirty="0">
                <a:solidFill>
                  <a:srgbClr val="4D5B6D"/>
                </a:solidFill>
                <a:latin typeface="Arial"/>
                <a:cs typeface="Arial"/>
              </a:rPr>
              <a:t>�</a:t>
            </a:r>
            <a:r>
              <a:rPr sz="1850" spc="204" dirty="0">
                <a:solidFill>
                  <a:srgbClr val="4D5B6D"/>
                </a:solidFill>
                <a:latin typeface="Arial"/>
                <a:cs typeface="Arial"/>
              </a:rPr>
              <a:t> </a:t>
            </a:r>
            <a:r>
              <a:rPr sz="1850" spc="-70" dirty="0">
                <a:solidFill>
                  <a:srgbClr val="626E7C"/>
                </a:solidFill>
                <a:latin typeface="Arial"/>
                <a:cs typeface="Arial"/>
              </a:rPr>
              <a:t>4000</a:t>
            </a:r>
            <a:endParaRPr sz="1850">
              <a:latin typeface="Arial"/>
              <a:cs typeface="Arial"/>
            </a:endParaRPr>
          </a:p>
          <a:p>
            <a:pPr marL="41910">
              <a:lnSpc>
                <a:spcPts val="1010"/>
              </a:lnSpc>
            </a:pPr>
            <a:r>
              <a:rPr sz="900" spc="-25" dirty="0">
                <a:solidFill>
                  <a:srgbClr val="626E7C"/>
                </a:solidFill>
                <a:latin typeface="Arial"/>
                <a:cs typeface="Arial"/>
              </a:rPr>
              <a:t>(I)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919"/>
              </a:lnSpc>
            </a:pPr>
            <a:r>
              <a:rPr sz="800" spc="-25" dirty="0">
                <a:solidFill>
                  <a:srgbClr val="34363A"/>
                </a:solidFill>
                <a:latin typeface="Arial"/>
                <a:cs typeface="Arial"/>
              </a:rPr>
              <a:t>_J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3857" y="3613150"/>
            <a:ext cx="13081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5" dirty="0">
                <a:solidFill>
                  <a:srgbClr val="4D5B6D"/>
                </a:solidFill>
                <a:latin typeface="Arial"/>
                <a:cs typeface="Arial"/>
              </a:rPr>
              <a:t>0)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8468" y="3664215"/>
            <a:ext cx="1308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0" dirty="0">
                <a:solidFill>
                  <a:srgbClr val="4D5B6D"/>
                </a:solidFill>
                <a:latin typeface="Times New Roman"/>
                <a:cs typeface="Times New Roman"/>
              </a:rPr>
              <a:t>u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7560" y="3798259"/>
            <a:ext cx="86614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18135" algn="l"/>
              </a:tabLst>
            </a:pPr>
            <a:r>
              <a:rPr sz="1550" spc="-25" dirty="0">
                <a:solidFill>
                  <a:srgbClr val="626E7C"/>
                </a:solidFill>
                <a:latin typeface="Arial"/>
                <a:cs typeface="Arial"/>
              </a:rPr>
              <a:t>·c</a:t>
            </a:r>
            <a:r>
              <a:rPr sz="1550" dirty="0">
                <a:solidFill>
                  <a:srgbClr val="626E7C"/>
                </a:solidFill>
                <a:latin typeface="Arial"/>
                <a:cs typeface="Arial"/>
              </a:rPr>
              <a:t>	</a:t>
            </a:r>
            <a:r>
              <a:rPr sz="1850" spc="-20" dirty="0">
                <a:solidFill>
                  <a:srgbClr val="626E7C"/>
                </a:solidFill>
                <a:latin typeface="Arial"/>
                <a:cs typeface="Arial"/>
              </a:rPr>
              <a:t>3500</a:t>
            </a:r>
            <a:endParaRPr sz="18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9425" y="3957630"/>
            <a:ext cx="892175" cy="117475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305"/>
              </a:spcBef>
            </a:pPr>
            <a:r>
              <a:rPr sz="1200" spc="-20" dirty="0">
                <a:solidFill>
                  <a:srgbClr val="626E7C"/>
                </a:solidFill>
                <a:latin typeface="Arial"/>
                <a:cs typeface="Arial"/>
              </a:rPr>
              <a:t>Cl..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05"/>
              </a:lnSpc>
              <a:spcBef>
                <a:spcPts val="220"/>
              </a:spcBef>
            </a:pPr>
            <a:r>
              <a:rPr sz="1250" spc="-50" dirty="0">
                <a:solidFill>
                  <a:srgbClr val="4D5B6D"/>
                </a:solidFill>
                <a:latin typeface="Arial"/>
                <a:cs typeface="Arial"/>
              </a:rPr>
              <a:t>0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ts val="1155"/>
              </a:lnSpc>
            </a:pPr>
            <a:r>
              <a:rPr sz="1250" spc="-50" dirty="0">
                <a:solidFill>
                  <a:srgbClr val="4D5B6D"/>
                </a:solidFill>
                <a:latin typeface="Arial"/>
                <a:cs typeface="Arial"/>
              </a:rPr>
              <a:t>0</a:t>
            </a:r>
            <a:endParaRPr sz="1250">
              <a:latin typeface="Arial"/>
              <a:cs typeface="Arial"/>
            </a:endParaRPr>
          </a:p>
          <a:p>
            <a:pPr marL="55244">
              <a:lnSpc>
                <a:spcPts val="869"/>
              </a:lnSpc>
            </a:pPr>
            <a:r>
              <a:rPr sz="850" spc="-25" dirty="0">
                <a:solidFill>
                  <a:srgbClr val="4D5B6D"/>
                </a:solidFill>
                <a:latin typeface="Arial"/>
                <a:cs typeface="Arial"/>
              </a:rPr>
              <a:t>LI}</a:t>
            </a:r>
            <a:endParaRPr sz="85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395"/>
              </a:spcBef>
              <a:tabLst>
                <a:tab pos="333375" algn="l"/>
              </a:tabLst>
            </a:pPr>
            <a:r>
              <a:rPr sz="1850" spc="-350" dirty="0">
                <a:solidFill>
                  <a:srgbClr val="626E7C"/>
                </a:solidFill>
                <a:latin typeface="Arial"/>
                <a:cs typeface="Arial"/>
              </a:rPr>
              <a:t>�</a:t>
            </a:r>
            <a:r>
              <a:rPr sz="1850" dirty="0">
                <a:solidFill>
                  <a:srgbClr val="626E7C"/>
                </a:solidFill>
                <a:latin typeface="Arial"/>
                <a:cs typeface="Arial"/>
              </a:rPr>
              <a:t>	</a:t>
            </a:r>
            <a:r>
              <a:rPr sz="1850" spc="-20" dirty="0">
                <a:solidFill>
                  <a:srgbClr val="626E7C"/>
                </a:solidFill>
                <a:latin typeface="Arial"/>
                <a:cs typeface="Arial"/>
              </a:rPr>
              <a:t>3000</a:t>
            </a:r>
            <a:endParaRPr sz="1850">
              <a:latin typeface="Arial"/>
              <a:cs typeface="Arial"/>
            </a:endParaRPr>
          </a:p>
          <a:p>
            <a:pPr marL="55880">
              <a:lnSpc>
                <a:spcPct val="100000"/>
              </a:lnSpc>
              <a:spcBef>
                <a:spcPts val="35"/>
              </a:spcBef>
            </a:pPr>
            <a:r>
              <a:rPr sz="1000" spc="-25" dirty="0">
                <a:solidFill>
                  <a:srgbClr val="4D5B6D"/>
                </a:solidFill>
                <a:latin typeface="Arial"/>
                <a:cs typeface="Arial"/>
              </a:rPr>
              <a:t>(/)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6731" y="5547221"/>
            <a:ext cx="55499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-20" dirty="0">
                <a:solidFill>
                  <a:srgbClr val="626E7C"/>
                </a:solidFill>
                <a:latin typeface="Arial"/>
                <a:cs typeface="Arial"/>
              </a:rPr>
              <a:t>2500</a:t>
            </a:r>
            <a:endParaRPr sz="1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51742" y="2100362"/>
            <a:ext cx="219900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dirty="0">
                <a:solidFill>
                  <a:srgbClr val="0C0F15"/>
                </a:solidFill>
                <a:latin typeface="Arial"/>
                <a:cs typeface="Arial"/>
              </a:rPr>
              <a:t>Volatility</a:t>
            </a:r>
            <a:r>
              <a:rPr sz="2150" b="1" spc="315" dirty="0">
                <a:solidFill>
                  <a:srgbClr val="0C0F15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0C0F15"/>
                </a:solidFill>
                <a:latin typeface="Arial"/>
                <a:cs typeface="Arial"/>
              </a:rPr>
              <a:t>Spikes</a:t>
            </a:r>
            <a:endParaRPr sz="21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754622" y="2706686"/>
            <a:ext cx="704850" cy="0"/>
          </a:xfrm>
          <a:custGeom>
            <a:avLst/>
            <a:gdLst/>
            <a:ahLst/>
            <a:cxnLst/>
            <a:rect l="l" t="t" r="r" b="b"/>
            <a:pathLst>
              <a:path w="704850">
                <a:moveTo>
                  <a:pt x="0" y="0"/>
                </a:moveTo>
                <a:lnTo>
                  <a:pt x="704258" y="0"/>
                </a:lnTo>
              </a:path>
            </a:pathLst>
          </a:custGeom>
          <a:ln w="12766">
            <a:solidFill>
              <a:srgbClr val="1F21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720452" y="2202491"/>
            <a:ext cx="3079750" cy="8915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4415"/>
              </a:lnSpc>
              <a:spcBef>
                <a:spcPts val="120"/>
              </a:spcBef>
            </a:pPr>
            <a:r>
              <a:rPr sz="2150" b="1" spc="65" dirty="0">
                <a:solidFill>
                  <a:srgbClr val="1F2123"/>
                </a:solidFill>
                <a:latin typeface="Arial"/>
                <a:cs typeface="Arial"/>
              </a:rPr>
              <a:t>correlate</a:t>
            </a:r>
            <a:r>
              <a:rPr sz="2150" b="1" spc="-2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150" b="1" spc="90" dirty="0">
                <a:solidFill>
                  <a:srgbClr val="0C0F15"/>
                </a:solidFill>
                <a:latin typeface="Arial"/>
                <a:cs typeface="Arial"/>
              </a:rPr>
              <a:t>with</a:t>
            </a:r>
            <a:r>
              <a:rPr sz="2150" b="1" spc="330" dirty="0">
                <a:solidFill>
                  <a:srgbClr val="0C0F15"/>
                </a:solidFill>
                <a:latin typeface="Arial"/>
                <a:cs typeface="Arial"/>
              </a:rPr>
              <a:t> </a:t>
            </a:r>
            <a:r>
              <a:rPr sz="3850" spc="869" dirty="0">
                <a:solidFill>
                  <a:srgbClr val="0C0F15"/>
                </a:solidFill>
                <a:latin typeface="Arial"/>
                <a:cs typeface="Arial"/>
              </a:rPr>
              <a:t>-</a:t>
            </a:r>
            <a:r>
              <a:rPr sz="3850" spc="869" dirty="0">
                <a:solidFill>
                  <a:srgbClr val="03163F"/>
                </a:solidFill>
                <a:latin typeface="Arial"/>
                <a:cs typeface="Arial"/>
              </a:rPr>
              <a:t>-</a:t>
            </a:r>
            <a:r>
              <a:rPr sz="3850" spc="1480" dirty="0">
                <a:solidFill>
                  <a:srgbClr val="1F2123"/>
                </a:solidFill>
                <a:latin typeface="Arial"/>
                <a:cs typeface="Arial"/>
              </a:rPr>
              <a:t>&gt;</a:t>
            </a:r>
            <a:endParaRPr sz="3850">
              <a:latin typeface="Arial"/>
              <a:cs typeface="Arial"/>
            </a:endParaRPr>
          </a:p>
          <a:p>
            <a:pPr marL="296545">
              <a:lnSpc>
                <a:spcPts val="2375"/>
              </a:lnSpc>
            </a:pPr>
            <a:r>
              <a:rPr sz="2150" b="1" spc="50" dirty="0">
                <a:solidFill>
                  <a:srgbClr val="0C0F15"/>
                </a:solidFill>
                <a:latin typeface="Arial"/>
                <a:cs typeface="Arial"/>
              </a:rPr>
              <a:t>Drawdowns</a:t>
            </a:r>
            <a:endParaRPr sz="21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55554" y="5840842"/>
            <a:ext cx="1435735" cy="56451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indent="173355">
              <a:lnSpc>
                <a:spcPts val="2010"/>
              </a:lnSpc>
              <a:spcBef>
                <a:spcPts val="350"/>
              </a:spcBef>
            </a:pPr>
            <a:r>
              <a:rPr sz="1850" spc="-30" dirty="0">
                <a:solidFill>
                  <a:srgbClr val="1F2123"/>
                </a:solidFill>
                <a:latin typeface="Arial"/>
                <a:cs typeface="Arial"/>
              </a:rPr>
              <a:t>Early</a:t>
            </a:r>
            <a:r>
              <a:rPr sz="1850" spc="-9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1850" spc="-20" dirty="0">
                <a:solidFill>
                  <a:srgbClr val="34363A"/>
                </a:solidFill>
                <a:latin typeface="Arial"/>
                <a:cs typeface="Arial"/>
              </a:rPr>
              <a:t>2018 </a:t>
            </a:r>
            <a:r>
              <a:rPr sz="1850" spc="-35" dirty="0">
                <a:solidFill>
                  <a:srgbClr val="1F2123"/>
                </a:solidFill>
                <a:latin typeface="Arial"/>
                <a:cs typeface="Arial"/>
              </a:rPr>
              <a:t>Volmageddon</a:t>
            </a:r>
            <a:endParaRPr sz="18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11148" y="5840842"/>
            <a:ext cx="1290955" cy="56451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indent="6350">
              <a:lnSpc>
                <a:spcPts val="2010"/>
              </a:lnSpc>
              <a:spcBef>
                <a:spcPts val="350"/>
              </a:spcBef>
            </a:pPr>
            <a:r>
              <a:rPr sz="1850" dirty="0">
                <a:solidFill>
                  <a:srgbClr val="1F2123"/>
                </a:solidFill>
                <a:latin typeface="Arial"/>
                <a:cs typeface="Arial"/>
              </a:rPr>
              <a:t>March</a:t>
            </a:r>
            <a:r>
              <a:rPr sz="1850" spc="-9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1850" spc="-20" dirty="0">
                <a:solidFill>
                  <a:srgbClr val="1F2123"/>
                </a:solidFill>
                <a:latin typeface="Arial"/>
                <a:cs typeface="Arial"/>
              </a:rPr>
              <a:t>2020 </a:t>
            </a:r>
            <a:r>
              <a:rPr sz="1850" spc="-10" dirty="0">
                <a:solidFill>
                  <a:srgbClr val="1F2123"/>
                </a:solidFill>
                <a:latin typeface="Arial"/>
                <a:cs typeface="Arial"/>
              </a:rPr>
              <a:t>Covid</a:t>
            </a:r>
            <a:r>
              <a:rPr sz="1850" spc="-114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1850" spc="-20" dirty="0">
                <a:solidFill>
                  <a:srgbClr val="1F2123"/>
                </a:solidFill>
                <a:latin typeface="Arial"/>
                <a:cs typeface="Arial"/>
              </a:rPr>
              <a:t>Crash</a:t>
            </a:r>
            <a:endParaRPr sz="18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271748" y="5840842"/>
            <a:ext cx="1086485" cy="56451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79705" marR="5080" indent="-167640">
              <a:lnSpc>
                <a:spcPts val="2010"/>
              </a:lnSpc>
              <a:spcBef>
                <a:spcPts val="350"/>
              </a:spcBef>
            </a:pPr>
            <a:r>
              <a:rPr sz="1850" dirty="0">
                <a:solidFill>
                  <a:srgbClr val="1F2123"/>
                </a:solidFill>
                <a:latin typeface="Arial"/>
                <a:cs typeface="Arial"/>
              </a:rPr>
              <a:t>2022</a:t>
            </a:r>
            <a:r>
              <a:rPr sz="1850" spc="-3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1850" spc="-50" dirty="0">
                <a:solidFill>
                  <a:srgbClr val="1F2123"/>
                </a:solidFill>
                <a:latin typeface="Arial"/>
                <a:cs typeface="Arial"/>
              </a:rPr>
              <a:t>Bear </a:t>
            </a:r>
            <a:r>
              <a:rPr sz="1850" spc="-10" dirty="0">
                <a:solidFill>
                  <a:srgbClr val="1F2123"/>
                </a:solidFill>
                <a:latin typeface="Arial"/>
                <a:cs typeface="Arial"/>
              </a:rPr>
              <a:t>Market</a:t>
            </a:r>
            <a:endParaRPr sz="1850" dirty="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46731" y="6402553"/>
            <a:ext cx="15757525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3608050" algn="l"/>
                <a:tab pos="14563725" algn="l"/>
                <a:tab pos="14695805" algn="l"/>
                <a:tab pos="15479394" algn="l"/>
              </a:tabLst>
            </a:pPr>
            <a:r>
              <a:rPr sz="1850" spc="1050" dirty="0">
                <a:solidFill>
                  <a:srgbClr val="626E7C"/>
                </a:solidFill>
                <a:latin typeface="Arial"/>
                <a:cs typeface="Arial"/>
              </a:rPr>
              <a:t>2000</a:t>
            </a:r>
            <a:r>
              <a:rPr sz="1850" spc="1050" dirty="0">
                <a:solidFill>
                  <a:srgbClr val="87909A"/>
                </a:solidFill>
                <a:latin typeface="Arial"/>
                <a:cs typeface="Arial"/>
              </a:rPr>
              <a:t>+-</a:t>
            </a:r>
            <a:r>
              <a:rPr sz="1850" spc="680" dirty="0">
                <a:solidFill>
                  <a:srgbClr val="87909A"/>
                </a:solidFill>
                <a:latin typeface="Arial"/>
                <a:cs typeface="Arial"/>
              </a:rPr>
              <a:t>-</a:t>
            </a:r>
            <a:r>
              <a:rPr sz="1850" spc="670" dirty="0">
                <a:solidFill>
                  <a:srgbClr val="87909A"/>
                </a:solidFill>
                <a:latin typeface="Arial"/>
                <a:cs typeface="Arial"/>
              </a:rPr>
              <a:t>---</a:t>
            </a:r>
            <a:r>
              <a:rPr sz="1850" spc="665" dirty="0">
                <a:solidFill>
                  <a:srgbClr val="87909A"/>
                </a:solidFill>
                <a:latin typeface="Arial"/>
                <a:cs typeface="Arial"/>
              </a:rPr>
              <a:t>----</a:t>
            </a:r>
            <a:r>
              <a:rPr sz="1850" spc="625" dirty="0">
                <a:solidFill>
                  <a:srgbClr val="87909A"/>
                </a:solidFill>
                <a:latin typeface="Arial"/>
                <a:cs typeface="Arial"/>
              </a:rPr>
              <a:t>.-</a:t>
            </a:r>
            <a:r>
              <a:rPr sz="1850" spc="670" dirty="0">
                <a:solidFill>
                  <a:srgbClr val="87909A"/>
                </a:solidFill>
                <a:latin typeface="Arial"/>
                <a:cs typeface="Arial"/>
              </a:rPr>
              <a:t>----</a:t>
            </a:r>
            <a:r>
              <a:rPr sz="1850" spc="665" dirty="0">
                <a:solidFill>
                  <a:srgbClr val="87909A"/>
                </a:solidFill>
                <a:latin typeface="Arial"/>
                <a:cs typeface="Arial"/>
              </a:rPr>
              <a:t>-</a:t>
            </a:r>
            <a:r>
              <a:rPr sz="1850" spc="675" dirty="0">
                <a:solidFill>
                  <a:srgbClr val="87909A"/>
                </a:solidFill>
                <a:latin typeface="Arial"/>
                <a:cs typeface="Arial"/>
              </a:rPr>
              <a:t>r-</a:t>
            </a:r>
            <a:r>
              <a:rPr sz="1850" spc="670" dirty="0">
                <a:solidFill>
                  <a:srgbClr val="87909A"/>
                </a:solidFill>
                <a:latin typeface="Arial"/>
                <a:cs typeface="Arial"/>
              </a:rPr>
              <a:t>----</a:t>
            </a:r>
            <a:r>
              <a:rPr sz="1850" spc="670" dirty="0">
                <a:solidFill>
                  <a:srgbClr val="95827B"/>
                </a:solidFill>
                <a:latin typeface="Arial"/>
                <a:cs typeface="Arial"/>
              </a:rPr>
              <a:t>--</a:t>
            </a:r>
            <a:r>
              <a:rPr sz="1850" spc="670" dirty="0">
                <a:solidFill>
                  <a:srgbClr val="87909A"/>
                </a:solidFill>
                <a:latin typeface="Arial"/>
                <a:cs typeface="Arial"/>
              </a:rPr>
              <a:t>--</a:t>
            </a:r>
            <a:r>
              <a:rPr sz="1850" spc="665" dirty="0">
                <a:solidFill>
                  <a:srgbClr val="87909A"/>
                </a:solidFill>
                <a:latin typeface="Arial"/>
                <a:cs typeface="Arial"/>
              </a:rPr>
              <a:t>-</a:t>
            </a:r>
            <a:r>
              <a:rPr sz="1850" spc="615" dirty="0">
                <a:solidFill>
                  <a:srgbClr val="87909A"/>
                </a:solidFill>
                <a:latin typeface="Arial"/>
                <a:cs typeface="Arial"/>
              </a:rPr>
              <a:t>.-</a:t>
            </a:r>
            <a:r>
              <a:rPr sz="1850" spc="670" dirty="0">
                <a:solidFill>
                  <a:srgbClr val="87909A"/>
                </a:solidFill>
                <a:latin typeface="Arial"/>
                <a:cs typeface="Arial"/>
              </a:rPr>
              <a:t>----</a:t>
            </a:r>
            <a:r>
              <a:rPr sz="1850" spc="565" dirty="0">
                <a:solidFill>
                  <a:srgbClr val="87909A"/>
                </a:solidFill>
                <a:latin typeface="Arial"/>
                <a:cs typeface="Arial"/>
              </a:rPr>
              <a:t>..,..........</a:t>
            </a:r>
            <a:r>
              <a:rPr sz="1850" spc="565" dirty="0">
                <a:solidFill>
                  <a:srgbClr val="95827B"/>
                </a:solidFill>
                <a:latin typeface="Arial"/>
                <a:cs typeface="Arial"/>
              </a:rPr>
              <a:t>-</a:t>
            </a:r>
            <a:r>
              <a:rPr sz="1850" spc="670" dirty="0">
                <a:solidFill>
                  <a:srgbClr val="95827B"/>
                </a:solidFill>
                <a:latin typeface="Arial"/>
                <a:cs typeface="Arial"/>
              </a:rPr>
              <a:t>-</a:t>
            </a:r>
            <a:r>
              <a:rPr sz="1850" spc="670" dirty="0">
                <a:solidFill>
                  <a:srgbClr val="87909A"/>
                </a:solidFill>
                <a:latin typeface="Arial"/>
                <a:cs typeface="Arial"/>
              </a:rPr>
              <a:t>-</a:t>
            </a:r>
            <a:r>
              <a:rPr sz="1850" spc="665" dirty="0">
                <a:solidFill>
                  <a:srgbClr val="87909A"/>
                </a:solidFill>
                <a:latin typeface="Arial"/>
                <a:cs typeface="Arial"/>
              </a:rPr>
              <a:t>--</a:t>
            </a:r>
            <a:r>
              <a:rPr sz="1850" spc="675" dirty="0">
                <a:solidFill>
                  <a:srgbClr val="87909A"/>
                </a:solidFill>
                <a:latin typeface="Arial"/>
                <a:cs typeface="Arial"/>
              </a:rPr>
              <a:t>r-</a:t>
            </a:r>
            <a:r>
              <a:rPr sz="1850" spc="670" dirty="0">
                <a:solidFill>
                  <a:srgbClr val="87909A"/>
                </a:solidFill>
                <a:latin typeface="Arial"/>
                <a:cs typeface="Arial"/>
              </a:rPr>
              <a:t>--</a:t>
            </a:r>
            <a:r>
              <a:rPr sz="1850" spc="665" dirty="0">
                <a:solidFill>
                  <a:srgbClr val="95827B"/>
                </a:solidFill>
                <a:latin typeface="Arial"/>
                <a:cs typeface="Arial"/>
              </a:rPr>
              <a:t>----</a:t>
            </a:r>
            <a:r>
              <a:rPr sz="1850" spc="535" dirty="0">
                <a:solidFill>
                  <a:srgbClr val="95827B"/>
                </a:solidFill>
                <a:latin typeface="Arial"/>
                <a:cs typeface="Arial"/>
              </a:rPr>
              <a:t>'-</a:t>
            </a:r>
            <a:r>
              <a:rPr sz="1850" spc="660" dirty="0">
                <a:solidFill>
                  <a:srgbClr val="95827B"/>
                </a:solidFill>
                <a:latin typeface="Arial"/>
                <a:cs typeface="Arial"/>
              </a:rPr>
              <a:t>---</a:t>
            </a:r>
            <a:r>
              <a:rPr sz="1850" spc="605" dirty="0">
                <a:solidFill>
                  <a:srgbClr val="95827B"/>
                </a:solidFill>
                <a:latin typeface="Arial"/>
                <a:cs typeface="Arial"/>
              </a:rPr>
              <a:t>t-</a:t>
            </a:r>
            <a:r>
              <a:rPr sz="1850" spc="545" dirty="0">
                <a:solidFill>
                  <a:srgbClr val="95827B"/>
                </a:solidFill>
                <a:latin typeface="Arial"/>
                <a:cs typeface="Arial"/>
              </a:rPr>
              <a:t>"'....</a:t>
            </a:r>
            <a:r>
              <a:rPr sz="1850" u="heavy" dirty="0">
                <a:solidFill>
                  <a:srgbClr val="95827B"/>
                </a:solidFill>
                <a:uFill>
                  <a:solidFill>
                    <a:srgbClr val="94817A"/>
                  </a:solidFill>
                </a:uFill>
                <a:latin typeface="Arial"/>
                <a:cs typeface="Arial"/>
              </a:rPr>
              <a:t>	</a:t>
            </a:r>
            <a:r>
              <a:rPr sz="1850" u="none" spc="500" dirty="0">
                <a:solidFill>
                  <a:srgbClr val="95827B"/>
                </a:solidFill>
                <a:latin typeface="Arial"/>
                <a:cs typeface="Arial"/>
              </a:rPr>
              <a:t>.</a:t>
            </a:r>
            <a:r>
              <a:rPr sz="1850" u="heavy" dirty="0">
                <a:solidFill>
                  <a:srgbClr val="95827B"/>
                </a:solidFill>
                <a:uFill>
                  <a:solidFill>
                    <a:srgbClr val="94817A"/>
                  </a:solidFill>
                </a:uFill>
                <a:latin typeface="Arial"/>
                <a:cs typeface="Arial"/>
              </a:rPr>
              <a:t>	</a:t>
            </a:r>
            <a:r>
              <a:rPr sz="1850" u="none" dirty="0">
                <a:solidFill>
                  <a:srgbClr val="95827B"/>
                </a:solidFill>
                <a:latin typeface="Arial"/>
                <a:cs typeface="Arial"/>
              </a:rPr>
              <a:t>	</a:t>
            </a:r>
            <a:r>
              <a:rPr sz="1850" u="none" spc="105" dirty="0">
                <a:solidFill>
                  <a:srgbClr val="87909A"/>
                </a:solidFill>
                <a:latin typeface="Arial"/>
                <a:cs typeface="Arial"/>
              </a:rPr>
              <a:t>...-</a:t>
            </a:r>
            <a:r>
              <a:rPr sz="1850" u="none" spc="-50" dirty="0">
                <a:solidFill>
                  <a:srgbClr val="87909A"/>
                </a:solidFill>
                <a:latin typeface="Arial"/>
                <a:cs typeface="Arial"/>
              </a:rPr>
              <a:t>-</a:t>
            </a:r>
            <a:r>
              <a:rPr sz="1850" u="heavy" dirty="0">
                <a:solidFill>
                  <a:srgbClr val="87909A"/>
                </a:solidFill>
                <a:uFill>
                  <a:solidFill>
                    <a:srgbClr val="868F99"/>
                  </a:solidFill>
                </a:uFill>
                <a:latin typeface="Arial"/>
                <a:cs typeface="Arial"/>
              </a:rPr>
              <a:t>	</a:t>
            </a:r>
            <a:r>
              <a:rPr sz="1850" u="none" spc="204" dirty="0">
                <a:solidFill>
                  <a:srgbClr val="87909A"/>
                </a:solidFill>
                <a:latin typeface="Arial"/>
                <a:cs typeface="Arial"/>
              </a:rPr>
              <a:t> _</a:t>
            </a:r>
            <a:endParaRPr sz="1850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8050" y="6747238"/>
            <a:ext cx="7625080" cy="25533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68350">
              <a:lnSpc>
                <a:spcPct val="100000"/>
              </a:lnSpc>
              <a:spcBef>
                <a:spcPts val="110"/>
              </a:spcBef>
              <a:tabLst>
                <a:tab pos="2526030" algn="l"/>
                <a:tab pos="4296410" algn="l"/>
                <a:tab pos="6041390" algn="l"/>
              </a:tabLst>
            </a:pPr>
            <a:r>
              <a:rPr sz="1850" spc="-20" dirty="0">
                <a:solidFill>
                  <a:srgbClr val="626E7C"/>
                </a:solidFill>
                <a:latin typeface="Arial"/>
                <a:cs typeface="Arial"/>
              </a:rPr>
              <a:t>2015</a:t>
            </a:r>
            <a:r>
              <a:rPr sz="1850" dirty="0">
                <a:solidFill>
                  <a:srgbClr val="626E7C"/>
                </a:solidFill>
                <a:latin typeface="Arial"/>
                <a:cs typeface="Arial"/>
              </a:rPr>
              <a:t>	</a:t>
            </a:r>
            <a:r>
              <a:rPr sz="1850" spc="-20" dirty="0">
                <a:solidFill>
                  <a:srgbClr val="626E7C"/>
                </a:solidFill>
                <a:latin typeface="Arial"/>
                <a:cs typeface="Arial"/>
              </a:rPr>
              <a:t>2016</a:t>
            </a:r>
            <a:r>
              <a:rPr sz="1850" dirty="0">
                <a:solidFill>
                  <a:srgbClr val="626E7C"/>
                </a:solidFill>
                <a:latin typeface="Arial"/>
                <a:cs typeface="Arial"/>
              </a:rPr>
              <a:t>	</a:t>
            </a:r>
            <a:r>
              <a:rPr sz="1850" spc="-20" dirty="0">
                <a:solidFill>
                  <a:srgbClr val="626E7C"/>
                </a:solidFill>
                <a:latin typeface="Arial"/>
                <a:cs typeface="Arial"/>
              </a:rPr>
              <a:t>2017</a:t>
            </a:r>
            <a:r>
              <a:rPr sz="1850" dirty="0">
                <a:solidFill>
                  <a:srgbClr val="626E7C"/>
                </a:solidFill>
                <a:latin typeface="Arial"/>
                <a:cs typeface="Arial"/>
              </a:rPr>
              <a:t>	</a:t>
            </a:r>
            <a:r>
              <a:rPr sz="1850" spc="-20" dirty="0">
                <a:solidFill>
                  <a:srgbClr val="626E7C"/>
                </a:solidFill>
                <a:latin typeface="Arial"/>
                <a:cs typeface="Arial"/>
              </a:rPr>
              <a:t>2018</a:t>
            </a:r>
            <a:endParaRPr sz="18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1850" dirty="0">
              <a:latin typeface="Arial"/>
              <a:cs typeface="Arial"/>
            </a:endParaRPr>
          </a:p>
          <a:p>
            <a:pPr marL="13970" algn="just">
              <a:lnSpc>
                <a:spcPct val="100000"/>
              </a:lnSpc>
            </a:pPr>
            <a:r>
              <a:rPr sz="3500" b="1" spc="-10" dirty="0">
                <a:solidFill>
                  <a:srgbClr val="03163F"/>
                </a:solidFill>
                <a:latin typeface="Arial"/>
                <a:cs typeface="Arial"/>
              </a:rPr>
              <a:t>The</a:t>
            </a:r>
            <a:r>
              <a:rPr sz="3500" b="1" spc="-355" dirty="0">
                <a:solidFill>
                  <a:srgbClr val="03163F"/>
                </a:solidFill>
                <a:latin typeface="Arial"/>
                <a:cs typeface="Arial"/>
              </a:rPr>
              <a:t> </a:t>
            </a:r>
            <a:r>
              <a:rPr sz="3500" b="1" spc="-10" dirty="0">
                <a:solidFill>
                  <a:srgbClr val="03163F"/>
                </a:solidFill>
                <a:latin typeface="Arial"/>
                <a:cs typeface="Arial"/>
              </a:rPr>
              <a:t>Problem</a:t>
            </a:r>
            <a:endParaRPr sz="3500" dirty="0">
              <a:latin typeface="Arial"/>
              <a:cs typeface="Arial"/>
            </a:endParaRPr>
          </a:p>
          <a:p>
            <a:pPr marL="12700" marR="5080" indent="10795" algn="just">
              <a:lnSpc>
                <a:spcPct val="106100"/>
              </a:lnSpc>
              <a:spcBef>
                <a:spcPts val="1010"/>
              </a:spcBef>
            </a:pP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Short-horizon</a:t>
            </a:r>
            <a:r>
              <a:rPr sz="2250" spc="18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returns</a:t>
            </a:r>
            <a:r>
              <a:rPr sz="2250" spc="11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are</a:t>
            </a:r>
            <a:r>
              <a:rPr sz="2250" spc="-1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spc="85" dirty="0">
                <a:solidFill>
                  <a:srgbClr val="1F2123"/>
                </a:solidFill>
                <a:latin typeface="Arial"/>
                <a:cs typeface="Arial"/>
              </a:rPr>
              <a:t>often</a:t>
            </a:r>
            <a:r>
              <a:rPr sz="2250" spc="-2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random</a:t>
            </a:r>
            <a:r>
              <a:rPr sz="2250" spc="6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noise,</a:t>
            </a:r>
            <a:r>
              <a:rPr sz="2250" spc="-1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spc="90" dirty="0">
                <a:solidFill>
                  <a:srgbClr val="1F2123"/>
                </a:solidFill>
                <a:latin typeface="Arial"/>
                <a:cs typeface="Arial"/>
              </a:rPr>
              <a:t>but</a:t>
            </a:r>
            <a:r>
              <a:rPr sz="2250" spc="15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1F2123"/>
                </a:solidFill>
                <a:latin typeface="Arial"/>
                <a:cs typeface="Arial"/>
              </a:rPr>
              <a:t>volatility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exhibits</a:t>
            </a:r>
            <a:r>
              <a:rPr sz="2250" spc="18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persistence</a:t>
            </a:r>
            <a:r>
              <a:rPr sz="2250" spc="21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and</a:t>
            </a:r>
            <a:r>
              <a:rPr sz="2250" spc="8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clustering.</a:t>
            </a:r>
            <a:r>
              <a:rPr sz="2250" spc="21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When</a:t>
            </a:r>
            <a:r>
              <a:rPr sz="2250" spc="22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volatility</a:t>
            </a:r>
            <a:r>
              <a:rPr sz="2250" spc="229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1F2123"/>
                </a:solidFill>
                <a:latin typeface="Arial"/>
                <a:cs typeface="Arial"/>
              </a:rPr>
              <a:t>spikes,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correlations</a:t>
            </a:r>
            <a:r>
              <a:rPr sz="2250" spc="12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converge</a:t>
            </a:r>
            <a:r>
              <a:rPr sz="2250" spc="12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to</a:t>
            </a:r>
            <a:r>
              <a:rPr sz="2250" spc="8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1F2123"/>
                </a:solidFill>
                <a:latin typeface="Arial"/>
                <a:cs typeface="Arial"/>
              </a:rPr>
              <a:t>1.0,</a:t>
            </a:r>
            <a:r>
              <a:rPr sz="2250" spc="10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and</a:t>
            </a:r>
            <a:r>
              <a:rPr sz="2250" spc="3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0C0F15"/>
                </a:solidFill>
                <a:latin typeface="Arial"/>
                <a:cs typeface="Arial"/>
              </a:rPr>
              <a:t>risk</a:t>
            </a:r>
            <a:r>
              <a:rPr sz="2250" spc="-85" dirty="0">
                <a:solidFill>
                  <a:srgbClr val="0C0F15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controls</a:t>
            </a:r>
            <a:r>
              <a:rPr sz="2250" spc="10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spc="40" dirty="0">
                <a:solidFill>
                  <a:srgbClr val="0C0F15"/>
                </a:solidFill>
                <a:latin typeface="Arial"/>
                <a:cs typeface="Arial"/>
              </a:rPr>
              <a:t>fail.</a:t>
            </a:r>
            <a:endParaRPr sz="2250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97829" y="6747238"/>
            <a:ext cx="9112885" cy="25433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757045" algn="l"/>
                <a:tab pos="3540760" algn="l"/>
                <a:tab pos="5285105" algn="l"/>
                <a:tab pos="7056120" algn="l"/>
              </a:tabLst>
            </a:pPr>
            <a:r>
              <a:rPr sz="1850" spc="-20" dirty="0">
                <a:solidFill>
                  <a:srgbClr val="626E7C"/>
                </a:solidFill>
                <a:latin typeface="Arial"/>
                <a:cs typeface="Arial"/>
              </a:rPr>
              <a:t>2019</a:t>
            </a:r>
            <a:r>
              <a:rPr sz="1850" dirty="0">
                <a:solidFill>
                  <a:srgbClr val="626E7C"/>
                </a:solidFill>
                <a:latin typeface="Arial"/>
                <a:cs typeface="Arial"/>
              </a:rPr>
              <a:t>	</a:t>
            </a:r>
            <a:r>
              <a:rPr sz="1850" spc="-20" dirty="0">
                <a:solidFill>
                  <a:srgbClr val="626E7C"/>
                </a:solidFill>
                <a:latin typeface="Arial"/>
                <a:cs typeface="Arial"/>
              </a:rPr>
              <a:t>2020</a:t>
            </a:r>
            <a:r>
              <a:rPr sz="1850" dirty="0">
                <a:solidFill>
                  <a:srgbClr val="626E7C"/>
                </a:solidFill>
                <a:latin typeface="Arial"/>
                <a:cs typeface="Arial"/>
              </a:rPr>
              <a:t>	</a:t>
            </a:r>
            <a:r>
              <a:rPr sz="1850" spc="-20" dirty="0">
                <a:solidFill>
                  <a:srgbClr val="626E7C"/>
                </a:solidFill>
                <a:latin typeface="Arial"/>
                <a:cs typeface="Arial"/>
              </a:rPr>
              <a:t>2021</a:t>
            </a:r>
            <a:r>
              <a:rPr sz="1850" dirty="0">
                <a:solidFill>
                  <a:srgbClr val="626E7C"/>
                </a:solidFill>
                <a:latin typeface="Arial"/>
                <a:cs typeface="Arial"/>
              </a:rPr>
              <a:t>	</a:t>
            </a:r>
            <a:r>
              <a:rPr sz="1850" spc="-20" dirty="0">
                <a:solidFill>
                  <a:srgbClr val="626E7C"/>
                </a:solidFill>
                <a:latin typeface="Arial"/>
                <a:cs typeface="Arial"/>
              </a:rPr>
              <a:t>2022</a:t>
            </a:r>
            <a:r>
              <a:rPr sz="1850" dirty="0">
                <a:solidFill>
                  <a:srgbClr val="626E7C"/>
                </a:solidFill>
                <a:latin typeface="Arial"/>
                <a:cs typeface="Arial"/>
              </a:rPr>
              <a:t>	</a:t>
            </a:r>
            <a:r>
              <a:rPr sz="1850" spc="-20" dirty="0">
                <a:solidFill>
                  <a:srgbClr val="626E7C"/>
                </a:solidFill>
                <a:latin typeface="Arial"/>
                <a:cs typeface="Arial"/>
              </a:rPr>
              <a:t>2023</a:t>
            </a:r>
            <a:endParaRPr sz="18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1850" dirty="0">
              <a:latin typeface="Arial"/>
              <a:cs typeface="Arial"/>
            </a:endParaRPr>
          </a:p>
          <a:p>
            <a:pPr marL="709930">
              <a:lnSpc>
                <a:spcPct val="100000"/>
              </a:lnSpc>
            </a:pPr>
            <a:r>
              <a:rPr sz="3500" b="1" spc="-10" dirty="0">
                <a:solidFill>
                  <a:srgbClr val="03163F"/>
                </a:solidFill>
                <a:latin typeface="Arial"/>
                <a:cs typeface="Arial"/>
              </a:rPr>
              <a:t>The</a:t>
            </a:r>
            <a:r>
              <a:rPr sz="3500" b="1" spc="-350" dirty="0">
                <a:solidFill>
                  <a:srgbClr val="03163F"/>
                </a:solidFill>
                <a:latin typeface="Arial"/>
                <a:cs typeface="Arial"/>
              </a:rPr>
              <a:t> </a:t>
            </a:r>
            <a:r>
              <a:rPr sz="3500" b="1" spc="-10" dirty="0">
                <a:solidFill>
                  <a:srgbClr val="03163F"/>
                </a:solidFill>
                <a:latin typeface="Arial"/>
                <a:cs typeface="Arial"/>
              </a:rPr>
              <a:t>Opportunity</a:t>
            </a:r>
            <a:endParaRPr sz="3500" dirty="0">
              <a:latin typeface="Arial"/>
              <a:cs typeface="Arial"/>
            </a:endParaRPr>
          </a:p>
          <a:p>
            <a:pPr marL="700405" marR="414655" indent="8890">
              <a:lnSpc>
                <a:spcPct val="106100"/>
              </a:lnSpc>
              <a:spcBef>
                <a:spcPts val="1010"/>
              </a:spcBef>
            </a:pP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Unlike</a:t>
            </a:r>
            <a:r>
              <a:rPr sz="2250" spc="229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direction</a:t>
            </a:r>
            <a:r>
              <a:rPr sz="2250" spc="28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(up/down),</a:t>
            </a:r>
            <a:r>
              <a:rPr sz="2250" spc="25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volatility</a:t>
            </a:r>
            <a:r>
              <a:rPr sz="2250" spc="23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is</a:t>
            </a:r>
            <a:r>
              <a:rPr sz="2250" spc="9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a</a:t>
            </a:r>
            <a:r>
              <a:rPr sz="2250" spc="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predictable</a:t>
            </a:r>
            <a:r>
              <a:rPr sz="2250" spc="254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1F2123"/>
                </a:solidFill>
                <a:latin typeface="Arial"/>
                <a:cs typeface="Arial"/>
              </a:rPr>
              <a:t>target. </a:t>
            </a:r>
            <a:r>
              <a:rPr sz="2250" dirty="0">
                <a:solidFill>
                  <a:srgbClr val="0C0F15"/>
                </a:solidFill>
                <a:latin typeface="Arial"/>
                <a:cs typeface="Arial"/>
              </a:rPr>
              <a:t>Forecasting</a:t>
            </a:r>
            <a:r>
              <a:rPr sz="2250" spc="114" dirty="0">
                <a:solidFill>
                  <a:srgbClr val="0C0F15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0C0F15"/>
                </a:solidFill>
                <a:latin typeface="Arial"/>
                <a:cs typeface="Arial"/>
              </a:rPr>
              <a:t>next-</a:t>
            </a:r>
            <a:r>
              <a:rPr sz="2250" spc="50" dirty="0">
                <a:solidFill>
                  <a:srgbClr val="0C0F15"/>
                </a:solidFill>
                <a:latin typeface="Arial"/>
                <a:cs typeface="Arial"/>
              </a:rPr>
              <a:t>week</a:t>
            </a:r>
            <a:r>
              <a:rPr sz="2250" spc="360" dirty="0">
                <a:solidFill>
                  <a:srgbClr val="0C0F15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volatility</a:t>
            </a:r>
            <a:r>
              <a:rPr sz="2250" spc="19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allows</a:t>
            </a:r>
            <a:r>
              <a:rPr sz="2250" spc="5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spc="70" dirty="0">
                <a:solidFill>
                  <a:srgbClr val="0C0F15"/>
                </a:solidFill>
                <a:latin typeface="Arial"/>
                <a:cs typeface="Arial"/>
              </a:rPr>
              <a:t>for</a:t>
            </a:r>
            <a:r>
              <a:rPr sz="2250" spc="75" dirty="0">
                <a:solidFill>
                  <a:srgbClr val="0C0F15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pre-</a:t>
            </a:r>
            <a:r>
              <a:rPr sz="2250" spc="-10" dirty="0">
                <a:solidFill>
                  <a:srgbClr val="1F2123"/>
                </a:solidFill>
                <a:latin typeface="Arial"/>
                <a:cs typeface="Arial"/>
              </a:rPr>
              <a:t>emptive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position</a:t>
            </a:r>
            <a:r>
              <a:rPr sz="2250" spc="13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sizing</a:t>
            </a:r>
            <a:r>
              <a:rPr sz="2250" spc="-8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spc="70" dirty="0">
                <a:solidFill>
                  <a:srgbClr val="1F2123"/>
                </a:solidFill>
                <a:latin typeface="Arial"/>
                <a:cs typeface="Arial"/>
              </a:rPr>
              <a:t>and</a:t>
            </a:r>
            <a:r>
              <a:rPr sz="2250" spc="-9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1F2123"/>
                </a:solidFill>
                <a:latin typeface="Arial"/>
                <a:cs typeface="Arial"/>
              </a:rPr>
              <a:t>risk</a:t>
            </a:r>
            <a:r>
              <a:rPr sz="2250" spc="-50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1F2123"/>
                </a:solidFill>
                <a:latin typeface="Arial"/>
                <a:cs typeface="Arial"/>
              </a:rPr>
              <a:t>budgeting</a:t>
            </a:r>
            <a:r>
              <a:rPr sz="2250" spc="10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spc="55" dirty="0">
                <a:solidFill>
                  <a:srgbClr val="1F2123"/>
                </a:solidFill>
                <a:latin typeface="Arial"/>
                <a:cs typeface="Arial"/>
              </a:rPr>
              <a:t>before</a:t>
            </a:r>
            <a:r>
              <a:rPr sz="2250" spc="-9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spc="55" dirty="0">
                <a:solidFill>
                  <a:srgbClr val="1F2123"/>
                </a:solidFill>
                <a:latin typeface="Arial"/>
                <a:cs typeface="Arial"/>
              </a:rPr>
              <a:t>the</a:t>
            </a:r>
            <a:r>
              <a:rPr sz="2250" spc="135" dirty="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0C0F15"/>
                </a:solidFill>
                <a:latin typeface="Arial"/>
                <a:cs typeface="Arial"/>
              </a:rPr>
              <a:t>damage</a:t>
            </a:r>
            <a:r>
              <a:rPr sz="2250" spc="75" dirty="0">
                <a:solidFill>
                  <a:srgbClr val="0C0F15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0C0F15"/>
                </a:solidFill>
                <a:latin typeface="Arial"/>
                <a:cs typeface="Arial"/>
              </a:rPr>
              <a:t>is</a:t>
            </a:r>
            <a:r>
              <a:rPr sz="2250" spc="140" dirty="0">
                <a:solidFill>
                  <a:srgbClr val="0C0F15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1F2123"/>
                </a:solidFill>
                <a:latin typeface="Arial"/>
                <a:cs typeface="Arial"/>
              </a:rPr>
              <a:t>done.</a:t>
            </a:r>
            <a:endParaRPr sz="2250" dirty="0">
              <a:latin typeface="Arial"/>
              <a:cs typeface="Arial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63080CD-6571-44E8-FA2D-45D67A8533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032" y="1026449"/>
            <a:ext cx="16991136" cy="61831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41924" y="1838589"/>
            <a:ext cx="0" cy="3395979"/>
          </a:xfrm>
          <a:custGeom>
            <a:avLst/>
            <a:gdLst/>
            <a:ahLst/>
            <a:cxnLst/>
            <a:rect l="l" t="t" r="r" b="b"/>
            <a:pathLst>
              <a:path h="3395979">
                <a:moveTo>
                  <a:pt x="0" y="339579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50263" y="5183318"/>
            <a:ext cx="0" cy="561975"/>
          </a:xfrm>
          <a:custGeom>
            <a:avLst/>
            <a:gdLst/>
            <a:ahLst/>
            <a:cxnLst/>
            <a:rect l="l" t="t" r="r" b="b"/>
            <a:pathLst>
              <a:path h="561975">
                <a:moveTo>
                  <a:pt x="0" y="56171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16451" y="1838589"/>
            <a:ext cx="7667625" cy="3395979"/>
            <a:chOff x="4916451" y="1838589"/>
            <a:chExt cx="7667625" cy="3395979"/>
          </a:xfrm>
        </p:grpSpPr>
        <p:sp>
          <p:nvSpPr>
            <p:cNvPr id="5" name="object 5"/>
            <p:cNvSpPr/>
            <p:nvPr/>
          </p:nvSpPr>
          <p:spPr>
            <a:xfrm>
              <a:off x="4916451" y="1838589"/>
              <a:ext cx="7667625" cy="3395979"/>
            </a:xfrm>
            <a:custGeom>
              <a:avLst/>
              <a:gdLst/>
              <a:ahLst/>
              <a:cxnLst/>
              <a:rect l="l" t="t" r="r" b="b"/>
              <a:pathLst>
                <a:path w="7667625" h="3395979">
                  <a:moveTo>
                    <a:pt x="7629414" y="3395793"/>
                  </a:moveTo>
                  <a:lnTo>
                    <a:pt x="7629414" y="0"/>
                  </a:lnTo>
                </a:path>
                <a:path w="7667625" h="3395979">
                  <a:moveTo>
                    <a:pt x="0" y="25532"/>
                  </a:moveTo>
                  <a:lnTo>
                    <a:pt x="7667625" y="25532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97951" y="3064138"/>
              <a:ext cx="2776855" cy="0"/>
            </a:xfrm>
            <a:custGeom>
              <a:avLst/>
              <a:gdLst/>
              <a:ahLst/>
              <a:cxnLst/>
              <a:rect l="l" t="t" r="r" b="b"/>
              <a:pathLst>
                <a:path w="2776854">
                  <a:moveTo>
                    <a:pt x="0" y="0"/>
                  </a:moveTo>
                  <a:lnTo>
                    <a:pt x="2776648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16451" y="3702445"/>
              <a:ext cx="7667625" cy="1506855"/>
            </a:xfrm>
            <a:custGeom>
              <a:avLst/>
              <a:gdLst/>
              <a:ahLst/>
              <a:cxnLst/>
              <a:rect l="l" t="t" r="r" b="b"/>
              <a:pathLst>
                <a:path w="7667625" h="1506854">
                  <a:moveTo>
                    <a:pt x="2394540" y="0"/>
                  </a:moveTo>
                  <a:lnTo>
                    <a:pt x="3286125" y="0"/>
                  </a:lnTo>
                </a:path>
                <a:path w="7667625" h="1506854">
                  <a:moveTo>
                    <a:pt x="0" y="1506404"/>
                  </a:moveTo>
                  <a:lnTo>
                    <a:pt x="7667625" y="1506404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8737526" y="5706729"/>
            <a:ext cx="1936114" cy="0"/>
          </a:xfrm>
          <a:custGeom>
            <a:avLst/>
            <a:gdLst/>
            <a:ahLst/>
            <a:cxnLst/>
            <a:rect l="l" t="t" r="r" b="b"/>
            <a:pathLst>
              <a:path w="1936115">
                <a:moveTo>
                  <a:pt x="0" y="0"/>
                </a:moveTo>
                <a:lnTo>
                  <a:pt x="193601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08869" y="8119530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683735" y="504592"/>
            <a:ext cx="14622144" cy="722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50" spc="45" dirty="0">
                <a:solidFill>
                  <a:srgbClr val="081C48"/>
                </a:solidFill>
              </a:rPr>
              <a:t>Problem</a:t>
            </a:r>
            <a:r>
              <a:rPr sz="4550" spc="-95" dirty="0">
                <a:solidFill>
                  <a:srgbClr val="081C48"/>
                </a:solidFill>
              </a:rPr>
              <a:t> </a:t>
            </a:r>
            <a:r>
              <a:rPr sz="4550" spc="80" dirty="0">
                <a:solidFill>
                  <a:srgbClr val="081C48"/>
                </a:solidFill>
              </a:rPr>
              <a:t>Definition:</a:t>
            </a:r>
            <a:r>
              <a:rPr sz="4550" spc="-195" dirty="0">
                <a:solidFill>
                  <a:srgbClr val="081C48"/>
                </a:solidFill>
              </a:rPr>
              <a:t> </a:t>
            </a:r>
            <a:r>
              <a:rPr sz="4550" spc="155" dirty="0">
                <a:solidFill>
                  <a:srgbClr val="081C48"/>
                </a:solidFill>
              </a:rPr>
              <a:t>The</a:t>
            </a:r>
            <a:r>
              <a:rPr sz="4550" spc="-229" dirty="0">
                <a:solidFill>
                  <a:srgbClr val="081C48"/>
                </a:solidFill>
              </a:rPr>
              <a:t> </a:t>
            </a:r>
            <a:r>
              <a:rPr sz="4550" spc="260" dirty="0">
                <a:solidFill>
                  <a:srgbClr val="081C48"/>
                </a:solidFill>
              </a:rPr>
              <a:t>Math</a:t>
            </a:r>
            <a:r>
              <a:rPr sz="4550" spc="-310" dirty="0">
                <a:solidFill>
                  <a:srgbClr val="081C48"/>
                </a:solidFill>
              </a:rPr>
              <a:t> </a:t>
            </a:r>
            <a:r>
              <a:rPr sz="4550" dirty="0">
                <a:solidFill>
                  <a:srgbClr val="081C48"/>
                </a:solidFill>
              </a:rPr>
              <a:t>Behind</a:t>
            </a:r>
            <a:r>
              <a:rPr sz="4550" spc="-15" dirty="0">
                <a:solidFill>
                  <a:srgbClr val="081C48"/>
                </a:solidFill>
              </a:rPr>
              <a:t> </a:t>
            </a:r>
            <a:r>
              <a:rPr sz="4550" spc="200" dirty="0">
                <a:solidFill>
                  <a:srgbClr val="081C48"/>
                </a:solidFill>
              </a:rPr>
              <a:t>the</a:t>
            </a:r>
            <a:r>
              <a:rPr sz="4550" spc="-240" dirty="0">
                <a:solidFill>
                  <a:srgbClr val="081C48"/>
                </a:solidFill>
              </a:rPr>
              <a:t> </a:t>
            </a:r>
            <a:r>
              <a:rPr sz="4550" spc="70" dirty="0">
                <a:solidFill>
                  <a:srgbClr val="081C48"/>
                </a:solidFill>
              </a:rPr>
              <a:t>Prediction</a:t>
            </a:r>
            <a:endParaRPr sz="4550"/>
          </a:p>
        </p:txBody>
      </p:sp>
      <p:sp>
        <p:nvSpPr>
          <p:cNvPr id="11" name="object 11"/>
          <p:cNvSpPr txBox="1"/>
          <p:nvPr/>
        </p:nvSpPr>
        <p:spPr>
          <a:xfrm>
            <a:off x="690893" y="2960801"/>
            <a:ext cx="3185795" cy="8172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0190" marR="5080" indent="-238125">
              <a:lnSpc>
                <a:spcPct val="106000"/>
              </a:lnSpc>
              <a:spcBef>
                <a:spcPts val="95"/>
              </a:spcBef>
              <a:tabLst>
                <a:tab pos="251460" algn="l"/>
              </a:tabLst>
            </a:pPr>
            <a:r>
              <a:rPr sz="2450" spc="-50" dirty="0">
                <a:solidFill>
                  <a:srgbClr val="424F60"/>
                </a:solidFill>
                <a:latin typeface="Arial"/>
                <a:cs typeface="Arial"/>
              </a:rPr>
              <a:t>-</a:t>
            </a:r>
            <a:r>
              <a:rPr sz="2450" dirty="0">
                <a:solidFill>
                  <a:srgbClr val="424F60"/>
                </a:solidFill>
                <a:latin typeface="Arial"/>
                <a:cs typeface="Arial"/>
              </a:rPr>
              <a:t>		Annualized</a:t>
            </a:r>
            <a:r>
              <a:rPr sz="2450" spc="455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424F60"/>
                </a:solidFill>
                <a:latin typeface="Arial"/>
                <a:cs typeface="Arial"/>
              </a:rPr>
              <a:t>Realized Volatility.</a:t>
            </a:r>
            <a:endParaRPr sz="2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0893" y="4033157"/>
            <a:ext cx="2543810" cy="8172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7175" marR="5080" indent="-245110">
              <a:lnSpc>
                <a:spcPct val="106000"/>
              </a:lnSpc>
              <a:spcBef>
                <a:spcPts val="95"/>
              </a:spcBef>
            </a:pPr>
            <a:r>
              <a:rPr sz="2450" dirty="0">
                <a:solidFill>
                  <a:srgbClr val="2F3338"/>
                </a:solidFill>
                <a:latin typeface="Arial"/>
                <a:cs typeface="Arial"/>
              </a:rPr>
              <a:t>-</a:t>
            </a:r>
            <a:r>
              <a:rPr sz="2450" spc="355" dirty="0">
                <a:solidFill>
                  <a:srgbClr val="2F3338"/>
                </a:solidFill>
                <a:latin typeface="Arial"/>
                <a:cs typeface="Arial"/>
              </a:rPr>
              <a:t> </a:t>
            </a:r>
            <a:r>
              <a:rPr sz="2450" spc="50" dirty="0">
                <a:solidFill>
                  <a:srgbClr val="424F60"/>
                </a:solidFill>
                <a:latin typeface="Arial"/>
                <a:cs typeface="Arial"/>
              </a:rPr>
              <a:t>Horizon:</a:t>
            </a:r>
            <a:r>
              <a:rPr sz="2450" spc="-20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95" dirty="0">
                <a:solidFill>
                  <a:srgbClr val="424F60"/>
                </a:solidFill>
                <a:latin typeface="Arial"/>
                <a:cs typeface="Arial"/>
              </a:rPr>
              <a:t>Next</a:t>
            </a:r>
            <a:r>
              <a:rPr sz="2450" spc="100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85" dirty="0">
                <a:solidFill>
                  <a:srgbClr val="424F60"/>
                </a:solidFill>
                <a:latin typeface="Arial"/>
                <a:cs typeface="Arial"/>
              </a:rPr>
              <a:t>5 </a:t>
            </a:r>
            <a:r>
              <a:rPr sz="2450" dirty="0">
                <a:solidFill>
                  <a:srgbClr val="424F60"/>
                </a:solidFill>
                <a:latin typeface="Arial"/>
                <a:cs typeface="Arial"/>
              </a:rPr>
              <a:t>Trading</a:t>
            </a:r>
            <a:r>
              <a:rPr sz="2450" spc="345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424F60"/>
                </a:solidFill>
                <a:latin typeface="Arial"/>
                <a:cs typeface="Arial"/>
              </a:rPr>
              <a:t>Days.</a:t>
            </a:r>
            <a:endParaRPr sz="2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0893" y="5092746"/>
            <a:ext cx="3082290" cy="1608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1460" marR="5080" indent="-239395">
              <a:lnSpc>
                <a:spcPct val="106000"/>
              </a:lnSpc>
              <a:spcBef>
                <a:spcPts val="95"/>
              </a:spcBef>
              <a:tabLst>
                <a:tab pos="249554" algn="l"/>
              </a:tabLst>
            </a:pPr>
            <a:r>
              <a:rPr sz="2450" spc="-50" dirty="0">
                <a:solidFill>
                  <a:srgbClr val="424F60"/>
                </a:solidFill>
                <a:latin typeface="Arial"/>
                <a:cs typeface="Arial"/>
              </a:rPr>
              <a:t>-</a:t>
            </a:r>
            <a:r>
              <a:rPr sz="2450" dirty="0">
                <a:solidFill>
                  <a:srgbClr val="424F60"/>
                </a:solidFill>
                <a:latin typeface="Arial"/>
                <a:cs typeface="Arial"/>
              </a:rPr>
              <a:t>	</a:t>
            </a:r>
            <a:r>
              <a:rPr sz="2450" spc="55" dirty="0">
                <a:solidFill>
                  <a:srgbClr val="424F60"/>
                </a:solidFill>
                <a:latin typeface="Arial"/>
                <a:cs typeface="Arial"/>
              </a:rPr>
              <a:t>Scope:</a:t>
            </a:r>
            <a:r>
              <a:rPr sz="2450" spc="-65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50" dirty="0">
                <a:solidFill>
                  <a:srgbClr val="424F60"/>
                </a:solidFill>
                <a:latin typeface="Arial"/>
                <a:cs typeface="Arial"/>
              </a:rPr>
              <a:t>Continuous </a:t>
            </a:r>
            <a:r>
              <a:rPr sz="2450" dirty="0">
                <a:solidFill>
                  <a:srgbClr val="424F60"/>
                </a:solidFill>
                <a:latin typeface="Arial"/>
                <a:cs typeface="Arial"/>
              </a:rPr>
              <a:t>regression</a:t>
            </a:r>
            <a:r>
              <a:rPr sz="2450" spc="530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65" dirty="0">
                <a:solidFill>
                  <a:srgbClr val="424F60"/>
                </a:solidFill>
                <a:latin typeface="Arial"/>
                <a:cs typeface="Arial"/>
              </a:rPr>
              <a:t>problem </a:t>
            </a:r>
            <a:r>
              <a:rPr sz="2450" spc="90" dirty="0">
                <a:solidFill>
                  <a:srgbClr val="424F60"/>
                </a:solidFill>
                <a:latin typeface="Arial"/>
                <a:cs typeface="Arial"/>
              </a:rPr>
              <a:t>(not</a:t>
            </a:r>
            <a:r>
              <a:rPr sz="2450" spc="15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65" dirty="0">
                <a:solidFill>
                  <a:srgbClr val="424F60"/>
                </a:solidFill>
                <a:latin typeface="Arial"/>
                <a:cs typeface="Arial"/>
              </a:rPr>
              <a:t>binary </a:t>
            </a:r>
            <a:r>
              <a:rPr sz="2450" spc="60" dirty="0">
                <a:solidFill>
                  <a:srgbClr val="424F60"/>
                </a:solidFill>
                <a:latin typeface="Arial"/>
                <a:cs typeface="Arial"/>
              </a:rPr>
              <a:t>classification).</a:t>
            </a:r>
            <a:endParaRPr sz="24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97353" y="3581234"/>
            <a:ext cx="3278504" cy="814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933450" algn="l"/>
                <a:tab pos="1938655" algn="l"/>
              </a:tabLst>
            </a:pPr>
            <a:r>
              <a:rPr sz="3600" i="1" spc="170" dirty="0">
                <a:solidFill>
                  <a:srgbClr val="080A0E"/>
                </a:solidFill>
                <a:latin typeface="Times New Roman"/>
                <a:cs typeface="Times New Roman"/>
              </a:rPr>
              <a:t>Yi,t</a:t>
            </a:r>
            <a:r>
              <a:rPr sz="3600" i="1" dirty="0">
                <a:solidFill>
                  <a:srgbClr val="080A0E"/>
                </a:solidFill>
                <a:latin typeface="Times New Roman"/>
                <a:cs typeface="Times New Roman"/>
              </a:rPr>
              <a:t>	</a:t>
            </a:r>
            <a:r>
              <a:rPr sz="5150" spc="-1450" dirty="0">
                <a:solidFill>
                  <a:srgbClr val="2F3338"/>
                </a:solidFill>
                <a:latin typeface="Times New Roman"/>
                <a:cs typeface="Times New Roman"/>
              </a:rPr>
              <a:t>==</a:t>
            </a:r>
            <a:r>
              <a:rPr sz="5150" dirty="0">
                <a:solidFill>
                  <a:srgbClr val="2F3338"/>
                </a:solidFill>
                <a:latin typeface="Times New Roman"/>
                <a:cs typeface="Times New Roman"/>
              </a:rPr>
              <a:t>	</a:t>
            </a:r>
            <a:r>
              <a:rPr sz="4250" b="1" spc="105" dirty="0">
                <a:solidFill>
                  <a:srgbClr val="080A0E"/>
                </a:solidFill>
                <a:latin typeface="Times New Roman"/>
                <a:cs typeface="Times New Roman"/>
              </a:rPr>
              <a:t>252</a:t>
            </a:r>
            <a:r>
              <a:rPr sz="4250" b="1" spc="280" dirty="0">
                <a:solidFill>
                  <a:srgbClr val="080A0E"/>
                </a:solidFill>
                <a:latin typeface="Times New Roman"/>
                <a:cs typeface="Times New Roman"/>
              </a:rPr>
              <a:t> </a:t>
            </a:r>
            <a:r>
              <a:rPr sz="4800" spc="-50" dirty="0">
                <a:solidFill>
                  <a:srgbClr val="1F2123"/>
                </a:solidFill>
                <a:latin typeface="Times New Roman"/>
                <a:cs typeface="Times New Roman"/>
              </a:rPr>
              <a:t>x</a:t>
            </a:r>
            <a:endParaRPr sz="48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18125" y="2062063"/>
            <a:ext cx="5144135" cy="1590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4150" b="1" spc="-480" dirty="0">
                <a:solidFill>
                  <a:srgbClr val="080A0E"/>
                </a:solidFill>
                <a:latin typeface="Courier New"/>
                <a:cs typeface="Courier New"/>
              </a:rPr>
              <a:t>Target</a:t>
            </a:r>
            <a:r>
              <a:rPr sz="4150" b="1" spc="195" dirty="0">
                <a:solidFill>
                  <a:srgbClr val="080A0E"/>
                </a:solidFill>
                <a:latin typeface="Courier New"/>
                <a:cs typeface="Courier New"/>
              </a:rPr>
              <a:t> </a:t>
            </a:r>
            <a:r>
              <a:rPr sz="4150" b="1" spc="-480" dirty="0">
                <a:solidFill>
                  <a:srgbClr val="080A0E"/>
                </a:solidFill>
                <a:latin typeface="Courier New"/>
                <a:cs typeface="Courier New"/>
              </a:rPr>
              <a:t>Variable:</a:t>
            </a:r>
            <a:r>
              <a:rPr sz="4150" b="1" spc="-430" dirty="0">
                <a:solidFill>
                  <a:srgbClr val="080A0E"/>
                </a:solidFill>
                <a:latin typeface="Courier New"/>
                <a:cs typeface="Courier New"/>
              </a:rPr>
              <a:t> </a:t>
            </a:r>
            <a:r>
              <a:rPr sz="3600" i="1" spc="-204" dirty="0">
                <a:solidFill>
                  <a:srgbClr val="080A0E"/>
                </a:solidFill>
                <a:latin typeface="Times New Roman"/>
                <a:cs typeface="Times New Roman"/>
              </a:rPr>
              <a:t>Y</a:t>
            </a:r>
            <a:r>
              <a:rPr sz="3600" i="1" spc="-370" dirty="0">
                <a:solidFill>
                  <a:srgbClr val="080A0E"/>
                </a:solidFill>
                <a:latin typeface="Times New Roman"/>
                <a:cs typeface="Times New Roman"/>
              </a:rPr>
              <a:t>·</a:t>
            </a:r>
            <a:r>
              <a:rPr sz="3450" spc="-2167" baseline="-21739" dirty="0">
                <a:solidFill>
                  <a:srgbClr val="1F2123"/>
                </a:solidFill>
                <a:latin typeface="Courier New"/>
                <a:cs typeface="Courier New"/>
              </a:rPr>
              <a:t>i</a:t>
            </a:r>
            <a:r>
              <a:rPr sz="3600" i="1" spc="-195" dirty="0">
                <a:solidFill>
                  <a:srgbClr val="080A0E"/>
                </a:solidFill>
                <a:latin typeface="Times New Roman"/>
                <a:cs typeface="Times New Roman"/>
              </a:rPr>
              <a:t>t</a:t>
            </a:r>
            <a:r>
              <a:rPr sz="3600" i="1" spc="-475" dirty="0">
                <a:solidFill>
                  <a:srgbClr val="080A0E"/>
                </a:solidFill>
                <a:latin typeface="Times New Roman"/>
                <a:cs typeface="Times New Roman"/>
              </a:rPr>
              <a:t> </a:t>
            </a:r>
            <a:r>
              <a:rPr sz="3450" spc="-75" baseline="-21739" dirty="0">
                <a:solidFill>
                  <a:srgbClr val="1F2123"/>
                </a:solidFill>
                <a:latin typeface="Courier New"/>
                <a:cs typeface="Courier New"/>
              </a:rPr>
              <a:t>,</a:t>
            </a:r>
            <a:endParaRPr sz="3450" baseline="-21739">
              <a:latin typeface="Courier New"/>
              <a:cs typeface="Courier New"/>
            </a:endParaRPr>
          </a:p>
          <a:p>
            <a:pPr marR="1407795" algn="r">
              <a:lnSpc>
                <a:spcPct val="100000"/>
              </a:lnSpc>
              <a:spcBef>
                <a:spcPts val="3660"/>
              </a:spcBef>
            </a:pPr>
            <a:r>
              <a:rPr sz="3050" spc="-50" dirty="0">
                <a:solidFill>
                  <a:srgbClr val="1F2123"/>
                </a:solidFill>
                <a:latin typeface="Arial"/>
                <a:cs typeface="Arial"/>
              </a:rPr>
              <a:t>5</a:t>
            </a:r>
            <a:endParaRPr sz="3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97515" y="3743874"/>
            <a:ext cx="2795905" cy="117157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95"/>
              </a:spcBef>
              <a:tabLst>
                <a:tab pos="784860" algn="l"/>
                <a:tab pos="1111885" algn="l"/>
              </a:tabLst>
            </a:pPr>
            <a:r>
              <a:rPr sz="3600" spc="20" dirty="0">
                <a:solidFill>
                  <a:srgbClr val="080A0E"/>
                </a:solidFill>
                <a:latin typeface="Times New Roman"/>
                <a:cs typeface="Times New Roman"/>
              </a:rPr>
              <a:t>�</a:t>
            </a:r>
            <a:r>
              <a:rPr sz="3600" dirty="0">
                <a:solidFill>
                  <a:srgbClr val="080A0E"/>
                </a:solidFill>
                <a:latin typeface="Times New Roman"/>
                <a:cs typeface="Times New Roman"/>
              </a:rPr>
              <a:t>	</a:t>
            </a:r>
            <a:r>
              <a:rPr sz="3600" spc="-770" dirty="0">
                <a:solidFill>
                  <a:srgbClr val="080A0E"/>
                </a:solidFill>
                <a:latin typeface="Times New Roman"/>
                <a:cs typeface="Times New Roman"/>
              </a:rPr>
              <a:t>(</a:t>
            </a:r>
            <a:r>
              <a:rPr sz="3600" dirty="0">
                <a:solidFill>
                  <a:srgbClr val="080A0E"/>
                </a:solidFill>
                <a:latin typeface="Times New Roman"/>
                <a:cs typeface="Times New Roman"/>
              </a:rPr>
              <a:t>	</a:t>
            </a:r>
            <a:r>
              <a:rPr sz="3600" i="1" spc="345" dirty="0">
                <a:solidFill>
                  <a:srgbClr val="080A0E"/>
                </a:solidFill>
                <a:latin typeface="Times New Roman"/>
                <a:cs typeface="Times New Roman"/>
              </a:rPr>
              <a:t>ri,t+</a:t>
            </a:r>
            <a:r>
              <a:rPr sz="3600" i="1" spc="-335" dirty="0">
                <a:solidFill>
                  <a:srgbClr val="080A0E"/>
                </a:solidFill>
                <a:latin typeface="Times New Roman"/>
                <a:cs typeface="Times New Roman"/>
              </a:rPr>
              <a:t>j</a:t>
            </a:r>
            <a:r>
              <a:rPr sz="3600" spc="360" dirty="0">
                <a:solidFill>
                  <a:srgbClr val="080A0E"/>
                </a:solidFill>
                <a:latin typeface="Times New Roman"/>
                <a:cs typeface="Times New Roman"/>
              </a:rPr>
              <a:t>)</a:t>
            </a:r>
            <a:r>
              <a:rPr sz="4575" spc="525" baseline="40072" dirty="0">
                <a:solidFill>
                  <a:srgbClr val="080A0E"/>
                </a:solidFill>
                <a:latin typeface="Arial"/>
                <a:cs typeface="Arial"/>
              </a:rPr>
              <a:t>2</a:t>
            </a:r>
            <a:endParaRPr sz="4575" baseline="40072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505"/>
              </a:spcBef>
            </a:pPr>
            <a:r>
              <a:rPr sz="3000" spc="620" dirty="0">
                <a:solidFill>
                  <a:srgbClr val="1F2123"/>
                </a:solidFill>
                <a:latin typeface="Times New Roman"/>
                <a:cs typeface="Times New Roman"/>
              </a:rPr>
              <a:t>j=l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2161" y="1838656"/>
            <a:ext cx="15826740" cy="4851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2805410" algn="l"/>
              </a:tabLst>
            </a:pPr>
            <a:r>
              <a:rPr sz="3000" b="1" spc="155" dirty="0">
                <a:solidFill>
                  <a:srgbClr val="081C48"/>
                </a:solidFill>
                <a:latin typeface="Arial"/>
                <a:cs typeface="Arial"/>
              </a:rPr>
              <a:t>The</a:t>
            </a:r>
            <a:r>
              <a:rPr sz="3000" b="1" spc="-240" dirty="0">
                <a:solidFill>
                  <a:srgbClr val="081C48"/>
                </a:solidFill>
                <a:latin typeface="Arial"/>
                <a:cs typeface="Arial"/>
              </a:rPr>
              <a:t> </a:t>
            </a:r>
            <a:r>
              <a:rPr sz="3000" b="1" spc="50" dirty="0">
                <a:solidFill>
                  <a:srgbClr val="081C48"/>
                </a:solidFill>
                <a:latin typeface="Arial"/>
                <a:cs typeface="Arial"/>
              </a:rPr>
              <a:t>Target</a:t>
            </a:r>
            <a:r>
              <a:rPr sz="3000" b="1" dirty="0">
                <a:solidFill>
                  <a:srgbClr val="081C48"/>
                </a:solidFill>
                <a:latin typeface="Arial"/>
                <a:cs typeface="Arial"/>
              </a:rPr>
              <a:t>	Key</a:t>
            </a:r>
            <a:r>
              <a:rPr sz="3000" b="1" spc="-65" dirty="0">
                <a:solidFill>
                  <a:srgbClr val="081C48"/>
                </a:solidFill>
                <a:latin typeface="Arial"/>
                <a:cs typeface="Arial"/>
              </a:rPr>
              <a:t> </a:t>
            </a:r>
            <a:r>
              <a:rPr sz="3000" b="1" spc="45" dirty="0">
                <a:solidFill>
                  <a:srgbClr val="081C48"/>
                </a:solidFill>
                <a:latin typeface="Arial"/>
                <a:cs typeface="Arial"/>
              </a:rPr>
              <a:t>Constraints</a:t>
            </a:r>
            <a:endParaRPr sz="3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04240" y="2960801"/>
            <a:ext cx="3336925" cy="2004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965">
              <a:lnSpc>
                <a:spcPct val="106000"/>
              </a:lnSpc>
              <a:spcBef>
                <a:spcPts val="95"/>
              </a:spcBef>
            </a:pPr>
            <a:r>
              <a:rPr sz="2450" dirty="0">
                <a:solidFill>
                  <a:srgbClr val="424F60"/>
                </a:solidFill>
                <a:latin typeface="Arial"/>
                <a:cs typeface="Arial"/>
              </a:rPr>
              <a:t>-</a:t>
            </a:r>
            <a:r>
              <a:rPr sz="2450" spc="270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105" dirty="0">
                <a:solidFill>
                  <a:srgbClr val="424F60"/>
                </a:solidFill>
                <a:latin typeface="Arial"/>
                <a:cs typeface="Arial"/>
              </a:rPr>
              <a:t>No</a:t>
            </a:r>
            <a:r>
              <a:rPr sz="2450" spc="-10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55" dirty="0">
                <a:solidFill>
                  <a:srgbClr val="424F60"/>
                </a:solidFill>
                <a:latin typeface="Arial"/>
                <a:cs typeface="Arial"/>
              </a:rPr>
              <a:t>Look-</a:t>
            </a:r>
            <a:r>
              <a:rPr sz="2450" spc="65" dirty="0">
                <a:solidFill>
                  <a:srgbClr val="424F60"/>
                </a:solidFill>
                <a:latin typeface="Arial"/>
                <a:cs typeface="Arial"/>
              </a:rPr>
              <a:t>Ahead</a:t>
            </a:r>
            <a:r>
              <a:rPr sz="2450" spc="70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424F60"/>
                </a:solidFill>
                <a:latin typeface="Arial"/>
                <a:cs typeface="Arial"/>
              </a:rPr>
              <a:t>Bias: </a:t>
            </a:r>
            <a:r>
              <a:rPr sz="2450" spc="65" dirty="0">
                <a:solidFill>
                  <a:srgbClr val="424F60"/>
                </a:solidFill>
                <a:latin typeface="Arial"/>
                <a:cs typeface="Arial"/>
              </a:rPr>
              <a:t>Predictions</a:t>
            </a:r>
            <a:r>
              <a:rPr sz="2450" spc="75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55" dirty="0">
                <a:solidFill>
                  <a:srgbClr val="424F60"/>
                </a:solidFill>
                <a:latin typeface="Arial"/>
                <a:cs typeface="Arial"/>
              </a:rPr>
              <a:t>at</a:t>
            </a:r>
            <a:r>
              <a:rPr sz="2450" spc="114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75" dirty="0">
                <a:solidFill>
                  <a:srgbClr val="424F60"/>
                </a:solidFill>
                <a:latin typeface="Arial"/>
                <a:cs typeface="Arial"/>
              </a:rPr>
              <a:t>time</a:t>
            </a:r>
            <a:r>
              <a:rPr sz="2450" spc="80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dirty="0">
                <a:solidFill>
                  <a:srgbClr val="424F60"/>
                </a:solidFill>
                <a:latin typeface="Arial"/>
                <a:cs typeface="Arial"/>
              </a:rPr>
              <a:t>t use</a:t>
            </a:r>
            <a:r>
              <a:rPr sz="2450" spc="65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75" dirty="0">
                <a:solidFill>
                  <a:srgbClr val="424F60"/>
                </a:solidFill>
                <a:latin typeface="Arial"/>
                <a:cs typeface="Arial"/>
              </a:rPr>
              <a:t>only</a:t>
            </a:r>
            <a:r>
              <a:rPr sz="2450" spc="50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65" dirty="0">
                <a:solidFill>
                  <a:srgbClr val="424F60"/>
                </a:solidFill>
                <a:latin typeface="Arial"/>
                <a:cs typeface="Arial"/>
              </a:rPr>
              <a:t>features </a:t>
            </a:r>
            <a:r>
              <a:rPr sz="2450" dirty="0">
                <a:solidFill>
                  <a:srgbClr val="424F60"/>
                </a:solidFill>
                <a:latin typeface="Arial"/>
                <a:cs typeface="Arial"/>
              </a:rPr>
              <a:t>available</a:t>
            </a:r>
            <a:r>
              <a:rPr sz="2450" spc="260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dirty="0">
                <a:solidFill>
                  <a:srgbClr val="424F60"/>
                </a:solidFill>
                <a:latin typeface="Arial"/>
                <a:cs typeface="Arial"/>
              </a:rPr>
              <a:t>at</a:t>
            </a:r>
            <a:r>
              <a:rPr sz="2450" spc="325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-25" dirty="0">
                <a:solidFill>
                  <a:srgbClr val="424F60"/>
                </a:solidFill>
                <a:latin typeface="Arial"/>
                <a:cs typeface="Arial"/>
              </a:rPr>
              <a:t>or</a:t>
            </a:r>
            <a:endParaRPr sz="24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75"/>
              </a:spcBef>
            </a:pPr>
            <a:r>
              <a:rPr sz="2450" spc="75" dirty="0">
                <a:solidFill>
                  <a:srgbClr val="424F60"/>
                </a:solidFill>
                <a:latin typeface="Arial"/>
                <a:cs typeface="Arial"/>
              </a:rPr>
              <a:t>before</a:t>
            </a:r>
            <a:r>
              <a:rPr sz="2450" spc="20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-25" dirty="0">
                <a:solidFill>
                  <a:srgbClr val="424F60"/>
                </a:solidFill>
                <a:latin typeface="Arial"/>
                <a:cs typeface="Arial"/>
              </a:rPr>
              <a:t>t.</a:t>
            </a:r>
            <a:endParaRPr sz="24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504240" y="5207642"/>
            <a:ext cx="2660650" cy="8172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95" marR="5080" indent="-227329">
              <a:lnSpc>
                <a:spcPct val="106000"/>
              </a:lnSpc>
              <a:spcBef>
                <a:spcPts val="95"/>
              </a:spcBef>
            </a:pPr>
            <a:r>
              <a:rPr sz="2450" spc="55" dirty="0">
                <a:solidFill>
                  <a:srgbClr val="424F60"/>
                </a:solidFill>
                <a:latin typeface="Arial"/>
                <a:cs typeface="Arial"/>
              </a:rPr>
              <a:t>-</a:t>
            </a:r>
            <a:r>
              <a:rPr sz="2450" spc="275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55" dirty="0">
                <a:solidFill>
                  <a:srgbClr val="424F60"/>
                </a:solidFill>
                <a:latin typeface="Arial"/>
                <a:cs typeface="Arial"/>
              </a:rPr>
              <a:t>r represents</a:t>
            </a:r>
            <a:r>
              <a:rPr sz="2450" spc="155" dirty="0">
                <a:solidFill>
                  <a:srgbClr val="424F60"/>
                </a:solidFill>
                <a:latin typeface="Arial"/>
                <a:cs typeface="Arial"/>
              </a:rPr>
              <a:t> </a:t>
            </a:r>
            <a:r>
              <a:rPr sz="2450" spc="35" dirty="0">
                <a:solidFill>
                  <a:srgbClr val="424F60"/>
                </a:solidFill>
                <a:latin typeface="Arial"/>
                <a:cs typeface="Arial"/>
              </a:rPr>
              <a:t>Log </a:t>
            </a:r>
            <a:r>
              <a:rPr sz="2450" spc="-10" dirty="0">
                <a:solidFill>
                  <a:srgbClr val="424F60"/>
                </a:solidFill>
                <a:latin typeface="Arial"/>
                <a:cs typeface="Arial"/>
              </a:rPr>
              <a:t>Returns.</a:t>
            </a:r>
            <a:endParaRPr sz="24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63046" y="6864480"/>
            <a:ext cx="1941830" cy="357505"/>
          </a:xfrm>
          <a:custGeom>
            <a:avLst/>
            <a:gdLst/>
            <a:ahLst/>
            <a:cxnLst/>
            <a:rect l="l" t="t" r="r" b="b"/>
            <a:pathLst>
              <a:path w="1941829" h="357504">
                <a:moveTo>
                  <a:pt x="1941552" y="357034"/>
                </a:moveTo>
                <a:lnTo>
                  <a:pt x="0" y="357034"/>
                </a:lnTo>
                <a:lnTo>
                  <a:pt x="0" y="0"/>
                </a:lnTo>
                <a:lnTo>
                  <a:pt x="1941552" y="0"/>
                </a:lnTo>
                <a:lnTo>
                  <a:pt x="1941552" y="357034"/>
                </a:lnTo>
                <a:close/>
              </a:path>
            </a:pathLst>
          </a:custGeom>
          <a:solidFill>
            <a:srgbClr val="081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850345" y="6862134"/>
            <a:ext cx="196850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dirty="0">
                <a:solidFill>
                  <a:srgbClr val="CAD8EB"/>
                </a:solidFill>
                <a:latin typeface="Arial"/>
                <a:cs typeface="Arial"/>
              </a:rPr>
              <a:t>Feature</a:t>
            </a:r>
            <a:r>
              <a:rPr sz="2050" spc="80" dirty="0">
                <a:solidFill>
                  <a:srgbClr val="CAD8EB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CAD8EB"/>
                </a:solidFill>
                <a:latin typeface="Arial"/>
                <a:cs typeface="Arial"/>
              </a:rPr>
              <a:t>Window</a:t>
            </a:r>
            <a:endParaRPr sz="20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314321" y="7196401"/>
            <a:ext cx="1006475" cy="357505"/>
          </a:xfrm>
          <a:custGeom>
            <a:avLst/>
            <a:gdLst/>
            <a:ahLst/>
            <a:cxnLst/>
            <a:rect l="l" t="t" r="r" b="b"/>
            <a:pathLst>
              <a:path w="1006475" h="357504">
                <a:moveTo>
                  <a:pt x="1006216" y="357034"/>
                </a:moveTo>
                <a:lnTo>
                  <a:pt x="0" y="357034"/>
                </a:lnTo>
                <a:lnTo>
                  <a:pt x="0" y="0"/>
                </a:lnTo>
                <a:lnTo>
                  <a:pt x="1006216" y="0"/>
                </a:lnTo>
                <a:lnTo>
                  <a:pt x="1006216" y="357034"/>
                </a:lnTo>
                <a:close/>
              </a:path>
            </a:pathLst>
          </a:custGeom>
          <a:solidFill>
            <a:srgbClr val="081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01620" y="7194053"/>
            <a:ext cx="105156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solidFill>
                  <a:srgbClr val="CAD8EB"/>
                </a:solidFill>
                <a:latin typeface="Arial"/>
                <a:cs typeface="Arial"/>
              </a:rPr>
              <a:t>(History)</a:t>
            </a:r>
            <a:endParaRPr sz="20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750474" y="6864480"/>
            <a:ext cx="1811655" cy="357505"/>
          </a:xfrm>
          <a:custGeom>
            <a:avLst/>
            <a:gdLst/>
            <a:ahLst/>
            <a:cxnLst/>
            <a:rect l="l" t="t" r="r" b="b"/>
            <a:pathLst>
              <a:path w="1811654" h="357504">
                <a:moveTo>
                  <a:pt x="1811514" y="357034"/>
                </a:moveTo>
                <a:lnTo>
                  <a:pt x="0" y="357034"/>
                </a:lnTo>
                <a:lnTo>
                  <a:pt x="0" y="0"/>
                </a:lnTo>
                <a:lnTo>
                  <a:pt x="1811514" y="0"/>
                </a:lnTo>
                <a:lnTo>
                  <a:pt x="1811514" y="357034"/>
                </a:lnTo>
                <a:close/>
              </a:path>
            </a:pathLst>
          </a:custGeom>
          <a:solidFill>
            <a:srgbClr val="B65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737773" y="6862134"/>
            <a:ext cx="183832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dirty="0">
                <a:solidFill>
                  <a:srgbClr val="F9CFAC"/>
                </a:solidFill>
                <a:latin typeface="Arial"/>
                <a:cs typeface="Arial"/>
              </a:rPr>
              <a:t>Target</a:t>
            </a:r>
            <a:r>
              <a:rPr sz="2050" spc="204" dirty="0">
                <a:solidFill>
                  <a:srgbClr val="F9CFAC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F9CFAC"/>
                </a:solidFill>
                <a:latin typeface="Arial"/>
                <a:cs typeface="Arial"/>
              </a:rPr>
              <a:t>Window</a:t>
            </a:r>
            <a:endParaRPr sz="20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842448" y="7196401"/>
            <a:ext cx="1600835" cy="357505"/>
          </a:xfrm>
          <a:custGeom>
            <a:avLst/>
            <a:gdLst/>
            <a:ahLst/>
            <a:cxnLst/>
            <a:rect l="l" t="t" r="r" b="b"/>
            <a:pathLst>
              <a:path w="1600834" h="357504">
                <a:moveTo>
                  <a:pt x="1600674" y="357034"/>
                </a:moveTo>
                <a:lnTo>
                  <a:pt x="0" y="357034"/>
                </a:lnTo>
                <a:lnTo>
                  <a:pt x="0" y="0"/>
                </a:lnTo>
                <a:lnTo>
                  <a:pt x="1600674" y="0"/>
                </a:lnTo>
                <a:lnTo>
                  <a:pt x="1600674" y="357034"/>
                </a:lnTo>
                <a:close/>
              </a:path>
            </a:pathLst>
          </a:custGeom>
          <a:solidFill>
            <a:srgbClr val="B65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829748" y="7194053"/>
            <a:ext cx="165862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dirty="0">
                <a:solidFill>
                  <a:srgbClr val="F9CFAC"/>
                </a:solidFill>
                <a:latin typeface="Arial"/>
                <a:cs typeface="Arial"/>
              </a:rPr>
              <a:t>(Next</a:t>
            </a:r>
            <a:r>
              <a:rPr sz="2050" spc="210" dirty="0">
                <a:solidFill>
                  <a:srgbClr val="F9CFAC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F9CFAC"/>
                </a:solidFill>
                <a:latin typeface="Arial"/>
                <a:cs typeface="Arial"/>
              </a:rPr>
              <a:t>5</a:t>
            </a:r>
            <a:r>
              <a:rPr sz="2050" spc="55" dirty="0">
                <a:solidFill>
                  <a:srgbClr val="F9CFAC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srgbClr val="F9CFAC"/>
                </a:solidFill>
                <a:latin typeface="Arial"/>
                <a:cs typeface="Arial"/>
              </a:rPr>
              <a:t>Days)</a:t>
            </a:r>
            <a:endParaRPr sz="20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87662" y="8146408"/>
            <a:ext cx="2148840" cy="94488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920115">
              <a:lnSpc>
                <a:spcPct val="100000"/>
              </a:lnSpc>
              <a:spcBef>
                <a:spcPts val="1255"/>
              </a:spcBef>
              <a:tabLst>
                <a:tab pos="1734820" algn="l"/>
              </a:tabLst>
            </a:pPr>
            <a:r>
              <a:rPr sz="2050" spc="-50" dirty="0">
                <a:solidFill>
                  <a:srgbClr val="1F2123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1F2123"/>
                </a:solidFill>
                <a:latin typeface="Arial"/>
                <a:cs typeface="Arial"/>
              </a:rPr>
              <a:t>	</a:t>
            </a:r>
            <a:r>
              <a:rPr sz="2050" spc="50" dirty="0">
                <a:solidFill>
                  <a:srgbClr val="2F3338"/>
                </a:solidFill>
                <a:latin typeface="Arial"/>
                <a:cs typeface="Arial"/>
              </a:rPr>
              <a:t>t</a:t>
            </a:r>
            <a:r>
              <a:rPr sz="2050" spc="50" dirty="0">
                <a:solidFill>
                  <a:srgbClr val="080A0E"/>
                </a:solidFill>
                <a:latin typeface="Arial"/>
                <a:cs typeface="Arial"/>
              </a:rPr>
              <a:t>+</a:t>
            </a:r>
            <a:r>
              <a:rPr sz="2050" spc="50" dirty="0">
                <a:solidFill>
                  <a:srgbClr val="2F3338"/>
                </a:solidFill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2050" spc="50" dirty="0">
                <a:solidFill>
                  <a:srgbClr val="1F2123"/>
                </a:solidFill>
                <a:latin typeface="Arial"/>
                <a:cs typeface="Arial"/>
              </a:rPr>
              <a:t>Prediction</a:t>
            </a:r>
            <a:r>
              <a:rPr sz="2050" spc="-20" dirty="0">
                <a:solidFill>
                  <a:srgbClr val="1F2123"/>
                </a:solidFill>
                <a:latin typeface="Arial"/>
                <a:cs typeface="Arial"/>
              </a:rPr>
              <a:t> Time</a:t>
            </a:r>
            <a:endParaRPr sz="2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440132" y="8291942"/>
            <a:ext cx="42545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45" dirty="0">
                <a:solidFill>
                  <a:srgbClr val="2F3338"/>
                </a:solidFill>
                <a:latin typeface="Arial"/>
                <a:cs typeface="Arial"/>
              </a:rPr>
              <a:t>t+3</a:t>
            </a:r>
            <a:endParaRPr sz="2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382664" y="8291942"/>
            <a:ext cx="42545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45" dirty="0">
                <a:solidFill>
                  <a:srgbClr val="1F2123"/>
                </a:solidFill>
                <a:latin typeface="Arial"/>
                <a:cs typeface="Arial"/>
              </a:rPr>
              <a:t>t+4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CD7F4CE-CCA5-CB01-EEE2-4EC6EB0F4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359" y="1616191"/>
            <a:ext cx="8990334" cy="76592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4371" y="4749270"/>
            <a:ext cx="1120848" cy="7915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8063" y="3217332"/>
            <a:ext cx="4967397" cy="232343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8307" y="4749270"/>
            <a:ext cx="1120848" cy="7915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74371" y="6434401"/>
            <a:ext cx="840636" cy="8170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16904" y="6434401"/>
            <a:ext cx="840636" cy="8425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84910" y="6434401"/>
            <a:ext cx="433055" cy="4595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137983" y="6434401"/>
            <a:ext cx="840636" cy="48511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080513" y="6434401"/>
            <a:ext cx="840636" cy="8425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048519" y="6434401"/>
            <a:ext cx="840636" cy="817033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1717966" y="5923754"/>
            <a:ext cx="2420620" cy="587375"/>
            <a:chOff x="11717966" y="5923754"/>
            <a:chExt cx="2420620" cy="587375"/>
          </a:xfrm>
        </p:grpSpPr>
        <p:sp>
          <p:nvSpPr>
            <p:cNvPr id="12" name="object 12"/>
            <p:cNvSpPr/>
            <p:nvPr/>
          </p:nvSpPr>
          <p:spPr>
            <a:xfrm>
              <a:off x="13106290" y="5923754"/>
              <a:ext cx="0" cy="587375"/>
            </a:xfrm>
            <a:custGeom>
              <a:avLst/>
              <a:gdLst/>
              <a:ahLst/>
              <a:cxnLst/>
              <a:rect l="l" t="t" r="r" b="b"/>
              <a:pathLst>
                <a:path h="587375">
                  <a:moveTo>
                    <a:pt x="0" y="587242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717966" y="6485464"/>
              <a:ext cx="2420620" cy="0"/>
            </a:xfrm>
            <a:custGeom>
              <a:avLst/>
              <a:gdLst/>
              <a:ahLst/>
              <a:cxnLst/>
              <a:rect l="l" t="t" r="r" b="b"/>
              <a:pathLst>
                <a:path w="2420619">
                  <a:moveTo>
                    <a:pt x="0" y="0"/>
                  </a:moveTo>
                  <a:lnTo>
                    <a:pt x="2420014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3373765" y="6740787"/>
            <a:ext cx="636905" cy="128270"/>
          </a:xfrm>
          <a:custGeom>
            <a:avLst/>
            <a:gdLst/>
            <a:ahLst/>
            <a:cxnLst/>
            <a:rect l="l" t="t" r="r" b="b"/>
            <a:pathLst>
              <a:path w="636905" h="128270">
                <a:moveTo>
                  <a:pt x="0" y="0"/>
                </a:moveTo>
                <a:lnTo>
                  <a:pt x="636846" y="0"/>
                </a:lnTo>
                <a:lnTo>
                  <a:pt x="636846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227442" y="6740787"/>
            <a:ext cx="840740" cy="128270"/>
          </a:xfrm>
          <a:custGeom>
            <a:avLst/>
            <a:gdLst/>
            <a:ahLst/>
            <a:cxnLst/>
            <a:rect l="l" t="t" r="r" b="b"/>
            <a:pathLst>
              <a:path w="840740" h="128270">
                <a:moveTo>
                  <a:pt x="0" y="0"/>
                </a:moveTo>
                <a:lnTo>
                  <a:pt x="840637" y="0"/>
                </a:lnTo>
                <a:lnTo>
                  <a:pt x="840637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967889" y="740767"/>
            <a:ext cx="15634969" cy="7302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600" spc="-175" dirty="0">
                <a:solidFill>
                  <a:srgbClr val="131D2D"/>
                </a:solidFill>
              </a:rPr>
              <a:t>The</a:t>
            </a:r>
            <a:r>
              <a:rPr sz="4600" spc="-365" dirty="0">
                <a:solidFill>
                  <a:srgbClr val="131D2D"/>
                </a:solidFill>
              </a:rPr>
              <a:t> </a:t>
            </a:r>
            <a:r>
              <a:rPr sz="4600" spc="-204" dirty="0">
                <a:solidFill>
                  <a:srgbClr val="131D2D"/>
                </a:solidFill>
              </a:rPr>
              <a:t>Data</a:t>
            </a:r>
            <a:r>
              <a:rPr sz="4600" spc="-60" dirty="0">
                <a:solidFill>
                  <a:srgbClr val="131D2D"/>
                </a:solidFill>
              </a:rPr>
              <a:t> </a:t>
            </a:r>
            <a:r>
              <a:rPr sz="4600" spc="-254" dirty="0">
                <a:solidFill>
                  <a:srgbClr val="131D2D"/>
                </a:solidFill>
              </a:rPr>
              <a:t>Advantage:</a:t>
            </a:r>
            <a:r>
              <a:rPr sz="4600" spc="-110" dirty="0">
                <a:solidFill>
                  <a:srgbClr val="131D2D"/>
                </a:solidFill>
              </a:rPr>
              <a:t> </a:t>
            </a:r>
            <a:r>
              <a:rPr sz="4600" spc="-215" dirty="0">
                <a:solidFill>
                  <a:srgbClr val="131D2D"/>
                </a:solidFill>
              </a:rPr>
              <a:t>Professional-</a:t>
            </a:r>
            <a:r>
              <a:rPr sz="4600" spc="-250" dirty="0">
                <a:solidFill>
                  <a:srgbClr val="131D2D"/>
                </a:solidFill>
              </a:rPr>
              <a:t>Grade</a:t>
            </a:r>
            <a:r>
              <a:rPr sz="4600" spc="-450" dirty="0">
                <a:solidFill>
                  <a:srgbClr val="131D2D"/>
                </a:solidFill>
              </a:rPr>
              <a:t> </a:t>
            </a:r>
            <a:r>
              <a:rPr sz="4600" spc="-250" dirty="0">
                <a:solidFill>
                  <a:srgbClr val="131D2D"/>
                </a:solidFill>
              </a:rPr>
              <a:t>Universe</a:t>
            </a:r>
            <a:r>
              <a:rPr sz="4600" dirty="0">
                <a:solidFill>
                  <a:srgbClr val="131D2D"/>
                </a:solidFill>
              </a:rPr>
              <a:t> </a:t>
            </a:r>
            <a:r>
              <a:rPr sz="4600" spc="-225" dirty="0">
                <a:solidFill>
                  <a:srgbClr val="131D2D"/>
                </a:solidFill>
              </a:rPr>
              <a:t>via</a:t>
            </a:r>
            <a:r>
              <a:rPr sz="4600" spc="-405" dirty="0">
                <a:solidFill>
                  <a:srgbClr val="131D2D"/>
                </a:solidFill>
              </a:rPr>
              <a:t> </a:t>
            </a:r>
            <a:r>
              <a:rPr sz="4600" spc="-135" dirty="0">
                <a:solidFill>
                  <a:srgbClr val="131D2D"/>
                </a:solidFill>
              </a:rPr>
              <a:t>FactSet</a:t>
            </a:r>
            <a:endParaRPr sz="4600"/>
          </a:p>
        </p:txBody>
      </p:sp>
      <p:sp>
        <p:nvSpPr>
          <p:cNvPr id="17" name="object 17"/>
          <p:cNvSpPr txBox="1"/>
          <p:nvPr/>
        </p:nvSpPr>
        <p:spPr>
          <a:xfrm>
            <a:off x="964693" y="2349302"/>
            <a:ext cx="6847840" cy="46920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00" b="1" spc="95" dirty="0">
                <a:solidFill>
                  <a:srgbClr val="131D2D"/>
                </a:solidFill>
                <a:latin typeface="Arial"/>
                <a:cs typeface="Arial"/>
              </a:rPr>
              <a:t>Data</a:t>
            </a:r>
            <a:r>
              <a:rPr sz="3100" b="1" spc="4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3100" b="1" dirty="0">
                <a:solidFill>
                  <a:srgbClr val="131D2D"/>
                </a:solidFill>
                <a:latin typeface="Arial"/>
                <a:cs typeface="Arial"/>
              </a:rPr>
              <a:t>Source</a:t>
            </a:r>
            <a:r>
              <a:rPr sz="3100" b="1" spc="-1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3200" b="1" spc="-75" dirty="0">
                <a:solidFill>
                  <a:srgbClr val="131D2D"/>
                </a:solidFill>
                <a:latin typeface="Arial"/>
                <a:cs typeface="Arial"/>
              </a:rPr>
              <a:t>&amp;</a:t>
            </a:r>
            <a:r>
              <a:rPr sz="3200" b="1" spc="-13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3100" b="1" spc="-10" dirty="0">
                <a:solidFill>
                  <a:srgbClr val="131D2D"/>
                </a:solidFill>
                <a:latin typeface="Arial"/>
                <a:cs typeface="Arial"/>
              </a:rPr>
              <a:t>Quality</a:t>
            </a:r>
            <a:endParaRPr sz="3100">
              <a:latin typeface="Arial"/>
              <a:cs typeface="Arial"/>
            </a:endParaRPr>
          </a:p>
          <a:p>
            <a:pPr marL="349250" marR="5080" indent="-288925">
              <a:lnSpc>
                <a:spcPct val="102000"/>
              </a:lnSpc>
              <a:spcBef>
                <a:spcPts val="2675"/>
              </a:spcBef>
              <a:buChar char="•"/>
              <a:tabLst>
                <a:tab pos="349250" algn="l"/>
                <a:tab pos="357505" algn="l"/>
              </a:tabLst>
            </a:pPr>
            <a:r>
              <a:rPr sz="2750" dirty="0">
                <a:solidFill>
                  <a:srgbClr val="131D2D"/>
                </a:solidFill>
                <a:latin typeface="Arial"/>
                <a:cs typeface="Arial"/>
              </a:rPr>
              <a:t>	</a:t>
            </a:r>
            <a:r>
              <a:rPr sz="2750" spc="80" dirty="0">
                <a:solidFill>
                  <a:srgbClr val="131D2D"/>
                </a:solidFill>
                <a:latin typeface="Arial"/>
                <a:cs typeface="Arial"/>
              </a:rPr>
              <a:t>Utilizing</a:t>
            </a:r>
            <a:r>
              <a:rPr sz="2750" spc="-11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75" dirty="0">
                <a:solidFill>
                  <a:srgbClr val="131D2D"/>
                </a:solidFill>
                <a:latin typeface="Arial"/>
                <a:cs typeface="Arial"/>
              </a:rPr>
              <a:t>uni</a:t>
            </a:r>
            <a:r>
              <a:rPr sz="2750" spc="75" dirty="0">
                <a:solidFill>
                  <a:srgbClr val="2F363F"/>
                </a:solidFill>
                <a:latin typeface="Arial"/>
                <a:cs typeface="Arial"/>
              </a:rPr>
              <a:t>v</a:t>
            </a:r>
            <a:r>
              <a:rPr sz="2750" spc="75" dirty="0">
                <a:solidFill>
                  <a:srgbClr val="131D2D"/>
                </a:solidFill>
                <a:latin typeface="Arial"/>
                <a:cs typeface="Arial"/>
              </a:rPr>
              <a:t>ersity</a:t>
            </a:r>
            <a:r>
              <a:rPr sz="2750" spc="11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85" dirty="0">
                <a:solidFill>
                  <a:srgbClr val="131D2D"/>
                </a:solidFill>
                <a:latin typeface="Arial"/>
                <a:cs typeface="Arial"/>
              </a:rPr>
              <a:t>access</a:t>
            </a:r>
            <a:r>
              <a:rPr sz="2750" spc="3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65" dirty="0">
                <a:solidFill>
                  <a:srgbClr val="131D2D"/>
                </a:solidFill>
                <a:latin typeface="Arial"/>
                <a:cs typeface="Arial"/>
              </a:rPr>
              <a:t>to</a:t>
            </a:r>
            <a:r>
              <a:rPr sz="2750" spc="15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55" dirty="0">
                <a:solidFill>
                  <a:srgbClr val="131D2D"/>
                </a:solidFill>
                <a:latin typeface="Arial"/>
                <a:cs typeface="Arial"/>
              </a:rPr>
              <a:t>FactSet,</a:t>
            </a:r>
            <a:r>
              <a:rPr sz="2750" spc="-6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25" dirty="0">
                <a:solidFill>
                  <a:srgbClr val="131D2D"/>
                </a:solidFill>
                <a:latin typeface="Arial"/>
                <a:cs typeface="Arial"/>
              </a:rPr>
              <a:t>a </a:t>
            </a:r>
            <a:r>
              <a:rPr sz="2750" spc="55" dirty="0">
                <a:solidFill>
                  <a:srgbClr val="131D2D"/>
                </a:solidFill>
                <a:latin typeface="Arial"/>
                <a:cs typeface="Arial"/>
              </a:rPr>
              <a:t>professional</a:t>
            </a:r>
            <a:r>
              <a:rPr sz="2750" spc="18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75" dirty="0">
                <a:solidFill>
                  <a:srgbClr val="131D2D"/>
                </a:solidFill>
                <a:latin typeface="Arial"/>
                <a:cs typeface="Arial"/>
              </a:rPr>
              <a:t>investment</a:t>
            </a:r>
            <a:r>
              <a:rPr sz="2750" spc="17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100" dirty="0">
                <a:solidFill>
                  <a:srgbClr val="131D2D"/>
                </a:solidFill>
                <a:latin typeface="Arial"/>
                <a:cs typeface="Arial"/>
              </a:rPr>
              <a:t>platform </a:t>
            </a:r>
            <a:r>
              <a:rPr sz="2750" spc="110" dirty="0">
                <a:solidFill>
                  <a:srgbClr val="131D2D"/>
                </a:solidFill>
                <a:latin typeface="Arial"/>
                <a:cs typeface="Arial"/>
              </a:rPr>
              <a:t>($20k/yr</a:t>
            </a:r>
            <a:r>
              <a:rPr sz="2750" spc="40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31D2D"/>
                </a:solidFill>
                <a:latin typeface="Arial"/>
                <a:cs typeface="Arial"/>
              </a:rPr>
              <a:t>value).</a:t>
            </a:r>
            <a:r>
              <a:rPr sz="2750" spc="13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60" dirty="0">
                <a:solidFill>
                  <a:srgbClr val="131D2D"/>
                </a:solidFill>
                <a:latin typeface="Arial"/>
                <a:cs typeface="Arial"/>
              </a:rPr>
              <a:t>This</a:t>
            </a:r>
            <a:r>
              <a:rPr sz="2750" spc="5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31D2D"/>
                </a:solidFill>
                <a:latin typeface="Arial"/>
                <a:cs typeface="Arial"/>
              </a:rPr>
              <a:t>ensures</a:t>
            </a:r>
            <a:r>
              <a:rPr sz="2750" spc="31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70" dirty="0">
                <a:solidFill>
                  <a:srgbClr val="131D2D"/>
                </a:solidFill>
                <a:latin typeface="Arial"/>
                <a:cs typeface="Arial"/>
              </a:rPr>
              <a:t>adju</a:t>
            </a:r>
            <a:r>
              <a:rPr sz="2750" spc="70" dirty="0">
                <a:solidFill>
                  <a:srgbClr val="2F363F"/>
                </a:solidFill>
                <a:latin typeface="Arial"/>
                <a:cs typeface="Arial"/>
              </a:rPr>
              <a:t>s</a:t>
            </a:r>
            <a:r>
              <a:rPr sz="2750" spc="70" dirty="0">
                <a:solidFill>
                  <a:srgbClr val="131D2D"/>
                </a:solidFill>
                <a:latin typeface="Arial"/>
                <a:cs typeface="Arial"/>
              </a:rPr>
              <a:t>ted </a:t>
            </a:r>
            <a:r>
              <a:rPr sz="2750" spc="95" dirty="0">
                <a:solidFill>
                  <a:srgbClr val="131D2D"/>
                </a:solidFill>
                <a:latin typeface="Arial"/>
                <a:cs typeface="Arial"/>
              </a:rPr>
              <a:t>pricing</a:t>
            </a:r>
            <a:r>
              <a:rPr sz="275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80" dirty="0">
                <a:solidFill>
                  <a:srgbClr val="131D2D"/>
                </a:solidFill>
                <a:latin typeface="Arial"/>
                <a:cs typeface="Arial"/>
              </a:rPr>
              <a:t>accuracy</a:t>
            </a:r>
            <a:r>
              <a:rPr sz="2750" spc="18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70" dirty="0">
                <a:solidFill>
                  <a:srgbClr val="131D2D"/>
                </a:solidFill>
                <a:latin typeface="Arial"/>
                <a:cs typeface="Arial"/>
              </a:rPr>
              <a:t>compared</a:t>
            </a:r>
            <a:r>
              <a:rPr sz="2750" spc="18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50" dirty="0">
                <a:solidFill>
                  <a:srgbClr val="131D2D"/>
                </a:solidFill>
                <a:latin typeface="Arial"/>
                <a:cs typeface="Arial"/>
              </a:rPr>
              <a:t>to</a:t>
            </a:r>
            <a:r>
              <a:rPr sz="2750" spc="17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125" dirty="0">
                <a:solidFill>
                  <a:srgbClr val="131D2D"/>
                </a:solidFill>
                <a:latin typeface="Arial"/>
                <a:cs typeface="Arial"/>
              </a:rPr>
              <a:t>free</a:t>
            </a:r>
            <a:r>
              <a:rPr sz="2750" spc="-8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65" dirty="0">
                <a:solidFill>
                  <a:srgbClr val="131D2D"/>
                </a:solidFill>
                <a:latin typeface="Arial"/>
                <a:cs typeface="Arial"/>
              </a:rPr>
              <a:t>data source</a:t>
            </a:r>
            <a:r>
              <a:rPr sz="2750" spc="65" dirty="0">
                <a:solidFill>
                  <a:srgbClr val="2F363F"/>
                </a:solidFill>
                <a:latin typeface="Arial"/>
                <a:cs typeface="Arial"/>
              </a:rPr>
              <a:t>s</a:t>
            </a:r>
            <a:r>
              <a:rPr sz="2750" spc="65" dirty="0">
                <a:solidFill>
                  <a:srgbClr val="131D2D"/>
                </a:solidFill>
                <a:latin typeface="Arial"/>
                <a:cs typeface="Arial"/>
              </a:rPr>
              <a:t>.</a:t>
            </a:r>
            <a:endParaRPr sz="2750">
              <a:latin typeface="Arial"/>
              <a:cs typeface="Arial"/>
            </a:endParaRPr>
          </a:p>
          <a:p>
            <a:pPr marL="351790" indent="-290830">
              <a:lnSpc>
                <a:spcPct val="100000"/>
              </a:lnSpc>
              <a:spcBef>
                <a:spcPts val="1725"/>
              </a:spcBef>
              <a:buChar char="•"/>
              <a:tabLst>
                <a:tab pos="351790" algn="l"/>
              </a:tabLst>
            </a:pPr>
            <a:r>
              <a:rPr sz="2750" spc="55" dirty="0">
                <a:solidFill>
                  <a:srgbClr val="131D2D"/>
                </a:solidFill>
                <a:latin typeface="Arial"/>
                <a:cs typeface="Arial"/>
              </a:rPr>
              <a:t>Timeline:</a:t>
            </a:r>
            <a:r>
              <a:rPr sz="2750" spc="2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31D2D"/>
                </a:solidFill>
                <a:latin typeface="Arial"/>
                <a:cs typeface="Arial"/>
              </a:rPr>
              <a:t>Daily</a:t>
            </a:r>
            <a:r>
              <a:rPr sz="2750" spc="6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114" dirty="0">
                <a:solidFill>
                  <a:srgbClr val="131D2D"/>
                </a:solidFill>
                <a:latin typeface="Arial"/>
                <a:cs typeface="Arial"/>
              </a:rPr>
              <a:t>data</a:t>
            </a:r>
            <a:r>
              <a:rPr sz="2750" spc="1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120" dirty="0">
                <a:solidFill>
                  <a:srgbClr val="131D2D"/>
                </a:solidFill>
                <a:latin typeface="Arial"/>
                <a:cs typeface="Arial"/>
              </a:rPr>
              <a:t>from</a:t>
            </a:r>
            <a:r>
              <a:rPr sz="2750" spc="14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90" dirty="0">
                <a:solidFill>
                  <a:srgbClr val="131D2D"/>
                </a:solidFill>
                <a:latin typeface="Arial"/>
                <a:cs typeface="Arial"/>
              </a:rPr>
              <a:t>2015-</a:t>
            </a:r>
            <a:r>
              <a:rPr sz="2750" spc="80" dirty="0">
                <a:solidFill>
                  <a:srgbClr val="131D2D"/>
                </a:solidFill>
                <a:latin typeface="Arial"/>
                <a:cs typeface="Arial"/>
              </a:rPr>
              <a:t>2025.</a:t>
            </a:r>
            <a:endParaRPr sz="2750">
              <a:latin typeface="Arial"/>
              <a:cs typeface="Arial"/>
            </a:endParaRPr>
          </a:p>
          <a:p>
            <a:pPr marL="351790" marR="614680" indent="-290830">
              <a:lnSpc>
                <a:spcPct val="100499"/>
              </a:lnSpc>
              <a:spcBef>
                <a:spcPts val="1710"/>
              </a:spcBef>
              <a:buChar char="•"/>
              <a:tabLst>
                <a:tab pos="351790" algn="l"/>
                <a:tab pos="354965" algn="l"/>
              </a:tabLst>
            </a:pPr>
            <a:r>
              <a:rPr sz="2750" dirty="0">
                <a:solidFill>
                  <a:srgbClr val="131D2D"/>
                </a:solidFill>
                <a:latin typeface="Arial"/>
                <a:cs typeface="Arial"/>
              </a:rPr>
              <a:t>	</a:t>
            </a:r>
            <a:r>
              <a:rPr sz="2750" spc="70" dirty="0">
                <a:solidFill>
                  <a:srgbClr val="131D2D"/>
                </a:solidFill>
                <a:latin typeface="Arial"/>
                <a:cs typeface="Arial"/>
              </a:rPr>
              <a:t>Core</a:t>
            </a:r>
            <a:r>
              <a:rPr sz="2750" spc="-5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31D2D"/>
                </a:solidFill>
                <a:latin typeface="Arial"/>
                <a:cs typeface="Arial"/>
              </a:rPr>
              <a:t>Fields:</a:t>
            </a:r>
            <a:r>
              <a:rPr sz="2750" spc="14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75" dirty="0">
                <a:solidFill>
                  <a:srgbClr val="131D2D"/>
                </a:solidFill>
                <a:latin typeface="Arial"/>
                <a:cs typeface="Arial"/>
              </a:rPr>
              <a:t>Adjusted</a:t>
            </a:r>
            <a:r>
              <a:rPr sz="2750" spc="14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45" dirty="0">
                <a:solidFill>
                  <a:srgbClr val="131D2D"/>
                </a:solidFill>
                <a:latin typeface="Arial"/>
                <a:cs typeface="Arial"/>
              </a:rPr>
              <a:t>Closing</a:t>
            </a:r>
            <a:r>
              <a:rPr sz="2750" spc="11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60" dirty="0">
                <a:solidFill>
                  <a:srgbClr val="131D2D"/>
                </a:solidFill>
                <a:latin typeface="Arial"/>
                <a:cs typeface="Arial"/>
              </a:rPr>
              <a:t>Price</a:t>
            </a:r>
            <a:r>
              <a:rPr sz="2750" spc="60" dirty="0">
                <a:solidFill>
                  <a:srgbClr val="2F363F"/>
                </a:solidFill>
                <a:latin typeface="Arial"/>
                <a:cs typeface="Arial"/>
              </a:rPr>
              <a:t>, </a:t>
            </a:r>
            <a:r>
              <a:rPr sz="2750" spc="60" dirty="0">
                <a:solidFill>
                  <a:srgbClr val="131D2D"/>
                </a:solidFill>
                <a:latin typeface="Arial"/>
                <a:cs typeface="Arial"/>
              </a:rPr>
              <a:t>Trading</a:t>
            </a:r>
            <a:r>
              <a:rPr sz="2750" spc="1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131D2D"/>
                </a:solidFill>
                <a:latin typeface="Arial"/>
                <a:cs typeface="Arial"/>
              </a:rPr>
              <a:t>Volume.</a:t>
            </a:r>
            <a:endParaRPr sz="27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65721" y="2362068"/>
            <a:ext cx="2576830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00" b="1" spc="125" dirty="0">
                <a:solidFill>
                  <a:srgbClr val="131D2D"/>
                </a:solidFill>
                <a:latin typeface="Arial"/>
                <a:cs typeface="Arial"/>
              </a:rPr>
              <a:t>The</a:t>
            </a:r>
            <a:r>
              <a:rPr sz="3100" b="1" spc="-21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3100" b="1" spc="-10" dirty="0">
                <a:solidFill>
                  <a:srgbClr val="131D2D"/>
                </a:solidFill>
                <a:latin typeface="Arial"/>
                <a:cs typeface="Arial"/>
              </a:rPr>
              <a:t>Universe</a:t>
            </a:r>
            <a:endParaRPr sz="3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053670" y="5148406"/>
            <a:ext cx="2096770" cy="71818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450" dirty="0">
                <a:solidFill>
                  <a:srgbClr val="2F363F"/>
                </a:solidFill>
                <a:latin typeface="Arial"/>
                <a:cs typeface="Arial"/>
              </a:rPr>
              <a:t>12</a:t>
            </a:r>
            <a:r>
              <a:rPr sz="2450" spc="-160" dirty="0">
                <a:solidFill>
                  <a:srgbClr val="2F363F"/>
                </a:solidFill>
                <a:latin typeface="Arial"/>
                <a:cs typeface="Arial"/>
              </a:rPr>
              <a:t> </a:t>
            </a:r>
            <a:r>
              <a:rPr sz="2450" dirty="0">
                <a:solidFill>
                  <a:srgbClr val="131D2D"/>
                </a:solidFill>
                <a:latin typeface="Arial"/>
                <a:cs typeface="Arial"/>
              </a:rPr>
              <a:t>S</a:t>
            </a:r>
            <a:r>
              <a:rPr sz="2450" dirty="0">
                <a:solidFill>
                  <a:srgbClr val="2F363F"/>
                </a:solidFill>
                <a:latin typeface="Arial"/>
                <a:cs typeface="Arial"/>
              </a:rPr>
              <a:t>e</a:t>
            </a:r>
            <a:r>
              <a:rPr sz="2450" dirty="0">
                <a:solidFill>
                  <a:srgbClr val="131D2D"/>
                </a:solidFill>
                <a:latin typeface="Arial"/>
                <a:cs typeface="Arial"/>
              </a:rPr>
              <a:t>c</a:t>
            </a:r>
            <a:r>
              <a:rPr sz="2450" dirty="0">
                <a:solidFill>
                  <a:srgbClr val="2F363F"/>
                </a:solidFill>
                <a:latin typeface="Arial"/>
                <a:cs typeface="Arial"/>
              </a:rPr>
              <a:t>to</a:t>
            </a:r>
            <a:r>
              <a:rPr sz="2450" dirty="0">
                <a:solidFill>
                  <a:srgbClr val="131D2D"/>
                </a:solidFill>
                <a:latin typeface="Arial"/>
                <a:cs typeface="Arial"/>
              </a:rPr>
              <a:t>r</a:t>
            </a:r>
            <a:r>
              <a:rPr sz="2450" spc="-14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450" spc="-95" dirty="0">
                <a:solidFill>
                  <a:srgbClr val="2F363F"/>
                </a:solidFill>
                <a:latin typeface="Arial"/>
                <a:cs typeface="Arial"/>
              </a:rPr>
              <a:t>E</a:t>
            </a:r>
            <a:r>
              <a:rPr sz="2450" spc="-95" dirty="0">
                <a:solidFill>
                  <a:srgbClr val="131D2D"/>
                </a:solidFill>
                <a:latin typeface="Arial"/>
                <a:cs typeface="Arial"/>
              </a:rPr>
              <a:t>TF</a:t>
            </a:r>
            <a:r>
              <a:rPr sz="2450" spc="-95" dirty="0">
                <a:solidFill>
                  <a:srgbClr val="2F363F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33985">
              <a:lnSpc>
                <a:spcPct val="100000"/>
              </a:lnSpc>
              <a:spcBef>
                <a:spcPts val="175"/>
              </a:spcBef>
            </a:pPr>
            <a:r>
              <a:rPr sz="1750" spc="-60" dirty="0">
                <a:solidFill>
                  <a:srgbClr val="2F363F"/>
                </a:solidFill>
                <a:latin typeface="Arial"/>
                <a:cs typeface="Arial"/>
              </a:rPr>
              <a:t>X</a:t>
            </a:r>
            <a:r>
              <a:rPr sz="1750" spc="-60" dirty="0">
                <a:solidFill>
                  <a:srgbClr val="131D2D"/>
                </a:solidFill>
                <a:latin typeface="Arial"/>
                <a:cs typeface="Arial"/>
              </a:rPr>
              <a:t>L</a:t>
            </a:r>
            <a:r>
              <a:rPr sz="1750" spc="-60" dirty="0">
                <a:solidFill>
                  <a:srgbClr val="2F363F"/>
                </a:solidFill>
                <a:latin typeface="Arial"/>
                <a:cs typeface="Arial"/>
              </a:rPr>
              <a:t>K,</a:t>
            </a:r>
            <a:r>
              <a:rPr sz="1750" spc="-50" dirty="0">
                <a:solidFill>
                  <a:srgbClr val="2F363F"/>
                </a:solidFill>
                <a:latin typeface="Arial"/>
                <a:cs typeface="Arial"/>
              </a:rPr>
              <a:t> </a:t>
            </a:r>
            <a:r>
              <a:rPr sz="1750" spc="-85" dirty="0">
                <a:solidFill>
                  <a:srgbClr val="2F363F"/>
                </a:solidFill>
                <a:latin typeface="Arial"/>
                <a:cs typeface="Arial"/>
              </a:rPr>
              <a:t>XLF,</a:t>
            </a:r>
            <a:r>
              <a:rPr sz="1750" spc="-60" dirty="0">
                <a:solidFill>
                  <a:srgbClr val="2F363F"/>
                </a:solidFill>
                <a:latin typeface="Arial"/>
                <a:cs typeface="Arial"/>
              </a:rPr>
              <a:t> </a:t>
            </a:r>
            <a:r>
              <a:rPr sz="1750" spc="-110" dirty="0">
                <a:solidFill>
                  <a:srgbClr val="131D2D"/>
                </a:solidFill>
                <a:latin typeface="Arial"/>
                <a:cs typeface="Arial"/>
              </a:rPr>
              <a:t>X</a:t>
            </a:r>
            <a:r>
              <a:rPr sz="1750" spc="-110" dirty="0">
                <a:solidFill>
                  <a:srgbClr val="2F363F"/>
                </a:solidFill>
                <a:latin typeface="Arial"/>
                <a:cs typeface="Arial"/>
              </a:rPr>
              <a:t>LV,</a:t>
            </a:r>
            <a:r>
              <a:rPr sz="1750" spc="-100" dirty="0">
                <a:solidFill>
                  <a:srgbClr val="2F363F"/>
                </a:solidFill>
                <a:latin typeface="Arial"/>
                <a:cs typeface="Arial"/>
              </a:rPr>
              <a:t> </a:t>
            </a:r>
            <a:r>
              <a:rPr sz="1750" spc="35" dirty="0">
                <a:solidFill>
                  <a:srgbClr val="2F363F"/>
                </a:solidFill>
                <a:latin typeface="Arial"/>
                <a:cs typeface="Arial"/>
              </a:rPr>
              <a:t>etc.</a:t>
            </a:r>
            <a:endParaRPr sz="17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97212" y="6841197"/>
            <a:ext cx="6646545" cy="7486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475"/>
              </a:spcBef>
            </a:pPr>
            <a:r>
              <a:rPr sz="2450" dirty="0">
                <a:solidFill>
                  <a:srgbClr val="131D2D"/>
                </a:solidFill>
                <a:latin typeface="Arial"/>
                <a:cs typeface="Arial"/>
              </a:rPr>
              <a:t>22</a:t>
            </a:r>
            <a:r>
              <a:rPr sz="2450" spc="-12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450" spc="-20" dirty="0">
                <a:solidFill>
                  <a:srgbClr val="131D2D"/>
                </a:solidFill>
                <a:latin typeface="Arial"/>
                <a:cs typeface="Arial"/>
              </a:rPr>
              <a:t>S</a:t>
            </a:r>
            <a:r>
              <a:rPr sz="2450" spc="-20" dirty="0">
                <a:solidFill>
                  <a:srgbClr val="2F363F"/>
                </a:solidFill>
                <a:latin typeface="Arial"/>
                <a:cs typeface="Arial"/>
              </a:rPr>
              <a:t>e</a:t>
            </a:r>
            <a:r>
              <a:rPr sz="2450" spc="-20" dirty="0">
                <a:solidFill>
                  <a:srgbClr val="131D2D"/>
                </a:solidFill>
                <a:latin typeface="Arial"/>
                <a:cs typeface="Arial"/>
              </a:rPr>
              <a:t>l</a:t>
            </a:r>
            <a:r>
              <a:rPr sz="2450" spc="-20" dirty="0">
                <a:solidFill>
                  <a:srgbClr val="2F363F"/>
                </a:solidFill>
                <a:latin typeface="Arial"/>
                <a:cs typeface="Arial"/>
              </a:rPr>
              <a:t>ec</a:t>
            </a:r>
            <a:r>
              <a:rPr sz="2450" spc="-20" dirty="0">
                <a:solidFill>
                  <a:srgbClr val="131D2D"/>
                </a:solidFill>
                <a:latin typeface="Arial"/>
                <a:cs typeface="Arial"/>
              </a:rPr>
              <a:t>t</a:t>
            </a:r>
            <a:r>
              <a:rPr sz="2450" spc="-20" dirty="0">
                <a:solidFill>
                  <a:srgbClr val="2F363F"/>
                </a:solidFill>
                <a:latin typeface="Arial"/>
                <a:cs typeface="Arial"/>
              </a:rPr>
              <a:t>e</a:t>
            </a:r>
            <a:r>
              <a:rPr sz="2450" spc="-20" dirty="0">
                <a:solidFill>
                  <a:srgbClr val="131D2D"/>
                </a:solidFill>
                <a:latin typeface="Arial"/>
                <a:cs typeface="Arial"/>
              </a:rPr>
              <a:t>d</a:t>
            </a:r>
            <a:r>
              <a:rPr sz="2450" spc="-8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450" dirty="0">
                <a:solidFill>
                  <a:srgbClr val="2F363F"/>
                </a:solidFill>
                <a:latin typeface="Arial"/>
                <a:cs typeface="Arial"/>
              </a:rPr>
              <a:t>I</a:t>
            </a:r>
            <a:r>
              <a:rPr sz="2450" dirty="0">
                <a:solidFill>
                  <a:srgbClr val="131D2D"/>
                </a:solidFill>
                <a:latin typeface="Arial"/>
                <a:cs typeface="Arial"/>
              </a:rPr>
              <a:t>ndu</a:t>
            </a:r>
            <a:r>
              <a:rPr sz="2450" dirty="0">
                <a:solidFill>
                  <a:srgbClr val="2F363F"/>
                </a:solidFill>
                <a:latin typeface="Arial"/>
                <a:cs typeface="Arial"/>
              </a:rPr>
              <a:t>s</a:t>
            </a:r>
            <a:r>
              <a:rPr sz="2450" dirty="0">
                <a:solidFill>
                  <a:srgbClr val="131D2D"/>
                </a:solidFill>
                <a:latin typeface="Arial"/>
                <a:cs typeface="Arial"/>
              </a:rPr>
              <a:t>try</a:t>
            </a:r>
            <a:r>
              <a:rPr sz="2450" spc="-11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450" spc="-20" dirty="0">
                <a:solidFill>
                  <a:srgbClr val="131D2D"/>
                </a:solidFill>
                <a:latin typeface="Arial"/>
                <a:cs typeface="Arial"/>
              </a:rPr>
              <a:t>E</a:t>
            </a:r>
            <a:r>
              <a:rPr sz="2450" spc="-20" dirty="0">
                <a:solidFill>
                  <a:srgbClr val="2F363F"/>
                </a:solidFill>
                <a:latin typeface="Arial"/>
                <a:cs typeface="Arial"/>
              </a:rPr>
              <a:t>T</a:t>
            </a:r>
            <a:r>
              <a:rPr sz="2450" spc="-20" dirty="0">
                <a:solidFill>
                  <a:srgbClr val="131D2D"/>
                </a:solidFill>
                <a:latin typeface="Arial"/>
                <a:cs typeface="Arial"/>
              </a:rPr>
              <a:t>F</a:t>
            </a:r>
            <a:r>
              <a:rPr sz="2450" spc="-20" dirty="0">
                <a:solidFill>
                  <a:srgbClr val="2F363F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1750" spc="-20" dirty="0">
                <a:solidFill>
                  <a:srgbClr val="2F363F"/>
                </a:solidFill>
                <a:latin typeface="Arial"/>
                <a:cs typeface="Arial"/>
              </a:rPr>
              <a:t>SMH</a:t>
            </a:r>
            <a:r>
              <a:rPr sz="1750" spc="-105" dirty="0">
                <a:solidFill>
                  <a:srgbClr val="2F363F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565B60"/>
                </a:solidFill>
                <a:latin typeface="Arial"/>
                <a:cs typeface="Arial"/>
              </a:rPr>
              <a:t>-</a:t>
            </a:r>
            <a:r>
              <a:rPr sz="1750" spc="125" dirty="0">
                <a:solidFill>
                  <a:srgbClr val="565B60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2F363F"/>
                </a:solidFill>
                <a:latin typeface="Arial"/>
                <a:cs typeface="Arial"/>
              </a:rPr>
              <a:t>Se</a:t>
            </a:r>
            <a:r>
              <a:rPr sz="1750" dirty="0">
                <a:solidFill>
                  <a:srgbClr val="131D2D"/>
                </a:solidFill>
                <a:latin typeface="Arial"/>
                <a:cs typeface="Arial"/>
              </a:rPr>
              <a:t>mi</a:t>
            </a:r>
            <a:r>
              <a:rPr sz="1750" dirty="0">
                <a:solidFill>
                  <a:srgbClr val="2F363F"/>
                </a:solidFill>
                <a:latin typeface="Arial"/>
                <a:cs typeface="Arial"/>
              </a:rPr>
              <a:t>co</a:t>
            </a:r>
            <a:r>
              <a:rPr sz="1750" dirty="0">
                <a:solidFill>
                  <a:srgbClr val="131D2D"/>
                </a:solidFill>
                <a:latin typeface="Arial"/>
                <a:cs typeface="Arial"/>
              </a:rPr>
              <a:t>n</a:t>
            </a:r>
            <a:r>
              <a:rPr sz="1750" dirty="0">
                <a:solidFill>
                  <a:srgbClr val="2F363F"/>
                </a:solidFill>
                <a:latin typeface="Arial"/>
                <a:cs typeface="Arial"/>
              </a:rPr>
              <a:t>ductors,</a:t>
            </a:r>
            <a:r>
              <a:rPr sz="1750" spc="-55" dirty="0">
                <a:solidFill>
                  <a:srgbClr val="2F363F"/>
                </a:solidFill>
                <a:latin typeface="Arial"/>
                <a:cs typeface="Arial"/>
              </a:rPr>
              <a:t> </a:t>
            </a:r>
            <a:r>
              <a:rPr sz="1750" spc="-85" dirty="0">
                <a:solidFill>
                  <a:srgbClr val="2F363F"/>
                </a:solidFill>
                <a:latin typeface="Arial"/>
                <a:cs typeface="Arial"/>
              </a:rPr>
              <a:t>XBI</a:t>
            </a:r>
            <a:r>
              <a:rPr sz="1750" spc="-114" dirty="0">
                <a:solidFill>
                  <a:srgbClr val="2F363F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565B60"/>
                </a:solidFill>
                <a:latin typeface="Arial"/>
                <a:cs typeface="Arial"/>
              </a:rPr>
              <a:t>-</a:t>
            </a:r>
            <a:r>
              <a:rPr sz="1750" spc="220" dirty="0">
                <a:solidFill>
                  <a:srgbClr val="565B60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2F363F"/>
                </a:solidFill>
                <a:latin typeface="Arial"/>
                <a:cs typeface="Arial"/>
              </a:rPr>
              <a:t>B</a:t>
            </a:r>
            <a:r>
              <a:rPr sz="1750" dirty="0">
                <a:solidFill>
                  <a:srgbClr val="131D2D"/>
                </a:solidFill>
                <a:latin typeface="Arial"/>
                <a:cs typeface="Arial"/>
              </a:rPr>
              <a:t>i</a:t>
            </a:r>
            <a:r>
              <a:rPr sz="1750" dirty="0">
                <a:solidFill>
                  <a:srgbClr val="2F363F"/>
                </a:solidFill>
                <a:latin typeface="Arial"/>
                <a:cs typeface="Arial"/>
              </a:rPr>
              <a:t>otech,</a:t>
            </a:r>
            <a:r>
              <a:rPr sz="1750" spc="-80" dirty="0">
                <a:solidFill>
                  <a:srgbClr val="2F363F"/>
                </a:solidFill>
                <a:latin typeface="Arial"/>
                <a:cs typeface="Arial"/>
              </a:rPr>
              <a:t> </a:t>
            </a:r>
            <a:r>
              <a:rPr sz="1750" spc="-165" dirty="0">
                <a:solidFill>
                  <a:srgbClr val="2F363F"/>
                </a:solidFill>
                <a:latin typeface="Arial"/>
                <a:cs typeface="Arial"/>
              </a:rPr>
              <a:t>KRE</a:t>
            </a:r>
            <a:r>
              <a:rPr sz="1750" spc="-30" dirty="0">
                <a:solidFill>
                  <a:srgbClr val="2F363F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424952"/>
                </a:solidFill>
                <a:latin typeface="Arial"/>
                <a:cs typeface="Arial"/>
              </a:rPr>
              <a:t>-</a:t>
            </a:r>
            <a:r>
              <a:rPr sz="1750" spc="130" dirty="0">
                <a:solidFill>
                  <a:srgbClr val="424952"/>
                </a:solidFill>
                <a:latin typeface="Arial"/>
                <a:cs typeface="Arial"/>
              </a:rPr>
              <a:t> </a:t>
            </a:r>
            <a:r>
              <a:rPr sz="1750" spc="-20" dirty="0">
                <a:solidFill>
                  <a:srgbClr val="2F363F"/>
                </a:solidFill>
                <a:latin typeface="Arial"/>
                <a:cs typeface="Arial"/>
              </a:rPr>
              <a:t>Reg</a:t>
            </a:r>
            <a:r>
              <a:rPr sz="1750" spc="-20" dirty="0">
                <a:solidFill>
                  <a:srgbClr val="131D2D"/>
                </a:solidFill>
                <a:latin typeface="Arial"/>
                <a:cs typeface="Arial"/>
              </a:rPr>
              <a:t>i</a:t>
            </a:r>
            <a:r>
              <a:rPr sz="1750" spc="-20" dirty="0">
                <a:solidFill>
                  <a:srgbClr val="2F363F"/>
                </a:solidFill>
                <a:latin typeface="Arial"/>
                <a:cs typeface="Arial"/>
              </a:rPr>
              <a:t>onal</a:t>
            </a:r>
            <a:r>
              <a:rPr sz="1750" spc="-185" dirty="0">
                <a:solidFill>
                  <a:srgbClr val="2F363F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2F363F"/>
                </a:solidFill>
                <a:latin typeface="Arial"/>
                <a:cs typeface="Arial"/>
              </a:rPr>
              <a:t>Ba</a:t>
            </a:r>
            <a:r>
              <a:rPr sz="1750" spc="-10" dirty="0">
                <a:solidFill>
                  <a:srgbClr val="131D2D"/>
                </a:solidFill>
                <a:latin typeface="Arial"/>
                <a:cs typeface="Arial"/>
              </a:rPr>
              <a:t>n</a:t>
            </a:r>
            <a:r>
              <a:rPr sz="1750" spc="-10" dirty="0">
                <a:solidFill>
                  <a:srgbClr val="2F363F"/>
                </a:solidFill>
                <a:latin typeface="Arial"/>
                <a:cs typeface="Arial"/>
              </a:rPr>
              <a:t>king,</a:t>
            </a:r>
            <a:r>
              <a:rPr sz="1750" spc="-120" dirty="0">
                <a:solidFill>
                  <a:srgbClr val="2F363F"/>
                </a:solidFill>
                <a:latin typeface="Arial"/>
                <a:cs typeface="Arial"/>
              </a:rPr>
              <a:t> </a:t>
            </a:r>
            <a:r>
              <a:rPr sz="1750" spc="35" dirty="0">
                <a:solidFill>
                  <a:srgbClr val="2F363F"/>
                </a:solidFill>
                <a:latin typeface="Arial"/>
                <a:cs typeface="Arial"/>
              </a:rPr>
              <a:t>etc.</a:t>
            </a:r>
            <a:endParaRPr sz="17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87109" y="7966336"/>
            <a:ext cx="7438390" cy="1136650"/>
          </a:xfrm>
          <a:prstGeom prst="rect">
            <a:avLst/>
          </a:prstGeom>
          <a:ln w="25473">
            <a:solidFill>
              <a:srgbClr val="000000"/>
            </a:solidFill>
          </a:ln>
        </p:spPr>
        <p:txBody>
          <a:bodyPr vert="horz" wrap="square" lIns="0" tIns="146050" rIns="0" bIns="0" rtlCol="0">
            <a:spAutoFit/>
          </a:bodyPr>
          <a:lstStyle/>
          <a:p>
            <a:pPr marL="467359" marR="436880" indent="90170">
              <a:lnSpc>
                <a:spcPct val="100499"/>
              </a:lnSpc>
              <a:spcBef>
                <a:spcPts val="1150"/>
              </a:spcBef>
            </a:pPr>
            <a:r>
              <a:rPr sz="2750" dirty="0">
                <a:solidFill>
                  <a:srgbClr val="131D2D"/>
                </a:solidFill>
                <a:latin typeface="Arial"/>
                <a:cs typeface="Arial"/>
              </a:rPr>
              <a:t>Universe</a:t>
            </a:r>
            <a:r>
              <a:rPr sz="2750" spc="9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31D2D"/>
                </a:solidFill>
                <a:latin typeface="Arial"/>
                <a:cs typeface="Arial"/>
              </a:rPr>
              <a:t>Granularity</a:t>
            </a:r>
            <a:r>
              <a:rPr sz="2750" spc="49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75" dirty="0">
                <a:solidFill>
                  <a:srgbClr val="131D2D"/>
                </a:solidFill>
                <a:latin typeface="Arial"/>
                <a:cs typeface="Arial"/>
              </a:rPr>
              <a:t>allows</a:t>
            </a:r>
            <a:r>
              <a:rPr sz="2750" spc="8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105" dirty="0">
                <a:solidFill>
                  <a:srgbClr val="131D2D"/>
                </a:solidFill>
                <a:latin typeface="Arial"/>
                <a:cs typeface="Arial"/>
              </a:rPr>
              <a:t>for</a:t>
            </a:r>
            <a:r>
              <a:rPr sz="2750" spc="254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55" dirty="0">
                <a:solidFill>
                  <a:srgbClr val="131D2D"/>
                </a:solidFill>
                <a:latin typeface="Arial"/>
                <a:cs typeface="Arial"/>
              </a:rPr>
              <a:t>specific </a:t>
            </a:r>
            <a:r>
              <a:rPr sz="2750" dirty="0">
                <a:solidFill>
                  <a:srgbClr val="131D2D"/>
                </a:solidFill>
                <a:latin typeface="Arial"/>
                <a:cs typeface="Arial"/>
              </a:rPr>
              <a:t>Subgroup</a:t>
            </a:r>
            <a:r>
              <a:rPr sz="2750" spc="41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31D2D"/>
                </a:solidFill>
                <a:latin typeface="Arial"/>
                <a:cs typeface="Arial"/>
              </a:rPr>
              <a:t>Analysis</a:t>
            </a:r>
            <a:r>
              <a:rPr sz="2750" spc="33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31D2D"/>
                </a:solidFill>
                <a:latin typeface="Arial"/>
                <a:cs typeface="Arial"/>
              </a:rPr>
              <a:t>(Sector</a:t>
            </a:r>
            <a:r>
              <a:rPr sz="2750" spc="360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100" dirty="0">
                <a:solidFill>
                  <a:srgbClr val="131D2D"/>
                </a:solidFill>
                <a:latin typeface="Arial"/>
                <a:cs typeface="Arial"/>
              </a:rPr>
              <a:t>vs.</a:t>
            </a:r>
            <a:r>
              <a:rPr sz="2750" spc="-85" dirty="0">
                <a:solidFill>
                  <a:srgbClr val="131D2D"/>
                </a:solidFill>
                <a:latin typeface="Arial"/>
                <a:cs typeface="Arial"/>
              </a:rPr>
              <a:t> </a:t>
            </a:r>
            <a:r>
              <a:rPr sz="2750" spc="70" dirty="0">
                <a:solidFill>
                  <a:srgbClr val="131D2D"/>
                </a:solidFill>
                <a:latin typeface="Arial"/>
                <a:cs typeface="Arial"/>
              </a:rPr>
              <a:t>Industry).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0241" y="3906705"/>
            <a:ext cx="127369" cy="16340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3267" y="5745030"/>
            <a:ext cx="3821075" cy="16595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20241" y="5757796"/>
            <a:ext cx="127369" cy="16468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25547" y="3906705"/>
            <a:ext cx="1069901" cy="20681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348296" y="3855639"/>
            <a:ext cx="3438968" cy="79150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183926" y="7404627"/>
            <a:ext cx="0" cy="944880"/>
          </a:xfrm>
          <a:custGeom>
            <a:avLst/>
            <a:gdLst/>
            <a:ahLst/>
            <a:cxnLst/>
            <a:rect l="l" t="t" r="r" b="b"/>
            <a:pathLst>
              <a:path h="944879">
                <a:moveTo>
                  <a:pt x="0" y="944694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76494" y="6689723"/>
            <a:ext cx="0" cy="1659889"/>
          </a:xfrm>
          <a:custGeom>
            <a:avLst/>
            <a:gdLst/>
            <a:ahLst/>
            <a:cxnLst/>
            <a:rect l="l" t="t" r="r" b="b"/>
            <a:pathLst>
              <a:path h="1659890">
                <a:moveTo>
                  <a:pt x="0" y="165959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361027" y="4647140"/>
            <a:ext cx="0" cy="2834640"/>
          </a:xfrm>
          <a:custGeom>
            <a:avLst/>
            <a:gdLst/>
            <a:ahLst/>
            <a:cxnLst/>
            <a:rect l="l" t="t" r="r" b="b"/>
            <a:pathLst>
              <a:path h="2834640">
                <a:moveTo>
                  <a:pt x="0" y="283408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373765" y="4647140"/>
            <a:ext cx="3413760" cy="2834640"/>
          </a:xfrm>
          <a:custGeom>
            <a:avLst/>
            <a:gdLst/>
            <a:ahLst/>
            <a:cxnLst/>
            <a:rect l="l" t="t" r="r" b="b"/>
            <a:pathLst>
              <a:path w="3413759" h="2834640">
                <a:moveTo>
                  <a:pt x="3388020" y="2834083"/>
                </a:moveTo>
                <a:lnTo>
                  <a:pt x="3388020" y="0"/>
                </a:lnTo>
              </a:path>
              <a:path w="3413759" h="2834640">
                <a:moveTo>
                  <a:pt x="0" y="2821317"/>
                </a:moveTo>
                <a:lnTo>
                  <a:pt x="3413494" y="2821317"/>
                </a:lnTo>
              </a:path>
            </a:pathLst>
          </a:custGeom>
          <a:ln w="25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71189" y="8336555"/>
            <a:ext cx="7031355" cy="0"/>
          </a:xfrm>
          <a:custGeom>
            <a:avLst/>
            <a:gdLst/>
            <a:ahLst/>
            <a:cxnLst/>
            <a:rect l="l" t="t" r="r" b="b"/>
            <a:pathLst>
              <a:path w="7031355">
                <a:moveTo>
                  <a:pt x="0" y="0"/>
                </a:moveTo>
                <a:lnTo>
                  <a:pt x="703077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342" rIns="0" bIns="0" rtlCol="0">
            <a:spAutoFit/>
          </a:bodyPr>
          <a:lstStyle/>
          <a:p>
            <a:pPr marL="178435" marR="5080" indent="-5080">
              <a:lnSpc>
                <a:spcPts val="6840"/>
              </a:lnSpc>
            </a:pPr>
            <a:r>
              <a:rPr sz="5500" spc="135" dirty="0">
                <a:solidFill>
                  <a:srgbClr val="0E1C3D"/>
                </a:solidFill>
              </a:rPr>
              <a:t>Feature</a:t>
            </a:r>
            <a:r>
              <a:rPr sz="5500" spc="-165" dirty="0">
                <a:solidFill>
                  <a:srgbClr val="0E1C3D"/>
                </a:solidFill>
              </a:rPr>
              <a:t> </a:t>
            </a:r>
            <a:r>
              <a:rPr sz="5500" spc="55" dirty="0">
                <a:solidFill>
                  <a:srgbClr val="0E1C3D"/>
                </a:solidFill>
              </a:rPr>
              <a:t>Engineering:</a:t>
            </a:r>
            <a:r>
              <a:rPr sz="5500" spc="15" dirty="0">
                <a:solidFill>
                  <a:srgbClr val="0E1C3D"/>
                </a:solidFill>
              </a:rPr>
              <a:t> </a:t>
            </a:r>
            <a:r>
              <a:rPr sz="5500" spc="100" dirty="0">
                <a:solidFill>
                  <a:srgbClr val="0E1C3D"/>
                </a:solidFill>
              </a:rPr>
              <a:t>Extracting</a:t>
            </a:r>
            <a:r>
              <a:rPr sz="5500" spc="-25" dirty="0">
                <a:solidFill>
                  <a:srgbClr val="0E1C3D"/>
                </a:solidFill>
              </a:rPr>
              <a:t> </a:t>
            </a:r>
            <a:r>
              <a:rPr sz="5500" spc="75" dirty="0">
                <a:solidFill>
                  <a:srgbClr val="0E1C3D"/>
                </a:solidFill>
              </a:rPr>
              <a:t>Signal</a:t>
            </a:r>
            <a:r>
              <a:rPr sz="5500" spc="-155" dirty="0">
                <a:solidFill>
                  <a:srgbClr val="0E1C3D"/>
                </a:solidFill>
              </a:rPr>
              <a:t> </a:t>
            </a:r>
            <a:r>
              <a:rPr sz="5500" spc="125" dirty="0">
                <a:solidFill>
                  <a:srgbClr val="0E1C3D"/>
                </a:solidFill>
              </a:rPr>
              <a:t>from </a:t>
            </a:r>
            <a:r>
              <a:rPr sz="5500" spc="175" dirty="0">
                <a:solidFill>
                  <a:srgbClr val="0E1C3D"/>
                </a:solidFill>
              </a:rPr>
              <a:t>from</a:t>
            </a:r>
            <a:r>
              <a:rPr sz="5500" spc="-405" dirty="0">
                <a:solidFill>
                  <a:srgbClr val="0E1C3D"/>
                </a:solidFill>
              </a:rPr>
              <a:t> </a:t>
            </a:r>
            <a:r>
              <a:rPr sz="5500" spc="130" dirty="0">
                <a:solidFill>
                  <a:srgbClr val="0E1C3D"/>
                </a:solidFill>
              </a:rPr>
              <a:t>Price</a:t>
            </a:r>
            <a:r>
              <a:rPr sz="5500" spc="-235" dirty="0">
                <a:solidFill>
                  <a:srgbClr val="0E1C3D"/>
                </a:solidFill>
              </a:rPr>
              <a:t> </a:t>
            </a:r>
            <a:r>
              <a:rPr sz="5500" spc="155" dirty="0">
                <a:solidFill>
                  <a:srgbClr val="0E1C3D"/>
                </a:solidFill>
              </a:rPr>
              <a:t>and</a:t>
            </a:r>
            <a:r>
              <a:rPr sz="5500" spc="-70" dirty="0">
                <a:solidFill>
                  <a:srgbClr val="0E1C3D"/>
                </a:solidFill>
              </a:rPr>
              <a:t> </a:t>
            </a:r>
            <a:r>
              <a:rPr sz="5500" spc="50" dirty="0">
                <a:solidFill>
                  <a:srgbClr val="0E1C3D"/>
                </a:solidFill>
              </a:rPr>
              <a:t>Volume</a:t>
            </a:r>
            <a:endParaRPr sz="5500"/>
          </a:p>
        </p:txBody>
      </p:sp>
      <p:sp>
        <p:nvSpPr>
          <p:cNvPr id="13" name="object 13"/>
          <p:cNvSpPr txBox="1"/>
          <p:nvPr/>
        </p:nvSpPr>
        <p:spPr>
          <a:xfrm>
            <a:off x="1321791" y="2521645"/>
            <a:ext cx="15002510" cy="4927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890895" algn="l"/>
                <a:tab pos="12456160" algn="l"/>
              </a:tabLst>
            </a:pPr>
            <a:r>
              <a:rPr sz="3050" b="1" spc="-95" dirty="0">
                <a:solidFill>
                  <a:srgbClr val="0E1C3D"/>
                </a:solidFill>
                <a:latin typeface="Arial"/>
                <a:cs typeface="Arial"/>
              </a:rPr>
              <a:t>Raw</a:t>
            </a:r>
            <a:r>
              <a:rPr sz="3050" b="1" spc="-130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3050" b="1" spc="-10" dirty="0">
                <a:solidFill>
                  <a:srgbClr val="0E1C3D"/>
                </a:solidFill>
                <a:latin typeface="Arial"/>
                <a:cs typeface="Arial"/>
              </a:rPr>
              <a:t>Inputs</a:t>
            </a:r>
            <a:r>
              <a:rPr sz="3050" b="1" dirty="0">
                <a:solidFill>
                  <a:srgbClr val="0E1C3D"/>
                </a:solidFill>
                <a:latin typeface="Arial"/>
                <a:cs typeface="Arial"/>
              </a:rPr>
              <a:t>	</a:t>
            </a:r>
            <a:r>
              <a:rPr sz="3050" b="1" spc="-10" dirty="0">
                <a:solidFill>
                  <a:srgbClr val="0E1C3D"/>
                </a:solidFill>
                <a:latin typeface="Arial"/>
                <a:cs typeface="Arial"/>
              </a:rPr>
              <a:t>Transformations</a:t>
            </a:r>
            <a:r>
              <a:rPr sz="3050" b="1" dirty="0">
                <a:solidFill>
                  <a:srgbClr val="0E1C3D"/>
                </a:solidFill>
                <a:latin typeface="Arial"/>
                <a:cs typeface="Arial"/>
              </a:rPr>
              <a:t>	</a:t>
            </a:r>
            <a:r>
              <a:rPr sz="3050" b="1" spc="-100" dirty="0">
                <a:solidFill>
                  <a:srgbClr val="0E1C3D"/>
                </a:solidFill>
                <a:latin typeface="Arial"/>
                <a:cs typeface="Arial"/>
              </a:rPr>
              <a:t>Preprocessing</a:t>
            </a:r>
            <a:endParaRPr sz="305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23728" y="3339283"/>
            <a:ext cx="2731770" cy="475615"/>
          </a:xfrm>
          <a:prstGeom prst="rect">
            <a:avLst/>
          </a:prstGeom>
          <a:solidFill>
            <a:srgbClr val="081D49"/>
          </a:solidFill>
        </p:spPr>
        <p:txBody>
          <a:bodyPr vert="horz" wrap="square" lIns="0" tIns="20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r>
              <a:rPr sz="2550" b="1" dirty="0">
                <a:solidFill>
                  <a:srgbClr val="F6FBFD"/>
                </a:solidFill>
                <a:latin typeface="Arial"/>
                <a:cs typeface="Arial"/>
              </a:rPr>
              <a:t>Volatility</a:t>
            </a:r>
            <a:r>
              <a:rPr sz="2550" b="1" spc="20" dirty="0">
                <a:solidFill>
                  <a:srgbClr val="F6FBFD"/>
                </a:solidFill>
                <a:latin typeface="Arial"/>
                <a:cs typeface="Arial"/>
              </a:rPr>
              <a:t> </a:t>
            </a:r>
            <a:r>
              <a:rPr sz="2600" b="1" spc="55" dirty="0">
                <a:solidFill>
                  <a:srgbClr val="F6FBFD"/>
                </a:solidFill>
                <a:latin typeface="Arial"/>
                <a:cs typeface="Arial"/>
              </a:rPr>
              <a:t>&amp;</a:t>
            </a:r>
            <a:r>
              <a:rPr sz="2600" b="1" spc="-10" dirty="0">
                <a:solidFill>
                  <a:srgbClr val="F6FBF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6FBFD"/>
                </a:solidFill>
                <a:latin typeface="Arial"/>
                <a:cs typeface="Arial"/>
              </a:rPr>
              <a:t>Trend</a:t>
            </a:r>
            <a:endParaRPr sz="25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20848" y="4239652"/>
            <a:ext cx="2404745" cy="466725"/>
          </a:xfrm>
          <a:custGeom>
            <a:avLst/>
            <a:gdLst/>
            <a:ahLst/>
            <a:cxnLst/>
            <a:rect l="l" t="t" r="r" b="b"/>
            <a:pathLst>
              <a:path w="2404745" h="466725">
                <a:moveTo>
                  <a:pt x="2404749" y="466210"/>
                </a:moveTo>
                <a:lnTo>
                  <a:pt x="0" y="466210"/>
                </a:lnTo>
                <a:lnTo>
                  <a:pt x="0" y="0"/>
                </a:lnTo>
                <a:lnTo>
                  <a:pt x="2404749" y="0"/>
                </a:lnTo>
                <a:lnTo>
                  <a:pt x="2404749" y="466210"/>
                </a:lnTo>
                <a:close/>
              </a:path>
            </a:pathLst>
          </a:custGeom>
          <a:solidFill>
            <a:srgbClr val="081D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08148" y="4245073"/>
            <a:ext cx="2458720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b="1" dirty="0">
                <a:solidFill>
                  <a:srgbClr val="F6FBFD"/>
                </a:solidFill>
                <a:latin typeface="Arial"/>
                <a:cs typeface="Arial"/>
              </a:rPr>
              <a:t>Adjusted</a:t>
            </a:r>
            <a:r>
              <a:rPr sz="2550" b="1" spc="240" dirty="0">
                <a:solidFill>
                  <a:srgbClr val="F6FBFD"/>
                </a:solidFill>
                <a:latin typeface="Arial"/>
                <a:cs typeface="Arial"/>
              </a:rPr>
              <a:t> </a:t>
            </a:r>
            <a:r>
              <a:rPr sz="2550" b="1" spc="40" dirty="0">
                <a:solidFill>
                  <a:srgbClr val="F6FBFD"/>
                </a:solidFill>
                <a:latin typeface="Arial"/>
                <a:cs typeface="Arial"/>
              </a:rPr>
              <a:t>Close</a:t>
            </a:r>
            <a:endParaRPr sz="25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12301" y="4673701"/>
            <a:ext cx="802640" cy="466725"/>
          </a:xfrm>
          <a:custGeom>
            <a:avLst/>
            <a:gdLst/>
            <a:ahLst/>
            <a:cxnLst/>
            <a:rect l="l" t="t" r="r" b="b"/>
            <a:pathLst>
              <a:path w="802639" h="466725">
                <a:moveTo>
                  <a:pt x="802425" y="466210"/>
                </a:moveTo>
                <a:lnTo>
                  <a:pt x="0" y="466210"/>
                </a:lnTo>
                <a:lnTo>
                  <a:pt x="0" y="0"/>
                </a:lnTo>
                <a:lnTo>
                  <a:pt x="802425" y="0"/>
                </a:lnTo>
                <a:lnTo>
                  <a:pt x="802425" y="466210"/>
                </a:lnTo>
                <a:close/>
              </a:path>
            </a:pathLst>
          </a:custGeom>
          <a:solidFill>
            <a:srgbClr val="081D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99602" y="4679122"/>
            <a:ext cx="867410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b="1" spc="55" dirty="0">
                <a:solidFill>
                  <a:srgbClr val="F6FBFD"/>
                </a:solidFill>
                <a:latin typeface="Arial"/>
                <a:cs typeface="Arial"/>
              </a:rPr>
              <a:t>Price</a:t>
            </a:r>
            <a:endParaRPr sz="25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23211" y="4036985"/>
            <a:ext cx="7383780" cy="17621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185545" indent="-231775">
              <a:lnSpc>
                <a:spcPct val="100000"/>
              </a:lnSpc>
              <a:spcBef>
                <a:spcPts val="395"/>
              </a:spcBef>
              <a:buClr>
                <a:srgbClr val="010823"/>
              </a:buClr>
              <a:buChar char="-"/>
              <a:tabLst>
                <a:tab pos="1185545" algn="l"/>
              </a:tabLst>
            </a:pPr>
            <a:r>
              <a:rPr sz="2600" dirty="0">
                <a:solidFill>
                  <a:srgbClr val="975736"/>
                </a:solidFill>
                <a:latin typeface="Arial"/>
                <a:cs typeface="Arial"/>
              </a:rPr>
              <a:t>Trailing</a:t>
            </a:r>
            <a:r>
              <a:rPr sz="2600" spc="50" dirty="0">
                <a:solidFill>
                  <a:srgbClr val="975736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975736"/>
                </a:solidFill>
                <a:latin typeface="Arial"/>
                <a:cs typeface="Arial"/>
              </a:rPr>
              <a:t>Realized</a:t>
            </a:r>
            <a:r>
              <a:rPr sz="2600" spc="254" dirty="0">
                <a:solidFill>
                  <a:srgbClr val="975736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975736"/>
                </a:solidFill>
                <a:latin typeface="Arial"/>
                <a:cs typeface="Arial"/>
              </a:rPr>
              <a:t>Vol</a:t>
            </a:r>
            <a:r>
              <a:rPr sz="2600" spc="-25" dirty="0">
                <a:solidFill>
                  <a:srgbClr val="975736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E1C3D"/>
                </a:solidFill>
                <a:latin typeface="Arial"/>
                <a:cs typeface="Arial"/>
              </a:rPr>
              <a:t>(5,</a:t>
            </a:r>
            <a:r>
              <a:rPr sz="2600" spc="40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srgbClr val="0E1C3D"/>
                </a:solidFill>
                <a:latin typeface="Arial"/>
                <a:cs typeface="Arial"/>
              </a:rPr>
              <a:t>10</a:t>
            </a:r>
            <a:r>
              <a:rPr sz="2600" spc="85" dirty="0">
                <a:solidFill>
                  <a:srgbClr val="2D364B"/>
                </a:solidFill>
                <a:latin typeface="Arial"/>
                <a:cs typeface="Arial"/>
              </a:rPr>
              <a:t>,</a:t>
            </a:r>
            <a:r>
              <a:rPr sz="2600" spc="-25" dirty="0">
                <a:solidFill>
                  <a:srgbClr val="2D364B"/>
                </a:solidFill>
                <a:latin typeface="Arial"/>
                <a:cs typeface="Arial"/>
              </a:rPr>
              <a:t> </a:t>
            </a:r>
            <a:r>
              <a:rPr sz="2600" spc="105" dirty="0">
                <a:solidFill>
                  <a:srgbClr val="0E1C3D"/>
                </a:solidFill>
                <a:latin typeface="Arial"/>
                <a:cs typeface="Arial"/>
              </a:rPr>
              <a:t>20,</a:t>
            </a:r>
            <a:r>
              <a:rPr sz="2600" spc="-50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600" spc="140" dirty="0">
                <a:solidFill>
                  <a:srgbClr val="0E1C3D"/>
                </a:solidFill>
                <a:latin typeface="Arial"/>
                <a:cs typeface="Arial"/>
              </a:rPr>
              <a:t>60</a:t>
            </a:r>
            <a:r>
              <a:rPr sz="2600" spc="210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E1C3D"/>
                </a:solidFill>
                <a:latin typeface="Arial"/>
                <a:cs typeface="Arial"/>
              </a:rPr>
              <a:t>days)</a:t>
            </a:r>
            <a:endParaRPr sz="2600">
              <a:latin typeface="Arial"/>
              <a:cs typeface="Arial"/>
            </a:endParaRPr>
          </a:p>
          <a:p>
            <a:pPr marL="1179830" indent="-226060">
              <a:lnSpc>
                <a:spcPct val="100000"/>
              </a:lnSpc>
              <a:spcBef>
                <a:spcPts val="295"/>
              </a:spcBef>
              <a:buClr>
                <a:srgbClr val="010823"/>
              </a:buClr>
              <a:buChar char="-"/>
              <a:tabLst>
                <a:tab pos="1179830" algn="l"/>
              </a:tabLst>
            </a:pPr>
            <a:r>
              <a:rPr sz="2600" dirty="0">
                <a:solidFill>
                  <a:srgbClr val="0E1C3D"/>
                </a:solidFill>
                <a:latin typeface="Arial"/>
                <a:cs typeface="Arial"/>
              </a:rPr>
              <a:t>Rolling</a:t>
            </a:r>
            <a:r>
              <a:rPr sz="2600" spc="15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600" spc="80" dirty="0">
                <a:solidFill>
                  <a:srgbClr val="975736"/>
                </a:solidFill>
                <a:latin typeface="Arial"/>
                <a:cs typeface="Arial"/>
              </a:rPr>
              <a:t>Max</a:t>
            </a:r>
            <a:r>
              <a:rPr sz="2600" spc="125" dirty="0">
                <a:solidFill>
                  <a:srgbClr val="975736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975736"/>
                </a:solidFill>
                <a:latin typeface="Arial"/>
                <a:cs typeface="Arial"/>
              </a:rPr>
              <a:t>Absolute</a:t>
            </a:r>
            <a:r>
              <a:rPr sz="2600" spc="155" dirty="0">
                <a:solidFill>
                  <a:srgbClr val="975736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srgbClr val="975736"/>
                </a:solidFill>
                <a:latin typeface="Arial"/>
                <a:cs typeface="Arial"/>
              </a:rPr>
              <a:t>Return</a:t>
            </a:r>
            <a:endParaRPr sz="2600">
              <a:latin typeface="Arial"/>
              <a:cs typeface="Arial"/>
            </a:endParaRPr>
          </a:p>
          <a:p>
            <a:pPr marL="1180465" indent="-226695">
              <a:lnSpc>
                <a:spcPct val="100000"/>
              </a:lnSpc>
              <a:spcBef>
                <a:spcPts val="300"/>
              </a:spcBef>
              <a:buClr>
                <a:srgbClr val="0E1C3D"/>
              </a:buClr>
              <a:buChar char="-"/>
              <a:tabLst>
                <a:tab pos="1180465" algn="l"/>
              </a:tabLst>
            </a:pPr>
            <a:r>
              <a:rPr sz="2600" spc="85" dirty="0">
                <a:solidFill>
                  <a:srgbClr val="975736"/>
                </a:solidFill>
                <a:latin typeface="Arial"/>
                <a:cs typeface="Arial"/>
              </a:rPr>
              <a:t>Drawdown</a:t>
            </a:r>
            <a:r>
              <a:rPr sz="2600" spc="160" dirty="0">
                <a:solidFill>
                  <a:srgbClr val="975736"/>
                </a:solidFill>
                <a:latin typeface="Arial"/>
                <a:cs typeface="Arial"/>
              </a:rPr>
              <a:t> </a:t>
            </a:r>
            <a:r>
              <a:rPr sz="2600" spc="100" dirty="0">
                <a:solidFill>
                  <a:srgbClr val="0E1C3D"/>
                </a:solidFill>
                <a:latin typeface="Arial"/>
                <a:cs typeface="Arial"/>
              </a:rPr>
              <a:t>from</a:t>
            </a:r>
            <a:r>
              <a:rPr sz="2600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600" spc="-20" dirty="0">
                <a:solidFill>
                  <a:srgbClr val="0E1C3D"/>
                </a:solidFill>
                <a:latin typeface="Arial"/>
                <a:cs typeface="Arial"/>
              </a:rPr>
              <a:t>Peak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  <a:tabLst>
                <a:tab pos="957580" algn="l"/>
                <a:tab pos="1181100" algn="l"/>
              </a:tabLst>
            </a:pPr>
            <a:r>
              <a:rPr sz="1600" spc="180" dirty="0">
                <a:solidFill>
                  <a:srgbClr val="0E1C3D"/>
                </a:solidFill>
                <a:latin typeface="Arial"/>
                <a:cs typeface="Arial"/>
              </a:rPr>
              <a:t>1-</a:t>
            </a:r>
            <a:r>
              <a:rPr sz="1600" spc="125" dirty="0">
                <a:solidFill>
                  <a:srgbClr val="0E1C3D"/>
                </a:solidFill>
                <a:latin typeface="Arial"/>
                <a:cs typeface="Arial"/>
              </a:rPr>
              <a:t>-</a:t>
            </a:r>
            <a:r>
              <a:rPr sz="1600" spc="165" dirty="0">
                <a:solidFill>
                  <a:srgbClr val="0E1C3D"/>
                </a:solidFill>
                <a:latin typeface="Arial"/>
                <a:cs typeface="Arial"/>
              </a:rPr>
              <a:t>3J&gt;I</a:t>
            </a:r>
            <a:r>
              <a:rPr sz="1600" dirty="0">
                <a:solidFill>
                  <a:srgbClr val="0E1C3D"/>
                </a:solidFill>
                <a:latin typeface="Arial"/>
                <a:cs typeface="Arial"/>
              </a:rPr>
              <a:t>	</a:t>
            </a:r>
            <a:r>
              <a:rPr sz="1600" spc="80" dirty="0">
                <a:solidFill>
                  <a:srgbClr val="0E1C3D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E1C3D"/>
                </a:solidFill>
                <a:latin typeface="Arial"/>
                <a:cs typeface="Arial"/>
              </a:rPr>
              <a:t>	</a:t>
            </a:r>
            <a:r>
              <a:rPr sz="2600" spc="110" dirty="0">
                <a:solidFill>
                  <a:srgbClr val="975736"/>
                </a:solidFill>
                <a:latin typeface="Arial"/>
                <a:cs typeface="Arial"/>
              </a:rPr>
              <a:t>MA</a:t>
            </a:r>
            <a:r>
              <a:rPr sz="2600" dirty="0">
                <a:solidFill>
                  <a:srgbClr val="975736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srgbClr val="975736"/>
                </a:solidFill>
                <a:latin typeface="Arial"/>
                <a:cs typeface="Arial"/>
              </a:rPr>
              <a:t>Deviations</a:t>
            </a:r>
            <a:r>
              <a:rPr sz="2600" spc="260" dirty="0">
                <a:solidFill>
                  <a:srgbClr val="975736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E1C3D"/>
                </a:solidFill>
                <a:latin typeface="Arial"/>
                <a:cs typeface="Arial"/>
              </a:rPr>
              <a:t>(Z-</a:t>
            </a:r>
            <a:r>
              <a:rPr sz="2600" spc="35" dirty="0">
                <a:solidFill>
                  <a:srgbClr val="0E1C3D"/>
                </a:solidFill>
                <a:latin typeface="Arial"/>
                <a:cs typeface="Arial"/>
              </a:rPr>
              <a:t>scores)</a:t>
            </a:r>
            <a:endParaRPr sz="2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47307" y="6116275"/>
            <a:ext cx="2880360" cy="466725"/>
          </a:xfrm>
          <a:prstGeom prst="rect">
            <a:avLst/>
          </a:prstGeom>
          <a:solidFill>
            <a:srgbClr val="081D49"/>
          </a:solidFill>
        </p:spPr>
        <p:txBody>
          <a:bodyPr vert="horz" wrap="square" lIns="0" tIns="19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r>
              <a:rPr sz="2550" b="1" dirty="0">
                <a:solidFill>
                  <a:srgbClr val="F6FBFD"/>
                </a:solidFill>
                <a:latin typeface="Arial"/>
                <a:cs typeface="Arial"/>
              </a:rPr>
              <a:t>Volume</a:t>
            </a:r>
            <a:r>
              <a:rPr sz="2550" b="1" spc="60" dirty="0">
                <a:solidFill>
                  <a:srgbClr val="F6FBFD"/>
                </a:solidFill>
                <a:latin typeface="Arial"/>
                <a:cs typeface="Arial"/>
              </a:rPr>
              <a:t> </a:t>
            </a:r>
            <a:r>
              <a:rPr sz="2550" b="1" spc="45" dirty="0">
                <a:solidFill>
                  <a:srgbClr val="F6FBFD"/>
                </a:solidFill>
                <a:latin typeface="Arial"/>
                <a:cs typeface="Arial"/>
              </a:rPr>
              <a:t>Dynamics</a:t>
            </a:r>
            <a:endParaRPr sz="25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03031" y="6807238"/>
            <a:ext cx="6960870" cy="13277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401955" indent="-227965">
              <a:lnSpc>
                <a:spcPct val="100000"/>
              </a:lnSpc>
              <a:spcBef>
                <a:spcPts val="395"/>
              </a:spcBef>
              <a:buClr>
                <a:srgbClr val="0E1C3D"/>
              </a:buClr>
              <a:buChar char="-"/>
              <a:tabLst>
                <a:tab pos="401955" algn="l"/>
              </a:tabLst>
            </a:pPr>
            <a:r>
              <a:rPr sz="2600" spc="125" dirty="0">
                <a:solidFill>
                  <a:srgbClr val="975736"/>
                </a:solidFill>
                <a:latin typeface="Arial"/>
                <a:cs typeface="Arial"/>
              </a:rPr>
              <a:t>Log</a:t>
            </a:r>
            <a:r>
              <a:rPr sz="2600" spc="-25" dirty="0">
                <a:solidFill>
                  <a:srgbClr val="975736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975736"/>
                </a:solidFill>
                <a:latin typeface="Arial"/>
                <a:cs typeface="Arial"/>
              </a:rPr>
              <a:t>Volume</a:t>
            </a:r>
            <a:r>
              <a:rPr sz="2600" spc="95" dirty="0">
                <a:solidFill>
                  <a:srgbClr val="975736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srgbClr val="0E1C3D"/>
                </a:solidFill>
                <a:latin typeface="Arial"/>
                <a:cs typeface="Arial"/>
              </a:rPr>
              <a:t>(Stabi</a:t>
            </a:r>
            <a:r>
              <a:rPr sz="2600" spc="60" dirty="0">
                <a:solidFill>
                  <a:srgbClr val="010823"/>
                </a:solidFill>
                <a:latin typeface="Arial"/>
                <a:cs typeface="Arial"/>
              </a:rPr>
              <a:t>li</a:t>
            </a:r>
            <a:r>
              <a:rPr sz="2600" spc="60" dirty="0">
                <a:solidFill>
                  <a:srgbClr val="0E1C3D"/>
                </a:solidFill>
                <a:latin typeface="Arial"/>
                <a:cs typeface="Arial"/>
              </a:rPr>
              <a:t>zing</a:t>
            </a:r>
            <a:r>
              <a:rPr sz="2600" spc="140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E1C3D"/>
                </a:solidFill>
                <a:latin typeface="Arial"/>
                <a:cs typeface="Arial"/>
              </a:rPr>
              <a:t>scale)</a:t>
            </a:r>
            <a:endParaRPr sz="2600">
              <a:latin typeface="Arial"/>
              <a:cs typeface="Arial"/>
            </a:endParaRPr>
          </a:p>
          <a:p>
            <a:pPr marL="400685" indent="-226695">
              <a:lnSpc>
                <a:spcPct val="100000"/>
              </a:lnSpc>
              <a:spcBef>
                <a:spcPts val="295"/>
              </a:spcBef>
              <a:buClr>
                <a:srgbClr val="0E1C3D"/>
              </a:buClr>
              <a:buChar char="-"/>
              <a:tabLst>
                <a:tab pos="400685" algn="l"/>
              </a:tabLst>
            </a:pPr>
            <a:r>
              <a:rPr sz="2600" dirty="0">
                <a:solidFill>
                  <a:srgbClr val="975736"/>
                </a:solidFill>
                <a:latin typeface="Arial"/>
                <a:cs typeface="Arial"/>
              </a:rPr>
              <a:t>Dollar</a:t>
            </a:r>
            <a:r>
              <a:rPr sz="2600" spc="245" dirty="0">
                <a:solidFill>
                  <a:srgbClr val="975736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975736"/>
                </a:solidFill>
                <a:latin typeface="Arial"/>
                <a:cs typeface="Arial"/>
              </a:rPr>
              <a:t>Volume</a:t>
            </a:r>
            <a:r>
              <a:rPr sz="2600" spc="290" dirty="0">
                <a:solidFill>
                  <a:srgbClr val="975736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0E1C3D"/>
                </a:solidFill>
                <a:latin typeface="Arial"/>
                <a:cs typeface="Arial"/>
              </a:rPr>
              <a:t>(</a:t>
            </a:r>
            <a:r>
              <a:rPr sz="2600" spc="70" dirty="0">
                <a:solidFill>
                  <a:srgbClr val="010823"/>
                </a:solidFill>
                <a:latin typeface="Arial"/>
                <a:cs typeface="Arial"/>
              </a:rPr>
              <a:t>L</a:t>
            </a:r>
            <a:r>
              <a:rPr sz="2600" spc="70" dirty="0">
                <a:solidFill>
                  <a:srgbClr val="0E1C3D"/>
                </a:solidFill>
                <a:latin typeface="Arial"/>
                <a:cs typeface="Arial"/>
              </a:rPr>
              <a:t>iquidity</a:t>
            </a:r>
            <a:r>
              <a:rPr sz="2600" spc="160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srgbClr val="0E1C3D"/>
                </a:solidFill>
                <a:latin typeface="Arial"/>
                <a:cs typeface="Arial"/>
              </a:rPr>
              <a:t>proxy)</a:t>
            </a:r>
            <a:endParaRPr sz="2600">
              <a:latin typeface="Arial"/>
              <a:cs typeface="Arial"/>
            </a:endParaRPr>
          </a:p>
          <a:p>
            <a:pPr marL="400050" indent="-226060">
              <a:lnSpc>
                <a:spcPct val="100000"/>
              </a:lnSpc>
              <a:spcBef>
                <a:spcPts val="300"/>
              </a:spcBef>
              <a:buClr>
                <a:srgbClr val="010823"/>
              </a:buClr>
              <a:buChar char="-"/>
              <a:tabLst>
                <a:tab pos="400050" algn="l"/>
              </a:tabLst>
            </a:pPr>
            <a:r>
              <a:rPr sz="2600" dirty="0">
                <a:solidFill>
                  <a:srgbClr val="975736"/>
                </a:solidFill>
                <a:latin typeface="Arial"/>
                <a:cs typeface="Arial"/>
              </a:rPr>
              <a:t>Relative</a:t>
            </a:r>
            <a:r>
              <a:rPr sz="2600" spc="260" dirty="0">
                <a:solidFill>
                  <a:srgbClr val="975736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975736"/>
                </a:solidFill>
                <a:latin typeface="Arial"/>
                <a:cs typeface="Arial"/>
              </a:rPr>
              <a:t>Volume</a:t>
            </a:r>
            <a:r>
              <a:rPr sz="2600" spc="320" dirty="0">
                <a:solidFill>
                  <a:srgbClr val="975736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E1C3D"/>
                </a:solidFill>
                <a:latin typeface="Arial"/>
                <a:cs typeface="Arial"/>
              </a:rPr>
              <a:t>(Shock</a:t>
            </a:r>
            <a:r>
              <a:rPr sz="2600" spc="409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srgbClr val="0E1C3D"/>
                </a:solidFill>
                <a:latin typeface="Arial"/>
                <a:cs typeface="Arial"/>
              </a:rPr>
              <a:t>detection)</a:t>
            </a:r>
            <a:endParaRPr sz="2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380133" y="4800401"/>
            <a:ext cx="3369310" cy="2466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600" spc="70" dirty="0">
                <a:solidFill>
                  <a:srgbClr val="0E1C3D"/>
                </a:solidFill>
                <a:latin typeface="Arial"/>
                <a:cs typeface="Arial"/>
              </a:rPr>
              <a:t>Fit</a:t>
            </a:r>
            <a:r>
              <a:rPr sz="2600" spc="110" dirty="0">
                <a:solidFill>
                  <a:srgbClr val="0E1C3D"/>
                </a:solidFill>
                <a:latin typeface="Arial"/>
                <a:cs typeface="Arial"/>
              </a:rPr>
              <a:t> on</a:t>
            </a:r>
            <a:r>
              <a:rPr sz="2600" spc="100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E1C3D"/>
                </a:solidFill>
                <a:latin typeface="Arial"/>
                <a:cs typeface="Arial"/>
              </a:rPr>
              <a:t>Training</a:t>
            </a:r>
            <a:r>
              <a:rPr sz="2600" spc="65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0E1C3D"/>
                </a:solidFill>
                <a:latin typeface="Arial"/>
                <a:cs typeface="Arial"/>
              </a:rPr>
              <a:t>Set</a:t>
            </a:r>
            <a:endParaRPr sz="2600">
              <a:latin typeface="Arial"/>
              <a:cs typeface="Arial"/>
            </a:endParaRPr>
          </a:p>
          <a:p>
            <a:pPr marL="15240" algn="ctr">
              <a:lnSpc>
                <a:spcPct val="100000"/>
              </a:lnSpc>
              <a:spcBef>
                <a:spcPts val="150"/>
              </a:spcBef>
            </a:pPr>
            <a:r>
              <a:rPr sz="2750" b="1" spc="-155" dirty="0">
                <a:solidFill>
                  <a:srgbClr val="0E1C3D"/>
                </a:solidFill>
                <a:latin typeface="Arial"/>
                <a:cs typeface="Arial"/>
              </a:rPr>
              <a:t>ONLY</a:t>
            </a:r>
            <a:r>
              <a:rPr sz="2750" b="1" spc="-15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750" b="1" spc="-10" dirty="0">
                <a:solidFill>
                  <a:srgbClr val="0E1C3D"/>
                </a:solidFill>
                <a:latin typeface="Arial"/>
                <a:cs typeface="Arial"/>
              </a:rPr>
              <a:t>(Mean</a:t>
            </a:r>
            <a:r>
              <a:rPr sz="2750" b="1" spc="-10" dirty="0">
                <a:solidFill>
                  <a:srgbClr val="2D364B"/>
                </a:solidFill>
                <a:latin typeface="Arial"/>
                <a:cs typeface="Arial"/>
              </a:rPr>
              <a:t>/</a:t>
            </a:r>
            <a:r>
              <a:rPr sz="2750" b="1" spc="-10" dirty="0">
                <a:solidFill>
                  <a:srgbClr val="0E1C3D"/>
                </a:solidFill>
                <a:latin typeface="Arial"/>
                <a:cs typeface="Arial"/>
              </a:rPr>
              <a:t>Std)</a:t>
            </a:r>
            <a:endParaRPr sz="2750">
              <a:latin typeface="Arial"/>
              <a:cs typeface="Arial"/>
            </a:endParaRPr>
          </a:p>
          <a:p>
            <a:pPr marL="45085" algn="ctr">
              <a:lnSpc>
                <a:spcPct val="100000"/>
              </a:lnSpc>
              <a:spcBef>
                <a:spcPts val="1475"/>
              </a:spcBef>
            </a:pPr>
            <a:r>
              <a:rPr sz="2600" spc="50" dirty="0">
                <a:solidFill>
                  <a:srgbClr val="0E1C3D"/>
                </a:solidFill>
                <a:latin typeface="Arial"/>
                <a:cs typeface="Arial"/>
              </a:rPr>
              <a:t>Apply</a:t>
            </a:r>
            <a:r>
              <a:rPr sz="2600" spc="135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E1C3D"/>
                </a:solidFill>
                <a:latin typeface="Arial"/>
                <a:cs typeface="Arial"/>
              </a:rPr>
              <a:t>to</a:t>
            </a:r>
            <a:r>
              <a:rPr sz="2600" spc="285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E1C3D"/>
                </a:solidFill>
                <a:latin typeface="Arial"/>
                <a:cs typeface="Arial"/>
              </a:rPr>
              <a:t>Test</a:t>
            </a:r>
            <a:r>
              <a:rPr sz="2600" spc="75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0E1C3D"/>
                </a:solidFill>
                <a:latin typeface="Arial"/>
                <a:cs typeface="Arial"/>
              </a:rPr>
              <a:t>Set</a:t>
            </a:r>
            <a:r>
              <a:rPr sz="2600" spc="70" dirty="0">
                <a:solidFill>
                  <a:srgbClr val="2D364B"/>
                </a:solidFill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 marL="591820" marR="590550" algn="ctr">
              <a:lnSpc>
                <a:spcPct val="109500"/>
              </a:lnSpc>
              <a:spcBef>
                <a:spcPts val="1205"/>
              </a:spcBef>
            </a:pPr>
            <a:r>
              <a:rPr sz="2600" spc="50" dirty="0">
                <a:solidFill>
                  <a:srgbClr val="0E1C3D"/>
                </a:solidFill>
                <a:latin typeface="Arial"/>
                <a:cs typeface="Arial"/>
              </a:rPr>
              <a:t>Prevents</a:t>
            </a:r>
            <a:r>
              <a:rPr sz="2600" spc="114" dirty="0">
                <a:solidFill>
                  <a:srgbClr val="0E1C3D"/>
                </a:solidFill>
                <a:latin typeface="Arial"/>
                <a:cs typeface="Arial"/>
              </a:rPr>
              <a:t> </a:t>
            </a:r>
            <a:r>
              <a:rPr sz="2600" spc="-20" dirty="0">
                <a:solidFill>
                  <a:srgbClr val="0E1C3D"/>
                </a:solidFill>
                <a:latin typeface="Arial"/>
                <a:cs typeface="Arial"/>
              </a:rPr>
              <a:t>Data </a:t>
            </a:r>
            <a:r>
              <a:rPr sz="2600" spc="45" dirty="0">
                <a:solidFill>
                  <a:srgbClr val="010823"/>
                </a:solidFill>
                <a:latin typeface="Arial"/>
                <a:cs typeface="Arial"/>
              </a:rPr>
              <a:t>L</a:t>
            </a:r>
            <a:r>
              <a:rPr sz="2600" spc="45" dirty="0">
                <a:solidFill>
                  <a:srgbClr val="0E1C3D"/>
                </a:solidFill>
                <a:latin typeface="Arial"/>
                <a:cs typeface="Arial"/>
              </a:rPr>
              <a:t>eakage.</a:t>
            </a:r>
            <a:endParaRPr sz="2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7248" y="8681309"/>
            <a:ext cx="1323594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dirty="0">
                <a:solidFill>
                  <a:srgbClr val="465267"/>
                </a:solidFill>
                <a:latin typeface="Arial"/>
                <a:cs typeface="Arial"/>
              </a:rPr>
              <a:t>Rationale:</a:t>
            </a:r>
            <a:r>
              <a:rPr sz="2600" spc="130" dirty="0">
                <a:solidFill>
                  <a:srgbClr val="465267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465267"/>
                </a:solidFill>
                <a:latin typeface="Arial"/>
                <a:cs typeface="Arial"/>
              </a:rPr>
              <a:t>Volume</a:t>
            </a:r>
            <a:r>
              <a:rPr sz="2600" spc="170" dirty="0">
                <a:solidFill>
                  <a:srgbClr val="465267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465267"/>
                </a:solidFill>
                <a:latin typeface="Arial"/>
                <a:cs typeface="Arial"/>
              </a:rPr>
              <a:t>shocks</a:t>
            </a:r>
            <a:r>
              <a:rPr sz="2600" spc="100" dirty="0">
                <a:solidFill>
                  <a:srgbClr val="465267"/>
                </a:solidFill>
                <a:latin typeface="Arial"/>
                <a:cs typeface="Arial"/>
              </a:rPr>
              <a:t> often</a:t>
            </a:r>
            <a:r>
              <a:rPr sz="2600" spc="-5" dirty="0">
                <a:solidFill>
                  <a:srgbClr val="465267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srgbClr val="465267"/>
                </a:solidFill>
                <a:latin typeface="Arial"/>
                <a:cs typeface="Arial"/>
              </a:rPr>
              <a:t>reflect</a:t>
            </a:r>
            <a:r>
              <a:rPr sz="2600" spc="105" dirty="0">
                <a:solidFill>
                  <a:srgbClr val="465267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srgbClr val="465267"/>
                </a:solidFill>
                <a:latin typeface="Arial"/>
                <a:cs typeface="Arial"/>
              </a:rPr>
              <a:t>information</a:t>
            </a:r>
            <a:r>
              <a:rPr sz="2600" spc="125" dirty="0">
                <a:solidFill>
                  <a:srgbClr val="465267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465267"/>
                </a:solidFill>
                <a:latin typeface="Arial"/>
                <a:cs typeface="Arial"/>
              </a:rPr>
              <a:t>arrival</a:t>
            </a:r>
            <a:r>
              <a:rPr sz="2600" spc="30" dirty="0">
                <a:solidFill>
                  <a:srgbClr val="465267"/>
                </a:solidFill>
                <a:latin typeface="Arial"/>
                <a:cs typeface="Arial"/>
              </a:rPr>
              <a:t> </a:t>
            </a:r>
            <a:r>
              <a:rPr sz="2600" spc="90" dirty="0">
                <a:solidFill>
                  <a:srgbClr val="465267"/>
                </a:solidFill>
                <a:latin typeface="Arial"/>
                <a:cs typeface="Arial"/>
              </a:rPr>
              <a:t>that</a:t>
            </a:r>
            <a:r>
              <a:rPr sz="2600" spc="50" dirty="0">
                <a:solidFill>
                  <a:srgbClr val="465267"/>
                </a:solidFill>
                <a:latin typeface="Arial"/>
                <a:cs typeface="Arial"/>
              </a:rPr>
              <a:t> precedes</a:t>
            </a:r>
            <a:r>
              <a:rPr sz="2600" spc="120" dirty="0">
                <a:solidFill>
                  <a:srgbClr val="465267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srgbClr val="465267"/>
                </a:solidFill>
                <a:latin typeface="Arial"/>
                <a:cs typeface="Arial"/>
              </a:rPr>
              <a:t>price</a:t>
            </a:r>
            <a:r>
              <a:rPr sz="2600" spc="-5" dirty="0">
                <a:solidFill>
                  <a:srgbClr val="465267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465267"/>
                </a:solidFill>
                <a:latin typeface="Arial"/>
                <a:cs typeface="Arial"/>
              </a:rPr>
              <a:t>volatility.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9FDC6AB-D2FC-343D-C3D5-DFF7276EFA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365" y="3276600"/>
            <a:ext cx="16574635" cy="53530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110" y="2144976"/>
            <a:ext cx="4992871" cy="7915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89307" y="4468414"/>
            <a:ext cx="2496436" cy="17617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40703" y="4213092"/>
            <a:ext cx="2420014" cy="227237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91584" y="2962009"/>
            <a:ext cx="0" cy="2936240"/>
          </a:xfrm>
          <a:custGeom>
            <a:avLst/>
            <a:gdLst/>
            <a:ahLst/>
            <a:cxnLst/>
            <a:rect l="l" t="t" r="r" b="b"/>
            <a:pathLst>
              <a:path h="2936240">
                <a:moveTo>
                  <a:pt x="0" y="293621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27519" y="3983301"/>
            <a:ext cx="0" cy="485140"/>
          </a:xfrm>
          <a:custGeom>
            <a:avLst/>
            <a:gdLst/>
            <a:ahLst/>
            <a:cxnLst/>
            <a:rect l="l" t="t" r="r" b="b"/>
            <a:pathLst>
              <a:path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221225" y="2962009"/>
            <a:ext cx="0" cy="5923915"/>
          </a:xfrm>
          <a:custGeom>
            <a:avLst/>
            <a:gdLst/>
            <a:ahLst/>
            <a:cxnLst/>
            <a:rect l="l" t="t" r="r" b="b"/>
            <a:pathLst>
              <a:path h="5923915">
                <a:moveTo>
                  <a:pt x="0" y="592348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667018" y="8476982"/>
            <a:ext cx="0" cy="408940"/>
          </a:xfrm>
          <a:custGeom>
            <a:avLst/>
            <a:gdLst/>
            <a:ahLst/>
            <a:cxnLst/>
            <a:rect l="l" t="t" r="r" b="b"/>
            <a:pathLst>
              <a:path h="408940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67018" y="2962009"/>
            <a:ext cx="0" cy="3702685"/>
          </a:xfrm>
          <a:custGeom>
            <a:avLst/>
            <a:gdLst/>
            <a:ahLst/>
            <a:cxnLst/>
            <a:rect l="l" t="t" r="r" b="b"/>
            <a:pathLst>
              <a:path h="3702684">
                <a:moveTo>
                  <a:pt x="0" y="370218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14782" y="6447166"/>
            <a:ext cx="2496820" cy="0"/>
          </a:xfrm>
          <a:custGeom>
            <a:avLst/>
            <a:gdLst/>
            <a:ahLst/>
            <a:cxnLst/>
            <a:rect l="l" t="t" r="r" b="b"/>
            <a:pathLst>
              <a:path w="2496820">
                <a:moveTo>
                  <a:pt x="0" y="0"/>
                </a:moveTo>
                <a:lnTo>
                  <a:pt x="2496436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9076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20"/>
              </a:spcBef>
            </a:pPr>
            <a:r>
              <a:rPr sz="4500" spc="114" dirty="0">
                <a:solidFill>
                  <a:srgbClr val="0C1F3B"/>
                </a:solidFill>
              </a:rPr>
              <a:t>Modeling</a:t>
            </a:r>
            <a:r>
              <a:rPr sz="4500" spc="-75" dirty="0">
                <a:solidFill>
                  <a:srgbClr val="0C1F3B"/>
                </a:solidFill>
              </a:rPr>
              <a:t> </a:t>
            </a:r>
            <a:r>
              <a:rPr sz="4500" spc="85" dirty="0">
                <a:solidFill>
                  <a:srgbClr val="0C1F3B"/>
                </a:solidFill>
              </a:rPr>
              <a:t>Strategy:</a:t>
            </a:r>
            <a:r>
              <a:rPr sz="4500" spc="-190" dirty="0">
                <a:solidFill>
                  <a:srgbClr val="0C1F3B"/>
                </a:solidFill>
              </a:rPr>
              <a:t> </a:t>
            </a:r>
            <a:r>
              <a:rPr sz="4500" spc="50" dirty="0">
                <a:solidFill>
                  <a:srgbClr val="0C1F3B"/>
                </a:solidFill>
              </a:rPr>
              <a:t>From</a:t>
            </a:r>
            <a:r>
              <a:rPr sz="4500" spc="-305" dirty="0">
                <a:solidFill>
                  <a:srgbClr val="0C1F3B"/>
                </a:solidFill>
              </a:rPr>
              <a:t> </a:t>
            </a:r>
            <a:r>
              <a:rPr sz="4500" spc="80" dirty="0">
                <a:solidFill>
                  <a:srgbClr val="0C1F3B"/>
                </a:solidFill>
              </a:rPr>
              <a:t>Heuristics</a:t>
            </a:r>
            <a:r>
              <a:rPr sz="4500" spc="-90" dirty="0">
                <a:solidFill>
                  <a:srgbClr val="0C1F3B"/>
                </a:solidFill>
              </a:rPr>
              <a:t> </a:t>
            </a:r>
            <a:r>
              <a:rPr sz="4500" spc="210" dirty="0">
                <a:solidFill>
                  <a:srgbClr val="0C1F3B"/>
                </a:solidFill>
              </a:rPr>
              <a:t>to</a:t>
            </a:r>
            <a:r>
              <a:rPr sz="4500" spc="-365" dirty="0">
                <a:solidFill>
                  <a:srgbClr val="0C1F3B"/>
                </a:solidFill>
              </a:rPr>
              <a:t> </a:t>
            </a:r>
            <a:r>
              <a:rPr sz="4500" spc="85" dirty="0">
                <a:solidFill>
                  <a:srgbClr val="0C1F3B"/>
                </a:solidFill>
              </a:rPr>
              <a:t>Neural</a:t>
            </a:r>
            <a:r>
              <a:rPr sz="4500" spc="-280" dirty="0">
                <a:solidFill>
                  <a:srgbClr val="0C1F3B"/>
                </a:solidFill>
              </a:rPr>
              <a:t> </a:t>
            </a:r>
            <a:r>
              <a:rPr sz="4500" spc="135" dirty="0">
                <a:solidFill>
                  <a:srgbClr val="0C1F3B"/>
                </a:solidFill>
              </a:rPr>
              <a:t>Networks</a:t>
            </a:r>
            <a:endParaRPr sz="4500"/>
          </a:p>
        </p:txBody>
      </p:sp>
      <p:sp>
        <p:nvSpPr>
          <p:cNvPr id="12" name="object 12"/>
          <p:cNvSpPr txBox="1"/>
          <p:nvPr/>
        </p:nvSpPr>
        <p:spPr>
          <a:xfrm>
            <a:off x="1437989" y="3083354"/>
            <a:ext cx="3847465" cy="7429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28775" marR="5080" indent="-1616710">
              <a:lnSpc>
                <a:spcPct val="100000"/>
              </a:lnSpc>
              <a:spcBef>
                <a:spcPts val="110"/>
              </a:spcBef>
            </a:pPr>
            <a:r>
              <a:rPr sz="2350" spc="-30" dirty="0">
                <a:solidFill>
                  <a:srgbClr val="262626"/>
                </a:solidFill>
                <a:latin typeface="Arial"/>
                <a:cs typeface="Arial"/>
              </a:rPr>
              <a:t>Volatility</a:t>
            </a:r>
            <a:r>
              <a:rPr sz="2350" spc="-8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55" dirty="0">
                <a:solidFill>
                  <a:srgbClr val="262626"/>
                </a:solidFill>
                <a:latin typeface="Arial"/>
                <a:cs typeface="Arial"/>
              </a:rPr>
              <a:t>Persistence</a:t>
            </a:r>
            <a:r>
              <a:rPr sz="2350" spc="-8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50" dirty="0">
                <a:solidFill>
                  <a:srgbClr val="262626"/>
                </a:solidFill>
                <a:latin typeface="Arial"/>
                <a:cs typeface="Arial"/>
              </a:rPr>
              <a:t>Heuristic </a:t>
            </a:r>
            <a:r>
              <a:rPr sz="2350" spc="-10" dirty="0">
                <a:solidFill>
                  <a:srgbClr val="262626"/>
                </a:solidFill>
                <a:latin typeface="Arial"/>
                <a:cs typeface="Arial"/>
              </a:rPr>
              <a:t>Inter</a:t>
            </a:r>
            <a:endParaRPr sz="23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47830" y="5198555"/>
            <a:ext cx="1136650" cy="0"/>
          </a:xfrm>
          <a:custGeom>
            <a:avLst/>
            <a:gdLst/>
            <a:ahLst/>
            <a:cxnLst/>
            <a:rect l="l" t="t" r="r" b="b"/>
            <a:pathLst>
              <a:path w="1136650">
                <a:moveTo>
                  <a:pt x="0" y="0"/>
                </a:moveTo>
                <a:lnTo>
                  <a:pt x="1136617" y="0"/>
                </a:lnTo>
              </a:path>
            </a:pathLst>
          </a:custGeom>
          <a:ln w="60646">
            <a:solidFill>
              <a:srgbClr val="0B1E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4850" y="5093955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4">
                <a:moveTo>
                  <a:pt x="0" y="0"/>
                </a:moveTo>
                <a:lnTo>
                  <a:pt x="509476" y="0"/>
                </a:lnTo>
              </a:path>
            </a:pathLst>
          </a:custGeom>
          <a:ln w="12766">
            <a:solidFill>
              <a:srgbClr val="0C1F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52149" y="4398268"/>
            <a:ext cx="290830" cy="8451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350" b="1" i="1" spc="-50" dirty="0">
                <a:solidFill>
                  <a:srgbClr val="0C1F3B"/>
                </a:solidFill>
                <a:latin typeface="Arial"/>
                <a:cs typeface="Arial"/>
              </a:rPr>
              <a:t>r</a:t>
            </a:r>
            <a:endParaRPr sz="5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99135" y="6198294"/>
            <a:ext cx="4142740" cy="10750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765"/>
              </a:lnSpc>
              <a:spcBef>
                <a:spcPts val="110"/>
              </a:spcBef>
            </a:pPr>
            <a:r>
              <a:rPr sz="2350" spc="-135" dirty="0">
                <a:solidFill>
                  <a:srgbClr val="262626"/>
                </a:solidFill>
                <a:latin typeface="Arial"/>
                <a:cs typeface="Arial"/>
              </a:rPr>
              <a:t>Rule-</a:t>
            </a:r>
            <a:r>
              <a:rPr sz="2350" spc="-150" dirty="0">
                <a:solidFill>
                  <a:srgbClr val="262626"/>
                </a:solidFill>
                <a:latin typeface="Arial"/>
                <a:cs typeface="Arial"/>
              </a:rPr>
              <a:t>based</a:t>
            </a:r>
            <a:r>
              <a:rPr sz="2350" spc="1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25" dirty="0">
                <a:solidFill>
                  <a:srgbClr val="262626"/>
                </a:solidFill>
                <a:latin typeface="Arial"/>
                <a:cs typeface="Arial"/>
              </a:rPr>
              <a:t>model</a:t>
            </a:r>
            <a:r>
              <a:rPr sz="2350" spc="-14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62626"/>
                </a:solidFill>
                <a:latin typeface="Arial"/>
                <a:cs typeface="Arial"/>
              </a:rPr>
              <a:t>assuming</a:t>
            </a:r>
            <a:endParaRPr sz="2350">
              <a:latin typeface="Arial"/>
              <a:cs typeface="Arial"/>
            </a:endParaRPr>
          </a:p>
          <a:p>
            <a:pPr marL="27305" marR="5080" indent="-11430">
              <a:lnSpc>
                <a:spcPts val="2710"/>
              </a:lnSpc>
              <a:spcBef>
                <a:spcPts val="130"/>
              </a:spcBef>
            </a:pPr>
            <a:r>
              <a:rPr sz="2350" spc="-80" dirty="0">
                <a:solidFill>
                  <a:srgbClr val="262626"/>
                </a:solidFill>
                <a:latin typeface="Arial"/>
                <a:cs typeface="Arial"/>
              </a:rPr>
              <a:t>next-</a:t>
            </a:r>
            <a:r>
              <a:rPr sz="2350" spc="-70" dirty="0">
                <a:solidFill>
                  <a:srgbClr val="262626"/>
                </a:solidFill>
                <a:latin typeface="Arial"/>
                <a:cs typeface="Arial"/>
              </a:rPr>
              <a:t>week</a:t>
            </a:r>
            <a:r>
              <a:rPr sz="2350" spc="-1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60" dirty="0">
                <a:solidFill>
                  <a:srgbClr val="A17456"/>
                </a:solidFill>
                <a:latin typeface="Arial"/>
                <a:cs typeface="Arial"/>
              </a:rPr>
              <a:t>volatility</a:t>
            </a:r>
            <a:r>
              <a:rPr sz="2350" spc="-100" dirty="0">
                <a:solidFill>
                  <a:srgbClr val="A17456"/>
                </a:solidFill>
                <a:latin typeface="Arial"/>
                <a:cs typeface="Arial"/>
              </a:rPr>
              <a:t> </a:t>
            </a:r>
            <a:r>
              <a:rPr sz="2350" spc="-130" dirty="0">
                <a:solidFill>
                  <a:srgbClr val="262626"/>
                </a:solidFill>
                <a:latin typeface="Arial"/>
                <a:cs typeface="Arial"/>
              </a:rPr>
              <a:t>equals</a:t>
            </a:r>
            <a:r>
              <a:rPr sz="2350" spc="-13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45" dirty="0">
                <a:solidFill>
                  <a:srgbClr val="262626"/>
                </a:solidFill>
                <a:latin typeface="Arial"/>
                <a:cs typeface="Arial"/>
              </a:rPr>
              <a:t>trailing </a:t>
            </a:r>
            <a:r>
              <a:rPr sz="2350" spc="-85" dirty="0">
                <a:solidFill>
                  <a:srgbClr val="262626"/>
                </a:solidFill>
                <a:latin typeface="Arial"/>
                <a:cs typeface="Arial"/>
              </a:rPr>
              <a:t>20-</a:t>
            </a:r>
            <a:r>
              <a:rPr sz="2350" spc="-95" dirty="0">
                <a:solidFill>
                  <a:srgbClr val="262626"/>
                </a:solidFill>
                <a:latin typeface="Arial"/>
                <a:cs typeface="Arial"/>
              </a:rPr>
              <a:t>day</a:t>
            </a:r>
            <a:r>
              <a:rPr sz="2350" spc="-3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62626"/>
                </a:solidFill>
                <a:latin typeface="Arial"/>
                <a:cs typeface="Arial"/>
              </a:rPr>
              <a:t>volatility.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01395" y="7583421"/>
            <a:ext cx="4060190" cy="1068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710"/>
              </a:lnSpc>
              <a:spcBef>
                <a:spcPts val="110"/>
              </a:spcBef>
            </a:pPr>
            <a:r>
              <a:rPr sz="2300" b="1" spc="-20" dirty="0">
                <a:solidFill>
                  <a:srgbClr val="0C1F3B"/>
                </a:solidFill>
                <a:latin typeface="Arial"/>
                <a:cs typeface="Arial"/>
              </a:rPr>
              <a:t>Role</a:t>
            </a:r>
            <a:endParaRPr sz="2300">
              <a:latin typeface="Arial"/>
              <a:cs typeface="Arial"/>
            </a:endParaRPr>
          </a:p>
          <a:p>
            <a:pPr marL="14604" marR="5080" indent="-635">
              <a:lnSpc>
                <a:spcPts val="2710"/>
              </a:lnSpc>
              <a:spcBef>
                <a:spcPts val="135"/>
              </a:spcBef>
            </a:pPr>
            <a:r>
              <a:rPr sz="2350" spc="-120" dirty="0">
                <a:solidFill>
                  <a:srgbClr val="262626"/>
                </a:solidFill>
                <a:latin typeface="Arial"/>
                <a:cs typeface="Arial"/>
              </a:rPr>
              <a:t>The</a:t>
            </a:r>
            <a:r>
              <a:rPr sz="2350" spc="-22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45" dirty="0">
                <a:solidFill>
                  <a:srgbClr val="262626"/>
                </a:solidFill>
                <a:latin typeface="Arial"/>
                <a:cs typeface="Arial"/>
              </a:rPr>
              <a:t>Benchmark.</a:t>
            </a:r>
            <a:r>
              <a:rPr sz="2350" spc="3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75" dirty="0">
                <a:solidFill>
                  <a:srgbClr val="262626"/>
                </a:solidFill>
                <a:latin typeface="Arial"/>
                <a:cs typeface="Arial"/>
              </a:rPr>
              <a:t>ML</a:t>
            </a:r>
            <a:r>
              <a:rPr sz="2350" spc="-19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14" dirty="0">
                <a:solidFill>
                  <a:srgbClr val="262626"/>
                </a:solidFill>
                <a:latin typeface="Arial"/>
                <a:cs typeface="Arial"/>
              </a:rPr>
              <a:t>models</a:t>
            </a:r>
            <a:r>
              <a:rPr sz="2350" spc="-10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40" dirty="0">
                <a:solidFill>
                  <a:srgbClr val="262626"/>
                </a:solidFill>
                <a:latin typeface="Arial"/>
                <a:cs typeface="Arial"/>
              </a:rPr>
              <a:t>must </a:t>
            </a:r>
            <a:r>
              <a:rPr sz="2350" spc="-100" dirty="0">
                <a:solidFill>
                  <a:srgbClr val="262626"/>
                </a:solidFill>
                <a:latin typeface="Arial"/>
                <a:cs typeface="Arial"/>
              </a:rPr>
              <a:t>beat</a:t>
            </a:r>
            <a:r>
              <a:rPr sz="2350" spc="-7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35" dirty="0">
                <a:solidFill>
                  <a:srgbClr val="262626"/>
                </a:solidFill>
                <a:latin typeface="Arial"/>
                <a:cs typeface="Arial"/>
              </a:rPr>
              <a:t>this</a:t>
            </a:r>
            <a:r>
              <a:rPr sz="2350" spc="-17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62626"/>
                </a:solidFill>
                <a:latin typeface="Arial"/>
                <a:cs typeface="Arial"/>
              </a:rPr>
              <a:t>to</a:t>
            </a:r>
            <a:r>
              <a:rPr sz="2350" spc="-25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262626"/>
                </a:solidFill>
                <a:latin typeface="Arial"/>
                <a:cs typeface="Arial"/>
              </a:rPr>
              <a:t>be</a:t>
            </a:r>
            <a:r>
              <a:rPr sz="2350" spc="-29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10" dirty="0">
                <a:solidFill>
                  <a:srgbClr val="262626"/>
                </a:solidFill>
                <a:latin typeface="Arial"/>
                <a:cs typeface="Arial"/>
              </a:rPr>
              <a:t>considered</a:t>
            </a:r>
            <a:r>
              <a:rPr sz="2350" spc="-5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55" dirty="0">
                <a:solidFill>
                  <a:srgbClr val="262626"/>
                </a:solidFill>
                <a:latin typeface="Arial"/>
                <a:cs typeface="Arial"/>
              </a:rPr>
              <a:t>useful.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572066" y="2243159"/>
            <a:ext cx="2320925" cy="594360"/>
          </a:xfrm>
          <a:custGeom>
            <a:avLst/>
            <a:gdLst/>
            <a:ahLst/>
            <a:cxnLst/>
            <a:rect l="l" t="t" r="r" b="b"/>
            <a:pathLst>
              <a:path w="2320925" h="594360">
                <a:moveTo>
                  <a:pt x="2320603" y="594189"/>
                </a:moveTo>
                <a:lnTo>
                  <a:pt x="0" y="594189"/>
                </a:lnTo>
                <a:lnTo>
                  <a:pt x="0" y="0"/>
                </a:lnTo>
                <a:lnTo>
                  <a:pt x="2320603" y="0"/>
                </a:lnTo>
                <a:lnTo>
                  <a:pt x="2320603" y="594189"/>
                </a:lnTo>
                <a:close/>
              </a:path>
            </a:pathLst>
          </a:custGeom>
          <a:solidFill>
            <a:srgbClr val="0C1F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559366" y="2253556"/>
            <a:ext cx="2385060" cy="523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50" b="1" spc="-170" dirty="0">
                <a:solidFill>
                  <a:srgbClr val="F6FBFD"/>
                </a:solidFill>
                <a:latin typeface="Arial"/>
                <a:cs typeface="Arial"/>
              </a:rPr>
              <a:t>Linear</a:t>
            </a:r>
            <a:r>
              <a:rPr sz="3250" b="1" spc="-50" dirty="0">
                <a:solidFill>
                  <a:srgbClr val="F6FBFD"/>
                </a:solidFill>
                <a:latin typeface="Arial"/>
                <a:cs typeface="Arial"/>
              </a:rPr>
              <a:t> </a:t>
            </a:r>
            <a:r>
              <a:rPr sz="3250" b="1" spc="-80" dirty="0">
                <a:solidFill>
                  <a:srgbClr val="F6FBFD"/>
                </a:solidFill>
                <a:latin typeface="Arial"/>
                <a:cs typeface="Arial"/>
              </a:rPr>
              <a:t>Model</a:t>
            </a:r>
            <a:endParaRPr sz="3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45614" y="3083354"/>
            <a:ext cx="3808729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95" dirty="0">
                <a:solidFill>
                  <a:srgbClr val="262626"/>
                </a:solidFill>
                <a:latin typeface="Arial"/>
                <a:cs typeface="Arial"/>
              </a:rPr>
              <a:t>TensorFlow</a:t>
            </a:r>
            <a:r>
              <a:rPr sz="2350" spc="-4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85" dirty="0">
                <a:solidFill>
                  <a:srgbClr val="262626"/>
                </a:solidFill>
                <a:latin typeface="Arial"/>
                <a:cs typeface="Arial"/>
              </a:rPr>
              <a:t>Linear</a:t>
            </a:r>
            <a:r>
              <a:rPr sz="2350" spc="-8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75" dirty="0">
                <a:solidFill>
                  <a:srgbClr val="262626"/>
                </a:solidFill>
                <a:latin typeface="Arial"/>
                <a:cs typeface="Arial"/>
              </a:rPr>
              <a:t>Regression</a:t>
            </a:r>
            <a:endParaRPr sz="2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61570" y="3874855"/>
            <a:ext cx="236854" cy="692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50" spc="85" dirty="0">
                <a:solidFill>
                  <a:srgbClr val="0C1F3B"/>
                </a:solidFill>
                <a:latin typeface="Arial"/>
                <a:cs typeface="Arial"/>
              </a:rPr>
              <a:t>•</a:t>
            </a:r>
            <a:endParaRPr sz="43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86851" y="6887666"/>
            <a:ext cx="4246880" cy="141986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6510" marR="5080" indent="-4445">
              <a:lnSpc>
                <a:spcPts val="2710"/>
              </a:lnSpc>
              <a:spcBef>
                <a:spcPts val="295"/>
              </a:spcBef>
            </a:pPr>
            <a:r>
              <a:rPr sz="2350" spc="-125" dirty="0">
                <a:solidFill>
                  <a:srgbClr val="262626"/>
                </a:solidFill>
                <a:latin typeface="Arial"/>
                <a:cs typeface="Arial"/>
              </a:rPr>
              <a:t>Establishes</a:t>
            </a:r>
            <a:r>
              <a:rPr sz="2350" spc="5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35" dirty="0">
                <a:solidFill>
                  <a:srgbClr val="262626"/>
                </a:solidFill>
                <a:latin typeface="Arial"/>
                <a:cs typeface="Arial"/>
              </a:rPr>
              <a:t>baseline</a:t>
            </a:r>
            <a:r>
              <a:rPr sz="2350" spc="-4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62626"/>
                </a:solidFill>
                <a:latin typeface="Arial"/>
                <a:cs typeface="Arial"/>
              </a:rPr>
              <a:t>feature </a:t>
            </a:r>
            <a:r>
              <a:rPr sz="2350" spc="-110" dirty="0">
                <a:solidFill>
                  <a:srgbClr val="262626"/>
                </a:solidFill>
                <a:latin typeface="Arial"/>
                <a:cs typeface="Arial"/>
              </a:rPr>
              <a:t>importance</a:t>
            </a:r>
            <a:r>
              <a:rPr sz="2350" spc="-5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05" dirty="0">
                <a:solidFill>
                  <a:srgbClr val="262626"/>
                </a:solidFill>
                <a:latin typeface="Arial"/>
                <a:cs typeface="Arial"/>
              </a:rPr>
              <a:t>and</a:t>
            </a:r>
            <a:r>
              <a:rPr sz="2350" spc="-19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10" dirty="0">
                <a:solidFill>
                  <a:srgbClr val="262626"/>
                </a:solidFill>
                <a:latin typeface="Arial"/>
                <a:cs typeface="Arial"/>
              </a:rPr>
              <a:t>linear </a:t>
            </a:r>
            <a:r>
              <a:rPr sz="2350" spc="-80" dirty="0">
                <a:solidFill>
                  <a:srgbClr val="262626"/>
                </a:solidFill>
                <a:latin typeface="Arial"/>
                <a:cs typeface="Arial"/>
              </a:rPr>
              <a:t>relationships </a:t>
            </a:r>
            <a:r>
              <a:rPr sz="2350" spc="-114" dirty="0">
                <a:solidFill>
                  <a:srgbClr val="262626"/>
                </a:solidFill>
                <a:latin typeface="Arial"/>
                <a:cs typeface="Arial"/>
              </a:rPr>
              <a:t>between</a:t>
            </a:r>
            <a:r>
              <a:rPr sz="2350" spc="-5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20" dirty="0">
                <a:solidFill>
                  <a:srgbClr val="A17456"/>
                </a:solidFill>
                <a:latin typeface="Arial"/>
                <a:cs typeface="Arial"/>
              </a:rPr>
              <a:t>volume/trend</a:t>
            </a:r>
            <a:r>
              <a:rPr sz="2350" spc="75" dirty="0">
                <a:solidFill>
                  <a:srgbClr val="A17456"/>
                </a:solidFill>
                <a:latin typeface="Arial"/>
                <a:cs typeface="Arial"/>
              </a:rPr>
              <a:t> </a:t>
            </a:r>
            <a:r>
              <a:rPr sz="2350" spc="-105" dirty="0">
                <a:solidFill>
                  <a:srgbClr val="262626"/>
                </a:solidFill>
                <a:latin typeface="Arial"/>
                <a:cs typeface="Arial"/>
              </a:rPr>
              <a:t>and</a:t>
            </a:r>
            <a:r>
              <a:rPr sz="2350" spc="-14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62626"/>
                </a:solidFill>
                <a:latin typeface="Arial"/>
                <a:cs typeface="Arial"/>
              </a:rPr>
              <a:t>future volatility</a:t>
            </a:r>
            <a:r>
              <a:rPr sz="2350" spc="-10" dirty="0">
                <a:solidFill>
                  <a:srgbClr val="030103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808602" y="2243159"/>
            <a:ext cx="2622550" cy="594360"/>
          </a:xfrm>
          <a:custGeom>
            <a:avLst/>
            <a:gdLst/>
            <a:ahLst/>
            <a:cxnLst/>
            <a:rect l="l" t="t" r="r" b="b"/>
            <a:pathLst>
              <a:path w="2622550" h="594360">
                <a:moveTo>
                  <a:pt x="2622149" y="594189"/>
                </a:moveTo>
                <a:lnTo>
                  <a:pt x="0" y="594189"/>
                </a:lnTo>
                <a:lnTo>
                  <a:pt x="0" y="0"/>
                </a:lnTo>
                <a:lnTo>
                  <a:pt x="2622149" y="0"/>
                </a:lnTo>
                <a:lnTo>
                  <a:pt x="2622149" y="594189"/>
                </a:lnTo>
                <a:close/>
              </a:path>
            </a:pathLst>
          </a:custGeom>
          <a:solidFill>
            <a:srgbClr val="0C1F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2795898" y="2253556"/>
            <a:ext cx="2686685" cy="523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50" b="1" spc="-90" dirty="0">
                <a:solidFill>
                  <a:srgbClr val="F6FBFD"/>
                </a:solidFill>
                <a:latin typeface="Arial"/>
                <a:cs typeface="Arial"/>
              </a:rPr>
              <a:t>Deep</a:t>
            </a:r>
            <a:r>
              <a:rPr sz="3250" b="1" spc="-215" dirty="0">
                <a:solidFill>
                  <a:srgbClr val="F6FBFD"/>
                </a:solidFill>
                <a:latin typeface="Arial"/>
                <a:cs typeface="Arial"/>
              </a:rPr>
              <a:t> </a:t>
            </a:r>
            <a:r>
              <a:rPr sz="3250" b="1" spc="-135" dirty="0">
                <a:solidFill>
                  <a:srgbClr val="F6FBFD"/>
                </a:solidFill>
                <a:latin typeface="Arial"/>
                <a:cs typeface="Arial"/>
              </a:rPr>
              <a:t>Learning</a:t>
            </a:r>
            <a:endParaRPr sz="32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233332" y="3083354"/>
            <a:ext cx="3842385" cy="73025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542415" marR="5080" indent="-1530350">
              <a:lnSpc>
                <a:spcPts val="2710"/>
              </a:lnSpc>
              <a:spcBef>
                <a:spcPts val="295"/>
              </a:spcBef>
            </a:pPr>
            <a:r>
              <a:rPr sz="2350" spc="-105" dirty="0">
                <a:solidFill>
                  <a:srgbClr val="262626"/>
                </a:solidFill>
                <a:latin typeface="Arial"/>
                <a:cs typeface="Arial"/>
              </a:rPr>
              <a:t>TensorFlow</a:t>
            </a:r>
            <a:r>
              <a:rPr sz="2350" spc="8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85" dirty="0">
                <a:solidFill>
                  <a:srgbClr val="262626"/>
                </a:solidFill>
                <a:latin typeface="Arial"/>
                <a:cs typeface="Arial"/>
              </a:rPr>
              <a:t>Feed-</a:t>
            </a:r>
            <a:r>
              <a:rPr sz="2350" spc="-80" dirty="0">
                <a:solidFill>
                  <a:srgbClr val="262626"/>
                </a:solidFill>
                <a:latin typeface="Arial"/>
                <a:cs typeface="Arial"/>
              </a:rPr>
              <a:t>Forward</a:t>
            </a:r>
            <a:r>
              <a:rPr sz="2350" spc="-8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262626"/>
                </a:solidFill>
                <a:latin typeface="Arial"/>
                <a:cs typeface="Arial"/>
              </a:rPr>
              <a:t>NN </a:t>
            </a:r>
            <a:r>
              <a:rPr sz="2350" spc="-10" dirty="0">
                <a:solidFill>
                  <a:srgbClr val="262626"/>
                </a:solidFill>
                <a:latin typeface="Arial"/>
                <a:cs typeface="Arial"/>
              </a:rPr>
              <a:t>(MLP)</a:t>
            </a:r>
            <a:endParaRPr sz="23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973505" y="6887666"/>
            <a:ext cx="4312285" cy="141986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1905">
              <a:lnSpc>
                <a:spcPts val="2710"/>
              </a:lnSpc>
              <a:spcBef>
                <a:spcPts val="295"/>
              </a:spcBef>
            </a:pPr>
            <a:r>
              <a:rPr sz="2350" spc="-80" dirty="0">
                <a:solidFill>
                  <a:srgbClr val="262626"/>
                </a:solidFill>
                <a:latin typeface="Arial"/>
                <a:cs typeface="Arial"/>
              </a:rPr>
              <a:t>Mu</a:t>
            </a:r>
            <a:r>
              <a:rPr sz="2350" spc="-80" dirty="0">
                <a:solidFill>
                  <a:srgbClr val="544438"/>
                </a:solidFill>
                <a:latin typeface="Arial"/>
                <a:cs typeface="Arial"/>
              </a:rPr>
              <a:t>lti</a:t>
            </a:r>
            <a:r>
              <a:rPr sz="2350" spc="-80" dirty="0">
                <a:solidFill>
                  <a:srgbClr val="A17456"/>
                </a:solidFill>
                <a:latin typeface="Arial"/>
                <a:cs typeface="Arial"/>
              </a:rPr>
              <a:t>-</a:t>
            </a:r>
            <a:r>
              <a:rPr sz="2350" spc="-100" dirty="0">
                <a:solidFill>
                  <a:srgbClr val="A17456"/>
                </a:solidFill>
                <a:latin typeface="Arial"/>
                <a:cs typeface="Arial"/>
              </a:rPr>
              <a:t>Layer</a:t>
            </a:r>
            <a:r>
              <a:rPr sz="2350" spc="-175" dirty="0">
                <a:solidFill>
                  <a:srgbClr val="A17456"/>
                </a:solidFill>
                <a:latin typeface="Arial"/>
                <a:cs typeface="Arial"/>
              </a:rPr>
              <a:t> </a:t>
            </a:r>
            <a:r>
              <a:rPr sz="2350" spc="-120" dirty="0">
                <a:solidFill>
                  <a:srgbClr val="A17456"/>
                </a:solidFill>
                <a:latin typeface="Arial"/>
                <a:cs typeface="Arial"/>
              </a:rPr>
              <a:t>Perceptron</a:t>
            </a:r>
            <a:r>
              <a:rPr sz="2350" spc="45" dirty="0">
                <a:solidFill>
                  <a:srgbClr val="A17456"/>
                </a:solidFill>
                <a:latin typeface="Arial"/>
                <a:cs typeface="Arial"/>
              </a:rPr>
              <a:t> </a:t>
            </a:r>
            <a:r>
              <a:rPr sz="2350" spc="-125" dirty="0">
                <a:solidFill>
                  <a:srgbClr val="262626"/>
                </a:solidFill>
                <a:latin typeface="Arial"/>
                <a:cs typeface="Arial"/>
              </a:rPr>
              <a:t>designed</a:t>
            </a:r>
            <a:r>
              <a:rPr sz="2350" spc="-6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35" dirty="0">
                <a:solidFill>
                  <a:srgbClr val="262626"/>
                </a:solidFill>
                <a:latin typeface="Arial"/>
                <a:cs typeface="Arial"/>
              </a:rPr>
              <a:t>to </a:t>
            </a:r>
            <a:r>
              <a:rPr sz="2350" spc="-110" dirty="0">
                <a:solidFill>
                  <a:srgbClr val="262626"/>
                </a:solidFill>
                <a:latin typeface="Arial"/>
                <a:cs typeface="Arial"/>
              </a:rPr>
              <a:t>capture</a:t>
            </a:r>
            <a:r>
              <a:rPr sz="2350" spc="-8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14" dirty="0">
                <a:solidFill>
                  <a:srgbClr val="A17456"/>
                </a:solidFill>
                <a:latin typeface="Arial"/>
                <a:cs typeface="Arial"/>
              </a:rPr>
              <a:t>non-</a:t>
            </a:r>
            <a:r>
              <a:rPr sz="2350" spc="-90" dirty="0">
                <a:solidFill>
                  <a:srgbClr val="A17456"/>
                </a:solidFill>
                <a:latin typeface="Arial"/>
                <a:cs typeface="Arial"/>
              </a:rPr>
              <a:t>linear</a:t>
            </a:r>
            <a:r>
              <a:rPr sz="2350" spc="-25" dirty="0">
                <a:solidFill>
                  <a:srgbClr val="A17456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62626"/>
                </a:solidFill>
                <a:latin typeface="Arial"/>
                <a:cs typeface="Arial"/>
              </a:rPr>
              <a:t>interactions.</a:t>
            </a:r>
            <a:endParaRPr sz="2350">
              <a:latin typeface="Arial"/>
              <a:cs typeface="Arial"/>
            </a:endParaRPr>
          </a:p>
          <a:p>
            <a:pPr marL="17780" marR="986790" indent="-4445">
              <a:lnSpc>
                <a:spcPts val="2710"/>
              </a:lnSpc>
              <a:spcBef>
                <a:spcPts val="5"/>
              </a:spcBef>
            </a:pPr>
            <a:r>
              <a:rPr sz="2350" spc="-110" dirty="0">
                <a:solidFill>
                  <a:srgbClr val="262626"/>
                </a:solidFill>
                <a:latin typeface="Arial"/>
                <a:cs typeface="Arial"/>
              </a:rPr>
              <a:t>End-</a:t>
            </a:r>
            <a:r>
              <a:rPr sz="2350" spc="-85" dirty="0">
                <a:solidFill>
                  <a:srgbClr val="262626"/>
                </a:solidFill>
                <a:latin typeface="Arial"/>
                <a:cs typeface="Arial"/>
              </a:rPr>
              <a:t>to-</a:t>
            </a:r>
            <a:r>
              <a:rPr sz="2350" spc="-105" dirty="0">
                <a:solidFill>
                  <a:srgbClr val="262626"/>
                </a:solidFill>
                <a:latin typeface="Arial"/>
                <a:cs typeface="Arial"/>
              </a:rPr>
              <a:t>end</a:t>
            </a:r>
            <a:r>
              <a:rPr sz="2350" spc="1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105" dirty="0">
                <a:solidFill>
                  <a:srgbClr val="262626"/>
                </a:solidFill>
                <a:latin typeface="Arial"/>
                <a:cs typeface="Arial"/>
              </a:rPr>
              <a:t>pipeline</a:t>
            </a:r>
            <a:r>
              <a:rPr sz="2350" spc="-60" dirty="0">
                <a:solidFill>
                  <a:srgbClr val="262626"/>
                </a:solidFill>
                <a:latin typeface="Arial"/>
                <a:cs typeface="Arial"/>
              </a:rPr>
              <a:t> built</a:t>
            </a:r>
            <a:r>
              <a:rPr sz="2350" spc="-10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262626"/>
                </a:solidFill>
                <a:latin typeface="Arial"/>
                <a:cs typeface="Arial"/>
              </a:rPr>
              <a:t>in </a:t>
            </a:r>
            <a:r>
              <a:rPr sz="2350" spc="-80" dirty="0">
                <a:solidFill>
                  <a:srgbClr val="262626"/>
                </a:solidFill>
                <a:latin typeface="Arial"/>
                <a:cs typeface="Arial"/>
              </a:rPr>
              <a:t>TensorFlow.</a:t>
            </a:r>
            <a:endParaRPr sz="2350">
              <a:latin typeface="Arial"/>
              <a:cs typeface="Arial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C868C65-9F0D-59E3-DFD3-272DC92A55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108" y="1785506"/>
            <a:ext cx="16633552" cy="74346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8222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25"/>
              </a:spcBef>
            </a:pPr>
            <a:r>
              <a:rPr sz="4750" dirty="0">
                <a:solidFill>
                  <a:srgbClr val="051844"/>
                </a:solidFill>
              </a:rPr>
              <a:t>Evaluation</a:t>
            </a:r>
            <a:r>
              <a:rPr sz="4750" spc="229" dirty="0">
                <a:solidFill>
                  <a:srgbClr val="051844"/>
                </a:solidFill>
              </a:rPr>
              <a:t> </a:t>
            </a:r>
            <a:r>
              <a:rPr sz="4750" dirty="0">
                <a:solidFill>
                  <a:srgbClr val="051844"/>
                </a:solidFill>
              </a:rPr>
              <a:t>Protocol:</a:t>
            </a:r>
            <a:r>
              <a:rPr sz="4750" spc="-15" dirty="0">
                <a:solidFill>
                  <a:srgbClr val="051844"/>
                </a:solidFill>
              </a:rPr>
              <a:t> </a:t>
            </a:r>
            <a:r>
              <a:rPr sz="4750" dirty="0">
                <a:solidFill>
                  <a:srgbClr val="051844"/>
                </a:solidFill>
              </a:rPr>
              <a:t>Realistic</a:t>
            </a:r>
            <a:r>
              <a:rPr sz="4750" spc="340" dirty="0">
                <a:solidFill>
                  <a:srgbClr val="051844"/>
                </a:solidFill>
              </a:rPr>
              <a:t> </a:t>
            </a:r>
            <a:r>
              <a:rPr sz="4750" spc="145" dirty="0">
                <a:solidFill>
                  <a:srgbClr val="051844"/>
                </a:solidFill>
              </a:rPr>
              <a:t>Time-</a:t>
            </a:r>
            <a:r>
              <a:rPr sz="4750" spc="135" dirty="0">
                <a:solidFill>
                  <a:srgbClr val="051844"/>
                </a:solidFill>
              </a:rPr>
              <a:t>Series</a:t>
            </a:r>
            <a:r>
              <a:rPr sz="4750" spc="190" dirty="0">
                <a:solidFill>
                  <a:srgbClr val="051844"/>
                </a:solidFill>
              </a:rPr>
              <a:t> </a:t>
            </a:r>
            <a:r>
              <a:rPr sz="4750" spc="45" dirty="0">
                <a:solidFill>
                  <a:srgbClr val="051844"/>
                </a:solidFill>
              </a:rPr>
              <a:t>Splitting</a:t>
            </a:r>
            <a:endParaRPr sz="4750"/>
          </a:p>
        </p:txBody>
      </p:sp>
      <p:sp>
        <p:nvSpPr>
          <p:cNvPr id="3" name="object 3"/>
          <p:cNvSpPr txBox="1"/>
          <p:nvPr/>
        </p:nvSpPr>
        <p:spPr>
          <a:xfrm>
            <a:off x="806715" y="2266321"/>
            <a:ext cx="71120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20" dirty="0">
                <a:solidFill>
                  <a:srgbClr val="505D70"/>
                </a:solidFill>
                <a:latin typeface="Arial"/>
                <a:cs typeface="Arial"/>
              </a:rPr>
              <a:t>2015</a:t>
            </a:r>
            <a:endParaRPr sz="23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89121" y="2279087"/>
            <a:ext cx="76454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105" dirty="0">
                <a:solidFill>
                  <a:srgbClr val="505D70"/>
                </a:solidFill>
                <a:latin typeface="Arial"/>
                <a:cs typeface="Arial"/>
              </a:rPr>
              <a:t>2025</a:t>
            </a:r>
            <a:endParaRPr sz="23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69229" y="3143185"/>
            <a:ext cx="4041775" cy="429895"/>
          </a:xfrm>
          <a:custGeom>
            <a:avLst/>
            <a:gdLst/>
            <a:ahLst/>
            <a:cxnLst/>
            <a:rect l="l" t="t" r="r" b="b"/>
            <a:pathLst>
              <a:path w="4041775" h="429895">
                <a:moveTo>
                  <a:pt x="4041360" y="429644"/>
                </a:moveTo>
                <a:lnTo>
                  <a:pt x="0" y="429644"/>
                </a:lnTo>
                <a:lnTo>
                  <a:pt x="0" y="0"/>
                </a:lnTo>
                <a:lnTo>
                  <a:pt x="4041360" y="0"/>
                </a:lnTo>
                <a:lnTo>
                  <a:pt x="4041360" y="429644"/>
                </a:lnTo>
                <a:close/>
              </a:path>
            </a:pathLst>
          </a:custGeom>
          <a:solidFill>
            <a:srgbClr val="071C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56528" y="3147186"/>
            <a:ext cx="408749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9F6EF"/>
                </a:solidFill>
                <a:latin typeface="Arial"/>
                <a:cs typeface="Arial"/>
              </a:rPr>
              <a:t>Training</a:t>
            </a:r>
            <a:r>
              <a:rPr sz="2350" b="1" spc="210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F9F6EF"/>
                </a:solidFill>
                <a:latin typeface="Arial"/>
                <a:cs typeface="Arial"/>
              </a:rPr>
              <a:t>Period</a:t>
            </a:r>
            <a:r>
              <a:rPr sz="2350" b="1" spc="385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F9F6EF"/>
                </a:solidFill>
                <a:latin typeface="Arial"/>
                <a:cs typeface="Arial"/>
              </a:rPr>
              <a:t>(In-</a:t>
            </a:r>
            <a:r>
              <a:rPr sz="2350" b="1" spc="60" dirty="0">
                <a:solidFill>
                  <a:srgbClr val="F9F6EF"/>
                </a:solidFill>
                <a:latin typeface="Arial"/>
                <a:cs typeface="Arial"/>
              </a:rPr>
              <a:t>Sample)</a:t>
            </a:r>
            <a:endParaRPr sz="23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39126" y="3556536"/>
            <a:ext cx="1732280" cy="409575"/>
          </a:xfrm>
          <a:custGeom>
            <a:avLst/>
            <a:gdLst/>
            <a:ahLst/>
            <a:cxnLst/>
            <a:rect l="l" t="t" r="r" b="b"/>
            <a:pathLst>
              <a:path w="1732279" h="409575">
                <a:moveTo>
                  <a:pt x="1732221" y="409283"/>
                </a:moveTo>
                <a:lnTo>
                  <a:pt x="0" y="409283"/>
                </a:lnTo>
                <a:lnTo>
                  <a:pt x="0" y="0"/>
                </a:lnTo>
                <a:lnTo>
                  <a:pt x="1732221" y="0"/>
                </a:lnTo>
                <a:lnTo>
                  <a:pt x="1732221" y="409283"/>
                </a:lnTo>
                <a:close/>
              </a:path>
            </a:pathLst>
          </a:custGeom>
          <a:solidFill>
            <a:srgbClr val="071C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26427" y="3555703"/>
            <a:ext cx="178308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043940" algn="l"/>
              </a:tabLst>
            </a:pPr>
            <a:r>
              <a:rPr sz="2350" dirty="0">
                <a:solidFill>
                  <a:srgbClr val="D3DFED"/>
                </a:solidFill>
                <a:latin typeface="Arial"/>
                <a:cs typeface="Arial"/>
              </a:rPr>
              <a:t>2015</a:t>
            </a:r>
            <a:r>
              <a:rPr sz="2350" spc="35" dirty="0">
                <a:solidFill>
                  <a:srgbClr val="D3DFED"/>
                </a:solidFill>
                <a:latin typeface="Arial"/>
                <a:cs typeface="Arial"/>
              </a:rPr>
              <a:t> </a:t>
            </a:r>
            <a:r>
              <a:rPr sz="2350" spc="-50" dirty="0">
                <a:solidFill>
                  <a:srgbClr val="D3DFED"/>
                </a:solidFill>
                <a:latin typeface="Arial"/>
                <a:cs typeface="Arial"/>
              </a:rPr>
              <a:t>-</a:t>
            </a:r>
            <a:r>
              <a:rPr sz="2350" dirty="0">
                <a:solidFill>
                  <a:srgbClr val="D3DFED"/>
                </a:solidFill>
                <a:latin typeface="Arial"/>
                <a:cs typeface="Arial"/>
              </a:rPr>
              <a:t>	</a:t>
            </a:r>
            <a:r>
              <a:rPr sz="2350" spc="80" dirty="0">
                <a:solidFill>
                  <a:srgbClr val="D3DFED"/>
                </a:solidFill>
                <a:latin typeface="Arial"/>
                <a:cs typeface="Arial"/>
              </a:rPr>
              <a:t>2022</a:t>
            </a:r>
            <a:endParaRPr sz="23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82116" y="3155951"/>
            <a:ext cx="4620260" cy="429895"/>
          </a:xfrm>
          <a:custGeom>
            <a:avLst/>
            <a:gdLst/>
            <a:ahLst/>
            <a:cxnLst/>
            <a:rect l="l" t="t" r="r" b="b"/>
            <a:pathLst>
              <a:path w="4620259" h="429895">
                <a:moveTo>
                  <a:pt x="4619951" y="429644"/>
                </a:moveTo>
                <a:lnTo>
                  <a:pt x="0" y="429644"/>
                </a:lnTo>
                <a:lnTo>
                  <a:pt x="0" y="0"/>
                </a:lnTo>
                <a:lnTo>
                  <a:pt x="4619951" y="0"/>
                </a:lnTo>
                <a:lnTo>
                  <a:pt x="4619951" y="429644"/>
                </a:lnTo>
                <a:close/>
              </a:path>
            </a:pathLst>
          </a:custGeom>
          <a:solidFill>
            <a:srgbClr val="B35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69415" y="3159951"/>
            <a:ext cx="467677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9F6EF"/>
                </a:solidFill>
                <a:latin typeface="Arial"/>
                <a:cs typeface="Arial"/>
              </a:rPr>
              <a:t>Testing</a:t>
            </a:r>
            <a:r>
              <a:rPr sz="2350" b="1" spc="114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F9F6EF"/>
                </a:solidFill>
                <a:latin typeface="Arial"/>
                <a:cs typeface="Arial"/>
              </a:rPr>
              <a:t>Period</a:t>
            </a:r>
            <a:r>
              <a:rPr sz="2350" b="1" spc="200" dirty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sz="2350" b="1" spc="85" dirty="0">
                <a:solidFill>
                  <a:srgbClr val="F9F6EF"/>
                </a:solidFill>
                <a:latin typeface="Arial"/>
                <a:cs typeface="Arial"/>
              </a:rPr>
              <a:t>(Out</a:t>
            </a:r>
            <a:r>
              <a:rPr sz="2350" b="1" spc="85" dirty="0">
                <a:solidFill>
                  <a:srgbClr val="F9DBBD"/>
                </a:solidFill>
                <a:latin typeface="Arial"/>
                <a:cs typeface="Arial"/>
              </a:rPr>
              <a:t>-</a:t>
            </a:r>
            <a:r>
              <a:rPr sz="2350" b="1" spc="75" dirty="0">
                <a:solidFill>
                  <a:srgbClr val="F9F6EF"/>
                </a:solidFill>
                <a:latin typeface="Arial"/>
                <a:cs typeface="Arial"/>
              </a:rPr>
              <a:t>of-</a:t>
            </a:r>
            <a:r>
              <a:rPr sz="2350" b="1" spc="85" dirty="0">
                <a:solidFill>
                  <a:srgbClr val="F9F6EF"/>
                </a:solidFill>
                <a:latin typeface="Arial"/>
                <a:cs typeface="Arial"/>
              </a:rPr>
              <a:t>Sample)</a:t>
            </a:r>
            <a:endParaRPr sz="23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817595" y="3556536"/>
            <a:ext cx="1783714" cy="409575"/>
          </a:xfrm>
          <a:custGeom>
            <a:avLst/>
            <a:gdLst/>
            <a:ahLst/>
            <a:cxnLst/>
            <a:rect l="l" t="t" r="r" b="b"/>
            <a:pathLst>
              <a:path w="1783715" h="409575">
                <a:moveTo>
                  <a:pt x="1783168" y="409283"/>
                </a:moveTo>
                <a:lnTo>
                  <a:pt x="0" y="409283"/>
                </a:lnTo>
                <a:lnTo>
                  <a:pt x="0" y="0"/>
                </a:lnTo>
                <a:lnTo>
                  <a:pt x="1783168" y="0"/>
                </a:lnTo>
                <a:lnTo>
                  <a:pt x="1783168" y="409283"/>
                </a:lnTo>
                <a:close/>
              </a:path>
            </a:pathLst>
          </a:custGeom>
          <a:solidFill>
            <a:srgbClr val="B35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804888" y="3555703"/>
            <a:ext cx="181419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280" dirty="0">
                <a:solidFill>
                  <a:srgbClr val="F9DBBD"/>
                </a:solidFill>
                <a:latin typeface="Arial"/>
                <a:cs typeface="Arial"/>
              </a:rPr>
              <a:t>2023-</a:t>
            </a:r>
            <a:r>
              <a:rPr sz="2350" spc="290" dirty="0">
                <a:solidFill>
                  <a:srgbClr val="F9DBBD"/>
                </a:solidFill>
                <a:latin typeface="Arial"/>
                <a:cs typeface="Arial"/>
              </a:rPr>
              <a:t>2025</a:t>
            </a:r>
            <a:endParaRPr sz="23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23264" y="4640825"/>
            <a:ext cx="558673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110" dirty="0">
                <a:solidFill>
                  <a:srgbClr val="505D70"/>
                </a:solidFill>
                <a:latin typeface="Arial"/>
                <a:cs typeface="Arial"/>
              </a:rPr>
              <a:t>Strict</a:t>
            </a:r>
            <a:r>
              <a:rPr sz="2350" spc="10" dirty="0">
                <a:solidFill>
                  <a:srgbClr val="505D70"/>
                </a:solidFill>
                <a:latin typeface="Arial"/>
                <a:cs typeface="Arial"/>
              </a:rPr>
              <a:t> </a:t>
            </a:r>
            <a:r>
              <a:rPr sz="2350" spc="85" dirty="0">
                <a:solidFill>
                  <a:srgbClr val="505D70"/>
                </a:solidFill>
                <a:latin typeface="Arial"/>
                <a:cs typeface="Arial"/>
              </a:rPr>
              <a:t>Chrono</a:t>
            </a:r>
            <a:r>
              <a:rPr sz="2350" spc="85" dirty="0">
                <a:solidFill>
                  <a:srgbClr val="333F54"/>
                </a:solidFill>
                <a:latin typeface="Arial"/>
                <a:cs typeface="Arial"/>
              </a:rPr>
              <a:t>l</a:t>
            </a:r>
            <a:r>
              <a:rPr sz="2350" spc="85" dirty="0">
                <a:solidFill>
                  <a:srgbClr val="505D70"/>
                </a:solidFill>
                <a:latin typeface="Arial"/>
                <a:cs typeface="Arial"/>
              </a:rPr>
              <a:t>ogical</a:t>
            </a:r>
            <a:r>
              <a:rPr sz="2350" spc="-60" dirty="0">
                <a:solidFill>
                  <a:srgbClr val="505D70"/>
                </a:solidFill>
                <a:latin typeface="Arial"/>
                <a:cs typeface="Arial"/>
              </a:rPr>
              <a:t> </a:t>
            </a:r>
            <a:r>
              <a:rPr sz="2350" spc="65" dirty="0">
                <a:solidFill>
                  <a:srgbClr val="505D70"/>
                </a:solidFill>
                <a:latin typeface="Arial"/>
                <a:cs typeface="Arial"/>
              </a:rPr>
              <a:t>Split.</a:t>
            </a:r>
            <a:r>
              <a:rPr sz="2350" spc="-45" dirty="0">
                <a:solidFill>
                  <a:srgbClr val="505D70"/>
                </a:solidFill>
                <a:latin typeface="Arial"/>
                <a:cs typeface="Arial"/>
              </a:rPr>
              <a:t> </a:t>
            </a:r>
            <a:r>
              <a:rPr sz="2350" spc="114" dirty="0">
                <a:solidFill>
                  <a:srgbClr val="505D70"/>
                </a:solidFill>
                <a:latin typeface="Arial"/>
                <a:cs typeface="Arial"/>
              </a:rPr>
              <a:t>No</a:t>
            </a:r>
            <a:r>
              <a:rPr sz="2350" spc="-15" dirty="0">
                <a:solidFill>
                  <a:srgbClr val="505D70"/>
                </a:solidFill>
                <a:latin typeface="Arial"/>
                <a:cs typeface="Arial"/>
              </a:rPr>
              <a:t> </a:t>
            </a:r>
            <a:r>
              <a:rPr sz="2350" spc="70" dirty="0">
                <a:solidFill>
                  <a:srgbClr val="505D70"/>
                </a:solidFill>
                <a:latin typeface="Arial"/>
                <a:cs typeface="Arial"/>
              </a:rPr>
              <a:t>Shuffling.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5140" y="5630882"/>
            <a:ext cx="6910705" cy="3324860"/>
          </a:xfrm>
          <a:prstGeom prst="rect">
            <a:avLst/>
          </a:prstGeom>
        </p:spPr>
        <p:txBody>
          <a:bodyPr vert="horz" wrap="square" lIns="0" tIns="275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950" b="1" spc="55" dirty="0">
                <a:solidFill>
                  <a:srgbClr val="051844"/>
                </a:solidFill>
                <a:latin typeface="Arial"/>
                <a:cs typeface="Arial"/>
              </a:rPr>
              <a:t>Primary</a:t>
            </a:r>
            <a:r>
              <a:rPr sz="2950" b="1" spc="80" dirty="0">
                <a:solidFill>
                  <a:srgbClr val="051844"/>
                </a:solidFill>
                <a:latin typeface="Arial"/>
                <a:cs typeface="Arial"/>
              </a:rPr>
              <a:t> </a:t>
            </a:r>
            <a:r>
              <a:rPr sz="2950" b="1" spc="100" dirty="0">
                <a:solidFill>
                  <a:srgbClr val="051844"/>
                </a:solidFill>
                <a:latin typeface="Arial"/>
                <a:cs typeface="Arial"/>
              </a:rPr>
              <a:t>Metrics:</a:t>
            </a:r>
            <a:endParaRPr sz="2950">
              <a:latin typeface="Arial"/>
              <a:cs typeface="Arial"/>
            </a:endParaRPr>
          </a:p>
          <a:p>
            <a:pPr marL="547370" marR="95250" indent="-418465">
              <a:lnSpc>
                <a:spcPts val="3420"/>
              </a:lnSpc>
              <a:spcBef>
                <a:spcPts val="2200"/>
              </a:spcBef>
              <a:buClr>
                <a:srgbClr val="111521"/>
              </a:buClr>
              <a:buSzPct val="94827"/>
              <a:buFont typeface="Arial"/>
              <a:buAutoNum type="arabicPeriod"/>
              <a:tabLst>
                <a:tab pos="561975" algn="l"/>
                <a:tab pos="4277995" algn="l"/>
              </a:tabLst>
            </a:pPr>
            <a:r>
              <a:rPr sz="2900" b="1" spc="-10" dirty="0">
                <a:solidFill>
                  <a:srgbClr val="A35426"/>
                </a:solidFill>
                <a:latin typeface="Arial"/>
                <a:cs typeface="Arial"/>
              </a:rPr>
              <a:t>MAE</a:t>
            </a:r>
            <a:r>
              <a:rPr sz="2900" b="1" spc="50" dirty="0">
                <a:solidFill>
                  <a:srgbClr val="A3542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11521"/>
                </a:solidFill>
                <a:latin typeface="Arial"/>
                <a:cs typeface="Arial"/>
              </a:rPr>
              <a:t>(Mean</a:t>
            </a:r>
            <a:r>
              <a:rPr sz="2750" spc="85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750" spc="60" dirty="0">
                <a:solidFill>
                  <a:srgbClr val="111521"/>
                </a:solidFill>
                <a:latin typeface="Arial"/>
                <a:cs typeface="Arial"/>
              </a:rPr>
              <a:t>Absolute</a:t>
            </a:r>
            <a:r>
              <a:rPr sz="2750" spc="-20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750" spc="65" dirty="0">
                <a:solidFill>
                  <a:srgbClr val="111521"/>
                </a:solidFill>
                <a:latin typeface="Arial"/>
                <a:cs typeface="Arial"/>
              </a:rPr>
              <a:t>Error)</a:t>
            </a:r>
            <a:r>
              <a:rPr sz="2750" spc="65" dirty="0">
                <a:solidFill>
                  <a:srgbClr val="2D2D33"/>
                </a:solidFill>
                <a:latin typeface="Arial"/>
                <a:cs typeface="Arial"/>
              </a:rPr>
              <a:t>:</a:t>
            </a:r>
            <a:r>
              <a:rPr sz="2750" spc="-220" dirty="0">
                <a:solidFill>
                  <a:srgbClr val="2D2D33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111521"/>
                </a:solidFill>
                <a:latin typeface="Arial"/>
                <a:cs typeface="Arial"/>
              </a:rPr>
              <a:t>Measures 	</a:t>
            </a:r>
            <a:r>
              <a:rPr sz="2750" dirty="0">
                <a:solidFill>
                  <a:srgbClr val="111521"/>
                </a:solidFill>
                <a:latin typeface="Arial"/>
                <a:cs typeface="Arial"/>
              </a:rPr>
              <a:t>average</a:t>
            </a:r>
            <a:r>
              <a:rPr sz="2750" spc="60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900" b="1" spc="-65" dirty="0">
                <a:solidFill>
                  <a:srgbClr val="A35426"/>
                </a:solidFill>
                <a:latin typeface="Arial"/>
                <a:cs typeface="Arial"/>
              </a:rPr>
              <a:t>magnitude</a:t>
            </a:r>
            <a:r>
              <a:rPr sz="2900" b="1" spc="95" dirty="0">
                <a:solidFill>
                  <a:srgbClr val="A35426"/>
                </a:solidFill>
                <a:latin typeface="Arial"/>
                <a:cs typeface="Arial"/>
              </a:rPr>
              <a:t> </a:t>
            </a:r>
            <a:r>
              <a:rPr sz="2750" spc="-25" dirty="0">
                <a:solidFill>
                  <a:srgbClr val="111521"/>
                </a:solidFill>
                <a:latin typeface="Arial"/>
                <a:cs typeface="Arial"/>
              </a:rPr>
              <a:t>of</a:t>
            </a:r>
            <a:r>
              <a:rPr sz="2750" dirty="0">
                <a:solidFill>
                  <a:srgbClr val="111521"/>
                </a:solidFill>
                <a:latin typeface="Arial"/>
                <a:cs typeface="Arial"/>
              </a:rPr>
              <a:t>	</a:t>
            </a:r>
            <a:r>
              <a:rPr sz="2750" spc="65" dirty="0">
                <a:solidFill>
                  <a:srgbClr val="111521"/>
                </a:solidFill>
                <a:latin typeface="Arial"/>
                <a:cs typeface="Arial"/>
              </a:rPr>
              <a:t>forecast</a:t>
            </a:r>
            <a:r>
              <a:rPr sz="2750" spc="235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111521"/>
                </a:solidFill>
                <a:latin typeface="Arial"/>
                <a:cs typeface="Arial"/>
              </a:rPr>
              <a:t>error.</a:t>
            </a:r>
            <a:endParaRPr sz="2750">
              <a:latin typeface="Arial"/>
              <a:cs typeface="Arial"/>
            </a:endParaRPr>
          </a:p>
          <a:p>
            <a:pPr marL="546100" marR="5080" indent="-401955">
              <a:lnSpc>
                <a:spcPct val="100400"/>
              </a:lnSpc>
              <a:spcBef>
                <a:spcPts val="1025"/>
              </a:spcBef>
              <a:buClr>
                <a:srgbClr val="111521"/>
              </a:buClr>
              <a:buSzPct val="94827"/>
              <a:buFont typeface="Arial"/>
              <a:buAutoNum type="arabicPeriod"/>
              <a:tabLst>
                <a:tab pos="551815" algn="l"/>
              </a:tabLst>
            </a:pPr>
            <a:r>
              <a:rPr sz="2900" b="1" spc="-155" dirty="0">
                <a:solidFill>
                  <a:srgbClr val="A35426"/>
                </a:solidFill>
                <a:latin typeface="Arial"/>
                <a:cs typeface="Arial"/>
              </a:rPr>
              <a:t>RMSE</a:t>
            </a:r>
            <a:r>
              <a:rPr sz="2900" b="1" spc="70" dirty="0">
                <a:solidFill>
                  <a:srgbClr val="A3542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11521"/>
                </a:solidFill>
                <a:latin typeface="Arial"/>
                <a:cs typeface="Arial"/>
              </a:rPr>
              <a:t>(Root</a:t>
            </a:r>
            <a:r>
              <a:rPr sz="2750" spc="85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750" spc="60" dirty="0">
                <a:solidFill>
                  <a:srgbClr val="111521"/>
                </a:solidFill>
                <a:latin typeface="Arial"/>
                <a:cs typeface="Arial"/>
              </a:rPr>
              <a:t>Mean</a:t>
            </a:r>
            <a:r>
              <a:rPr sz="2750" spc="95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11521"/>
                </a:solidFill>
                <a:latin typeface="Arial"/>
                <a:cs typeface="Arial"/>
              </a:rPr>
              <a:t>Square</a:t>
            </a:r>
            <a:r>
              <a:rPr sz="2750" spc="125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750" spc="40" dirty="0">
                <a:solidFill>
                  <a:srgbClr val="111521"/>
                </a:solidFill>
                <a:latin typeface="Arial"/>
                <a:cs typeface="Arial"/>
              </a:rPr>
              <a:t>Error)</a:t>
            </a:r>
            <a:r>
              <a:rPr sz="2750" spc="40" dirty="0">
                <a:solidFill>
                  <a:srgbClr val="2D2D33"/>
                </a:solidFill>
                <a:latin typeface="Arial"/>
                <a:cs typeface="Arial"/>
              </a:rPr>
              <a:t>: 	</a:t>
            </a:r>
            <a:r>
              <a:rPr sz="2750" dirty="0">
                <a:solidFill>
                  <a:srgbClr val="111521"/>
                </a:solidFill>
                <a:latin typeface="Arial"/>
                <a:cs typeface="Arial"/>
              </a:rPr>
              <a:t>Penalizes</a:t>
            </a:r>
            <a:r>
              <a:rPr sz="2750" spc="40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900" b="1" spc="-60" dirty="0">
                <a:solidFill>
                  <a:srgbClr val="A35426"/>
                </a:solidFill>
                <a:latin typeface="Arial"/>
                <a:cs typeface="Arial"/>
              </a:rPr>
              <a:t>large</a:t>
            </a:r>
            <a:r>
              <a:rPr sz="2900" b="1" spc="-130" dirty="0">
                <a:solidFill>
                  <a:srgbClr val="A35426"/>
                </a:solidFill>
                <a:latin typeface="Arial"/>
                <a:cs typeface="Arial"/>
              </a:rPr>
              <a:t> </a:t>
            </a:r>
            <a:r>
              <a:rPr sz="2900" b="1" spc="-50" dirty="0">
                <a:solidFill>
                  <a:srgbClr val="A35426"/>
                </a:solidFill>
                <a:latin typeface="Arial"/>
                <a:cs typeface="Arial"/>
              </a:rPr>
              <a:t>outliers</a:t>
            </a:r>
            <a:r>
              <a:rPr sz="2900" b="1" spc="-50" dirty="0">
                <a:solidFill>
                  <a:srgbClr val="111521"/>
                </a:solidFill>
                <a:latin typeface="Arial"/>
                <a:cs typeface="Arial"/>
              </a:rPr>
              <a:t>,</a:t>
            </a:r>
            <a:r>
              <a:rPr sz="2900" b="1" spc="-165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750" spc="80" dirty="0">
                <a:solidFill>
                  <a:srgbClr val="111521"/>
                </a:solidFill>
                <a:latin typeface="Arial"/>
                <a:cs typeface="Arial"/>
              </a:rPr>
              <a:t>critical</a:t>
            </a:r>
            <a:r>
              <a:rPr sz="2750" spc="75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750" spc="105" dirty="0">
                <a:solidFill>
                  <a:srgbClr val="111521"/>
                </a:solidFill>
                <a:latin typeface="Arial"/>
                <a:cs typeface="Arial"/>
              </a:rPr>
              <a:t>for</a:t>
            </a:r>
            <a:r>
              <a:rPr sz="2750" spc="-10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750" spc="65" dirty="0">
                <a:solidFill>
                  <a:srgbClr val="111521"/>
                </a:solidFill>
                <a:latin typeface="Arial"/>
                <a:cs typeface="Arial"/>
              </a:rPr>
              <a:t>risk 	</a:t>
            </a:r>
            <a:r>
              <a:rPr sz="2750" spc="55" dirty="0">
                <a:solidFill>
                  <a:srgbClr val="111521"/>
                </a:solidFill>
                <a:latin typeface="Arial"/>
                <a:cs typeface="Arial"/>
              </a:rPr>
              <a:t>management</a:t>
            </a:r>
            <a:r>
              <a:rPr sz="2750" spc="280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750" spc="80" dirty="0">
                <a:solidFill>
                  <a:srgbClr val="111521"/>
                </a:solidFill>
                <a:latin typeface="Arial"/>
                <a:cs typeface="Arial"/>
              </a:rPr>
              <a:t>contexts.</a:t>
            </a:r>
            <a:endParaRPr sz="27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34243" y="5891907"/>
            <a:ext cx="6951980" cy="20466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b="1" dirty="0">
                <a:solidFill>
                  <a:srgbClr val="051844"/>
                </a:solidFill>
                <a:latin typeface="Arial"/>
                <a:cs typeface="Arial"/>
              </a:rPr>
              <a:t>Error</a:t>
            </a:r>
            <a:r>
              <a:rPr sz="2950" b="1" spc="55" dirty="0">
                <a:solidFill>
                  <a:srgbClr val="051844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051844"/>
                </a:solidFill>
                <a:latin typeface="Arial"/>
                <a:cs typeface="Arial"/>
              </a:rPr>
              <a:t>Analysis:</a:t>
            </a:r>
            <a:endParaRPr sz="2950" dirty="0">
              <a:latin typeface="Arial"/>
              <a:cs typeface="Arial"/>
            </a:endParaRPr>
          </a:p>
          <a:p>
            <a:pPr marL="18415" marR="5080" indent="8255">
              <a:lnSpc>
                <a:spcPct val="96800"/>
              </a:lnSpc>
              <a:spcBef>
                <a:spcPts val="2250"/>
              </a:spcBef>
              <a:tabLst>
                <a:tab pos="3401060" algn="l"/>
              </a:tabLst>
            </a:pPr>
            <a:r>
              <a:rPr sz="2900" b="1" spc="-105" dirty="0">
                <a:solidFill>
                  <a:srgbClr val="A35426"/>
                </a:solidFill>
                <a:latin typeface="Arial"/>
                <a:cs typeface="Arial"/>
              </a:rPr>
              <a:t>Visual</a:t>
            </a:r>
            <a:r>
              <a:rPr sz="2900" b="1" spc="-150" dirty="0">
                <a:solidFill>
                  <a:srgbClr val="A35426"/>
                </a:solidFill>
                <a:latin typeface="Arial"/>
                <a:cs typeface="Arial"/>
              </a:rPr>
              <a:t> </a:t>
            </a:r>
            <a:r>
              <a:rPr sz="2900" b="1" spc="-70" dirty="0">
                <a:solidFill>
                  <a:srgbClr val="A35426"/>
                </a:solidFill>
                <a:latin typeface="Arial"/>
                <a:cs typeface="Arial"/>
              </a:rPr>
              <a:t>inspection</a:t>
            </a:r>
            <a:r>
              <a:rPr sz="2900" b="1" spc="-110" dirty="0">
                <a:solidFill>
                  <a:srgbClr val="A35426"/>
                </a:solidFill>
                <a:latin typeface="Arial"/>
                <a:cs typeface="Arial"/>
              </a:rPr>
              <a:t> </a:t>
            </a:r>
            <a:r>
              <a:rPr sz="2750" spc="-25" dirty="0">
                <a:solidFill>
                  <a:srgbClr val="111521"/>
                </a:solidFill>
                <a:latin typeface="Arial"/>
                <a:cs typeface="Arial"/>
              </a:rPr>
              <a:t>of</a:t>
            </a:r>
            <a:r>
              <a:rPr sz="2750" dirty="0">
                <a:solidFill>
                  <a:srgbClr val="111521"/>
                </a:solidFill>
                <a:latin typeface="Arial"/>
                <a:cs typeface="Arial"/>
              </a:rPr>
              <a:t>	</a:t>
            </a:r>
            <a:r>
              <a:rPr sz="2750" spc="55" dirty="0">
                <a:solidFill>
                  <a:srgbClr val="111521"/>
                </a:solidFill>
                <a:latin typeface="Arial"/>
                <a:cs typeface="Arial"/>
              </a:rPr>
              <a:t>Prediction</a:t>
            </a:r>
            <a:r>
              <a:rPr sz="2750" spc="195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750" spc="100" dirty="0">
                <a:solidFill>
                  <a:srgbClr val="111521"/>
                </a:solidFill>
                <a:latin typeface="Arial"/>
                <a:cs typeface="Arial"/>
              </a:rPr>
              <a:t>vs.</a:t>
            </a:r>
            <a:r>
              <a:rPr sz="2750" spc="-150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750" spc="65" dirty="0">
                <a:solidFill>
                  <a:srgbClr val="111521"/>
                </a:solidFill>
                <a:latin typeface="Arial"/>
                <a:cs typeface="Arial"/>
              </a:rPr>
              <a:t>Actuals to</a:t>
            </a:r>
            <a:r>
              <a:rPr sz="2750" spc="85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750" spc="105" dirty="0">
                <a:solidFill>
                  <a:srgbClr val="111521"/>
                </a:solidFill>
                <a:latin typeface="Arial"/>
                <a:cs typeface="Arial"/>
              </a:rPr>
              <a:t>identify</a:t>
            </a:r>
            <a:r>
              <a:rPr sz="2750" spc="125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900" b="1" spc="-85" dirty="0">
                <a:solidFill>
                  <a:srgbClr val="A35426"/>
                </a:solidFill>
                <a:latin typeface="Arial"/>
                <a:cs typeface="Arial"/>
              </a:rPr>
              <a:t>failure</a:t>
            </a:r>
            <a:r>
              <a:rPr sz="2900" b="1" spc="-120" dirty="0">
                <a:solidFill>
                  <a:srgbClr val="A35426"/>
                </a:solidFill>
                <a:latin typeface="Arial"/>
                <a:cs typeface="Arial"/>
              </a:rPr>
              <a:t> </a:t>
            </a:r>
            <a:r>
              <a:rPr sz="2900" b="1" spc="-75" dirty="0">
                <a:solidFill>
                  <a:srgbClr val="A35426"/>
                </a:solidFill>
                <a:latin typeface="Arial"/>
                <a:cs typeface="Arial"/>
              </a:rPr>
              <a:t>modes </a:t>
            </a:r>
            <a:r>
              <a:rPr sz="2750" spc="80" dirty="0">
                <a:solidFill>
                  <a:srgbClr val="111521"/>
                </a:solidFill>
                <a:latin typeface="Arial"/>
                <a:cs typeface="Arial"/>
              </a:rPr>
              <a:t>during</a:t>
            </a:r>
            <a:r>
              <a:rPr sz="2750" spc="-10" dirty="0">
                <a:solidFill>
                  <a:srgbClr val="111521"/>
                </a:solidFill>
                <a:latin typeface="Arial"/>
                <a:cs typeface="Arial"/>
              </a:rPr>
              <a:t> </a:t>
            </a:r>
            <a:r>
              <a:rPr sz="2900" b="1" spc="-10" dirty="0">
                <a:solidFill>
                  <a:srgbClr val="A35426"/>
                </a:solidFill>
                <a:latin typeface="Arial"/>
                <a:cs typeface="Arial"/>
              </a:rPr>
              <a:t>market shocks</a:t>
            </a:r>
            <a:r>
              <a:rPr sz="2900" b="1" spc="-10" dirty="0">
                <a:solidFill>
                  <a:srgbClr val="2D2D33"/>
                </a:solidFill>
                <a:latin typeface="Arial"/>
                <a:cs typeface="Arial"/>
              </a:rPr>
              <a:t>.</a:t>
            </a:r>
            <a:endParaRPr sz="29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47783" y="9402597"/>
            <a:ext cx="126365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20" dirty="0">
                <a:solidFill>
                  <a:srgbClr val="2D2D33"/>
                </a:solidFill>
                <a:latin typeface="Arial"/>
                <a:cs typeface="Arial"/>
              </a:rPr>
              <a:t>Isl\</a:t>
            </a:r>
            <a:r>
              <a:rPr sz="1300" spc="-45" dirty="0">
                <a:solidFill>
                  <a:srgbClr val="2D2D33"/>
                </a:solidFill>
                <a:latin typeface="Arial"/>
                <a:cs typeface="Arial"/>
              </a:rPr>
              <a:t> </a:t>
            </a:r>
            <a:r>
              <a:rPr sz="1350" b="1" spc="-35" dirty="0">
                <a:solidFill>
                  <a:srgbClr val="111521"/>
                </a:solidFill>
                <a:latin typeface="Arial"/>
                <a:cs typeface="Arial"/>
              </a:rPr>
              <a:t>N</a:t>
            </a:r>
            <a:r>
              <a:rPr sz="1350" b="1" spc="-35" dirty="0">
                <a:solidFill>
                  <a:srgbClr val="2D2D33"/>
                </a:solidFill>
                <a:latin typeface="Arial"/>
                <a:cs typeface="Arial"/>
              </a:rPr>
              <a:t>otebookL</a:t>
            </a:r>
            <a:r>
              <a:rPr sz="1350" b="1" spc="-35" dirty="0">
                <a:solidFill>
                  <a:srgbClr val="111521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06AC81-FA2B-02A6-C5D8-EDE96F75B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39" y="1815088"/>
            <a:ext cx="16161440" cy="33482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03864" y="3242865"/>
            <a:ext cx="4356026" cy="480007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100984" y="2298170"/>
            <a:ext cx="0" cy="6664325"/>
          </a:xfrm>
          <a:custGeom>
            <a:avLst/>
            <a:gdLst/>
            <a:ahLst/>
            <a:cxnLst/>
            <a:rect l="l" t="t" r="r" b="b"/>
            <a:pathLst>
              <a:path h="6664325">
                <a:moveTo>
                  <a:pt x="0" y="666392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1839" rIns="0" bIns="0" rtlCol="0">
            <a:spAutoFit/>
          </a:bodyPr>
          <a:lstStyle/>
          <a:p>
            <a:pPr marL="368935">
              <a:lnSpc>
                <a:spcPct val="100000"/>
              </a:lnSpc>
              <a:spcBef>
                <a:spcPts val="125"/>
              </a:spcBef>
            </a:pPr>
            <a:r>
              <a:rPr sz="4800" spc="50" dirty="0">
                <a:solidFill>
                  <a:srgbClr val="051834"/>
                </a:solidFill>
              </a:rPr>
              <a:t>Subgroup</a:t>
            </a:r>
            <a:r>
              <a:rPr sz="4800" dirty="0">
                <a:solidFill>
                  <a:srgbClr val="051834"/>
                </a:solidFill>
              </a:rPr>
              <a:t> Analysis:</a:t>
            </a:r>
            <a:r>
              <a:rPr sz="4800" spc="-5" dirty="0">
                <a:solidFill>
                  <a:srgbClr val="051834"/>
                </a:solidFill>
              </a:rPr>
              <a:t> </a:t>
            </a:r>
            <a:r>
              <a:rPr sz="4800" spc="70" dirty="0">
                <a:solidFill>
                  <a:srgbClr val="051834"/>
                </a:solidFill>
              </a:rPr>
              <a:t>Sector</a:t>
            </a:r>
            <a:r>
              <a:rPr sz="4800" spc="180" dirty="0">
                <a:solidFill>
                  <a:srgbClr val="051834"/>
                </a:solidFill>
              </a:rPr>
              <a:t> </a:t>
            </a:r>
            <a:r>
              <a:rPr sz="4800" spc="130" dirty="0">
                <a:solidFill>
                  <a:srgbClr val="051834"/>
                </a:solidFill>
              </a:rPr>
              <a:t>vs.</a:t>
            </a:r>
            <a:r>
              <a:rPr sz="4800" spc="-465" dirty="0">
                <a:solidFill>
                  <a:srgbClr val="051834"/>
                </a:solidFill>
              </a:rPr>
              <a:t> </a:t>
            </a:r>
            <a:r>
              <a:rPr sz="4800" spc="90" dirty="0">
                <a:solidFill>
                  <a:srgbClr val="051834"/>
                </a:solidFill>
              </a:rPr>
              <a:t>Industry</a:t>
            </a:r>
            <a:r>
              <a:rPr sz="4800" spc="5" dirty="0">
                <a:solidFill>
                  <a:srgbClr val="051834"/>
                </a:solidFill>
              </a:rPr>
              <a:t> </a:t>
            </a:r>
            <a:r>
              <a:rPr sz="4800" spc="90" dirty="0">
                <a:solidFill>
                  <a:srgbClr val="051834"/>
                </a:solidFill>
              </a:rPr>
              <a:t>Performance</a:t>
            </a:r>
            <a:endParaRPr sz="4800"/>
          </a:p>
        </p:txBody>
      </p:sp>
      <p:sp>
        <p:nvSpPr>
          <p:cNvPr id="5" name="object 5"/>
          <p:cNvSpPr txBox="1"/>
          <p:nvPr/>
        </p:nvSpPr>
        <p:spPr>
          <a:xfrm>
            <a:off x="892519" y="2240788"/>
            <a:ext cx="4716780" cy="53213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20"/>
              </a:spcBef>
            </a:pPr>
            <a:r>
              <a:rPr sz="3750" b="1" spc="-145" dirty="0">
                <a:solidFill>
                  <a:srgbClr val="051834"/>
                </a:solidFill>
                <a:latin typeface="Arial"/>
                <a:cs typeface="Arial"/>
              </a:rPr>
              <a:t>The</a:t>
            </a:r>
            <a:r>
              <a:rPr sz="3750" b="1" spc="-175" dirty="0">
                <a:solidFill>
                  <a:srgbClr val="051834"/>
                </a:solidFill>
                <a:latin typeface="Arial"/>
                <a:cs typeface="Arial"/>
              </a:rPr>
              <a:t> </a:t>
            </a:r>
            <a:r>
              <a:rPr sz="3750" b="1" spc="-70" dirty="0">
                <a:solidFill>
                  <a:srgbClr val="051834"/>
                </a:solidFill>
                <a:latin typeface="Arial"/>
                <a:cs typeface="Arial"/>
              </a:rPr>
              <a:t>Hypothesis</a:t>
            </a:r>
            <a:endParaRPr sz="3750">
              <a:latin typeface="Arial"/>
              <a:cs typeface="Arial"/>
            </a:endParaRPr>
          </a:p>
          <a:p>
            <a:pPr marL="12700" marR="748030" indent="12065">
              <a:lnSpc>
                <a:spcPct val="94400"/>
              </a:lnSpc>
              <a:spcBef>
                <a:spcPts val="3145"/>
              </a:spcBef>
            </a:pPr>
            <a:r>
              <a:rPr sz="3150" spc="-135" dirty="0">
                <a:solidFill>
                  <a:srgbClr val="0C0E0C"/>
                </a:solidFill>
                <a:latin typeface="Arial"/>
                <a:cs typeface="Arial"/>
              </a:rPr>
              <a:t>Are</a:t>
            </a:r>
            <a:r>
              <a:rPr sz="3150" spc="-204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95" dirty="0">
                <a:solidFill>
                  <a:srgbClr val="0C0E0C"/>
                </a:solidFill>
                <a:latin typeface="Arial"/>
                <a:cs typeface="Arial"/>
              </a:rPr>
              <a:t>broad</a:t>
            </a:r>
            <a:r>
              <a:rPr sz="3150" spc="-12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100" dirty="0">
                <a:solidFill>
                  <a:srgbClr val="0C0E0C"/>
                </a:solidFill>
                <a:latin typeface="Arial"/>
                <a:cs typeface="Arial"/>
              </a:rPr>
              <a:t>Sectors</a:t>
            </a:r>
            <a:r>
              <a:rPr sz="3150" spc="-8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90" dirty="0">
                <a:solidFill>
                  <a:srgbClr val="0C0E0C"/>
                </a:solidFill>
                <a:latin typeface="Arial"/>
                <a:cs typeface="Arial"/>
              </a:rPr>
              <a:t>(e.g., </a:t>
            </a:r>
            <a:r>
              <a:rPr sz="3150" spc="-114" dirty="0">
                <a:solidFill>
                  <a:srgbClr val="0C0E0C"/>
                </a:solidFill>
                <a:latin typeface="Arial"/>
                <a:cs typeface="Arial"/>
              </a:rPr>
              <a:t>Technology)</a:t>
            </a:r>
            <a:r>
              <a:rPr sz="3150" spc="-5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135" dirty="0">
                <a:solidFill>
                  <a:srgbClr val="0C0E0C"/>
                </a:solidFill>
                <a:latin typeface="Arial"/>
                <a:cs typeface="Arial"/>
              </a:rPr>
              <a:t>easier</a:t>
            </a:r>
            <a:r>
              <a:rPr sz="3150" spc="-12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25" dirty="0">
                <a:solidFill>
                  <a:srgbClr val="0C0E0C"/>
                </a:solidFill>
                <a:latin typeface="Arial"/>
                <a:cs typeface="Arial"/>
              </a:rPr>
              <a:t>to </a:t>
            </a:r>
            <a:r>
              <a:rPr sz="3150" spc="-60" dirty="0">
                <a:solidFill>
                  <a:srgbClr val="0C0E0C"/>
                </a:solidFill>
                <a:latin typeface="Arial"/>
                <a:cs typeface="Arial"/>
              </a:rPr>
              <a:t>forecast</a:t>
            </a:r>
            <a:r>
              <a:rPr sz="3150" spc="-12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55" dirty="0">
                <a:solidFill>
                  <a:srgbClr val="0C0E0C"/>
                </a:solidFill>
                <a:latin typeface="Arial"/>
                <a:cs typeface="Arial"/>
              </a:rPr>
              <a:t>than</a:t>
            </a:r>
            <a:r>
              <a:rPr sz="3150" spc="-17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10" dirty="0">
                <a:solidFill>
                  <a:srgbClr val="0C0E0C"/>
                </a:solidFill>
                <a:latin typeface="Arial"/>
                <a:cs typeface="Arial"/>
              </a:rPr>
              <a:t>specific </a:t>
            </a:r>
            <a:r>
              <a:rPr sz="3150" spc="-70" dirty="0">
                <a:solidFill>
                  <a:srgbClr val="0C0E0C"/>
                </a:solidFill>
                <a:latin typeface="Arial"/>
                <a:cs typeface="Arial"/>
              </a:rPr>
              <a:t>Industries</a:t>
            </a:r>
            <a:r>
              <a:rPr sz="3150" spc="-13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10" dirty="0">
                <a:solidFill>
                  <a:srgbClr val="0C0E0C"/>
                </a:solidFill>
                <a:latin typeface="Arial"/>
                <a:cs typeface="Arial"/>
              </a:rPr>
              <a:t>(e.g., </a:t>
            </a:r>
            <a:r>
              <a:rPr sz="3150" spc="-105" dirty="0">
                <a:solidFill>
                  <a:srgbClr val="0C0E0C"/>
                </a:solidFill>
                <a:latin typeface="Arial"/>
                <a:cs typeface="Arial"/>
              </a:rPr>
              <a:t>Semiconductors)?</a:t>
            </a:r>
            <a:r>
              <a:rPr sz="3150" spc="-21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20" dirty="0">
                <a:solidFill>
                  <a:srgbClr val="0C0E0C"/>
                </a:solidFill>
                <a:latin typeface="Arial"/>
                <a:cs typeface="Arial"/>
              </a:rPr>
              <a:t>This</a:t>
            </a:r>
            <a:endParaRPr sz="3150">
              <a:latin typeface="Arial"/>
              <a:cs typeface="Arial"/>
            </a:endParaRPr>
          </a:p>
          <a:p>
            <a:pPr marL="20955" marR="5080" indent="1270">
              <a:lnSpc>
                <a:spcPts val="3520"/>
              </a:lnSpc>
              <a:spcBef>
                <a:spcPts val="2185"/>
              </a:spcBef>
            </a:pPr>
            <a:r>
              <a:rPr sz="3150" spc="-135" dirty="0">
                <a:solidFill>
                  <a:srgbClr val="0C0E0C"/>
                </a:solidFill>
                <a:latin typeface="Arial"/>
                <a:cs typeface="Arial"/>
              </a:rPr>
              <a:t>analysis</a:t>
            </a:r>
            <a:r>
              <a:rPr sz="3150" spc="-12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70" dirty="0">
                <a:solidFill>
                  <a:srgbClr val="0C0E0C"/>
                </a:solidFill>
                <a:latin typeface="Arial"/>
                <a:cs typeface="Arial"/>
              </a:rPr>
              <a:t>informs</a:t>
            </a:r>
            <a:r>
              <a:rPr sz="3150" spc="-6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10" dirty="0">
                <a:solidFill>
                  <a:srgbClr val="0C0E0C"/>
                </a:solidFill>
                <a:latin typeface="Arial"/>
                <a:cs typeface="Arial"/>
              </a:rPr>
              <a:t>portfolio </a:t>
            </a:r>
            <a:r>
              <a:rPr sz="3150" dirty="0">
                <a:solidFill>
                  <a:srgbClr val="0C0E0C"/>
                </a:solidFill>
                <a:latin typeface="Arial"/>
                <a:cs typeface="Arial"/>
              </a:rPr>
              <a:t>construction-</a:t>
            </a:r>
            <a:r>
              <a:rPr sz="3150" spc="-10" dirty="0">
                <a:solidFill>
                  <a:srgbClr val="0C0E0C"/>
                </a:solidFill>
                <a:latin typeface="Arial"/>
                <a:cs typeface="Arial"/>
              </a:rPr>
              <a:t>placing </a:t>
            </a:r>
            <a:r>
              <a:rPr sz="3150" spc="-90" dirty="0">
                <a:solidFill>
                  <a:srgbClr val="0C0E0C"/>
                </a:solidFill>
                <a:latin typeface="Arial"/>
                <a:cs typeface="Arial"/>
              </a:rPr>
              <a:t>higher</a:t>
            </a:r>
            <a:r>
              <a:rPr sz="3150" spc="-6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80" dirty="0">
                <a:solidFill>
                  <a:srgbClr val="0C0E0C"/>
                </a:solidFill>
                <a:latin typeface="Arial"/>
                <a:cs typeface="Arial"/>
              </a:rPr>
              <a:t>confidence</a:t>
            </a:r>
            <a:r>
              <a:rPr sz="3150" spc="-14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dirty="0">
                <a:solidFill>
                  <a:srgbClr val="0C0E0C"/>
                </a:solidFill>
                <a:latin typeface="Arial"/>
                <a:cs typeface="Arial"/>
              </a:rPr>
              <a:t>in</a:t>
            </a:r>
            <a:r>
              <a:rPr sz="3150" spc="-27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100" dirty="0">
                <a:solidFill>
                  <a:srgbClr val="0C0E0C"/>
                </a:solidFill>
                <a:latin typeface="Arial"/>
                <a:cs typeface="Arial"/>
              </a:rPr>
              <a:t>models </a:t>
            </a:r>
            <a:r>
              <a:rPr sz="3150" dirty="0">
                <a:solidFill>
                  <a:srgbClr val="0C0E0C"/>
                </a:solidFill>
                <a:latin typeface="Arial"/>
                <a:cs typeface="Arial"/>
              </a:rPr>
              <a:t>for</a:t>
            </a:r>
            <a:r>
              <a:rPr sz="3150" spc="-8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80" dirty="0">
                <a:solidFill>
                  <a:srgbClr val="0C0E0C"/>
                </a:solidFill>
                <a:latin typeface="Arial"/>
                <a:cs typeface="Arial"/>
              </a:rPr>
              <a:t>stable</a:t>
            </a:r>
            <a:r>
              <a:rPr sz="3150" spc="-16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3150" spc="-10" dirty="0">
                <a:solidFill>
                  <a:srgbClr val="0C0E0C"/>
                </a:solidFill>
                <a:latin typeface="Arial"/>
                <a:cs typeface="Arial"/>
              </a:rPr>
              <a:t>subgroups.</a:t>
            </a:r>
            <a:endParaRPr sz="3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01104" y="2240788"/>
            <a:ext cx="4777740" cy="22752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750" b="1" spc="-180" dirty="0">
                <a:solidFill>
                  <a:srgbClr val="051834"/>
                </a:solidFill>
                <a:latin typeface="Arial"/>
                <a:cs typeface="Arial"/>
              </a:rPr>
              <a:t>Reporting</a:t>
            </a:r>
            <a:r>
              <a:rPr sz="3750" b="1" spc="-60" dirty="0">
                <a:solidFill>
                  <a:srgbClr val="051834"/>
                </a:solidFill>
                <a:latin typeface="Arial"/>
                <a:cs typeface="Arial"/>
              </a:rPr>
              <a:t> </a:t>
            </a:r>
            <a:r>
              <a:rPr sz="3750" b="1" spc="-35" dirty="0">
                <a:solidFill>
                  <a:srgbClr val="051834"/>
                </a:solidFill>
                <a:latin typeface="Arial"/>
                <a:cs typeface="Arial"/>
              </a:rPr>
              <a:t>Levels</a:t>
            </a:r>
            <a:endParaRPr sz="375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  <a:spcBef>
                <a:spcPts val="3030"/>
              </a:spcBef>
            </a:pPr>
            <a:r>
              <a:rPr sz="2850" spc="-80" dirty="0">
                <a:solidFill>
                  <a:srgbClr val="0C0E0C"/>
                </a:solidFill>
                <a:latin typeface="Arial"/>
                <a:cs typeface="Arial"/>
              </a:rPr>
              <a:t>Level</a:t>
            </a:r>
            <a:r>
              <a:rPr sz="2850" spc="-35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114" dirty="0">
                <a:solidFill>
                  <a:srgbClr val="0C0E0C"/>
                </a:solidFill>
                <a:latin typeface="Arial"/>
                <a:cs typeface="Arial"/>
              </a:rPr>
              <a:t>1:</a:t>
            </a:r>
            <a:r>
              <a:rPr sz="2850" spc="-27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90" dirty="0">
                <a:solidFill>
                  <a:srgbClr val="0C0E0C"/>
                </a:solidFill>
                <a:latin typeface="Arial"/>
                <a:cs typeface="Arial"/>
              </a:rPr>
              <a:t>Global</a:t>
            </a:r>
            <a:r>
              <a:rPr sz="2850" spc="-6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10" dirty="0">
                <a:solidFill>
                  <a:srgbClr val="0C0E0C"/>
                </a:solidFill>
                <a:latin typeface="Arial"/>
                <a:cs typeface="Arial"/>
              </a:rPr>
              <a:t>Metrics</a:t>
            </a:r>
            <a:endParaRPr sz="2850">
              <a:latin typeface="Arial"/>
              <a:cs typeface="Arial"/>
            </a:endParaRPr>
          </a:p>
          <a:p>
            <a:pPr marL="275590" marR="5080" indent="-252729">
              <a:lnSpc>
                <a:spcPts val="3120"/>
              </a:lnSpc>
              <a:spcBef>
                <a:spcPts val="555"/>
              </a:spcBef>
            </a:pPr>
            <a:r>
              <a:rPr sz="2850" dirty="0">
                <a:solidFill>
                  <a:srgbClr val="0C0E0C"/>
                </a:solidFill>
                <a:latin typeface="Arial"/>
                <a:cs typeface="Arial"/>
              </a:rPr>
              <a:t>-</a:t>
            </a:r>
            <a:r>
              <a:rPr sz="2850" spc="22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125" dirty="0">
                <a:solidFill>
                  <a:srgbClr val="0C0E0C"/>
                </a:solidFill>
                <a:latin typeface="Arial"/>
                <a:cs typeface="Arial"/>
              </a:rPr>
              <a:t>Overall</a:t>
            </a:r>
            <a:r>
              <a:rPr sz="2850" spc="-18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254" dirty="0">
                <a:solidFill>
                  <a:srgbClr val="0C0E0C"/>
                </a:solidFill>
                <a:latin typeface="Arial"/>
                <a:cs typeface="Arial"/>
              </a:rPr>
              <a:t>MAE/RMSE</a:t>
            </a:r>
            <a:r>
              <a:rPr sz="2850" spc="1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90" dirty="0">
                <a:solidFill>
                  <a:srgbClr val="0C0E0C"/>
                </a:solidFill>
                <a:latin typeface="Arial"/>
                <a:cs typeface="Arial"/>
              </a:rPr>
              <a:t>across</a:t>
            </a:r>
            <a:r>
              <a:rPr sz="2850" spc="-4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25" dirty="0">
                <a:solidFill>
                  <a:srgbClr val="0C0E0C"/>
                </a:solidFill>
                <a:latin typeface="Arial"/>
                <a:cs typeface="Arial"/>
              </a:rPr>
              <a:t>the </a:t>
            </a:r>
            <a:r>
              <a:rPr sz="2850" spc="-70" dirty="0">
                <a:solidFill>
                  <a:srgbClr val="0C0E0C"/>
                </a:solidFill>
                <a:latin typeface="Arial"/>
                <a:cs typeface="Arial"/>
              </a:rPr>
              <a:t>entire</a:t>
            </a:r>
            <a:r>
              <a:rPr sz="2850" spc="-17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290" dirty="0">
                <a:solidFill>
                  <a:srgbClr val="0C0E0C"/>
                </a:solidFill>
                <a:latin typeface="Arial"/>
                <a:cs typeface="Arial"/>
              </a:rPr>
              <a:t>SPY</a:t>
            </a:r>
            <a:r>
              <a:rPr sz="2850" spc="-6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10" dirty="0">
                <a:solidFill>
                  <a:srgbClr val="0C0E0C"/>
                </a:solidFill>
                <a:latin typeface="Arial"/>
                <a:cs typeface="Arial"/>
              </a:rPr>
              <a:t>universe.</a:t>
            </a:r>
            <a:endParaRPr sz="2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09472" y="4870615"/>
            <a:ext cx="5003165" cy="171323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3420"/>
              </a:lnSpc>
              <a:spcBef>
                <a:spcPts val="115"/>
              </a:spcBef>
            </a:pPr>
            <a:r>
              <a:rPr sz="2850" spc="-80" dirty="0">
                <a:solidFill>
                  <a:srgbClr val="0C0E0C"/>
                </a:solidFill>
                <a:latin typeface="Arial"/>
                <a:cs typeface="Arial"/>
              </a:rPr>
              <a:t>Level</a:t>
            </a:r>
            <a:r>
              <a:rPr sz="2850" spc="-9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0C0E0C"/>
                </a:solidFill>
                <a:latin typeface="Arial"/>
                <a:cs typeface="Arial"/>
              </a:rPr>
              <a:t>2:</a:t>
            </a:r>
            <a:r>
              <a:rPr sz="2850" spc="-31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90" dirty="0">
                <a:solidFill>
                  <a:srgbClr val="0C0E0C"/>
                </a:solidFill>
                <a:latin typeface="Arial"/>
                <a:cs typeface="Arial"/>
              </a:rPr>
              <a:t>Subgroup</a:t>
            </a:r>
            <a:r>
              <a:rPr sz="2850" spc="-7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10" dirty="0">
                <a:solidFill>
                  <a:srgbClr val="0C0E0C"/>
                </a:solidFill>
                <a:latin typeface="Arial"/>
                <a:cs typeface="Arial"/>
              </a:rPr>
              <a:t>Metrics</a:t>
            </a:r>
            <a:endParaRPr sz="2850">
              <a:latin typeface="Arial"/>
              <a:cs typeface="Arial"/>
            </a:endParaRPr>
          </a:p>
          <a:p>
            <a:pPr marL="252095" marR="5080" indent="-237490">
              <a:lnSpc>
                <a:spcPts val="3220"/>
              </a:lnSpc>
              <a:spcBef>
                <a:spcPts val="270"/>
              </a:spcBef>
            </a:pPr>
            <a:r>
              <a:rPr sz="2850" dirty="0">
                <a:solidFill>
                  <a:srgbClr val="0C0E0C"/>
                </a:solidFill>
                <a:latin typeface="Arial"/>
                <a:cs typeface="Arial"/>
              </a:rPr>
              <a:t>-</a:t>
            </a:r>
            <a:r>
              <a:rPr sz="2850" spc="17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95" dirty="0">
                <a:solidFill>
                  <a:srgbClr val="0C0E0C"/>
                </a:solidFill>
                <a:latin typeface="Arial"/>
                <a:cs typeface="Arial"/>
              </a:rPr>
              <a:t>Aggregated</a:t>
            </a:r>
            <a:r>
              <a:rPr sz="2850" spc="-13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80" dirty="0">
                <a:solidFill>
                  <a:srgbClr val="0C0E0C"/>
                </a:solidFill>
                <a:latin typeface="Arial"/>
                <a:cs typeface="Arial"/>
              </a:rPr>
              <a:t>performance</a:t>
            </a:r>
            <a:r>
              <a:rPr sz="2850" spc="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0C0E0C"/>
                </a:solidFill>
                <a:latin typeface="Arial"/>
                <a:cs typeface="Arial"/>
              </a:rPr>
              <a:t>for</a:t>
            </a:r>
            <a:r>
              <a:rPr sz="2850" spc="-40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25" dirty="0">
                <a:solidFill>
                  <a:srgbClr val="0C0E0C"/>
                </a:solidFill>
                <a:latin typeface="Arial"/>
                <a:cs typeface="Arial"/>
              </a:rPr>
              <a:t>12 </a:t>
            </a:r>
            <a:r>
              <a:rPr sz="2850" spc="-90" dirty="0">
                <a:solidFill>
                  <a:srgbClr val="0C0E0C"/>
                </a:solidFill>
                <a:latin typeface="Arial"/>
                <a:cs typeface="Arial"/>
              </a:rPr>
              <a:t>Sector</a:t>
            </a:r>
            <a:r>
              <a:rPr sz="2850" spc="-3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245" dirty="0">
                <a:solidFill>
                  <a:srgbClr val="0C0E0C"/>
                </a:solidFill>
                <a:latin typeface="Arial"/>
                <a:cs typeface="Arial"/>
              </a:rPr>
              <a:t>ETFs</a:t>
            </a:r>
            <a:r>
              <a:rPr sz="2850" spc="-4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60" dirty="0">
                <a:solidFill>
                  <a:srgbClr val="0C0E0C"/>
                </a:solidFill>
                <a:latin typeface="Arial"/>
                <a:cs typeface="Arial"/>
              </a:rPr>
              <a:t>vs.</a:t>
            </a:r>
            <a:r>
              <a:rPr sz="2850" spc="-22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10" dirty="0">
                <a:solidFill>
                  <a:srgbClr val="0C0E0C"/>
                </a:solidFill>
                <a:latin typeface="Arial"/>
                <a:cs typeface="Arial"/>
              </a:rPr>
              <a:t>22</a:t>
            </a:r>
            <a:r>
              <a:rPr sz="2850" spc="-34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10" dirty="0">
                <a:solidFill>
                  <a:srgbClr val="0C0E0C"/>
                </a:solidFill>
                <a:latin typeface="Arial"/>
                <a:cs typeface="Arial"/>
              </a:rPr>
              <a:t>Industry ETFs.</a:t>
            </a:r>
            <a:endParaRPr sz="2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09472" y="6925964"/>
            <a:ext cx="5231130" cy="172593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50" spc="-75" dirty="0">
                <a:solidFill>
                  <a:srgbClr val="0C0E0C"/>
                </a:solidFill>
                <a:latin typeface="Arial"/>
                <a:cs typeface="Arial"/>
              </a:rPr>
              <a:t>Level</a:t>
            </a:r>
            <a:r>
              <a:rPr sz="2850" spc="-18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90" dirty="0">
                <a:solidFill>
                  <a:srgbClr val="0C0E0C"/>
                </a:solidFill>
                <a:latin typeface="Arial"/>
                <a:cs typeface="Arial"/>
              </a:rPr>
              <a:t>3:</a:t>
            </a:r>
            <a:r>
              <a:rPr sz="2850" spc="-40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30" dirty="0">
                <a:solidFill>
                  <a:srgbClr val="0C0E0C"/>
                </a:solidFill>
                <a:latin typeface="Arial"/>
                <a:cs typeface="Arial"/>
              </a:rPr>
              <a:t>Idiosyncratic</a:t>
            </a:r>
            <a:r>
              <a:rPr sz="2850" spc="5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10" dirty="0">
                <a:solidFill>
                  <a:srgbClr val="0C0E0C"/>
                </a:solidFill>
                <a:latin typeface="Arial"/>
                <a:cs typeface="Arial"/>
              </a:rPr>
              <a:t>Analysis</a:t>
            </a:r>
            <a:endParaRPr sz="2850">
              <a:latin typeface="Arial"/>
              <a:cs typeface="Arial"/>
            </a:endParaRPr>
          </a:p>
          <a:p>
            <a:pPr marL="257175" marR="5080" indent="-242570">
              <a:lnSpc>
                <a:spcPts val="3220"/>
              </a:lnSpc>
              <a:spcBef>
                <a:spcPts val="370"/>
              </a:spcBef>
            </a:pPr>
            <a:r>
              <a:rPr sz="2850" dirty="0">
                <a:solidFill>
                  <a:srgbClr val="0C0E0C"/>
                </a:solidFill>
                <a:latin typeface="Arial"/>
                <a:cs typeface="Arial"/>
              </a:rPr>
              <a:t>-</a:t>
            </a:r>
            <a:r>
              <a:rPr sz="2850" spc="15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35" dirty="0">
                <a:solidFill>
                  <a:srgbClr val="0C0E0C"/>
                </a:solidFill>
                <a:latin typeface="Arial"/>
                <a:cs typeface="Arial"/>
              </a:rPr>
              <a:t>Identification</a:t>
            </a:r>
            <a:r>
              <a:rPr sz="2850" spc="-30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0C0E0C"/>
                </a:solidFill>
                <a:latin typeface="Arial"/>
                <a:cs typeface="Arial"/>
              </a:rPr>
              <a:t>of</a:t>
            </a:r>
            <a:r>
              <a:rPr sz="2850" spc="-3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10" dirty="0">
                <a:solidFill>
                  <a:srgbClr val="0C0E0C"/>
                </a:solidFill>
                <a:latin typeface="Arial"/>
                <a:cs typeface="Arial"/>
              </a:rPr>
              <a:t>specific </a:t>
            </a:r>
            <a:r>
              <a:rPr sz="2850" spc="-70" dirty="0">
                <a:solidFill>
                  <a:srgbClr val="0C0E0C"/>
                </a:solidFill>
                <a:latin typeface="Arial"/>
                <a:cs typeface="Arial"/>
              </a:rPr>
              <a:t>industries</a:t>
            </a:r>
            <a:r>
              <a:rPr sz="2850" spc="-9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0C0E0C"/>
                </a:solidFill>
                <a:latin typeface="Arial"/>
                <a:cs typeface="Arial"/>
              </a:rPr>
              <a:t>that</a:t>
            </a:r>
            <a:r>
              <a:rPr sz="2850" spc="-9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105" dirty="0">
                <a:solidFill>
                  <a:srgbClr val="0C0E0C"/>
                </a:solidFill>
                <a:latin typeface="Arial"/>
                <a:cs typeface="Arial"/>
              </a:rPr>
              <a:t>are</a:t>
            </a:r>
            <a:r>
              <a:rPr sz="2850" spc="-17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65" dirty="0">
                <a:solidFill>
                  <a:srgbClr val="0C0E0C"/>
                </a:solidFill>
                <a:latin typeface="Arial"/>
                <a:cs typeface="Arial"/>
              </a:rPr>
              <a:t>systematically </a:t>
            </a:r>
            <a:r>
              <a:rPr sz="2850" spc="-75" dirty="0">
                <a:solidFill>
                  <a:srgbClr val="0C0E0C"/>
                </a:solidFill>
                <a:latin typeface="Arial"/>
                <a:cs typeface="Arial"/>
              </a:rPr>
              <a:t>harder</a:t>
            </a:r>
            <a:r>
              <a:rPr sz="2850" spc="-5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40" dirty="0">
                <a:solidFill>
                  <a:srgbClr val="0C0E0C"/>
                </a:solidFill>
                <a:latin typeface="Arial"/>
                <a:cs typeface="Arial"/>
              </a:rPr>
              <a:t>or</a:t>
            </a:r>
            <a:r>
              <a:rPr sz="2850" spc="-16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125" dirty="0">
                <a:solidFill>
                  <a:srgbClr val="0C0E0C"/>
                </a:solidFill>
                <a:latin typeface="Arial"/>
                <a:cs typeface="Arial"/>
              </a:rPr>
              <a:t>easier</a:t>
            </a:r>
            <a:r>
              <a:rPr sz="2850" spc="-70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65" dirty="0">
                <a:solidFill>
                  <a:srgbClr val="0C0E0C"/>
                </a:solidFill>
                <a:latin typeface="Arial"/>
                <a:cs typeface="Arial"/>
              </a:rPr>
              <a:t>to</a:t>
            </a:r>
            <a:r>
              <a:rPr sz="2850" spc="-195" dirty="0">
                <a:solidFill>
                  <a:srgbClr val="0C0E0C"/>
                </a:solidFill>
                <a:latin typeface="Arial"/>
                <a:cs typeface="Arial"/>
              </a:rPr>
              <a:t> </a:t>
            </a:r>
            <a:r>
              <a:rPr sz="2850" spc="-10" dirty="0">
                <a:solidFill>
                  <a:srgbClr val="0C0E0C"/>
                </a:solidFill>
                <a:latin typeface="Arial"/>
                <a:cs typeface="Arial"/>
              </a:rPr>
              <a:t>forecast.</a:t>
            </a:r>
            <a:endParaRPr sz="2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39560" y="7901042"/>
            <a:ext cx="3030855" cy="1067435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  <a:tabLst>
                <a:tab pos="1842770" algn="l"/>
              </a:tabLst>
            </a:pPr>
            <a:r>
              <a:rPr sz="2700" spc="-10" dirty="0">
                <a:solidFill>
                  <a:srgbClr val="0C0E0C"/>
                </a:solidFill>
                <a:latin typeface="Arial"/>
                <a:cs typeface="Arial"/>
              </a:rPr>
              <a:t>Se</a:t>
            </a:r>
            <a:r>
              <a:rPr sz="2700" spc="-10" dirty="0">
                <a:solidFill>
                  <a:srgbClr val="313133"/>
                </a:solidFill>
                <a:latin typeface="Arial"/>
                <a:cs typeface="Arial"/>
              </a:rPr>
              <a:t>c</a:t>
            </a:r>
            <a:r>
              <a:rPr sz="2700" spc="-10" dirty="0">
                <a:solidFill>
                  <a:srgbClr val="0C0E0C"/>
                </a:solidFill>
                <a:latin typeface="Arial"/>
                <a:cs typeface="Arial"/>
              </a:rPr>
              <a:t>tor</a:t>
            </a:r>
            <a:r>
              <a:rPr sz="2700" dirty="0">
                <a:solidFill>
                  <a:srgbClr val="0C0E0C"/>
                </a:solidFill>
                <a:latin typeface="Arial"/>
                <a:cs typeface="Arial"/>
              </a:rPr>
              <a:t>	</a:t>
            </a:r>
            <a:r>
              <a:rPr sz="2700" spc="-45" dirty="0">
                <a:solidFill>
                  <a:srgbClr val="0C0E0C"/>
                </a:solidFill>
                <a:latin typeface="Arial"/>
                <a:cs typeface="Arial"/>
              </a:rPr>
              <a:t>Industry</a:t>
            </a:r>
            <a:endParaRPr sz="2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1030"/>
              </a:spcBef>
            </a:pPr>
            <a:r>
              <a:rPr sz="2250" spc="-70" dirty="0">
                <a:solidFill>
                  <a:srgbClr val="60676D"/>
                </a:solidFill>
                <a:latin typeface="Arial"/>
                <a:cs typeface="Arial"/>
              </a:rPr>
              <a:t>Forecast</a:t>
            </a:r>
            <a:r>
              <a:rPr sz="2250" spc="-30" dirty="0">
                <a:solidFill>
                  <a:srgbClr val="60676D"/>
                </a:solidFill>
                <a:latin typeface="Arial"/>
                <a:cs typeface="Arial"/>
              </a:rPr>
              <a:t> </a:t>
            </a:r>
            <a:r>
              <a:rPr sz="2250" spc="-70" dirty="0">
                <a:solidFill>
                  <a:srgbClr val="60676D"/>
                </a:solidFill>
                <a:latin typeface="Arial"/>
                <a:cs typeface="Arial"/>
              </a:rPr>
              <a:t>Error</a:t>
            </a:r>
            <a:r>
              <a:rPr sz="2250" spc="-114" dirty="0">
                <a:solidFill>
                  <a:srgbClr val="60676D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60676D"/>
                </a:solidFill>
                <a:latin typeface="Arial"/>
                <a:cs typeface="Arial"/>
              </a:rPr>
              <a:t>Variance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5912" y="3089671"/>
            <a:ext cx="407581" cy="2297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1272" y="4749270"/>
            <a:ext cx="1044427" cy="9702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66337" y="4264157"/>
            <a:ext cx="917058" cy="12766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42985" y="2987542"/>
            <a:ext cx="4814554" cy="28085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864286" y="2936477"/>
            <a:ext cx="2878543" cy="2859616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406974" y="2987541"/>
            <a:ext cx="0" cy="1276985"/>
          </a:xfrm>
          <a:custGeom>
            <a:avLst/>
            <a:gdLst/>
            <a:ahLst/>
            <a:cxnLst/>
            <a:rect l="l" t="t" r="r" b="b"/>
            <a:pathLst>
              <a:path h="1276985">
                <a:moveTo>
                  <a:pt x="0" y="127661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896282" y="1940718"/>
            <a:ext cx="4789170" cy="128270"/>
          </a:xfrm>
          <a:custGeom>
            <a:avLst/>
            <a:gdLst/>
            <a:ahLst/>
            <a:cxnLst/>
            <a:rect l="l" t="t" r="r" b="b"/>
            <a:pathLst>
              <a:path w="4789169" h="128269">
                <a:moveTo>
                  <a:pt x="0" y="0"/>
                </a:moveTo>
                <a:lnTo>
                  <a:pt x="4789082" y="0"/>
                </a:lnTo>
                <a:lnTo>
                  <a:pt x="4789082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5162" y="1940718"/>
            <a:ext cx="4789170" cy="128270"/>
          </a:xfrm>
          <a:custGeom>
            <a:avLst/>
            <a:gdLst/>
            <a:ahLst/>
            <a:cxnLst/>
            <a:rect l="l" t="t" r="r" b="b"/>
            <a:pathLst>
              <a:path w="4789170" h="128269">
                <a:moveTo>
                  <a:pt x="0" y="0"/>
                </a:moveTo>
                <a:lnTo>
                  <a:pt x="4789081" y="0"/>
                </a:lnTo>
                <a:lnTo>
                  <a:pt x="4789081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68459" y="1940718"/>
            <a:ext cx="4789170" cy="128270"/>
          </a:xfrm>
          <a:custGeom>
            <a:avLst/>
            <a:gdLst/>
            <a:ahLst/>
            <a:cxnLst/>
            <a:rect l="l" t="t" r="r" b="b"/>
            <a:pathLst>
              <a:path w="4789170" h="128269">
                <a:moveTo>
                  <a:pt x="0" y="0"/>
                </a:moveTo>
                <a:lnTo>
                  <a:pt x="4789081" y="0"/>
                </a:lnTo>
                <a:lnTo>
                  <a:pt x="4789081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81500" y="5630133"/>
            <a:ext cx="1223010" cy="0"/>
          </a:xfrm>
          <a:custGeom>
            <a:avLst/>
            <a:gdLst/>
            <a:ahLst/>
            <a:cxnLst/>
            <a:rect l="l" t="t" r="r" b="b"/>
            <a:pathLst>
              <a:path w="1223010">
                <a:moveTo>
                  <a:pt x="0" y="0"/>
                </a:moveTo>
                <a:lnTo>
                  <a:pt x="1222744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5162" y="5655665"/>
            <a:ext cx="866140" cy="0"/>
          </a:xfrm>
          <a:custGeom>
            <a:avLst/>
            <a:gdLst/>
            <a:ahLst/>
            <a:cxnLst/>
            <a:rect l="l" t="t" r="r" b="b"/>
            <a:pathLst>
              <a:path w="866139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5162" y="7506756"/>
            <a:ext cx="15870555" cy="0"/>
          </a:xfrm>
          <a:custGeom>
            <a:avLst/>
            <a:gdLst/>
            <a:ahLst/>
            <a:cxnLst/>
            <a:rect l="l" t="t" r="r" b="b"/>
            <a:pathLst>
              <a:path w="15870555">
                <a:moveTo>
                  <a:pt x="0" y="0"/>
                </a:moveTo>
                <a:lnTo>
                  <a:pt x="15870201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120"/>
              </a:spcBef>
            </a:pPr>
            <a:r>
              <a:rPr sz="4450" spc="65" dirty="0">
                <a:solidFill>
                  <a:srgbClr val="081F4F"/>
                </a:solidFill>
              </a:rPr>
              <a:t>Planned</a:t>
            </a:r>
            <a:r>
              <a:rPr sz="4450" spc="140" dirty="0">
                <a:solidFill>
                  <a:srgbClr val="081F4F"/>
                </a:solidFill>
              </a:rPr>
              <a:t> </a:t>
            </a:r>
            <a:r>
              <a:rPr sz="4450" dirty="0">
                <a:solidFill>
                  <a:srgbClr val="081F4F"/>
                </a:solidFill>
              </a:rPr>
              <a:t>Exploratory</a:t>
            </a:r>
            <a:r>
              <a:rPr sz="4450" spc="475" dirty="0">
                <a:solidFill>
                  <a:srgbClr val="081F4F"/>
                </a:solidFill>
              </a:rPr>
              <a:t> </a:t>
            </a:r>
            <a:r>
              <a:rPr sz="4450" spc="114" dirty="0">
                <a:solidFill>
                  <a:srgbClr val="081F4F"/>
                </a:solidFill>
              </a:rPr>
              <a:t>Data</a:t>
            </a:r>
            <a:r>
              <a:rPr sz="4450" spc="265" dirty="0">
                <a:solidFill>
                  <a:srgbClr val="081F4F"/>
                </a:solidFill>
              </a:rPr>
              <a:t> </a:t>
            </a:r>
            <a:r>
              <a:rPr sz="4450" dirty="0">
                <a:solidFill>
                  <a:srgbClr val="081F4F"/>
                </a:solidFill>
              </a:rPr>
              <a:t>Analysis</a:t>
            </a:r>
            <a:r>
              <a:rPr sz="4450" spc="380" dirty="0">
                <a:solidFill>
                  <a:srgbClr val="081F4F"/>
                </a:solidFill>
              </a:rPr>
              <a:t> </a:t>
            </a:r>
            <a:r>
              <a:rPr sz="4450" spc="-10" dirty="0">
                <a:solidFill>
                  <a:srgbClr val="081F4F"/>
                </a:solidFill>
              </a:rPr>
              <a:t>(EDA)</a:t>
            </a:r>
            <a:endParaRPr sz="4450"/>
          </a:p>
        </p:txBody>
      </p:sp>
      <p:sp>
        <p:nvSpPr>
          <p:cNvPr id="15" name="object 15"/>
          <p:cNvSpPr txBox="1"/>
          <p:nvPr/>
        </p:nvSpPr>
        <p:spPr>
          <a:xfrm>
            <a:off x="813709" y="2208873"/>
            <a:ext cx="4345940" cy="4851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b="1" spc="50" dirty="0">
                <a:solidFill>
                  <a:srgbClr val="050C18"/>
                </a:solidFill>
                <a:latin typeface="Arial"/>
                <a:cs typeface="Arial"/>
              </a:rPr>
              <a:t>Distributions</a:t>
            </a:r>
            <a:r>
              <a:rPr sz="2900" b="1" spc="-114" dirty="0">
                <a:solidFill>
                  <a:srgbClr val="050C18"/>
                </a:solidFill>
                <a:latin typeface="Arial"/>
                <a:cs typeface="Arial"/>
              </a:rPr>
              <a:t> </a:t>
            </a:r>
            <a:r>
              <a:rPr sz="3000" b="1" spc="-30" dirty="0">
                <a:solidFill>
                  <a:srgbClr val="050C18"/>
                </a:solidFill>
                <a:latin typeface="Arial"/>
                <a:cs typeface="Arial"/>
              </a:rPr>
              <a:t>&amp;</a:t>
            </a:r>
            <a:r>
              <a:rPr sz="3000" b="1" spc="-355" dirty="0">
                <a:solidFill>
                  <a:srgbClr val="050C18"/>
                </a:solidFill>
                <a:latin typeface="Arial"/>
                <a:cs typeface="Arial"/>
              </a:rPr>
              <a:t> </a:t>
            </a:r>
            <a:r>
              <a:rPr sz="2900" b="1" spc="114" dirty="0">
                <a:solidFill>
                  <a:srgbClr val="050C18"/>
                </a:solidFill>
                <a:latin typeface="Arial"/>
                <a:cs typeface="Arial"/>
              </a:rPr>
              <a:t>Fat</a:t>
            </a:r>
            <a:r>
              <a:rPr sz="2900" b="1" spc="-150" dirty="0">
                <a:solidFill>
                  <a:srgbClr val="050C18"/>
                </a:solidFill>
                <a:latin typeface="Arial"/>
                <a:cs typeface="Arial"/>
              </a:rPr>
              <a:t> </a:t>
            </a:r>
            <a:r>
              <a:rPr sz="2900" b="1" spc="-10" dirty="0">
                <a:solidFill>
                  <a:srgbClr val="050C18"/>
                </a:solidFill>
                <a:latin typeface="Arial"/>
                <a:cs typeface="Arial"/>
              </a:rPr>
              <a:t>Tails</a:t>
            </a:r>
            <a:endParaRPr sz="2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97728" y="3415274"/>
            <a:ext cx="570865" cy="4470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4125" spc="-502" baseline="-20202" dirty="0">
                <a:solidFill>
                  <a:srgbClr val="9EA3A8"/>
                </a:solidFill>
                <a:latin typeface="Arial"/>
                <a:cs typeface="Arial"/>
              </a:rPr>
              <a:t>..</a:t>
            </a:r>
            <a:r>
              <a:rPr sz="3300" spc="-502" baseline="-10101" dirty="0">
                <a:solidFill>
                  <a:srgbClr val="9EA3A8"/>
                </a:solidFill>
                <a:latin typeface="Arial"/>
                <a:cs typeface="Arial"/>
              </a:rPr>
              <a:t>.</a:t>
            </a:r>
            <a:r>
              <a:rPr sz="2500" spc="-335" dirty="0">
                <a:solidFill>
                  <a:srgbClr val="9EA3A8"/>
                </a:solidFill>
                <a:latin typeface="Arial"/>
                <a:cs typeface="Arial"/>
              </a:rPr>
              <a:t>.....</a:t>
            </a:r>
            <a:r>
              <a:rPr sz="3750" spc="-502" baseline="-8888" dirty="0">
                <a:solidFill>
                  <a:srgbClr val="9EA3A8"/>
                </a:solidFill>
                <a:latin typeface="Arial"/>
                <a:cs typeface="Arial"/>
              </a:rPr>
              <a:t>.</a:t>
            </a:r>
            <a:r>
              <a:rPr sz="3750" spc="-502" baseline="-22222" dirty="0">
                <a:solidFill>
                  <a:srgbClr val="909397"/>
                </a:solidFill>
                <a:latin typeface="Arial"/>
                <a:cs typeface="Arial"/>
              </a:rPr>
              <a:t>.</a:t>
            </a:r>
            <a:endParaRPr sz="3750" baseline="-22222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85679" y="4098263"/>
            <a:ext cx="18859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300" spc="-150" baseline="-22727" dirty="0">
                <a:solidFill>
                  <a:srgbClr val="9EA3A8"/>
                </a:solidFill>
                <a:latin typeface="Arial"/>
                <a:cs typeface="Arial"/>
              </a:rPr>
              <a:t>.</a:t>
            </a:r>
            <a:r>
              <a:rPr sz="3300" spc="-150" baseline="-10101" dirty="0">
                <a:solidFill>
                  <a:srgbClr val="9EA3A8"/>
                </a:solidFill>
                <a:latin typeface="Arial"/>
                <a:cs typeface="Arial"/>
              </a:rPr>
              <a:t>.</a:t>
            </a:r>
            <a:r>
              <a:rPr sz="1000" spc="-100" dirty="0">
                <a:solidFill>
                  <a:srgbClr val="909397"/>
                </a:solidFill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56654" y="4264223"/>
            <a:ext cx="125095" cy="408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50" spc="-217" baseline="-4444" dirty="0">
                <a:solidFill>
                  <a:srgbClr val="9EA3A8"/>
                </a:solidFill>
                <a:latin typeface="Arial"/>
                <a:cs typeface="Arial"/>
              </a:rPr>
              <a:t>.</a:t>
            </a:r>
            <a:r>
              <a:rPr sz="1200" spc="-145" dirty="0">
                <a:solidFill>
                  <a:srgbClr val="9EA3A8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42097" y="4379118"/>
            <a:ext cx="201295" cy="408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750" spc="-172" baseline="-15555" dirty="0">
                <a:solidFill>
                  <a:srgbClr val="909397"/>
                </a:solidFill>
                <a:latin typeface="Arial"/>
                <a:cs typeface="Arial"/>
              </a:rPr>
              <a:t>.</a:t>
            </a:r>
            <a:r>
              <a:rPr sz="1800" spc="-172" baseline="-23148" dirty="0">
                <a:solidFill>
                  <a:srgbClr val="9EA3A8"/>
                </a:solidFill>
                <a:latin typeface="Arial"/>
                <a:cs typeface="Arial"/>
              </a:rPr>
              <a:t>•</a:t>
            </a:r>
            <a:r>
              <a:rPr sz="1200" spc="-114" dirty="0">
                <a:solidFill>
                  <a:srgbClr val="9EA3A8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03811" y="4557844"/>
            <a:ext cx="137795" cy="408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50" spc="-142" baseline="-4444" dirty="0">
                <a:solidFill>
                  <a:srgbClr val="909397"/>
                </a:solidFill>
                <a:latin typeface="Arial"/>
                <a:cs typeface="Arial"/>
              </a:rPr>
              <a:t>.</a:t>
            </a:r>
            <a:r>
              <a:rPr sz="1200" spc="-95" dirty="0">
                <a:solidFill>
                  <a:srgbClr val="9EA3A8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63780" y="4672740"/>
            <a:ext cx="239395" cy="408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750" spc="75" baseline="-22222" dirty="0">
                <a:solidFill>
                  <a:srgbClr val="9EA3A8"/>
                </a:solidFill>
                <a:latin typeface="Arial"/>
                <a:cs typeface="Arial"/>
              </a:rPr>
              <a:t>.</a:t>
            </a:r>
            <a:r>
              <a:rPr sz="1200" spc="50" dirty="0">
                <a:solidFill>
                  <a:srgbClr val="9EA3A8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2018" y="5502539"/>
            <a:ext cx="906144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65" dirty="0">
                <a:solidFill>
                  <a:srgbClr val="9EA3A8"/>
                </a:solidFill>
                <a:latin typeface="Arial"/>
                <a:cs typeface="Arial"/>
              </a:rPr>
              <a:t>......</a:t>
            </a:r>
            <a:r>
              <a:rPr sz="1700" spc="-65" dirty="0">
                <a:solidFill>
                  <a:srgbClr val="909397"/>
                </a:solidFill>
                <a:latin typeface="Arial"/>
                <a:cs typeface="Arial"/>
              </a:rPr>
              <a:t>-</a:t>
            </a:r>
            <a:r>
              <a:rPr sz="2000" spc="-55" dirty="0">
                <a:solidFill>
                  <a:srgbClr val="9EA3A8"/>
                </a:solidFill>
                <a:latin typeface="Arial"/>
                <a:cs typeface="Arial"/>
              </a:rPr>
              <a:t>.......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68005" y="5591903"/>
            <a:ext cx="1082675" cy="297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60"/>
              </a:lnSpc>
              <a:spcBef>
                <a:spcPts val="105"/>
              </a:spcBef>
            </a:pPr>
            <a:r>
              <a:rPr sz="800" spc="-25" dirty="0">
                <a:solidFill>
                  <a:srgbClr val="909397"/>
                </a:solidFill>
                <a:latin typeface="Arial"/>
                <a:cs typeface="Arial"/>
              </a:rPr>
              <a:t>'•,</a:t>
            </a:r>
            <a:endParaRPr sz="800">
              <a:latin typeface="Arial"/>
              <a:cs typeface="Arial"/>
            </a:endParaRPr>
          </a:p>
          <a:p>
            <a:pPr marL="122555">
              <a:lnSpc>
                <a:spcPts val="1580"/>
              </a:lnSpc>
            </a:pPr>
            <a:r>
              <a:rPr sz="1650" spc="-420" dirty="0">
                <a:solidFill>
                  <a:srgbClr val="9EA3A8"/>
                </a:solidFill>
                <a:latin typeface="Courier New"/>
                <a:cs typeface="Courier New"/>
              </a:rPr>
              <a:t>··</a:t>
            </a:r>
            <a:r>
              <a:rPr sz="1650" spc="-420" dirty="0">
                <a:solidFill>
                  <a:srgbClr val="808387"/>
                </a:solidFill>
                <a:latin typeface="Courier New"/>
                <a:cs typeface="Courier New"/>
              </a:rPr>
              <a:t>··</a:t>
            </a:r>
            <a:r>
              <a:rPr sz="1650" spc="-420" dirty="0">
                <a:solidFill>
                  <a:srgbClr val="9EA3A8"/>
                </a:solidFill>
                <a:latin typeface="Courier New"/>
                <a:cs typeface="Courier New"/>
              </a:rPr>
              <a:t>··-----</a:t>
            </a:r>
            <a:r>
              <a:rPr sz="1650" spc="-450" dirty="0">
                <a:solidFill>
                  <a:srgbClr val="9EA3A8"/>
                </a:solidFill>
                <a:latin typeface="Courier New"/>
                <a:cs typeface="Courier New"/>
              </a:rPr>
              <a:t>··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5436" y="6051484"/>
            <a:ext cx="4641850" cy="70739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2540">
              <a:lnSpc>
                <a:spcPct val="102800"/>
              </a:lnSpc>
              <a:spcBef>
                <a:spcPts val="35"/>
              </a:spcBef>
            </a:pPr>
            <a:r>
              <a:rPr sz="2200" dirty="0">
                <a:solidFill>
                  <a:srgbClr val="1C1D21"/>
                </a:solidFill>
                <a:latin typeface="Arial"/>
                <a:cs typeface="Arial"/>
              </a:rPr>
              <a:t>Analyzing</a:t>
            </a:r>
            <a:r>
              <a:rPr sz="2200" spc="325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75" dirty="0">
                <a:solidFill>
                  <a:srgbClr val="1C1D21"/>
                </a:solidFill>
                <a:latin typeface="Arial"/>
                <a:cs typeface="Arial"/>
              </a:rPr>
              <a:t>price/return</a:t>
            </a:r>
            <a:r>
              <a:rPr sz="2200" spc="220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70" dirty="0">
                <a:solidFill>
                  <a:srgbClr val="1C1D21"/>
                </a:solidFill>
                <a:latin typeface="Arial"/>
                <a:cs typeface="Arial"/>
              </a:rPr>
              <a:t>distributions </a:t>
            </a:r>
            <a:r>
              <a:rPr sz="2200" spc="65" dirty="0">
                <a:solidFill>
                  <a:srgbClr val="2D2D31"/>
                </a:solidFill>
                <a:latin typeface="Arial"/>
                <a:cs typeface="Arial"/>
              </a:rPr>
              <a:t>for</a:t>
            </a:r>
            <a:r>
              <a:rPr sz="2200" spc="90" dirty="0">
                <a:solidFill>
                  <a:srgbClr val="2D2D31"/>
                </a:solidFill>
                <a:latin typeface="Arial"/>
                <a:cs typeface="Arial"/>
              </a:rPr>
              <a:t> </a:t>
            </a:r>
            <a:r>
              <a:rPr sz="2200" spc="90" dirty="0">
                <a:solidFill>
                  <a:srgbClr val="1C1D21"/>
                </a:solidFill>
                <a:latin typeface="Arial"/>
                <a:cs typeface="Arial"/>
              </a:rPr>
              <a:t>non-</a:t>
            </a:r>
            <a:r>
              <a:rPr sz="2200" spc="70" dirty="0">
                <a:solidFill>
                  <a:srgbClr val="1C1D21"/>
                </a:solidFill>
                <a:latin typeface="Arial"/>
                <a:cs typeface="Arial"/>
              </a:rPr>
              <a:t>normality.</a:t>
            </a:r>
            <a:endParaRPr sz="2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68496" y="2221639"/>
            <a:ext cx="3611245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b="1" dirty="0">
                <a:solidFill>
                  <a:srgbClr val="050C18"/>
                </a:solidFill>
                <a:latin typeface="Arial"/>
                <a:cs typeface="Arial"/>
              </a:rPr>
              <a:t>Volatility</a:t>
            </a:r>
            <a:r>
              <a:rPr sz="2900" b="1" spc="330" dirty="0">
                <a:solidFill>
                  <a:srgbClr val="050C18"/>
                </a:solidFill>
                <a:latin typeface="Arial"/>
                <a:cs typeface="Arial"/>
              </a:rPr>
              <a:t> </a:t>
            </a:r>
            <a:r>
              <a:rPr sz="2900" b="1" spc="40" dirty="0">
                <a:solidFill>
                  <a:srgbClr val="050C18"/>
                </a:solidFill>
                <a:latin typeface="Arial"/>
                <a:cs typeface="Arial"/>
              </a:rPr>
              <a:t>Clustering</a:t>
            </a:r>
            <a:endParaRPr sz="29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65133" y="6051484"/>
            <a:ext cx="3759200" cy="10648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1905">
              <a:lnSpc>
                <a:spcPct val="102800"/>
              </a:lnSpc>
              <a:spcBef>
                <a:spcPts val="35"/>
              </a:spcBef>
            </a:pPr>
            <a:r>
              <a:rPr sz="2200" dirty="0">
                <a:solidFill>
                  <a:srgbClr val="1C1D21"/>
                </a:solidFill>
                <a:latin typeface="Arial"/>
                <a:cs typeface="Arial"/>
              </a:rPr>
              <a:t>Visualizing</a:t>
            </a:r>
            <a:r>
              <a:rPr sz="2200" spc="310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60" dirty="0">
                <a:solidFill>
                  <a:srgbClr val="1C1D21"/>
                </a:solidFill>
                <a:latin typeface="Arial"/>
                <a:cs typeface="Arial"/>
              </a:rPr>
              <a:t>persistence:</a:t>
            </a:r>
            <a:r>
              <a:rPr sz="2200" spc="55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65" dirty="0">
                <a:solidFill>
                  <a:srgbClr val="1C1D21"/>
                </a:solidFill>
                <a:latin typeface="Arial"/>
                <a:cs typeface="Arial"/>
              </a:rPr>
              <a:t>high </a:t>
            </a:r>
            <a:r>
              <a:rPr sz="2200" spc="70" dirty="0">
                <a:solidFill>
                  <a:srgbClr val="1C1D21"/>
                </a:solidFill>
                <a:latin typeface="Arial"/>
                <a:cs typeface="Arial"/>
              </a:rPr>
              <a:t>volatility</a:t>
            </a:r>
            <a:r>
              <a:rPr sz="2200" spc="-55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70" dirty="0">
                <a:solidFill>
                  <a:srgbClr val="1C1D21"/>
                </a:solidFill>
                <a:latin typeface="Arial"/>
                <a:cs typeface="Arial"/>
              </a:rPr>
              <a:t>is</a:t>
            </a:r>
            <a:r>
              <a:rPr sz="2200" spc="-15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75" dirty="0">
                <a:solidFill>
                  <a:srgbClr val="1C1D21"/>
                </a:solidFill>
                <a:latin typeface="Arial"/>
                <a:cs typeface="Arial"/>
              </a:rPr>
              <a:t>followed</a:t>
            </a:r>
            <a:r>
              <a:rPr sz="2200" spc="60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100" dirty="0">
                <a:solidFill>
                  <a:srgbClr val="1C1D21"/>
                </a:solidFill>
                <a:latin typeface="Arial"/>
                <a:cs typeface="Arial"/>
              </a:rPr>
              <a:t>by</a:t>
            </a:r>
            <a:r>
              <a:rPr sz="2200" spc="-40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65" dirty="0">
                <a:solidFill>
                  <a:srgbClr val="1C1D21"/>
                </a:solidFill>
                <a:latin typeface="Arial"/>
                <a:cs typeface="Arial"/>
              </a:rPr>
              <a:t>high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2200" spc="45" dirty="0">
                <a:solidFill>
                  <a:srgbClr val="1C1D21"/>
                </a:solidFill>
                <a:latin typeface="Arial"/>
                <a:cs typeface="Arial"/>
              </a:rPr>
              <a:t>volatility.</a:t>
            </a:r>
            <a:endParaRPr sz="2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891694" y="2208873"/>
            <a:ext cx="4288790" cy="4851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b="1" dirty="0">
                <a:solidFill>
                  <a:srgbClr val="050C18"/>
                </a:solidFill>
                <a:latin typeface="Arial"/>
                <a:cs typeface="Arial"/>
              </a:rPr>
              <a:t>Correlations</a:t>
            </a:r>
            <a:r>
              <a:rPr sz="2900" b="1" spc="300" dirty="0">
                <a:solidFill>
                  <a:srgbClr val="050C18"/>
                </a:solidFill>
                <a:latin typeface="Arial"/>
                <a:cs typeface="Arial"/>
              </a:rPr>
              <a:t> </a:t>
            </a:r>
            <a:r>
              <a:rPr sz="3000" b="1" spc="-30" dirty="0">
                <a:solidFill>
                  <a:srgbClr val="050C18"/>
                </a:solidFill>
                <a:latin typeface="Arial"/>
                <a:cs typeface="Arial"/>
              </a:rPr>
              <a:t>&amp;</a:t>
            </a:r>
            <a:r>
              <a:rPr sz="3000" b="1" spc="-185" dirty="0">
                <a:solidFill>
                  <a:srgbClr val="050C18"/>
                </a:solidFill>
                <a:latin typeface="Arial"/>
                <a:cs typeface="Arial"/>
              </a:rPr>
              <a:t> </a:t>
            </a:r>
            <a:r>
              <a:rPr sz="2900" b="1" spc="-10" dirty="0">
                <a:solidFill>
                  <a:srgbClr val="050C18"/>
                </a:solidFill>
                <a:latin typeface="Arial"/>
                <a:cs typeface="Arial"/>
              </a:rPr>
              <a:t>Regimes</a:t>
            </a:r>
            <a:endParaRPr sz="2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897847" y="6031059"/>
            <a:ext cx="4381500" cy="108521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indent="635">
              <a:lnSpc>
                <a:spcPct val="104700"/>
              </a:lnSpc>
              <a:spcBef>
                <a:spcPts val="145"/>
              </a:spcBef>
            </a:pPr>
            <a:r>
              <a:rPr sz="2200" spc="60" dirty="0">
                <a:solidFill>
                  <a:srgbClr val="1C1D21"/>
                </a:solidFill>
                <a:latin typeface="Arial"/>
                <a:cs typeface="Arial"/>
              </a:rPr>
              <a:t>Heatmaps</a:t>
            </a:r>
            <a:r>
              <a:rPr sz="2200" spc="-15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85" dirty="0">
                <a:solidFill>
                  <a:srgbClr val="1C1D21"/>
                </a:solidFill>
                <a:latin typeface="Arial"/>
                <a:cs typeface="Arial"/>
              </a:rPr>
              <a:t>showing</a:t>
            </a:r>
            <a:r>
              <a:rPr sz="2200" spc="-90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114" dirty="0">
                <a:solidFill>
                  <a:srgbClr val="2D2D31"/>
                </a:solidFill>
                <a:latin typeface="Arial"/>
                <a:cs typeface="Arial"/>
              </a:rPr>
              <a:t>how</a:t>
            </a:r>
            <a:r>
              <a:rPr sz="2200" spc="-45" dirty="0">
                <a:solidFill>
                  <a:srgbClr val="2D2D31"/>
                </a:solidFill>
                <a:latin typeface="Arial"/>
                <a:cs typeface="Arial"/>
              </a:rPr>
              <a:t> </a:t>
            </a:r>
            <a:r>
              <a:rPr sz="2200" spc="50" dirty="0">
                <a:solidFill>
                  <a:srgbClr val="1C1D21"/>
                </a:solidFill>
                <a:latin typeface="Arial"/>
                <a:cs typeface="Arial"/>
              </a:rPr>
              <a:t>Sector </a:t>
            </a:r>
            <a:r>
              <a:rPr sz="2200" spc="55" dirty="0">
                <a:solidFill>
                  <a:srgbClr val="1C1D21"/>
                </a:solidFill>
                <a:latin typeface="Arial"/>
                <a:cs typeface="Arial"/>
              </a:rPr>
              <a:t>correlations</a:t>
            </a:r>
            <a:r>
              <a:rPr sz="2200" spc="105" dirty="0">
                <a:solidFill>
                  <a:srgbClr val="1C1D21"/>
                </a:solidFill>
                <a:latin typeface="Arial"/>
                <a:cs typeface="Arial"/>
              </a:rPr>
              <a:t> tighten</a:t>
            </a:r>
            <a:r>
              <a:rPr sz="2200" spc="-20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75" dirty="0">
                <a:solidFill>
                  <a:srgbClr val="1C1D21"/>
                </a:solidFill>
                <a:latin typeface="Arial"/>
                <a:cs typeface="Arial"/>
              </a:rPr>
              <a:t>during</a:t>
            </a:r>
            <a:r>
              <a:rPr sz="2200" spc="10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55" dirty="0">
                <a:solidFill>
                  <a:srgbClr val="2D2D31"/>
                </a:solidFill>
                <a:latin typeface="Arial"/>
                <a:cs typeface="Arial"/>
              </a:rPr>
              <a:t>stress </a:t>
            </a:r>
            <a:r>
              <a:rPr sz="2200" spc="50" dirty="0">
                <a:solidFill>
                  <a:srgbClr val="1C1D21"/>
                </a:solidFill>
                <a:latin typeface="Arial"/>
                <a:cs typeface="Arial"/>
              </a:rPr>
              <a:t>periods.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3709" y="7711082"/>
            <a:ext cx="4000500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b="1" spc="105" dirty="0">
                <a:solidFill>
                  <a:srgbClr val="050C18"/>
                </a:solidFill>
                <a:latin typeface="Arial"/>
                <a:cs typeface="Arial"/>
              </a:rPr>
              <a:t>Data</a:t>
            </a:r>
            <a:r>
              <a:rPr sz="2900" b="1" spc="-105" dirty="0">
                <a:solidFill>
                  <a:srgbClr val="050C18"/>
                </a:solidFill>
                <a:latin typeface="Arial"/>
                <a:cs typeface="Arial"/>
              </a:rPr>
              <a:t> </a:t>
            </a:r>
            <a:r>
              <a:rPr sz="2900" b="1" spc="70" dirty="0">
                <a:solidFill>
                  <a:srgbClr val="050C18"/>
                </a:solidFill>
                <a:latin typeface="Arial"/>
                <a:cs typeface="Arial"/>
              </a:rPr>
              <a:t>Integrity</a:t>
            </a:r>
            <a:r>
              <a:rPr sz="2900" b="1" spc="-60" dirty="0">
                <a:solidFill>
                  <a:srgbClr val="050C18"/>
                </a:solidFill>
                <a:latin typeface="Arial"/>
                <a:cs typeface="Arial"/>
              </a:rPr>
              <a:t> </a:t>
            </a:r>
            <a:r>
              <a:rPr sz="2900" b="1" spc="85" dirty="0">
                <a:solidFill>
                  <a:srgbClr val="050C18"/>
                </a:solidFill>
                <a:latin typeface="Arial"/>
                <a:cs typeface="Arial"/>
              </a:rPr>
              <a:t>Checks</a:t>
            </a:r>
            <a:endParaRPr sz="2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59809" y="7652671"/>
            <a:ext cx="6597015" cy="90487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80035" indent="-267335">
              <a:lnSpc>
                <a:spcPct val="100000"/>
              </a:lnSpc>
              <a:spcBef>
                <a:spcPts val="320"/>
              </a:spcBef>
              <a:buClr>
                <a:srgbClr val="1C1D21"/>
              </a:buClr>
              <a:buChar char="-"/>
              <a:tabLst>
                <a:tab pos="280035" algn="l"/>
                <a:tab pos="5511800" algn="l"/>
              </a:tabLst>
            </a:pPr>
            <a:r>
              <a:rPr sz="2200" spc="95" dirty="0">
                <a:solidFill>
                  <a:srgbClr val="050C18"/>
                </a:solidFill>
                <a:latin typeface="Arial"/>
                <a:cs typeface="Arial"/>
              </a:rPr>
              <a:t>Missi</a:t>
            </a:r>
            <a:r>
              <a:rPr sz="2200" spc="95" dirty="0">
                <a:solidFill>
                  <a:srgbClr val="2D2D31"/>
                </a:solidFill>
                <a:latin typeface="Arial"/>
                <a:cs typeface="Arial"/>
              </a:rPr>
              <a:t>ng</a:t>
            </a:r>
            <a:r>
              <a:rPr sz="2200" spc="135" dirty="0">
                <a:solidFill>
                  <a:srgbClr val="2D2D31"/>
                </a:solidFill>
                <a:latin typeface="Arial"/>
                <a:cs typeface="Arial"/>
              </a:rPr>
              <a:t> </a:t>
            </a:r>
            <a:r>
              <a:rPr sz="2200" spc="120" dirty="0">
                <a:solidFill>
                  <a:srgbClr val="1C1D21"/>
                </a:solidFill>
                <a:latin typeface="Arial"/>
                <a:cs typeface="Arial"/>
              </a:rPr>
              <a:t>data</a:t>
            </a:r>
            <a:r>
              <a:rPr sz="2200" spc="55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100" dirty="0">
                <a:solidFill>
                  <a:srgbClr val="1C1D21"/>
                </a:solidFill>
                <a:latin typeface="Arial"/>
                <a:cs typeface="Arial"/>
              </a:rPr>
              <a:t>verification</a:t>
            </a:r>
            <a:r>
              <a:rPr sz="2200" spc="105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100" dirty="0">
                <a:solidFill>
                  <a:srgbClr val="1C1D21"/>
                </a:solidFill>
                <a:latin typeface="Arial"/>
                <a:cs typeface="Arial"/>
              </a:rPr>
              <a:t>in</a:t>
            </a:r>
            <a:r>
              <a:rPr sz="2200" spc="185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750" spc="195" dirty="0">
                <a:solidFill>
                  <a:srgbClr val="1C1D21"/>
                </a:solidFill>
                <a:latin typeface="Times New Roman"/>
                <a:cs typeface="Times New Roman"/>
              </a:rPr>
              <a:t>FactSet</a:t>
            </a:r>
            <a:r>
              <a:rPr sz="2750" dirty="0">
                <a:solidFill>
                  <a:srgbClr val="1C1D21"/>
                </a:solidFill>
                <a:latin typeface="Times New Roman"/>
                <a:cs typeface="Times New Roman"/>
              </a:rPr>
              <a:t>	</a:t>
            </a:r>
            <a:r>
              <a:rPr sz="2750" spc="265" dirty="0">
                <a:solidFill>
                  <a:srgbClr val="050C18"/>
                </a:solidFill>
                <a:latin typeface="Times New Roman"/>
                <a:cs typeface="Times New Roman"/>
              </a:rPr>
              <a:t>pull.</a:t>
            </a:r>
            <a:endParaRPr sz="2750">
              <a:latin typeface="Times New Roman"/>
              <a:cs typeface="Times New Roman"/>
            </a:endParaRPr>
          </a:p>
          <a:p>
            <a:pPr marL="281940" indent="-269240">
              <a:lnSpc>
                <a:spcPct val="100000"/>
              </a:lnSpc>
              <a:spcBef>
                <a:spcPts val="220"/>
              </a:spcBef>
              <a:buClr>
                <a:srgbClr val="2D2D31"/>
              </a:buClr>
              <a:buChar char="-"/>
              <a:tabLst>
                <a:tab pos="281940" algn="l"/>
              </a:tabLst>
            </a:pPr>
            <a:r>
              <a:rPr sz="2200" spc="90" dirty="0">
                <a:solidFill>
                  <a:srgbClr val="1C1D21"/>
                </a:solidFill>
                <a:latin typeface="Arial"/>
                <a:cs typeface="Arial"/>
              </a:rPr>
              <a:t>Ticker</a:t>
            </a:r>
            <a:r>
              <a:rPr sz="2200" spc="80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125" dirty="0">
                <a:solidFill>
                  <a:srgbClr val="1C1D21"/>
                </a:solidFill>
                <a:latin typeface="Arial"/>
                <a:cs typeface="Arial"/>
              </a:rPr>
              <a:t>mapping</a:t>
            </a:r>
            <a:r>
              <a:rPr sz="2200" spc="60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95" dirty="0">
                <a:solidFill>
                  <a:srgbClr val="1C1D21"/>
                </a:solidFill>
                <a:latin typeface="Arial"/>
                <a:cs typeface="Arial"/>
              </a:rPr>
              <a:t>validation</a:t>
            </a:r>
            <a:r>
              <a:rPr sz="2200" spc="40" dirty="0">
                <a:solidFill>
                  <a:srgbClr val="1C1D21"/>
                </a:solidFill>
                <a:latin typeface="Arial"/>
                <a:cs typeface="Arial"/>
              </a:rPr>
              <a:t> </a:t>
            </a:r>
            <a:r>
              <a:rPr sz="2200" spc="105" dirty="0">
                <a:solidFill>
                  <a:srgbClr val="1C1D21"/>
                </a:solidFill>
                <a:latin typeface="Arial"/>
                <a:cs typeface="Arial"/>
              </a:rPr>
              <a:t>across </a:t>
            </a:r>
            <a:r>
              <a:rPr sz="2650" spc="135" dirty="0">
                <a:solidFill>
                  <a:srgbClr val="1C1D21"/>
                </a:solidFill>
                <a:latin typeface="Times New Roman"/>
                <a:cs typeface="Times New Roman"/>
              </a:rPr>
              <a:t>2015-</a:t>
            </a:r>
            <a:r>
              <a:rPr sz="2650" spc="120" dirty="0">
                <a:solidFill>
                  <a:srgbClr val="1C1D21"/>
                </a:solidFill>
                <a:latin typeface="Times New Roman"/>
                <a:cs typeface="Times New Roman"/>
              </a:rPr>
              <a:t>2025.</a:t>
            </a:r>
            <a:endParaRPr sz="2650">
              <a:latin typeface="Times New Roman"/>
              <a:cs typeface="Times New Roman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6141B44-2FC7-B372-EB09-38A6FAA826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149" y="3000867"/>
            <a:ext cx="4789531" cy="27947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6147783" y="9418922"/>
            <a:ext cx="1254760" cy="218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0"/>
              </a:lnSpc>
            </a:pPr>
            <a:r>
              <a:rPr sz="1300" spc="-20" dirty="0">
                <a:solidFill>
                  <a:srgbClr val="2D2D31"/>
                </a:solidFill>
                <a:latin typeface="Arial"/>
                <a:cs typeface="Arial"/>
              </a:rPr>
              <a:t>Isl\</a:t>
            </a:r>
            <a:r>
              <a:rPr sz="1300" spc="-45" dirty="0">
                <a:solidFill>
                  <a:srgbClr val="2D2D31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1C1D21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5455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125"/>
              </a:spcBef>
            </a:pPr>
            <a:r>
              <a:rPr spc="70" dirty="0">
                <a:solidFill>
                  <a:srgbClr val="051C44"/>
                </a:solidFill>
              </a:rPr>
              <a:t>Limitations</a:t>
            </a:r>
            <a:r>
              <a:rPr dirty="0">
                <a:solidFill>
                  <a:srgbClr val="051C44"/>
                </a:solidFill>
              </a:rPr>
              <a:t> </a:t>
            </a:r>
            <a:r>
              <a:rPr spc="210" dirty="0">
                <a:solidFill>
                  <a:srgbClr val="051C44"/>
                </a:solidFill>
              </a:rPr>
              <a:t>and</a:t>
            </a:r>
            <a:r>
              <a:rPr spc="-310" dirty="0">
                <a:solidFill>
                  <a:srgbClr val="051C44"/>
                </a:solidFill>
              </a:rPr>
              <a:t> </a:t>
            </a:r>
            <a:r>
              <a:rPr spc="-10" dirty="0">
                <a:solidFill>
                  <a:srgbClr val="051C44"/>
                </a:solidFill>
              </a:rPr>
              <a:t>Risks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30289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2385"/>
              </a:spcBef>
            </a:pPr>
            <a:r>
              <a:rPr spc="65" dirty="0"/>
              <a:t>Overfitting</a:t>
            </a:r>
          </a:p>
          <a:p>
            <a:pPr marL="13970" marR="5080" indent="2540" algn="just">
              <a:lnSpc>
                <a:spcPct val="99100"/>
              </a:lnSpc>
              <a:spcBef>
                <a:spcPts val="1939"/>
              </a:spcBef>
            </a:pPr>
            <a:r>
              <a:rPr sz="3000" b="0" dirty="0">
                <a:solidFill>
                  <a:srgbClr val="080808"/>
                </a:solidFill>
                <a:latin typeface="Arial"/>
                <a:cs typeface="Arial"/>
              </a:rPr>
              <a:t>Neural</a:t>
            </a:r>
            <a:r>
              <a:rPr sz="3000" b="0" spc="5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100" dirty="0">
                <a:solidFill>
                  <a:srgbClr val="080808"/>
                </a:solidFill>
                <a:latin typeface="Arial"/>
                <a:cs typeface="Arial"/>
              </a:rPr>
              <a:t>networks</a:t>
            </a:r>
            <a:r>
              <a:rPr sz="3000" b="0" spc="8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55" dirty="0">
                <a:solidFill>
                  <a:srgbClr val="080808"/>
                </a:solidFill>
                <a:latin typeface="Arial"/>
                <a:cs typeface="Arial"/>
              </a:rPr>
              <a:t>may</a:t>
            </a:r>
            <a:r>
              <a:rPr sz="3000" b="0" spc="9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dirty="0">
                <a:solidFill>
                  <a:srgbClr val="080808"/>
                </a:solidFill>
                <a:latin typeface="Arial"/>
                <a:cs typeface="Arial"/>
              </a:rPr>
              <a:t>memorize</a:t>
            </a:r>
            <a:r>
              <a:rPr sz="3000" b="0" spc="30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dirty="0">
                <a:solidFill>
                  <a:srgbClr val="080808"/>
                </a:solidFill>
                <a:latin typeface="Arial"/>
                <a:cs typeface="Arial"/>
              </a:rPr>
              <a:t>noise</a:t>
            </a:r>
            <a:r>
              <a:rPr sz="3000" b="0" spc="3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-25" dirty="0">
                <a:solidFill>
                  <a:srgbClr val="080808"/>
                </a:solidFill>
                <a:latin typeface="Arial"/>
                <a:cs typeface="Arial"/>
              </a:rPr>
              <a:t>in </a:t>
            </a:r>
            <a:r>
              <a:rPr sz="3000" b="0" dirty="0">
                <a:solidFill>
                  <a:srgbClr val="080808"/>
                </a:solidFill>
                <a:latin typeface="Arial"/>
                <a:cs typeface="Arial"/>
              </a:rPr>
              <a:t>the</a:t>
            </a:r>
            <a:r>
              <a:rPr sz="3000" b="0" spc="409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55" dirty="0">
                <a:solidFill>
                  <a:srgbClr val="080808"/>
                </a:solidFill>
                <a:latin typeface="Arial"/>
                <a:cs typeface="Arial"/>
              </a:rPr>
              <a:t>training</a:t>
            </a:r>
            <a:r>
              <a:rPr sz="3000" b="0" spc="204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75" dirty="0">
                <a:solidFill>
                  <a:srgbClr val="080808"/>
                </a:solidFill>
                <a:latin typeface="Arial"/>
                <a:cs typeface="Arial"/>
              </a:rPr>
              <a:t>set</a:t>
            </a:r>
            <a:r>
              <a:rPr sz="3000" b="0" spc="26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dirty="0">
                <a:solidFill>
                  <a:srgbClr val="080808"/>
                </a:solidFill>
                <a:latin typeface="Arial"/>
                <a:cs typeface="Arial"/>
              </a:rPr>
              <a:t>(2015-2022)</a:t>
            </a:r>
            <a:r>
              <a:rPr sz="3000" b="0" spc="35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75" dirty="0">
                <a:solidFill>
                  <a:srgbClr val="080808"/>
                </a:solidFill>
                <a:latin typeface="Arial"/>
                <a:cs typeface="Arial"/>
              </a:rPr>
              <a:t>rather</a:t>
            </a:r>
            <a:r>
              <a:rPr sz="3000" b="0" spc="10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75" dirty="0">
                <a:solidFill>
                  <a:srgbClr val="080808"/>
                </a:solidFill>
                <a:latin typeface="Arial"/>
                <a:cs typeface="Arial"/>
              </a:rPr>
              <a:t>than </a:t>
            </a:r>
            <a:r>
              <a:rPr sz="3000" b="0" dirty="0">
                <a:solidFill>
                  <a:srgbClr val="080808"/>
                </a:solidFill>
                <a:latin typeface="Arial"/>
                <a:cs typeface="Arial"/>
              </a:rPr>
              <a:t>learning</a:t>
            </a:r>
            <a:r>
              <a:rPr sz="3000" b="0" spc="33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dirty="0">
                <a:solidFill>
                  <a:srgbClr val="080808"/>
                </a:solidFill>
                <a:latin typeface="Arial"/>
                <a:cs typeface="Arial"/>
              </a:rPr>
              <a:t>generalizable</a:t>
            </a:r>
            <a:r>
              <a:rPr sz="3000" b="0" spc="58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75" dirty="0">
                <a:solidFill>
                  <a:srgbClr val="080808"/>
                </a:solidFill>
                <a:latin typeface="Arial"/>
                <a:cs typeface="Arial"/>
              </a:rPr>
              <a:t>patterns.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/>
              <a:t>Black</a:t>
            </a:r>
            <a:r>
              <a:rPr spc="35" dirty="0"/>
              <a:t> </a:t>
            </a:r>
            <a:r>
              <a:rPr spc="110" dirty="0"/>
              <a:t>Swan</a:t>
            </a:r>
            <a:r>
              <a:rPr spc="-10" dirty="0"/>
              <a:t> </a:t>
            </a:r>
            <a:r>
              <a:rPr spc="60" dirty="0"/>
              <a:t>Events</a:t>
            </a:r>
          </a:p>
          <a:p>
            <a:pPr marL="20320" marR="746760" indent="-3810">
              <a:lnSpc>
                <a:spcPct val="99600"/>
              </a:lnSpc>
              <a:spcBef>
                <a:spcPts val="1520"/>
              </a:spcBef>
            </a:pPr>
            <a:r>
              <a:rPr sz="3000" b="0" spc="80" dirty="0">
                <a:solidFill>
                  <a:srgbClr val="080808"/>
                </a:solidFill>
                <a:latin typeface="Arial"/>
                <a:cs typeface="Arial"/>
              </a:rPr>
              <a:t>Models</a:t>
            </a:r>
            <a:r>
              <a:rPr sz="3000" b="0" spc="10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85" dirty="0">
                <a:solidFill>
                  <a:srgbClr val="080808"/>
                </a:solidFill>
                <a:latin typeface="Arial"/>
                <a:cs typeface="Arial"/>
              </a:rPr>
              <a:t>trained</a:t>
            </a:r>
            <a:r>
              <a:rPr sz="3000" b="0" spc="2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110" dirty="0">
                <a:solidFill>
                  <a:srgbClr val="080808"/>
                </a:solidFill>
                <a:latin typeface="Arial"/>
                <a:cs typeface="Arial"/>
              </a:rPr>
              <a:t>on</a:t>
            </a:r>
            <a:r>
              <a:rPr sz="3000" b="0" spc="-13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70" dirty="0">
                <a:solidFill>
                  <a:srgbClr val="080808"/>
                </a:solidFill>
                <a:latin typeface="Arial"/>
                <a:cs typeface="Arial"/>
              </a:rPr>
              <a:t>'normal'</a:t>
            </a:r>
            <a:r>
              <a:rPr sz="3000" b="0" spc="-4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75" dirty="0">
                <a:solidFill>
                  <a:srgbClr val="080808"/>
                </a:solidFill>
                <a:latin typeface="Arial"/>
                <a:cs typeface="Arial"/>
              </a:rPr>
              <a:t>volatility </a:t>
            </a:r>
            <a:r>
              <a:rPr sz="3000" b="0" dirty="0">
                <a:solidFill>
                  <a:srgbClr val="080808"/>
                </a:solidFill>
                <a:latin typeface="Arial"/>
                <a:cs typeface="Arial"/>
              </a:rPr>
              <a:t>regimes</a:t>
            </a:r>
            <a:r>
              <a:rPr sz="3000" b="0" spc="14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55" dirty="0">
                <a:solidFill>
                  <a:srgbClr val="080808"/>
                </a:solidFill>
                <a:latin typeface="Arial"/>
                <a:cs typeface="Arial"/>
              </a:rPr>
              <a:t>may</a:t>
            </a:r>
            <a:r>
              <a:rPr sz="3000" b="0" spc="7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80" dirty="0">
                <a:solidFill>
                  <a:srgbClr val="080808"/>
                </a:solidFill>
                <a:latin typeface="Arial"/>
                <a:cs typeface="Arial"/>
              </a:rPr>
              <a:t>fail</a:t>
            </a:r>
            <a:r>
              <a:rPr sz="3000" b="0" spc="2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110" dirty="0">
                <a:solidFill>
                  <a:srgbClr val="080808"/>
                </a:solidFill>
                <a:latin typeface="Arial"/>
                <a:cs typeface="Arial"/>
              </a:rPr>
              <a:t>to</a:t>
            </a:r>
            <a:r>
              <a:rPr sz="3000" b="0" spc="6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110" dirty="0">
                <a:solidFill>
                  <a:srgbClr val="080808"/>
                </a:solidFill>
                <a:latin typeface="Arial"/>
                <a:cs typeface="Arial"/>
              </a:rPr>
              <a:t>predict</a:t>
            </a:r>
            <a:r>
              <a:rPr sz="3000" b="0" spc="12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75" dirty="0">
                <a:solidFill>
                  <a:srgbClr val="080808"/>
                </a:solidFill>
                <a:latin typeface="Arial"/>
                <a:cs typeface="Arial"/>
              </a:rPr>
              <a:t>extreme </a:t>
            </a:r>
            <a:r>
              <a:rPr sz="3000" b="0" spc="80" dirty="0">
                <a:solidFill>
                  <a:srgbClr val="080808"/>
                </a:solidFill>
                <a:latin typeface="Arial"/>
                <a:cs typeface="Arial"/>
              </a:rPr>
              <a:t>outliers</a:t>
            </a:r>
            <a:r>
              <a:rPr sz="3000" b="0" spc="4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114" dirty="0">
                <a:solidFill>
                  <a:srgbClr val="080808"/>
                </a:solidFill>
                <a:latin typeface="Arial"/>
                <a:cs typeface="Arial"/>
              </a:rPr>
              <a:t>or</a:t>
            </a:r>
            <a:r>
              <a:rPr sz="3000" b="0" spc="-114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70" dirty="0">
                <a:solidFill>
                  <a:srgbClr val="080808"/>
                </a:solidFill>
                <a:latin typeface="Arial"/>
                <a:cs typeface="Arial"/>
              </a:rPr>
              <a:t>unprecedented</a:t>
            </a:r>
            <a:r>
              <a:rPr sz="3000" b="0" spc="28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45" dirty="0">
                <a:solidFill>
                  <a:srgbClr val="080808"/>
                </a:solidFill>
                <a:latin typeface="Arial"/>
                <a:cs typeface="Arial"/>
              </a:rPr>
              <a:t>market </a:t>
            </a:r>
            <a:r>
              <a:rPr sz="3000" b="0" spc="55" dirty="0">
                <a:solidFill>
                  <a:srgbClr val="080808"/>
                </a:solidFill>
                <a:latin typeface="Arial"/>
                <a:cs typeface="Arial"/>
              </a:rPr>
              <a:t>shocks.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30289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2385"/>
              </a:spcBef>
            </a:pPr>
            <a:r>
              <a:rPr spc="135" dirty="0"/>
              <a:t>Non-</a:t>
            </a:r>
            <a:r>
              <a:rPr spc="100" dirty="0"/>
              <a:t>Stationarity</a:t>
            </a:r>
          </a:p>
          <a:p>
            <a:pPr marL="19050" marR="5080" indent="8890">
              <a:lnSpc>
                <a:spcPct val="98700"/>
              </a:lnSpc>
              <a:spcBef>
                <a:spcPts val="1955"/>
              </a:spcBef>
            </a:pPr>
            <a:r>
              <a:rPr sz="3000" b="0" spc="70" dirty="0">
                <a:solidFill>
                  <a:srgbClr val="080808"/>
                </a:solidFill>
                <a:latin typeface="Arial"/>
                <a:cs typeface="Arial"/>
              </a:rPr>
              <a:t>Market</a:t>
            </a:r>
            <a:r>
              <a:rPr sz="3000" b="0" spc="21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65" dirty="0">
                <a:solidFill>
                  <a:srgbClr val="080808"/>
                </a:solidFill>
                <a:latin typeface="Arial"/>
                <a:cs typeface="Arial"/>
              </a:rPr>
              <a:t>structural</a:t>
            </a:r>
            <a:r>
              <a:rPr sz="3000" b="0" spc="204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dirty="0">
                <a:solidFill>
                  <a:srgbClr val="080808"/>
                </a:solidFill>
                <a:latin typeface="Arial"/>
                <a:cs typeface="Arial"/>
              </a:rPr>
              <a:t>changes</a:t>
            </a:r>
            <a:r>
              <a:rPr sz="3000" b="0" spc="38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dirty="0">
                <a:solidFill>
                  <a:srgbClr val="080808"/>
                </a:solidFill>
                <a:latin typeface="Arial"/>
                <a:cs typeface="Arial"/>
              </a:rPr>
              <a:t>(regime</a:t>
            </a:r>
            <a:r>
              <a:rPr sz="3000" b="0" spc="22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55" dirty="0">
                <a:solidFill>
                  <a:srgbClr val="080808"/>
                </a:solidFill>
                <a:latin typeface="Arial"/>
                <a:cs typeface="Arial"/>
              </a:rPr>
              <a:t>shifts) </a:t>
            </a:r>
            <a:r>
              <a:rPr sz="3000" b="0" spc="65" dirty="0">
                <a:solidFill>
                  <a:srgbClr val="080808"/>
                </a:solidFill>
                <a:latin typeface="Arial"/>
                <a:cs typeface="Arial"/>
              </a:rPr>
              <a:t>in</a:t>
            </a:r>
            <a:r>
              <a:rPr sz="3000" b="0" spc="-4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75" dirty="0">
                <a:solidFill>
                  <a:srgbClr val="080808"/>
                </a:solidFill>
                <a:latin typeface="Arial"/>
                <a:cs typeface="Arial"/>
              </a:rPr>
              <a:t>the</a:t>
            </a:r>
            <a:r>
              <a:rPr sz="3000" b="0" spc="229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114" dirty="0">
                <a:solidFill>
                  <a:srgbClr val="080808"/>
                </a:solidFill>
                <a:latin typeface="Arial"/>
                <a:cs typeface="Arial"/>
              </a:rPr>
              <a:t>2023-</a:t>
            </a:r>
            <a:r>
              <a:rPr sz="3000" b="0" spc="125" dirty="0">
                <a:solidFill>
                  <a:srgbClr val="080808"/>
                </a:solidFill>
                <a:latin typeface="Arial"/>
                <a:cs typeface="Arial"/>
              </a:rPr>
              <a:t>2025</a:t>
            </a:r>
            <a:r>
              <a:rPr sz="3000" b="0" spc="13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105" dirty="0">
                <a:solidFill>
                  <a:srgbClr val="080808"/>
                </a:solidFill>
                <a:latin typeface="Arial"/>
                <a:cs typeface="Arial"/>
              </a:rPr>
              <a:t>test</a:t>
            </a:r>
            <a:r>
              <a:rPr sz="3000" b="0" spc="75" dirty="0">
                <a:solidFill>
                  <a:srgbClr val="080808"/>
                </a:solidFill>
                <a:latin typeface="Arial"/>
                <a:cs typeface="Arial"/>
              </a:rPr>
              <a:t> set</a:t>
            </a:r>
            <a:r>
              <a:rPr sz="3000" b="0" spc="4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dirty="0">
                <a:solidFill>
                  <a:srgbClr val="080808"/>
                </a:solidFill>
                <a:latin typeface="Arial"/>
                <a:cs typeface="Arial"/>
              </a:rPr>
              <a:t>may</a:t>
            </a:r>
            <a:r>
              <a:rPr sz="3000" b="0" spc="6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100" dirty="0">
                <a:solidFill>
                  <a:srgbClr val="080808"/>
                </a:solidFill>
                <a:latin typeface="Arial"/>
                <a:cs typeface="Arial"/>
              </a:rPr>
              <a:t>differ </a:t>
            </a:r>
            <a:r>
              <a:rPr sz="3000" b="0" spc="55" dirty="0">
                <a:solidFill>
                  <a:srgbClr val="080808"/>
                </a:solidFill>
                <a:latin typeface="Arial"/>
                <a:cs typeface="Arial"/>
              </a:rPr>
              <a:t>fundamentally</a:t>
            </a:r>
            <a:r>
              <a:rPr sz="3000" b="0" spc="254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135" dirty="0">
                <a:solidFill>
                  <a:srgbClr val="080808"/>
                </a:solidFill>
                <a:latin typeface="Arial"/>
                <a:cs typeface="Arial"/>
              </a:rPr>
              <a:t>from</a:t>
            </a:r>
            <a:r>
              <a:rPr sz="3000" b="0" spc="-8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120" dirty="0">
                <a:solidFill>
                  <a:srgbClr val="080808"/>
                </a:solidFill>
                <a:latin typeface="Arial"/>
                <a:cs typeface="Arial"/>
              </a:rPr>
              <a:t>the</a:t>
            </a:r>
            <a:r>
              <a:rPr sz="3000" b="0" spc="-7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80" dirty="0">
                <a:solidFill>
                  <a:srgbClr val="080808"/>
                </a:solidFill>
                <a:latin typeface="Arial"/>
                <a:cs typeface="Arial"/>
              </a:rPr>
              <a:t>training</a:t>
            </a:r>
            <a:r>
              <a:rPr sz="3000" b="0" spc="-10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80" dirty="0">
                <a:solidFill>
                  <a:srgbClr val="080808"/>
                </a:solidFill>
                <a:latin typeface="Arial"/>
                <a:cs typeface="Arial"/>
              </a:rPr>
              <a:t>period </a:t>
            </a:r>
            <a:r>
              <a:rPr sz="3000" b="0" spc="40" dirty="0">
                <a:solidFill>
                  <a:srgbClr val="080808"/>
                </a:solidFill>
                <a:latin typeface="Arial"/>
                <a:cs typeface="Arial"/>
              </a:rPr>
              <a:t>dynamics.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30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</a:pPr>
            <a:r>
              <a:rPr spc="70" dirty="0"/>
              <a:t>Universe</a:t>
            </a:r>
            <a:r>
              <a:rPr spc="-5" dirty="0"/>
              <a:t> </a:t>
            </a:r>
            <a:r>
              <a:rPr spc="-20" dirty="0"/>
              <a:t>Bias</a:t>
            </a:r>
          </a:p>
          <a:p>
            <a:pPr marL="12700" marR="157480" indent="9525">
              <a:lnSpc>
                <a:spcPct val="99100"/>
              </a:lnSpc>
              <a:spcBef>
                <a:spcPts val="1540"/>
              </a:spcBef>
            </a:pPr>
            <a:r>
              <a:rPr sz="3000" b="0" spc="80" dirty="0">
                <a:solidFill>
                  <a:srgbClr val="080808"/>
                </a:solidFill>
                <a:latin typeface="Arial"/>
                <a:cs typeface="Arial"/>
              </a:rPr>
              <a:t>The</a:t>
            </a:r>
            <a:r>
              <a:rPr sz="3000" b="0" spc="2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75" dirty="0">
                <a:solidFill>
                  <a:srgbClr val="080808"/>
                </a:solidFill>
                <a:latin typeface="Arial"/>
                <a:cs typeface="Arial"/>
              </a:rPr>
              <a:t>selected</a:t>
            </a:r>
            <a:r>
              <a:rPr sz="3000" b="0" spc="-1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-35" dirty="0">
                <a:solidFill>
                  <a:srgbClr val="080808"/>
                </a:solidFill>
                <a:latin typeface="Arial"/>
                <a:cs typeface="Arial"/>
              </a:rPr>
              <a:t>ETF</a:t>
            </a:r>
            <a:r>
              <a:rPr sz="3000" b="0" spc="-1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50" dirty="0">
                <a:solidFill>
                  <a:srgbClr val="080808"/>
                </a:solidFill>
                <a:latin typeface="Arial"/>
                <a:cs typeface="Arial"/>
              </a:rPr>
              <a:t>universe</a:t>
            </a:r>
            <a:r>
              <a:rPr sz="3000" b="0" spc="-2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dirty="0">
                <a:solidFill>
                  <a:srgbClr val="080808"/>
                </a:solidFill>
                <a:latin typeface="Arial"/>
                <a:cs typeface="Arial"/>
              </a:rPr>
              <a:t>is</a:t>
            </a:r>
            <a:r>
              <a:rPr sz="3000" b="0" spc="12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dirty="0">
                <a:solidFill>
                  <a:srgbClr val="080808"/>
                </a:solidFill>
                <a:latin typeface="Arial"/>
                <a:cs typeface="Arial"/>
              </a:rPr>
              <a:t>a</a:t>
            </a:r>
            <a:r>
              <a:rPr sz="3000" b="0" spc="-13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85" dirty="0">
                <a:solidFill>
                  <a:srgbClr val="080808"/>
                </a:solidFill>
                <a:latin typeface="Arial"/>
                <a:cs typeface="Arial"/>
              </a:rPr>
              <a:t>proxy</a:t>
            </a:r>
            <a:r>
              <a:rPr sz="3000" b="0" spc="7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80" dirty="0">
                <a:solidFill>
                  <a:srgbClr val="080808"/>
                </a:solidFill>
                <a:latin typeface="Arial"/>
                <a:cs typeface="Arial"/>
              </a:rPr>
              <a:t>for </a:t>
            </a:r>
            <a:r>
              <a:rPr sz="3000" b="0" spc="120" dirty="0">
                <a:solidFill>
                  <a:srgbClr val="080808"/>
                </a:solidFill>
                <a:latin typeface="Arial"/>
                <a:cs typeface="Arial"/>
              </a:rPr>
              <a:t>the</a:t>
            </a:r>
            <a:r>
              <a:rPr sz="3000" b="0" spc="17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65" dirty="0">
                <a:solidFill>
                  <a:srgbClr val="080808"/>
                </a:solidFill>
                <a:latin typeface="Arial"/>
                <a:cs typeface="Arial"/>
              </a:rPr>
              <a:t>economy</a:t>
            </a:r>
            <a:r>
              <a:rPr sz="3000" b="0" spc="13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120" dirty="0">
                <a:solidFill>
                  <a:srgbClr val="080808"/>
                </a:solidFill>
                <a:latin typeface="Arial"/>
                <a:cs typeface="Arial"/>
              </a:rPr>
              <a:t>but</a:t>
            </a:r>
            <a:r>
              <a:rPr sz="3000" b="0" spc="3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55" dirty="0">
                <a:solidFill>
                  <a:srgbClr val="080808"/>
                </a:solidFill>
                <a:latin typeface="Arial"/>
                <a:cs typeface="Arial"/>
              </a:rPr>
              <a:t>may</a:t>
            </a:r>
            <a:r>
              <a:rPr sz="3000" b="0" spc="4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135" dirty="0">
                <a:solidFill>
                  <a:srgbClr val="080808"/>
                </a:solidFill>
                <a:latin typeface="Arial"/>
                <a:cs typeface="Arial"/>
              </a:rPr>
              <a:t>not</a:t>
            </a:r>
            <a:r>
              <a:rPr sz="3000" b="0" spc="-10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114" dirty="0">
                <a:solidFill>
                  <a:srgbClr val="080808"/>
                </a:solidFill>
                <a:latin typeface="Arial"/>
                <a:cs typeface="Arial"/>
              </a:rPr>
              <a:t>perfectly </a:t>
            </a:r>
            <a:r>
              <a:rPr sz="3000" b="0" spc="65" dirty="0">
                <a:solidFill>
                  <a:srgbClr val="080808"/>
                </a:solidFill>
                <a:latin typeface="Arial"/>
                <a:cs typeface="Arial"/>
              </a:rPr>
              <a:t>represent</a:t>
            </a:r>
            <a:r>
              <a:rPr sz="3000" b="0" spc="17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55" dirty="0">
                <a:solidFill>
                  <a:srgbClr val="080808"/>
                </a:solidFill>
                <a:latin typeface="Arial"/>
                <a:cs typeface="Arial"/>
              </a:rPr>
              <a:t>all</a:t>
            </a:r>
            <a:r>
              <a:rPr sz="3000" b="0" spc="-9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55" dirty="0">
                <a:solidFill>
                  <a:srgbClr val="080808"/>
                </a:solidFill>
                <a:latin typeface="Arial"/>
                <a:cs typeface="Arial"/>
              </a:rPr>
              <a:t>market</a:t>
            </a:r>
            <a:r>
              <a:rPr sz="3000" b="0" spc="12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3000" b="0" spc="75" dirty="0">
                <a:solidFill>
                  <a:srgbClr val="080808"/>
                </a:solidFill>
                <a:latin typeface="Arial"/>
                <a:cs typeface="Arial"/>
              </a:rPr>
              <a:t>conditions.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688" y="1634331"/>
            <a:ext cx="15946628" cy="17872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19634" y="5821626"/>
            <a:ext cx="7565729" cy="142980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132371" y="3268397"/>
            <a:ext cx="0" cy="1710689"/>
          </a:xfrm>
          <a:custGeom>
            <a:avLst/>
            <a:gdLst/>
            <a:ahLst/>
            <a:cxnLst/>
            <a:rect l="l" t="t" r="r" b="b"/>
            <a:pathLst>
              <a:path h="1710689">
                <a:moveTo>
                  <a:pt x="0" y="171066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963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125"/>
              </a:spcBef>
            </a:pPr>
            <a:r>
              <a:rPr sz="4950" spc="70" dirty="0">
                <a:solidFill>
                  <a:srgbClr val="07183D"/>
                </a:solidFill>
              </a:rPr>
              <a:t>Project</a:t>
            </a:r>
            <a:r>
              <a:rPr sz="4950" spc="-40" dirty="0">
                <a:solidFill>
                  <a:srgbClr val="07183D"/>
                </a:solidFill>
              </a:rPr>
              <a:t> </a:t>
            </a:r>
            <a:r>
              <a:rPr sz="4950" spc="65" dirty="0">
                <a:solidFill>
                  <a:srgbClr val="07183D"/>
                </a:solidFill>
              </a:rPr>
              <a:t>Deliverables</a:t>
            </a:r>
            <a:r>
              <a:rPr sz="4950" spc="200" dirty="0">
                <a:solidFill>
                  <a:srgbClr val="07183D"/>
                </a:solidFill>
              </a:rPr>
              <a:t> </a:t>
            </a:r>
            <a:r>
              <a:rPr sz="4950" spc="140" dirty="0">
                <a:solidFill>
                  <a:srgbClr val="07183D"/>
                </a:solidFill>
              </a:rPr>
              <a:t>and</a:t>
            </a:r>
            <a:r>
              <a:rPr sz="4950" spc="-275" dirty="0">
                <a:solidFill>
                  <a:srgbClr val="07183D"/>
                </a:solidFill>
              </a:rPr>
              <a:t> </a:t>
            </a:r>
            <a:r>
              <a:rPr sz="4950" spc="45" dirty="0">
                <a:solidFill>
                  <a:srgbClr val="07183D"/>
                </a:solidFill>
              </a:rPr>
              <a:t>Roadmap</a:t>
            </a:r>
            <a:endParaRPr sz="4950"/>
          </a:p>
        </p:txBody>
      </p:sp>
      <p:sp>
        <p:nvSpPr>
          <p:cNvPr id="6" name="object 6"/>
          <p:cNvSpPr txBox="1"/>
          <p:nvPr/>
        </p:nvSpPr>
        <p:spPr>
          <a:xfrm>
            <a:off x="780338" y="2445047"/>
            <a:ext cx="6763384" cy="16725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b="1" spc="175" dirty="0">
                <a:solidFill>
                  <a:srgbClr val="07183D"/>
                </a:solidFill>
                <a:latin typeface="Arial"/>
                <a:cs typeface="Arial"/>
              </a:rPr>
              <a:t>The</a:t>
            </a:r>
            <a:r>
              <a:rPr sz="3350" b="1" spc="-295" dirty="0">
                <a:solidFill>
                  <a:srgbClr val="07183D"/>
                </a:solidFill>
                <a:latin typeface="Arial"/>
                <a:cs typeface="Arial"/>
              </a:rPr>
              <a:t> </a:t>
            </a:r>
            <a:r>
              <a:rPr sz="3350" b="1" spc="65" dirty="0">
                <a:solidFill>
                  <a:srgbClr val="07183D"/>
                </a:solidFill>
                <a:latin typeface="Arial"/>
                <a:cs typeface="Arial"/>
              </a:rPr>
              <a:t>Deliverables</a:t>
            </a:r>
            <a:endParaRPr sz="3350">
              <a:latin typeface="Arial"/>
              <a:cs typeface="Arial"/>
            </a:endParaRPr>
          </a:p>
          <a:p>
            <a:pPr marL="476250" marR="5080" indent="-294640">
              <a:lnSpc>
                <a:spcPct val="100499"/>
              </a:lnSpc>
              <a:spcBef>
                <a:spcPts val="2295"/>
              </a:spcBef>
              <a:buClr>
                <a:srgbClr val="07183D"/>
              </a:buClr>
              <a:buFont typeface="Arial"/>
              <a:buChar char="•"/>
              <a:tabLst>
                <a:tab pos="483234" algn="l"/>
              </a:tabLst>
            </a:pPr>
            <a:r>
              <a:rPr sz="2750" b="1" spc="-105" dirty="0">
                <a:solidFill>
                  <a:srgbClr val="050C1C"/>
                </a:solidFill>
                <a:latin typeface="Arial"/>
                <a:cs typeface="Arial"/>
              </a:rPr>
              <a:t>GitHub</a:t>
            </a:r>
            <a:r>
              <a:rPr sz="2750" b="1" spc="-200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b="1" spc="-105" dirty="0">
                <a:solidFill>
                  <a:srgbClr val="050C1C"/>
                </a:solidFill>
                <a:latin typeface="Arial"/>
                <a:cs typeface="Arial"/>
              </a:rPr>
              <a:t>Repository:</a:t>
            </a:r>
            <a:r>
              <a:rPr sz="2750" b="1" spc="-165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65" dirty="0">
                <a:solidFill>
                  <a:srgbClr val="050C1C"/>
                </a:solidFill>
                <a:latin typeface="Arial"/>
                <a:cs typeface="Arial"/>
              </a:rPr>
              <a:t>Full</a:t>
            </a:r>
            <a:r>
              <a:rPr sz="2750" spc="-90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45" dirty="0">
                <a:solidFill>
                  <a:srgbClr val="161C28"/>
                </a:solidFill>
                <a:latin typeface="Arial"/>
                <a:cs typeface="Arial"/>
              </a:rPr>
              <a:t>source</a:t>
            </a:r>
            <a:r>
              <a:rPr sz="2750" spc="-50" dirty="0">
                <a:solidFill>
                  <a:srgbClr val="161C28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61C28"/>
                </a:solidFill>
                <a:latin typeface="Arial"/>
                <a:cs typeface="Arial"/>
              </a:rPr>
              <a:t>code</a:t>
            </a:r>
            <a:r>
              <a:rPr sz="2750" spc="-40" dirty="0">
                <a:solidFill>
                  <a:srgbClr val="161C28"/>
                </a:solidFill>
                <a:latin typeface="Arial"/>
                <a:cs typeface="Arial"/>
              </a:rPr>
              <a:t> </a:t>
            </a:r>
            <a:r>
              <a:rPr sz="2750" spc="35" dirty="0">
                <a:solidFill>
                  <a:srgbClr val="161C28"/>
                </a:solidFill>
                <a:latin typeface="Arial"/>
                <a:cs typeface="Arial"/>
              </a:rPr>
              <a:t>with 	</a:t>
            </a:r>
            <a:r>
              <a:rPr sz="2750" spc="-20" dirty="0">
                <a:solidFill>
                  <a:srgbClr val="161C28"/>
                </a:solidFill>
                <a:latin typeface="Arial"/>
                <a:cs typeface="Arial"/>
              </a:rPr>
              <a:t>reproducible</a:t>
            </a:r>
            <a:r>
              <a:rPr sz="2750" spc="-114" dirty="0">
                <a:solidFill>
                  <a:srgbClr val="161C28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050C1C"/>
                </a:solidFill>
                <a:latin typeface="Arial"/>
                <a:cs typeface="Arial"/>
              </a:rPr>
              <a:t>notebooks.</a:t>
            </a:r>
            <a:endParaRPr sz="2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2976" y="4385500"/>
            <a:ext cx="5574665" cy="13658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26695" indent="-213995">
              <a:lnSpc>
                <a:spcPct val="100000"/>
              </a:lnSpc>
              <a:spcBef>
                <a:spcPts val="315"/>
              </a:spcBef>
              <a:buFont typeface="Arial"/>
              <a:buChar char="-"/>
              <a:tabLst>
                <a:tab pos="226695" algn="l"/>
              </a:tabLst>
            </a:pPr>
            <a:r>
              <a:rPr sz="2750" b="1" spc="-105" dirty="0">
                <a:solidFill>
                  <a:srgbClr val="050C1C"/>
                </a:solidFill>
                <a:latin typeface="Arial"/>
                <a:cs typeface="Arial"/>
              </a:rPr>
              <a:t>Notebook</a:t>
            </a:r>
            <a:r>
              <a:rPr sz="2750" b="1" spc="-85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b="1" spc="-130" dirty="0">
                <a:solidFill>
                  <a:srgbClr val="050C1C"/>
                </a:solidFill>
                <a:latin typeface="Arial"/>
                <a:cs typeface="Arial"/>
              </a:rPr>
              <a:t>1:</a:t>
            </a:r>
            <a:r>
              <a:rPr sz="2750" b="1" spc="-250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65" dirty="0">
                <a:solidFill>
                  <a:srgbClr val="050C1C"/>
                </a:solidFill>
                <a:latin typeface="Arial"/>
                <a:cs typeface="Arial"/>
              </a:rPr>
              <a:t>Data</a:t>
            </a:r>
            <a:r>
              <a:rPr sz="2750" spc="-70" dirty="0">
                <a:solidFill>
                  <a:srgbClr val="050C1C"/>
                </a:solidFill>
                <a:latin typeface="Arial"/>
                <a:cs typeface="Arial"/>
              </a:rPr>
              <a:t> Prep</a:t>
            </a:r>
            <a:r>
              <a:rPr sz="2750" spc="-130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00" spc="-60" dirty="0">
                <a:solidFill>
                  <a:srgbClr val="161C28"/>
                </a:solidFill>
                <a:latin typeface="Arial"/>
                <a:cs typeface="Arial"/>
              </a:rPr>
              <a:t>&amp;</a:t>
            </a:r>
            <a:r>
              <a:rPr sz="2700" spc="-190" dirty="0">
                <a:solidFill>
                  <a:srgbClr val="161C28"/>
                </a:solidFill>
                <a:latin typeface="Arial"/>
                <a:cs typeface="Arial"/>
              </a:rPr>
              <a:t> </a:t>
            </a:r>
            <a:r>
              <a:rPr sz="2750" spc="-295" dirty="0">
                <a:solidFill>
                  <a:srgbClr val="050C1C"/>
                </a:solidFill>
                <a:latin typeface="Arial"/>
                <a:cs typeface="Arial"/>
              </a:rPr>
              <a:t>EDA</a:t>
            </a:r>
            <a:endParaRPr sz="2750">
              <a:latin typeface="Arial"/>
              <a:cs typeface="Arial"/>
            </a:endParaRPr>
          </a:p>
          <a:p>
            <a:pPr marL="226695" indent="-213995">
              <a:lnSpc>
                <a:spcPct val="100000"/>
              </a:lnSpc>
              <a:spcBef>
                <a:spcPts val="215"/>
              </a:spcBef>
              <a:buFont typeface="Arial"/>
              <a:buChar char="-"/>
              <a:tabLst>
                <a:tab pos="226695" algn="l"/>
              </a:tabLst>
            </a:pPr>
            <a:r>
              <a:rPr sz="2750" b="1" spc="-85" dirty="0">
                <a:solidFill>
                  <a:srgbClr val="050C1C"/>
                </a:solidFill>
                <a:latin typeface="Arial"/>
                <a:cs typeface="Arial"/>
              </a:rPr>
              <a:t>Notebook</a:t>
            </a:r>
            <a:r>
              <a:rPr sz="2750" b="1" dirty="0">
                <a:solidFill>
                  <a:srgbClr val="050C1C"/>
                </a:solidFill>
                <a:latin typeface="Arial"/>
                <a:cs typeface="Arial"/>
              </a:rPr>
              <a:t> 2:</a:t>
            </a:r>
            <a:r>
              <a:rPr sz="2750" b="1" spc="-315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70" dirty="0">
                <a:solidFill>
                  <a:srgbClr val="050C1C"/>
                </a:solidFill>
                <a:latin typeface="Arial"/>
                <a:cs typeface="Arial"/>
              </a:rPr>
              <a:t>Feature</a:t>
            </a:r>
            <a:r>
              <a:rPr sz="2750" spc="-85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050C1C"/>
                </a:solidFill>
                <a:latin typeface="Arial"/>
                <a:cs typeface="Arial"/>
              </a:rPr>
              <a:t>Engineering</a:t>
            </a:r>
            <a:endParaRPr sz="2750">
              <a:latin typeface="Arial"/>
              <a:cs typeface="Arial"/>
            </a:endParaRPr>
          </a:p>
          <a:p>
            <a:pPr marL="226695" indent="-213995">
              <a:lnSpc>
                <a:spcPct val="100000"/>
              </a:lnSpc>
              <a:spcBef>
                <a:spcPts val="220"/>
              </a:spcBef>
              <a:buFont typeface="Arial"/>
              <a:buChar char="-"/>
              <a:tabLst>
                <a:tab pos="226695" algn="l"/>
              </a:tabLst>
            </a:pPr>
            <a:r>
              <a:rPr sz="2750" b="1" spc="-90" dirty="0">
                <a:solidFill>
                  <a:srgbClr val="050C1C"/>
                </a:solidFill>
                <a:latin typeface="Arial"/>
                <a:cs typeface="Arial"/>
              </a:rPr>
              <a:t>Notebook</a:t>
            </a:r>
            <a:r>
              <a:rPr sz="2750" b="1" spc="-35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050C1C"/>
                </a:solidFill>
                <a:latin typeface="Arial"/>
                <a:cs typeface="Arial"/>
              </a:rPr>
              <a:t>3:</a:t>
            </a:r>
            <a:r>
              <a:rPr sz="2750" b="1" spc="-310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20" dirty="0">
                <a:solidFill>
                  <a:srgbClr val="161C28"/>
                </a:solidFill>
                <a:latin typeface="Arial"/>
                <a:cs typeface="Arial"/>
              </a:rPr>
              <a:t>Modeling</a:t>
            </a:r>
            <a:r>
              <a:rPr sz="2750" spc="-30" dirty="0">
                <a:solidFill>
                  <a:srgbClr val="161C28"/>
                </a:solidFill>
                <a:latin typeface="Arial"/>
                <a:cs typeface="Arial"/>
              </a:rPr>
              <a:t> </a:t>
            </a:r>
            <a:r>
              <a:rPr sz="2700" spc="-60" dirty="0">
                <a:solidFill>
                  <a:srgbClr val="161C28"/>
                </a:solidFill>
                <a:latin typeface="Arial"/>
                <a:cs typeface="Arial"/>
              </a:rPr>
              <a:t>&amp;</a:t>
            </a:r>
            <a:r>
              <a:rPr sz="2700" spc="-200" dirty="0">
                <a:solidFill>
                  <a:srgbClr val="161C28"/>
                </a:solidFill>
                <a:latin typeface="Arial"/>
                <a:cs typeface="Arial"/>
              </a:rPr>
              <a:t> </a:t>
            </a:r>
            <a:r>
              <a:rPr sz="2750" spc="-40" dirty="0">
                <a:solidFill>
                  <a:srgbClr val="050C1C"/>
                </a:solidFill>
                <a:latin typeface="Arial"/>
                <a:cs typeface="Arial"/>
              </a:rPr>
              <a:t>Evaluation</a:t>
            </a:r>
            <a:endParaRPr sz="27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9478" y="6134464"/>
            <a:ext cx="6979284" cy="12642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115"/>
              </a:spcBef>
              <a:buClr>
                <a:srgbClr val="07183D"/>
              </a:buClr>
              <a:buFont typeface="Arial"/>
              <a:buChar char="•"/>
              <a:tabLst>
                <a:tab pos="311150" algn="l"/>
              </a:tabLst>
            </a:pPr>
            <a:r>
              <a:rPr sz="2750" b="1" spc="-105" dirty="0">
                <a:solidFill>
                  <a:srgbClr val="050C1C"/>
                </a:solidFill>
                <a:latin typeface="Arial"/>
                <a:cs typeface="Arial"/>
              </a:rPr>
              <a:t>Reports:</a:t>
            </a:r>
            <a:r>
              <a:rPr sz="2750" b="1" spc="-185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20" dirty="0">
                <a:solidFill>
                  <a:srgbClr val="050C1C"/>
                </a:solidFill>
                <a:latin typeface="Arial"/>
                <a:cs typeface="Arial"/>
              </a:rPr>
              <a:t>Milestone</a:t>
            </a:r>
            <a:r>
              <a:rPr sz="2750" spc="-130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30" dirty="0">
                <a:solidFill>
                  <a:srgbClr val="050C1C"/>
                </a:solidFill>
                <a:latin typeface="Arial"/>
                <a:cs typeface="Arial"/>
              </a:rPr>
              <a:t>Report</a:t>
            </a:r>
            <a:r>
              <a:rPr sz="2750" spc="-60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00" spc="-60" dirty="0">
                <a:solidFill>
                  <a:srgbClr val="161C28"/>
                </a:solidFill>
                <a:latin typeface="Arial"/>
                <a:cs typeface="Arial"/>
              </a:rPr>
              <a:t>&amp;</a:t>
            </a:r>
            <a:r>
              <a:rPr sz="2700" spc="-204" dirty="0">
                <a:solidFill>
                  <a:srgbClr val="161C28"/>
                </a:solidFill>
                <a:latin typeface="Arial"/>
                <a:cs typeface="Arial"/>
              </a:rPr>
              <a:t> </a:t>
            </a:r>
            <a:r>
              <a:rPr sz="2750" spc="-65" dirty="0">
                <a:solidFill>
                  <a:srgbClr val="050C1C"/>
                </a:solidFill>
                <a:latin typeface="Arial"/>
                <a:cs typeface="Arial"/>
              </a:rPr>
              <a:t>Final</a:t>
            </a:r>
            <a:r>
              <a:rPr sz="2750" spc="-120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050C1C"/>
                </a:solidFill>
                <a:latin typeface="Arial"/>
                <a:cs typeface="Arial"/>
              </a:rPr>
              <a:t>Report</a:t>
            </a:r>
            <a:endParaRPr sz="2750">
              <a:latin typeface="Arial"/>
              <a:cs typeface="Arial"/>
            </a:endParaRPr>
          </a:p>
          <a:p>
            <a:pPr marL="311150" indent="-298450">
              <a:lnSpc>
                <a:spcPct val="100000"/>
              </a:lnSpc>
              <a:spcBef>
                <a:spcPts val="3130"/>
              </a:spcBef>
              <a:buClr>
                <a:srgbClr val="07183D"/>
              </a:buClr>
              <a:buFont typeface="Arial"/>
              <a:buChar char="•"/>
              <a:tabLst>
                <a:tab pos="311150" algn="l"/>
              </a:tabLst>
            </a:pPr>
            <a:r>
              <a:rPr sz="2750" b="1" spc="-85" dirty="0">
                <a:solidFill>
                  <a:srgbClr val="050C1C"/>
                </a:solidFill>
                <a:latin typeface="Arial"/>
                <a:cs typeface="Arial"/>
              </a:rPr>
              <a:t>Presentation:</a:t>
            </a:r>
            <a:r>
              <a:rPr sz="2750" b="1" spc="-15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20" dirty="0">
                <a:solidFill>
                  <a:srgbClr val="050C1C"/>
                </a:solidFill>
                <a:latin typeface="Arial"/>
                <a:cs typeface="Arial"/>
              </a:rPr>
              <a:t>In-</a:t>
            </a:r>
            <a:r>
              <a:rPr sz="2750" dirty="0">
                <a:solidFill>
                  <a:srgbClr val="050C1C"/>
                </a:solidFill>
                <a:latin typeface="Arial"/>
                <a:cs typeface="Arial"/>
              </a:rPr>
              <a:t>class</a:t>
            </a:r>
            <a:r>
              <a:rPr sz="2750" spc="-75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050C1C"/>
                </a:solidFill>
                <a:latin typeface="Arial"/>
                <a:cs typeface="Arial"/>
              </a:rPr>
              <a:t>findings</a:t>
            </a:r>
            <a:r>
              <a:rPr sz="2750" spc="-145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161C28"/>
                </a:solidFill>
                <a:latin typeface="Arial"/>
                <a:cs typeface="Arial"/>
              </a:rPr>
              <a:t>presentation</a:t>
            </a:r>
            <a:endParaRPr sz="2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01259" y="2445047"/>
            <a:ext cx="3195320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b="1" spc="65" dirty="0">
                <a:solidFill>
                  <a:srgbClr val="07183D"/>
                </a:solidFill>
                <a:latin typeface="Arial"/>
                <a:cs typeface="Arial"/>
              </a:rPr>
              <a:t>Execution</a:t>
            </a:r>
            <a:r>
              <a:rPr sz="3350" b="1" spc="-140" dirty="0">
                <a:solidFill>
                  <a:srgbClr val="07183D"/>
                </a:solidFill>
                <a:latin typeface="Arial"/>
                <a:cs typeface="Arial"/>
              </a:rPr>
              <a:t> </a:t>
            </a:r>
            <a:r>
              <a:rPr sz="3350" b="1" spc="80" dirty="0">
                <a:solidFill>
                  <a:srgbClr val="07183D"/>
                </a:solidFill>
                <a:latin typeface="Arial"/>
                <a:cs typeface="Arial"/>
              </a:rPr>
              <a:t>Plan</a:t>
            </a:r>
            <a:endParaRPr sz="3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79439" y="3249315"/>
            <a:ext cx="7203440" cy="17106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 marR="907415" indent="-5715">
              <a:lnSpc>
                <a:spcPct val="100499"/>
              </a:lnSpc>
              <a:spcBef>
                <a:spcPts val="95"/>
              </a:spcBef>
            </a:pPr>
            <a:r>
              <a:rPr sz="2750" b="1" spc="-110" dirty="0">
                <a:solidFill>
                  <a:srgbClr val="050C1C"/>
                </a:solidFill>
                <a:latin typeface="Arial"/>
                <a:cs typeface="Arial"/>
              </a:rPr>
              <a:t>Team:</a:t>
            </a:r>
            <a:r>
              <a:rPr sz="2750" b="1" spc="-95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61C28"/>
                </a:solidFill>
                <a:latin typeface="Arial"/>
                <a:cs typeface="Arial"/>
              </a:rPr>
              <a:t>Vinit</a:t>
            </a:r>
            <a:r>
              <a:rPr sz="2750" spc="-190" dirty="0">
                <a:solidFill>
                  <a:srgbClr val="161C28"/>
                </a:solidFill>
                <a:latin typeface="Arial"/>
                <a:cs typeface="Arial"/>
              </a:rPr>
              <a:t> </a:t>
            </a:r>
            <a:r>
              <a:rPr sz="2750" spc="-114" dirty="0">
                <a:solidFill>
                  <a:srgbClr val="161C28"/>
                </a:solidFill>
                <a:latin typeface="Arial"/>
                <a:cs typeface="Arial"/>
              </a:rPr>
              <a:t>S.</a:t>
            </a:r>
            <a:r>
              <a:rPr sz="2750" spc="-225" dirty="0">
                <a:solidFill>
                  <a:srgbClr val="161C28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050C1C"/>
                </a:solidFill>
                <a:latin typeface="Arial"/>
                <a:cs typeface="Arial"/>
              </a:rPr>
              <a:t>Bhatt,</a:t>
            </a:r>
            <a:r>
              <a:rPr sz="2750" spc="-190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25" dirty="0">
                <a:solidFill>
                  <a:srgbClr val="161C28"/>
                </a:solidFill>
                <a:latin typeface="Arial"/>
                <a:cs typeface="Arial"/>
              </a:rPr>
              <a:t>Siddharthen</a:t>
            </a:r>
            <a:r>
              <a:rPr sz="2750" spc="30" dirty="0">
                <a:solidFill>
                  <a:srgbClr val="161C28"/>
                </a:solidFill>
                <a:latin typeface="Arial"/>
                <a:cs typeface="Arial"/>
              </a:rPr>
              <a:t> </a:t>
            </a:r>
            <a:r>
              <a:rPr sz="2750" spc="-50" dirty="0">
                <a:solidFill>
                  <a:srgbClr val="161C28"/>
                </a:solidFill>
                <a:latin typeface="Arial"/>
                <a:cs typeface="Arial"/>
              </a:rPr>
              <a:t>Sridhar, </a:t>
            </a:r>
            <a:r>
              <a:rPr sz="2750" spc="-110" dirty="0">
                <a:solidFill>
                  <a:srgbClr val="050C1C"/>
                </a:solidFill>
                <a:latin typeface="Arial"/>
                <a:cs typeface="Arial"/>
              </a:rPr>
              <a:t>Ronald</a:t>
            </a:r>
            <a:r>
              <a:rPr sz="2750" spc="-50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35" dirty="0">
                <a:solidFill>
                  <a:srgbClr val="050C1C"/>
                </a:solidFill>
                <a:latin typeface="Arial"/>
                <a:cs typeface="Arial"/>
              </a:rPr>
              <a:t>Ho</a:t>
            </a:r>
            <a:endParaRPr sz="2750">
              <a:latin typeface="Arial"/>
              <a:cs typeface="Arial"/>
            </a:endParaRPr>
          </a:p>
          <a:p>
            <a:pPr marL="18415" marR="5080" indent="1905">
              <a:lnSpc>
                <a:spcPct val="100499"/>
              </a:lnSpc>
            </a:pPr>
            <a:r>
              <a:rPr sz="2750" b="1" spc="-80" dirty="0">
                <a:solidFill>
                  <a:srgbClr val="050C1C"/>
                </a:solidFill>
                <a:latin typeface="Arial"/>
                <a:cs typeface="Arial"/>
              </a:rPr>
              <a:t>Status:</a:t>
            </a:r>
            <a:r>
              <a:rPr sz="2750" b="1" spc="-140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30" dirty="0">
                <a:solidFill>
                  <a:srgbClr val="050C1C"/>
                </a:solidFill>
                <a:latin typeface="Arial"/>
                <a:cs typeface="Arial"/>
              </a:rPr>
              <a:t>Data</a:t>
            </a:r>
            <a:r>
              <a:rPr sz="2750" spc="-155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61C28"/>
                </a:solidFill>
                <a:latin typeface="Arial"/>
                <a:cs typeface="Arial"/>
              </a:rPr>
              <a:t>extraction</a:t>
            </a:r>
            <a:r>
              <a:rPr sz="2750" spc="-70" dirty="0">
                <a:solidFill>
                  <a:srgbClr val="161C28"/>
                </a:solidFill>
                <a:latin typeface="Arial"/>
                <a:cs typeface="Arial"/>
              </a:rPr>
              <a:t> </a:t>
            </a:r>
            <a:r>
              <a:rPr sz="2450" spc="160" dirty="0">
                <a:solidFill>
                  <a:srgbClr val="161C28"/>
                </a:solidFill>
                <a:latin typeface="Arial"/>
                <a:cs typeface="Arial"/>
              </a:rPr>
              <a:t>(FactSet) </a:t>
            </a:r>
            <a:r>
              <a:rPr sz="2750" dirty="0">
                <a:solidFill>
                  <a:srgbClr val="161C28"/>
                </a:solidFill>
                <a:latin typeface="Arial"/>
                <a:cs typeface="Arial"/>
              </a:rPr>
              <a:t>and</a:t>
            </a:r>
            <a:r>
              <a:rPr sz="2750" spc="-110" dirty="0">
                <a:solidFill>
                  <a:srgbClr val="161C28"/>
                </a:solidFill>
                <a:latin typeface="Arial"/>
                <a:cs typeface="Arial"/>
              </a:rPr>
              <a:t> </a:t>
            </a:r>
            <a:r>
              <a:rPr sz="2750" spc="-35" dirty="0">
                <a:solidFill>
                  <a:srgbClr val="050C1C"/>
                </a:solidFill>
                <a:latin typeface="Arial"/>
                <a:cs typeface="Arial"/>
              </a:rPr>
              <a:t>Proposal </a:t>
            </a:r>
            <a:r>
              <a:rPr sz="2750" dirty="0">
                <a:solidFill>
                  <a:srgbClr val="050C1C"/>
                </a:solidFill>
                <a:latin typeface="Arial"/>
                <a:cs typeface="Arial"/>
              </a:rPr>
              <a:t>Drafting</a:t>
            </a:r>
            <a:r>
              <a:rPr sz="2750" spc="-125" dirty="0">
                <a:solidFill>
                  <a:srgbClr val="050C1C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161C28"/>
                </a:solidFill>
                <a:latin typeface="Arial"/>
                <a:cs typeface="Arial"/>
              </a:rPr>
              <a:t>complete.</a:t>
            </a:r>
            <a:endParaRPr sz="27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97857" y="7334480"/>
            <a:ext cx="1516380" cy="111823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6985" algn="ctr">
              <a:lnSpc>
                <a:spcPct val="90300"/>
              </a:lnSpc>
              <a:spcBef>
                <a:spcPts val="409"/>
              </a:spcBef>
            </a:pPr>
            <a:r>
              <a:rPr sz="2550" b="1" spc="-20" dirty="0">
                <a:solidFill>
                  <a:srgbClr val="050C1C"/>
                </a:solidFill>
                <a:latin typeface="Arial"/>
                <a:cs typeface="Arial"/>
              </a:rPr>
              <a:t>Data </a:t>
            </a:r>
            <a:r>
              <a:rPr sz="2550" b="1" spc="-85" dirty="0">
                <a:solidFill>
                  <a:srgbClr val="050C1C"/>
                </a:solidFill>
                <a:latin typeface="Arial"/>
                <a:cs typeface="Arial"/>
              </a:rPr>
              <a:t>Extraction </a:t>
            </a:r>
            <a:r>
              <a:rPr sz="2550" b="1" spc="-10" dirty="0">
                <a:solidFill>
                  <a:srgbClr val="050C1C"/>
                </a:solidFill>
                <a:latin typeface="Arial"/>
                <a:cs typeface="Arial"/>
              </a:rPr>
              <a:t>(Done)</a:t>
            </a:r>
            <a:endParaRPr sz="2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35762" y="7334480"/>
            <a:ext cx="1311275" cy="7607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ts val="2885"/>
              </a:lnSpc>
              <a:spcBef>
                <a:spcPts val="110"/>
              </a:spcBef>
            </a:pPr>
            <a:r>
              <a:rPr sz="2550" b="1" spc="-20" dirty="0">
                <a:solidFill>
                  <a:srgbClr val="050C1C"/>
                </a:solidFill>
                <a:latin typeface="Arial"/>
                <a:cs typeface="Arial"/>
              </a:rPr>
              <a:t>EDA&amp;</a:t>
            </a:r>
            <a:endParaRPr sz="2550">
              <a:latin typeface="Arial"/>
              <a:cs typeface="Arial"/>
            </a:endParaRPr>
          </a:p>
          <a:p>
            <a:pPr algn="ctr">
              <a:lnSpc>
                <a:spcPts val="2885"/>
              </a:lnSpc>
            </a:pPr>
            <a:r>
              <a:rPr sz="2550" b="1" spc="-50" dirty="0">
                <a:solidFill>
                  <a:srgbClr val="050C1C"/>
                </a:solidFill>
                <a:latin typeface="Arial"/>
                <a:cs typeface="Arial"/>
              </a:rPr>
              <a:t>Features</a:t>
            </a:r>
            <a:endParaRPr sz="2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39292" y="7321715"/>
            <a:ext cx="1228090" cy="77406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indent="136525">
              <a:lnSpc>
                <a:spcPts val="2810"/>
              </a:lnSpc>
              <a:spcBef>
                <a:spcPts val="415"/>
              </a:spcBef>
            </a:pPr>
            <a:r>
              <a:rPr sz="2550" b="1" spc="-10" dirty="0">
                <a:solidFill>
                  <a:srgbClr val="050C1C"/>
                </a:solidFill>
                <a:latin typeface="Arial"/>
                <a:cs typeface="Arial"/>
              </a:rPr>
              <a:t>Model </a:t>
            </a:r>
            <a:r>
              <a:rPr sz="2550" b="1" spc="-90" dirty="0">
                <a:solidFill>
                  <a:srgbClr val="050C1C"/>
                </a:solidFill>
                <a:latin typeface="Arial"/>
                <a:cs typeface="Arial"/>
              </a:rPr>
              <a:t>Training</a:t>
            </a:r>
            <a:endParaRPr sz="25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56967" y="7321715"/>
            <a:ext cx="1268095" cy="77406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indent="255904">
              <a:lnSpc>
                <a:spcPts val="2810"/>
              </a:lnSpc>
              <a:spcBef>
                <a:spcPts val="415"/>
              </a:spcBef>
            </a:pPr>
            <a:r>
              <a:rPr sz="2550" b="1" spc="-10" dirty="0">
                <a:solidFill>
                  <a:srgbClr val="050C1C"/>
                </a:solidFill>
                <a:latin typeface="Arial"/>
                <a:cs typeface="Arial"/>
              </a:rPr>
              <a:t>Final </a:t>
            </a:r>
            <a:r>
              <a:rPr sz="2550" b="1" spc="-100" dirty="0">
                <a:solidFill>
                  <a:srgbClr val="050C1C"/>
                </a:solidFill>
                <a:latin typeface="Arial"/>
                <a:cs typeface="Arial"/>
              </a:rPr>
              <a:t>Analysis</a:t>
            </a:r>
            <a:endParaRPr sz="25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47783" y="9402597"/>
            <a:ext cx="126238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70" dirty="0">
                <a:solidFill>
                  <a:srgbClr val="313133"/>
                </a:solidFill>
                <a:latin typeface="Arial"/>
                <a:cs typeface="Arial"/>
              </a:rPr>
              <a:t>I'S\</a:t>
            </a:r>
            <a:r>
              <a:rPr sz="1300" spc="-20" dirty="0">
                <a:solidFill>
                  <a:srgbClr val="313133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161C28"/>
                </a:solidFill>
                <a:latin typeface="Arial"/>
                <a:cs typeface="Arial"/>
              </a:rPr>
              <a:t>No</a:t>
            </a:r>
            <a:r>
              <a:rPr sz="1350" spc="-10" dirty="0">
                <a:solidFill>
                  <a:srgbClr val="313133"/>
                </a:solidFill>
                <a:latin typeface="Arial"/>
                <a:cs typeface="Arial"/>
              </a:rPr>
              <a:t>teboo</a:t>
            </a:r>
            <a:r>
              <a:rPr sz="1350" spc="-10" dirty="0">
                <a:solidFill>
                  <a:srgbClr val="161C28"/>
                </a:solidFill>
                <a:latin typeface="Arial"/>
                <a:cs typeface="Arial"/>
              </a:rPr>
              <a:t>k</a:t>
            </a:r>
            <a:r>
              <a:rPr sz="1350" spc="-10" dirty="0">
                <a:solidFill>
                  <a:srgbClr val="313133"/>
                </a:solidFill>
                <a:latin typeface="Arial"/>
                <a:cs typeface="Arial"/>
              </a:rPr>
              <a:t>L</a:t>
            </a:r>
            <a:r>
              <a:rPr sz="1350" spc="-10" dirty="0">
                <a:solidFill>
                  <a:srgbClr val="161C28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6110" y="8974862"/>
            <a:ext cx="15794355" cy="0"/>
          </a:xfrm>
          <a:custGeom>
            <a:avLst/>
            <a:gdLst/>
            <a:ahLst/>
            <a:cxnLst/>
            <a:rect l="l" t="t" r="r" b="b"/>
            <a:pathLst>
              <a:path w="15794355">
                <a:moveTo>
                  <a:pt x="0" y="0"/>
                </a:moveTo>
                <a:lnTo>
                  <a:pt x="1579378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5455" rIns="0" bIns="0" rtlCol="0">
            <a:spAutoFit/>
          </a:bodyPr>
          <a:lstStyle/>
          <a:p>
            <a:pPr marL="520700">
              <a:lnSpc>
                <a:spcPct val="100000"/>
              </a:lnSpc>
              <a:spcBef>
                <a:spcPts val="125"/>
              </a:spcBef>
            </a:pPr>
            <a:r>
              <a:rPr spc="90" dirty="0"/>
              <a:t>Summary:</a:t>
            </a:r>
            <a:r>
              <a:rPr spc="-245" dirty="0"/>
              <a:t> </a:t>
            </a:r>
            <a:r>
              <a:rPr dirty="0"/>
              <a:t>From</a:t>
            </a:r>
            <a:r>
              <a:rPr spc="-200" dirty="0"/>
              <a:t> </a:t>
            </a:r>
            <a:r>
              <a:rPr spc="70" dirty="0"/>
              <a:t>Prediction</a:t>
            </a:r>
            <a:r>
              <a:rPr spc="5" dirty="0"/>
              <a:t> </a:t>
            </a:r>
            <a:r>
              <a:rPr spc="215" dirty="0"/>
              <a:t>to</a:t>
            </a:r>
            <a:r>
              <a:rPr spc="-400" dirty="0"/>
              <a:t> </a:t>
            </a:r>
            <a:r>
              <a:rPr dirty="0"/>
              <a:t>Risk</a:t>
            </a:r>
            <a:r>
              <a:rPr spc="-265" dirty="0"/>
              <a:t> </a:t>
            </a:r>
            <a:r>
              <a:rPr spc="175" dirty="0"/>
              <a:t>Management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3695" algn="ctr">
              <a:lnSpc>
                <a:spcPts val="5370"/>
              </a:lnSpc>
              <a:spcBef>
                <a:spcPts val="120"/>
              </a:spcBef>
            </a:pPr>
            <a:r>
              <a:rPr spc="145" dirty="0"/>
              <a:t>THE</a:t>
            </a:r>
            <a:r>
              <a:rPr spc="-130" dirty="0"/>
              <a:t> </a:t>
            </a:r>
            <a:r>
              <a:rPr spc="-10" dirty="0"/>
              <a:t>PROBLEM</a:t>
            </a:r>
          </a:p>
          <a:p>
            <a:pPr marL="385445" algn="ctr">
              <a:lnSpc>
                <a:spcPts val="5070"/>
              </a:lnSpc>
            </a:pPr>
            <a:r>
              <a:rPr sz="4300" b="0" dirty="0">
                <a:solidFill>
                  <a:srgbClr val="010101"/>
                </a:solidFill>
                <a:latin typeface="Arial"/>
                <a:cs typeface="Arial"/>
              </a:rPr>
              <a:t>Volatility</a:t>
            </a:r>
            <a:r>
              <a:rPr sz="4300" b="0" spc="2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60" dirty="0">
                <a:solidFill>
                  <a:srgbClr val="010101"/>
                </a:solidFill>
                <a:latin typeface="Arial"/>
                <a:cs typeface="Arial"/>
              </a:rPr>
              <a:t>destroys</a:t>
            </a:r>
            <a:r>
              <a:rPr sz="4300" b="0" spc="3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dirty="0">
                <a:solidFill>
                  <a:srgbClr val="010101"/>
                </a:solidFill>
                <a:latin typeface="Arial"/>
                <a:cs typeface="Arial"/>
              </a:rPr>
              <a:t>value. </a:t>
            </a:r>
            <a:r>
              <a:rPr sz="4300" b="0" spc="-90" dirty="0">
                <a:solidFill>
                  <a:srgbClr val="010101"/>
                </a:solidFill>
                <a:latin typeface="Arial"/>
                <a:cs typeface="Arial"/>
              </a:rPr>
              <a:t>We</a:t>
            </a:r>
            <a:r>
              <a:rPr sz="4300" b="0" spc="-6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90" dirty="0">
                <a:solidFill>
                  <a:srgbClr val="010101"/>
                </a:solidFill>
                <a:latin typeface="Arial"/>
                <a:cs typeface="Arial"/>
              </a:rPr>
              <a:t>need</a:t>
            </a:r>
            <a:r>
              <a:rPr sz="4300" b="0" spc="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65" dirty="0">
                <a:solidFill>
                  <a:srgbClr val="010101"/>
                </a:solidFill>
                <a:latin typeface="Arial"/>
                <a:cs typeface="Arial"/>
              </a:rPr>
              <a:t>to</a:t>
            </a:r>
            <a:r>
              <a:rPr sz="4300" b="0" spc="29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dirty="0">
                <a:solidFill>
                  <a:srgbClr val="010101"/>
                </a:solidFill>
                <a:latin typeface="Arial"/>
                <a:cs typeface="Arial"/>
              </a:rPr>
              <a:t>see</a:t>
            </a:r>
            <a:r>
              <a:rPr sz="4300" b="0" spc="-8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dirty="0">
                <a:solidFill>
                  <a:srgbClr val="010101"/>
                </a:solidFill>
                <a:latin typeface="Arial"/>
                <a:cs typeface="Arial"/>
              </a:rPr>
              <a:t>it</a:t>
            </a:r>
            <a:r>
              <a:rPr sz="4300" b="0" spc="44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45" dirty="0">
                <a:solidFill>
                  <a:srgbClr val="010101"/>
                </a:solidFill>
                <a:latin typeface="Arial"/>
                <a:cs typeface="Arial"/>
              </a:rPr>
              <a:t>coming.</a:t>
            </a:r>
            <a:endParaRPr sz="4300">
              <a:latin typeface="Arial"/>
              <a:cs typeface="Arial"/>
            </a:endParaRPr>
          </a:p>
          <a:p>
            <a:pPr marL="375920" algn="ctr">
              <a:lnSpc>
                <a:spcPts val="5370"/>
              </a:lnSpc>
              <a:spcBef>
                <a:spcPts val="4745"/>
              </a:spcBef>
            </a:pPr>
            <a:r>
              <a:rPr spc="145" dirty="0">
                <a:solidFill>
                  <a:srgbClr val="465975"/>
                </a:solidFill>
              </a:rPr>
              <a:t>THE</a:t>
            </a:r>
            <a:r>
              <a:rPr spc="-60" dirty="0">
                <a:solidFill>
                  <a:srgbClr val="465975"/>
                </a:solidFill>
              </a:rPr>
              <a:t> </a:t>
            </a:r>
            <a:r>
              <a:rPr spc="130" dirty="0">
                <a:solidFill>
                  <a:srgbClr val="465975"/>
                </a:solidFill>
              </a:rPr>
              <a:t>SOLUTION</a:t>
            </a:r>
          </a:p>
          <a:p>
            <a:pPr algn="ctr">
              <a:lnSpc>
                <a:spcPts val="5000"/>
              </a:lnSpc>
            </a:pPr>
            <a:r>
              <a:rPr sz="4300" b="0" dirty="0">
                <a:solidFill>
                  <a:srgbClr val="010101"/>
                </a:solidFill>
                <a:latin typeface="Arial"/>
                <a:cs typeface="Arial"/>
              </a:rPr>
              <a:t>A</a:t>
            </a:r>
            <a:r>
              <a:rPr sz="4300" b="0" spc="-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dirty="0">
                <a:solidFill>
                  <a:srgbClr val="010101"/>
                </a:solidFill>
                <a:latin typeface="Arial"/>
                <a:cs typeface="Arial"/>
              </a:rPr>
              <a:t>TensorFlow</a:t>
            </a:r>
            <a:r>
              <a:rPr sz="4300" b="0" spc="2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dirty="0">
                <a:solidFill>
                  <a:srgbClr val="010101"/>
                </a:solidFill>
                <a:latin typeface="Arial"/>
                <a:cs typeface="Arial"/>
              </a:rPr>
              <a:t>Neural</a:t>
            </a:r>
            <a:r>
              <a:rPr sz="4300" b="0" spc="-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110" dirty="0">
                <a:solidFill>
                  <a:srgbClr val="010101"/>
                </a:solidFill>
                <a:latin typeface="Arial"/>
                <a:cs typeface="Arial"/>
              </a:rPr>
              <a:t>Network</a:t>
            </a:r>
            <a:r>
              <a:rPr sz="4300" b="0" spc="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50" dirty="0">
                <a:solidFill>
                  <a:srgbClr val="010101"/>
                </a:solidFill>
                <a:latin typeface="Arial"/>
                <a:cs typeface="Arial"/>
              </a:rPr>
              <a:t>pipeline</a:t>
            </a:r>
            <a:r>
              <a:rPr sz="4300" b="0" spc="1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85" dirty="0">
                <a:solidFill>
                  <a:srgbClr val="010101"/>
                </a:solidFill>
                <a:latin typeface="Arial"/>
                <a:cs typeface="Arial"/>
              </a:rPr>
              <a:t>trained</a:t>
            </a:r>
            <a:r>
              <a:rPr sz="4300" b="0" spc="-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90" dirty="0">
                <a:solidFill>
                  <a:srgbClr val="010101"/>
                </a:solidFill>
                <a:latin typeface="Arial"/>
                <a:cs typeface="Arial"/>
              </a:rPr>
              <a:t>on</a:t>
            </a:r>
            <a:r>
              <a:rPr sz="4300" b="0" spc="-15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-10" dirty="0">
                <a:solidFill>
                  <a:srgbClr val="010101"/>
                </a:solidFill>
                <a:latin typeface="Arial"/>
                <a:cs typeface="Arial"/>
              </a:rPr>
              <a:t>professional</a:t>
            </a:r>
            <a:endParaRPr sz="4300">
              <a:latin typeface="Arial"/>
              <a:cs typeface="Arial"/>
            </a:endParaRPr>
          </a:p>
          <a:p>
            <a:pPr marL="389890" algn="ctr">
              <a:lnSpc>
                <a:spcPts val="5095"/>
              </a:lnSpc>
            </a:pPr>
            <a:r>
              <a:rPr sz="4300" b="0" dirty="0">
                <a:solidFill>
                  <a:srgbClr val="010101"/>
                </a:solidFill>
                <a:latin typeface="Arial"/>
                <a:cs typeface="Arial"/>
              </a:rPr>
              <a:t>FactSet</a:t>
            </a:r>
            <a:r>
              <a:rPr sz="4300" b="0" spc="3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80" dirty="0">
                <a:solidFill>
                  <a:srgbClr val="010101"/>
                </a:solidFill>
                <a:latin typeface="Arial"/>
                <a:cs typeface="Arial"/>
              </a:rPr>
              <a:t>data.</a:t>
            </a:r>
            <a:endParaRPr sz="4300">
              <a:latin typeface="Arial"/>
              <a:cs typeface="Arial"/>
            </a:endParaRPr>
          </a:p>
          <a:p>
            <a:pPr marL="393065" algn="ctr">
              <a:lnSpc>
                <a:spcPts val="5370"/>
              </a:lnSpc>
              <a:spcBef>
                <a:spcPts val="4140"/>
              </a:spcBef>
            </a:pPr>
            <a:r>
              <a:rPr spc="175" dirty="0">
                <a:solidFill>
                  <a:srgbClr val="081C49"/>
                </a:solidFill>
              </a:rPr>
              <a:t>THE</a:t>
            </a:r>
            <a:r>
              <a:rPr spc="10" dirty="0">
                <a:solidFill>
                  <a:srgbClr val="081C49"/>
                </a:solidFill>
              </a:rPr>
              <a:t> </a:t>
            </a:r>
            <a:r>
              <a:rPr spc="190" dirty="0">
                <a:solidFill>
                  <a:srgbClr val="081C49"/>
                </a:solidFill>
              </a:rPr>
              <a:t>VISION</a:t>
            </a:r>
          </a:p>
          <a:p>
            <a:pPr marL="1349375" marR="981710" algn="ctr">
              <a:lnSpc>
                <a:spcPts val="5030"/>
              </a:lnSpc>
              <a:spcBef>
                <a:spcPts val="140"/>
              </a:spcBef>
            </a:pPr>
            <a:r>
              <a:rPr sz="4300" b="0" dirty="0">
                <a:solidFill>
                  <a:srgbClr val="010101"/>
                </a:solidFill>
                <a:latin typeface="Arial"/>
                <a:cs typeface="Arial"/>
              </a:rPr>
              <a:t>To</a:t>
            </a:r>
            <a:r>
              <a:rPr sz="4300" b="0" spc="-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85" dirty="0">
                <a:solidFill>
                  <a:srgbClr val="010101"/>
                </a:solidFill>
                <a:latin typeface="Arial"/>
                <a:cs typeface="Arial"/>
              </a:rPr>
              <a:t>build</a:t>
            </a:r>
            <a:r>
              <a:rPr sz="4300" b="0" spc="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dirty="0">
                <a:solidFill>
                  <a:srgbClr val="010101"/>
                </a:solidFill>
                <a:latin typeface="Arial"/>
                <a:cs typeface="Arial"/>
              </a:rPr>
              <a:t>a</a:t>
            </a:r>
            <a:r>
              <a:rPr sz="4300" b="0" spc="-9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90" dirty="0">
                <a:solidFill>
                  <a:srgbClr val="010101"/>
                </a:solidFill>
                <a:latin typeface="Arial"/>
                <a:cs typeface="Arial"/>
              </a:rPr>
              <a:t>'risk</a:t>
            </a:r>
            <a:r>
              <a:rPr sz="4300" b="0" spc="-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85" dirty="0">
                <a:solidFill>
                  <a:srgbClr val="010101"/>
                </a:solidFill>
                <a:latin typeface="Arial"/>
                <a:cs typeface="Arial"/>
              </a:rPr>
              <a:t>radar'</a:t>
            </a:r>
            <a:r>
              <a:rPr sz="4300" b="0" spc="10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dirty="0">
                <a:solidFill>
                  <a:srgbClr val="010101"/>
                </a:solidFill>
                <a:latin typeface="Arial"/>
                <a:cs typeface="Arial"/>
              </a:rPr>
              <a:t>superior</a:t>
            </a:r>
            <a:r>
              <a:rPr sz="4300" b="0" spc="26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dirty="0">
                <a:solidFill>
                  <a:srgbClr val="010101"/>
                </a:solidFill>
                <a:latin typeface="Arial"/>
                <a:cs typeface="Arial"/>
              </a:rPr>
              <a:t>to</a:t>
            </a:r>
            <a:r>
              <a:rPr sz="4300" b="0" spc="3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60" dirty="0">
                <a:solidFill>
                  <a:srgbClr val="010101"/>
                </a:solidFill>
                <a:latin typeface="Arial"/>
                <a:cs typeface="Arial"/>
              </a:rPr>
              <a:t>historical</a:t>
            </a:r>
            <a:r>
              <a:rPr sz="4300" b="0" spc="2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-10" dirty="0">
                <a:solidFill>
                  <a:srgbClr val="010101"/>
                </a:solidFill>
                <a:latin typeface="Arial"/>
                <a:cs typeface="Arial"/>
              </a:rPr>
              <a:t>averages, </a:t>
            </a:r>
            <a:r>
              <a:rPr sz="4300" b="0" spc="55" dirty="0">
                <a:solidFill>
                  <a:srgbClr val="010101"/>
                </a:solidFill>
                <a:latin typeface="Arial"/>
                <a:cs typeface="Arial"/>
              </a:rPr>
              <a:t>enabling</a:t>
            </a:r>
            <a:r>
              <a:rPr sz="4300" b="0" spc="16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dirty="0">
                <a:solidFill>
                  <a:srgbClr val="010101"/>
                </a:solidFill>
                <a:latin typeface="Arial"/>
                <a:cs typeface="Arial"/>
              </a:rPr>
              <a:t>safer</a:t>
            </a:r>
            <a:r>
              <a:rPr sz="4300" b="0" spc="1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130" dirty="0">
                <a:solidFill>
                  <a:srgbClr val="010101"/>
                </a:solidFill>
                <a:latin typeface="Arial"/>
                <a:cs typeface="Arial"/>
              </a:rPr>
              <a:t>portfolio</a:t>
            </a:r>
            <a:r>
              <a:rPr sz="4300" b="0" spc="1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300" b="0" spc="75" dirty="0">
                <a:solidFill>
                  <a:srgbClr val="010101"/>
                </a:solidFill>
                <a:latin typeface="Arial"/>
                <a:cs typeface="Arial"/>
              </a:rPr>
              <a:t>construction.</a:t>
            </a:r>
            <a:endParaRPr sz="4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2399" y="9147274"/>
            <a:ext cx="3565525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80" dirty="0">
                <a:solidFill>
                  <a:srgbClr val="010101"/>
                </a:solidFill>
                <a:latin typeface="Arial"/>
                <a:cs typeface="Arial"/>
              </a:rPr>
              <a:t>Thank</a:t>
            </a:r>
            <a:r>
              <a:rPr sz="2550" spc="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131313"/>
                </a:solidFill>
                <a:latin typeface="Arial"/>
                <a:cs typeface="Arial"/>
              </a:rPr>
              <a:t>You.</a:t>
            </a:r>
            <a:r>
              <a:rPr sz="2550" spc="-5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131313"/>
                </a:solidFill>
                <a:latin typeface="Arial"/>
                <a:cs typeface="Arial"/>
              </a:rPr>
              <a:t>Questions?</a:t>
            </a:r>
            <a:endParaRPr sz="2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47783" y="9402597"/>
            <a:ext cx="125476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20" dirty="0">
                <a:solidFill>
                  <a:srgbClr val="313131"/>
                </a:solidFill>
                <a:latin typeface="Arial"/>
                <a:cs typeface="Arial"/>
              </a:rPr>
              <a:t>Isl\</a:t>
            </a:r>
            <a:r>
              <a:rPr sz="1300" spc="-4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131313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3128</TotalTime>
  <Words>1109</Words>
  <Application>Microsoft Office PowerPoint</Application>
  <PresentationFormat>Custom</PresentationFormat>
  <Paragraphs>189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Times New Roman</vt:lpstr>
      <vt:lpstr>Office Theme</vt:lpstr>
      <vt:lpstr>PowerPoint Presentation</vt:lpstr>
      <vt:lpstr>Motivation: Volatility is the Driver of Portfolio Risk and Drawdowns</vt:lpstr>
      <vt:lpstr>Problem Definition: The Math Behind the Prediction</vt:lpstr>
      <vt:lpstr>The Data Advantage: Professional-Grade Universe via FactSet</vt:lpstr>
      <vt:lpstr>Feature Engineering: Extracting Signal from from Price and Volume</vt:lpstr>
      <vt:lpstr>Modeling Strategy: From Heuristics to Neural Networks</vt:lpstr>
      <vt:lpstr>Evaluation Protocol: Realistic Time-Series Splitting</vt:lpstr>
      <vt:lpstr>Subgroup Analysis: Sector vs. Industry Performance</vt:lpstr>
      <vt:lpstr>Planned Exploratory Data Analysis (EDA)</vt:lpstr>
      <vt:lpstr>Limitations and Risks</vt:lpstr>
      <vt:lpstr>Project Deliverables and Roadmap</vt:lpstr>
      <vt:lpstr>Summary: From Prediction to Risk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ronald ho</cp:lastModifiedBy>
  <cp:revision>8</cp:revision>
  <dcterms:created xsi:type="dcterms:W3CDTF">2026-01-19T01:40:53Z</dcterms:created>
  <dcterms:modified xsi:type="dcterms:W3CDTF">2026-01-21T14:53:43Z</dcterms:modified>
</cp:coreProperties>
</file>